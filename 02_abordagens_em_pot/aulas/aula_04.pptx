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defaultTextStyle>
    <a:defPPr lvl="0">
      <a:defRPr lang="pt-BR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slide" Target="slides/slide43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C5CE4-757C-4FC4-9B69-0EF529A77267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AD6B4-CFB8-4614-BD8E-F934177E97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43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https://epocanegocios.globo.com/Vida/noticia/2016/02/momento-mais-triste-do-dia-e-quando-estamos-no-trabalho-aponta-pesquisa.html</a:t>
            </a:r>
            <a:endParaRPr/>
          </a:p>
        </p:txBody>
      </p:sp>
      <p:sp>
        <p:nvSpPr>
          <p:cNvPr id="160" name="Google Shape;160;p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2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6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7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1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8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4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8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7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0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Visão superior de um plano de fundo respingado com cores">
            <a:extLst>
              <a:ext uri="{FF2B5EF4-FFF2-40B4-BE49-F238E27FC236}">
                <a16:creationId xmlns:a16="http://schemas.microsoft.com/office/drawing/2014/main" id="{9A2F2530-6D1C-311D-1878-1C1A25A66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" b="170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322EB2-5A42-C479-49AA-4E75E937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r>
              <a:rPr lang="pt-BR" sz="6800" dirty="0">
                <a:solidFill>
                  <a:srgbClr val="FF0000"/>
                </a:solidFill>
                <a:highlight>
                  <a:srgbClr val="FFFF00"/>
                </a:highlight>
              </a:rPr>
              <a:t>SAUDE MENTAL NO TRABALHO</a:t>
            </a:r>
            <a:br>
              <a:rPr lang="pt-BR" sz="68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pt-BR" sz="2200" dirty="0">
                <a:solidFill>
                  <a:srgbClr val="FF0000"/>
                </a:solidFill>
                <a:highlight>
                  <a:srgbClr val="FFFF00"/>
                </a:highlight>
              </a:rPr>
              <a:t>CLINICAS DO TRABALHO &amp; PSICODINÂMICA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E6EC20-44D8-C36B-219C-24E46A7E2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pt-BR" sz="2200" dirty="0"/>
              <a:t>MÔNICA GURJÃO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68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3118" t="16717" r="3222" b="15988"/>
          <a:stretch/>
        </p:blipFill>
        <p:spPr>
          <a:xfrm>
            <a:off x="2135187" y="981075"/>
            <a:ext cx="8064500" cy="504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F4884-127B-5443-F160-ACD37DE6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HISTÓRIA: clínicas do trabalho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223E84-49BF-9131-F0D8-45A94D665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9656"/>
            <a:ext cx="10866525" cy="4279392"/>
          </a:xfrm>
        </p:spPr>
        <p:txBody>
          <a:bodyPr>
            <a:normAutofit/>
          </a:bodyPr>
          <a:lstStyle/>
          <a:p>
            <a:r>
              <a:rPr lang="pt-BR" dirty="0"/>
              <a:t>No Brasil, se ampliam na década de 1980 estudos que aborda a interface entre o trabalho e a saúde mental sendo denominados de “modelos de desgaste mental” Nessa tradição são destacadas as diversas repercussões na saúde e os transtornos mentais relacionados ao trabalho oriundos da organização do trabalho – divisão e conteúdo de tarefas, relações de poder,</a:t>
            </a:r>
          </a:p>
          <a:p>
            <a:r>
              <a:rPr lang="pt-BR" dirty="0"/>
              <a:t>Possui influências de perspectivas do materialismo-dialético e de autores da medicina social latino americana. Esses autores rompem com </a:t>
            </a:r>
            <a:r>
              <a:rPr lang="pt-BR" b="1" dirty="0"/>
              <a:t>a noção de a-historicidade da biologia humana utilizando a categoria processo de trabalho para a análise da produção social do nexo biopsíquico na relação homem e natureza</a:t>
            </a:r>
            <a:r>
              <a:rPr lang="pt-BR" dirty="0"/>
              <a:t>. Consideram que no processo de trabalho são geradas cargas de trabalho e desgastes físicos e mentais, compreendidos como perdas da capacidade potencial e/ou efetiva corporal e psíquica (LAURREL; NORIEGA, 1989). </a:t>
            </a:r>
          </a:p>
        </p:txBody>
      </p:sp>
    </p:spTree>
    <p:extLst>
      <p:ext uri="{BB962C8B-B14F-4D97-AF65-F5344CB8AC3E}">
        <p14:creationId xmlns:p14="http://schemas.microsoft.com/office/powerpoint/2010/main" val="121921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A98A43-4217-C03D-C5EF-17B3DBDA9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r="9075" b="1"/>
          <a:stretch/>
        </p:blipFill>
        <p:spPr bwMode="auto">
          <a:xfrm>
            <a:off x="20" y="-17929"/>
            <a:ext cx="420622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65AE423-218B-BC10-56A8-B84F7A3F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HISTÓRIA: clínicas do trabalho 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CDBA85-1EB7-B745-7095-8A4AC3F2A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pt-BR" dirty="0"/>
              <a:t>Textos de Edith Seligmann-Silva como Crise econômica, trabalho e saúde mental (1986) e Desgaste mental no trabalho dominado (1994) são referenciais importantes nessa tradição. </a:t>
            </a:r>
          </a:p>
          <a:p>
            <a:r>
              <a:rPr lang="pt-BR" dirty="0"/>
              <a:t>C</a:t>
            </a:r>
            <a:r>
              <a:rPr lang="pt-BR" i="0" dirty="0">
                <a:solidFill>
                  <a:srgbClr val="0F1111"/>
                </a:solidFill>
                <a:effectLst/>
              </a:rPr>
              <a:t>línicas Do Trabalho: Novas Perspectivas Para Compreensão Do Trabalho Na Atualidade (Org: </a:t>
            </a:r>
            <a:r>
              <a:rPr lang="pt-BR" i="0" dirty="0" err="1">
                <a:solidFill>
                  <a:srgbClr val="0F1111"/>
                </a:solidFill>
                <a:effectLst/>
              </a:rPr>
              <a:t>Bendassolli</a:t>
            </a:r>
            <a:r>
              <a:rPr lang="pt-BR" i="0" dirty="0">
                <a:solidFill>
                  <a:srgbClr val="0F1111"/>
                </a:solidFill>
                <a:effectLst/>
              </a:rPr>
              <a:t>)</a:t>
            </a:r>
          </a:p>
          <a:p>
            <a:endParaRPr lang="pt-BR" dirty="0"/>
          </a:p>
          <a:p>
            <a:endParaRPr lang="pt-BR" dirty="0"/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06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82AF3-5DE5-E105-FE55-671E7C8C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– clinicas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94056F-CD8A-61A7-96F9-1CE35A26B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dirty="0"/>
              <a:t>O termo clínica não faz menção aqui à atenção aos problemas individuais em ambiente terapêutico. Trata-se de abordagens de pesquisa-intervenção que consideram o trabalho como categoria central para a compreensão dos processos de subjetivação e da relação subjetividade, saúde e sofrimento. </a:t>
            </a:r>
          </a:p>
        </p:txBody>
      </p:sp>
    </p:spTree>
    <p:extLst>
      <p:ext uri="{BB962C8B-B14F-4D97-AF65-F5344CB8AC3E}">
        <p14:creationId xmlns:p14="http://schemas.microsoft.com/office/powerpoint/2010/main" val="30333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76A86-41B5-B94A-8E87-B83FE7A6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566B41-9830-4957-8636-AB939D1F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D1E824-BF6D-7A72-4A8E-B6E3C0B8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33" t="16586" r="20061" b="5691"/>
          <a:stretch/>
        </p:blipFill>
        <p:spPr>
          <a:xfrm>
            <a:off x="700635" y="763858"/>
            <a:ext cx="10790730" cy="53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1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C556C-5EA1-01C7-AE76-741DE371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C7DA6-D5AA-D191-C7F0-64F67EF95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FE6599-F290-7C53-8599-5293CDB4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22" t="20000" r="21982" b="6179"/>
          <a:stretch/>
        </p:blipFill>
        <p:spPr>
          <a:xfrm>
            <a:off x="700635" y="914400"/>
            <a:ext cx="10790730" cy="57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AF50-A9A0-BE57-9C6F-CD6BC129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64539-C752-1BCC-93E5-C4A727D2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– clinicas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CC639-4BD2-559A-2645-67378BE88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Tais abordagens emergem sob influências da ergonomia da atividade francesa, sobretudo quanto à diferenciação do </a:t>
            </a:r>
            <a:r>
              <a:rPr lang="pt-BR" sz="3200" b="1" dirty="0"/>
              <a:t>trabalho prescrito (tarefa) do trabalho real (atividade realizada) e da psicopatologia do trabalho</a:t>
            </a:r>
            <a:r>
              <a:rPr lang="pt-BR" sz="3200" dirty="0"/>
              <a:t>, a partir de autores como Louis Le </a:t>
            </a:r>
            <a:r>
              <a:rPr lang="pt-BR" sz="3200" dirty="0" err="1"/>
              <a:t>Guillant</a:t>
            </a:r>
            <a:r>
              <a:rPr lang="pt-BR" sz="3200" dirty="0"/>
              <a:t>, Paul </a:t>
            </a:r>
            <a:r>
              <a:rPr lang="pt-BR" sz="3200" dirty="0" err="1"/>
              <a:t>Sivadon</a:t>
            </a:r>
            <a:r>
              <a:rPr lang="pt-BR" sz="3200" dirty="0"/>
              <a:t> e Claude </a:t>
            </a:r>
            <a:r>
              <a:rPr lang="pt-BR" sz="3200" dirty="0" err="1"/>
              <a:t>Veil</a:t>
            </a:r>
            <a:r>
              <a:rPr lang="pt-BR" sz="3200" dirty="0"/>
              <a:t>. </a:t>
            </a:r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429432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4C0E6-4645-5725-DD17-F513A5204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principais representantes: clinica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380D6-DFC4-100C-141B-EBAA3C923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dirty="0"/>
              <a:t>A psicossociologia clínica (Eugene </a:t>
            </a:r>
            <a:r>
              <a:rPr lang="pt-BR" sz="3000" dirty="0" err="1"/>
              <a:t>Enriquez</a:t>
            </a:r>
            <a:r>
              <a:rPr lang="pt-BR" sz="3000" dirty="0"/>
              <a:t>, Vicent </a:t>
            </a:r>
            <a:r>
              <a:rPr lang="pt-BR" sz="3000" dirty="0" err="1"/>
              <a:t>Gaulejac</a:t>
            </a:r>
            <a:r>
              <a:rPr lang="pt-BR" sz="3000" dirty="0"/>
              <a:t>);</a:t>
            </a:r>
          </a:p>
          <a:p>
            <a:r>
              <a:rPr lang="pt-BR" sz="3000" dirty="0"/>
              <a:t>psicodinâmica do trabalho (Christophe Dejours, Pascale </a:t>
            </a:r>
            <a:r>
              <a:rPr lang="pt-BR" sz="3000" dirty="0" err="1"/>
              <a:t>Molinier</a:t>
            </a:r>
            <a:r>
              <a:rPr lang="pt-BR" sz="3000" dirty="0"/>
              <a:t>);</a:t>
            </a:r>
          </a:p>
          <a:p>
            <a:r>
              <a:rPr lang="pt-BR" sz="3000" dirty="0"/>
              <a:t> clínica da atividade (Yves </a:t>
            </a:r>
            <a:r>
              <a:rPr lang="pt-BR" sz="3000" dirty="0" err="1"/>
              <a:t>Clot</a:t>
            </a:r>
            <a:r>
              <a:rPr lang="pt-BR" sz="3000" dirty="0"/>
              <a:t>) e </a:t>
            </a:r>
          </a:p>
          <a:p>
            <a:r>
              <a:rPr lang="pt-BR" sz="3000" dirty="0"/>
              <a:t>ergologia (Yves Schwartz).</a:t>
            </a:r>
          </a:p>
        </p:txBody>
      </p:sp>
    </p:spTree>
    <p:extLst>
      <p:ext uri="{BB962C8B-B14F-4D97-AF65-F5344CB8AC3E}">
        <p14:creationId xmlns:p14="http://schemas.microsoft.com/office/powerpoint/2010/main" val="234265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AAAE0-0618-9314-B638-16E6DDEA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PSICOPATOLOGIA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22FEB2-F321-AB67-7E3C-0B9C84F9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Tradição francesa – Psicologia do Trabalho, Análise do Trabalho, Ergonomia da atividade, Ergologia. Crítica à psicotécnica, à Medicina do Trabalho.</a:t>
            </a:r>
          </a:p>
          <a:p>
            <a:r>
              <a:rPr lang="pt-BR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Le </a:t>
            </a:r>
            <a:r>
              <a:rPr lang="pt-BR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Guillant</a:t>
            </a:r>
            <a:r>
              <a:rPr lang="pt-BR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(1900 – 1968) – Psicopatologia do trabalho - estudo de síndromes que afetavam a saúde mental em certas profissões. Neurose das telefonistas.</a:t>
            </a:r>
          </a:p>
          <a:p>
            <a:r>
              <a:rPr lang="pt-BR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Cristopher Dejours – Psicopatologia do trabalho: relação entre organização e condições de trabalho e o adoecimento. Por que essa estranha ‘normalidade’ nas organizações? Nascimento da psicodinâmica do trabalho que articula conhecimentos da psicopatologia do trabalho, ergonomia, psicanálise.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69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R-1 na corda bamba: o problema da liderança despreparada | SafeSpace">
            <a:extLst>
              <a:ext uri="{FF2B5EF4-FFF2-40B4-BE49-F238E27FC236}">
                <a16:creationId xmlns:a16="http://schemas.microsoft.com/office/drawing/2014/main" id="{2E0428DE-8703-C4B4-D82C-7291EC6DB3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" r="14798" b="-1"/>
          <a:stretch/>
        </p:blipFill>
        <p:spPr bwMode="auto">
          <a:xfrm>
            <a:off x="4876158" y="10"/>
            <a:ext cx="731584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318F91-8981-38B7-1591-8D43B613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3620882" cy="364034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“ESTUDO DE CASO”</a:t>
            </a:r>
            <a:br>
              <a:rPr lang="en-US" dirty="0"/>
            </a:br>
            <a:r>
              <a:rPr lang="en-US" dirty="0"/>
              <a:t>PARA REFLEXÃO: APLICANDO A NR-1</a:t>
            </a:r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098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1981200" y="27082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00"/>
              </a:buClr>
              <a:buSzPts val="4000"/>
            </a:pPr>
            <a:r>
              <a:rPr lang="en-US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Como </a:t>
            </a:r>
            <a:r>
              <a:rPr lang="en-US" b="1" dirty="0" err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podemos</a:t>
            </a:r>
            <a:r>
              <a:rPr lang="en-US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pensar</a:t>
            </a:r>
            <a:r>
              <a:rPr lang="en-US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a </a:t>
            </a:r>
            <a:r>
              <a:rPr lang="en-US" b="1" dirty="0" err="1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relação</a:t>
            </a:r>
            <a:r>
              <a:rPr lang="en-US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br>
              <a:rPr lang="en-US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b="1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TRABALHO &amp; SOFRIMENTO?</a:t>
            </a:r>
            <a:endParaRPr dirty="0"/>
          </a:p>
        </p:txBody>
      </p:sp>
      <p:sp>
        <p:nvSpPr>
          <p:cNvPr id="174" name="Google Shape;174;p19"/>
          <p:cNvSpPr txBox="1">
            <a:spLocks noGrp="1"/>
          </p:cNvSpPr>
          <p:nvPr>
            <p:ph type="body" idx="1"/>
          </p:nvPr>
        </p:nvSpPr>
        <p:spPr>
          <a:xfrm>
            <a:off x="2319973" y="4821237"/>
            <a:ext cx="8027987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107950" indent="0" algn="just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600"/>
              <a:buNone/>
            </a:pP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Uma das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ciências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se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debruçou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nesse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tema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foi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Psicodinâmica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vamos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conhecer</a:t>
            </a:r>
            <a:r>
              <a:rPr lang="en-US" sz="26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...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9962" y="4926012"/>
            <a:ext cx="4760912" cy="18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711201" y="4611688"/>
            <a:ext cx="4021137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B45F07"/>
              </a:buClr>
              <a:buSzPts val="3200"/>
            </a:pPr>
            <a:r>
              <a:rPr lang="en-US" sz="3200" b="1">
                <a:solidFill>
                  <a:srgbClr val="B45F07"/>
                </a:solidFill>
                <a:latin typeface="Arial"/>
                <a:ea typeface="Arial"/>
                <a:cs typeface="Arial"/>
                <a:sym typeface="Arial"/>
              </a:rPr>
              <a:t>Conceitos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703388" y="714375"/>
            <a:ext cx="8675687" cy="201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lnSpc>
                <a:spcPct val="150000"/>
              </a:lnSpc>
              <a:buClr>
                <a:srgbClr val="B45F07"/>
              </a:buClr>
              <a:buSzPts val="2600"/>
            </a:pPr>
            <a:r>
              <a:rPr lang="en-US" sz="2600" b="1">
                <a:solidFill>
                  <a:srgbClr val="B45F07"/>
                </a:solidFill>
                <a:latin typeface="Trebuchet MS"/>
                <a:ea typeface="Trebuchet MS"/>
                <a:cs typeface="Trebuchet MS"/>
                <a:sym typeface="Trebuchet MS"/>
              </a:rPr>
              <a:t>Nascimento da Psicodinâmica do Trabalho teve como “berço” a psicopatologia do trabalho </a:t>
            </a:r>
            <a:endParaRPr/>
          </a:p>
          <a:p>
            <a:pPr algn="ctr">
              <a:lnSpc>
                <a:spcPct val="150000"/>
              </a:lnSpc>
              <a:buClr>
                <a:srgbClr val="B45F07"/>
              </a:buClr>
              <a:buSzPts val="2600"/>
            </a:pPr>
            <a:r>
              <a:rPr lang="en-US" sz="2600" b="1">
                <a:solidFill>
                  <a:srgbClr val="B45F07"/>
                </a:solidFill>
                <a:latin typeface="Trebuchet MS"/>
                <a:ea typeface="Trebuchet MS"/>
                <a:cs typeface="Trebuchet MS"/>
                <a:sym typeface="Trebuchet MS"/>
              </a:rPr>
              <a:t>(os estudos da patogênia do trabalho)</a:t>
            </a:r>
            <a:endParaRPr/>
          </a:p>
        </p:txBody>
      </p:sp>
      <p:grpSp>
        <p:nvGrpSpPr>
          <p:cNvPr id="182" name="Google Shape;182;p20"/>
          <p:cNvGrpSpPr/>
          <p:nvPr/>
        </p:nvGrpSpPr>
        <p:grpSpPr>
          <a:xfrm>
            <a:off x="1858963" y="2870200"/>
            <a:ext cx="2001837" cy="1566862"/>
            <a:chOff x="-616670" y="-335999"/>
            <a:chExt cx="1243075" cy="930580"/>
          </a:xfrm>
        </p:grpSpPr>
        <p:sp>
          <p:nvSpPr>
            <p:cNvPr id="183" name="Google Shape;183;p20"/>
            <p:cNvSpPr/>
            <p:nvPr/>
          </p:nvSpPr>
          <p:spPr>
            <a:xfrm>
              <a:off x="-535551" y="-335999"/>
              <a:ext cx="1161956" cy="9305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CCB5"/>
                </a:gs>
                <a:gs pos="55000">
                  <a:srgbClr val="FF934E"/>
                </a:gs>
                <a:gs pos="100000">
                  <a:srgbClr val="DD750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50800" dist="25400" dir="5400000" rotWithShape="0">
                <a:srgbClr val="000000">
                  <a:alpha val="4470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-616670" y="-308656"/>
              <a:ext cx="1071548" cy="840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38100" rIns="76200" bIns="381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b="1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Guillant</a:t>
              </a:r>
              <a:endParaRPr/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3359150" y="3035301"/>
            <a:ext cx="2303462" cy="955675"/>
          </a:xfrm>
          <a:prstGeom prst="roundRect">
            <a:avLst>
              <a:gd name="adj" fmla="val 16667"/>
            </a:avLst>
          </a:prstGeom>
          <a:solidFill>
            <a:srgbClr val="FBCC9A"/>
          </a:solidFill>
          <a:ln w="19050" cap="flat" cmpd="sng">
            <a:solidFill>
              <a:srgbClr val="B05C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886201" y="3119438"/>
            <a:ext cx="1646237" cy="76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indent="-139700"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Medicina</a:t>
            </a:r>
            <a:endParaRPr/>
          </a:p>
          <a:p>
            <a:pPr indent="-139700"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Psiquiatria</a:t>
            </a:r>
            <a:endParaRPr/>
          </a:p>
        </p:txBody>
      </p:sp>
      <p:grpSp>
        <p:nvGrpSpPr>
          <p:cNvPr id="187" name="Google Shape;187;p20"/>
          <p:cNvGrpSpPr/>
          <p:nvPr/>
        </p:nvGrpSpPr>
        <p:grpSpPr>
          <a:xfrm>
            <a:off x="6096001" y="2686050"/>
            <a:ext cx="2001837" cy="1566862"/>
            <a:chOff x="-616670" y="-335999"/>
            <a:chExt cx="1243075" cy="930580"/>
          </a:xfrm>
        </p:grpSpPr>
        <p:sp>
          <p:nvSpPr>
            <p:cNvPr id="188" name="Google Shape;188;p20"/>
            <p:cNvSpPr/>
            <p:nvPr/>
          </p:nvSpPr>
          <p:spPr>
            <a:xfrm>
              <a:off x="-535551" y="-335999"/>
              <a:ext cx="1161956" cy="9305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CCB5"/>
                </a:gs>
                <a:gs pos="55000">
                  <a:srgbClr val="FF934E"/>
                </a:gs>
                <a:gs pos="100000">
                  <a:srgbClr val="DD750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50800" dist="25400" dir="5400000" rotWithShape="0">
                <a:srgbClr val="000000">
                  <a:alpha val="4470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-616670" y="-308656"/>
              <a:ext cx="1071548" cy="840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38100" rIns="76200" bIns="381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b="1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Dejours</a:t>
              </a:r>
              <a:endParaRPr/>
            </a:p>
          </p:txBody>
        </p:sp>
      </p:grpSp>
      <p:sp>
        <p:nvSpPr>
          <p:cNvPr id="190" name="Google Shape;190;p20"/>
          <p:cNvSpPr/>
          <p:nvPr/>
        </p:nvSpPr>
        <p:spPr>
          <a:xfrm>
            <a:off x="7820026" y="2938462"/>
            <a:ext cx="2740025" cy="1643062"/>
          </a:xfrm>
          <a:prstGeom prst="roundRect">
            <a:avLst>
              <a:gd name="adj" fmla="val 16667"/>
            </a:avLst>
          </a:prstGeom>
          <a:solidFill>
            <a:srgbClr val="FBCC9A"/>
          </a:solidFill>
          <a:ln w="19050" cap="flat" cmpd="sng">
            <a:solidFill>
              <a:srgbClr val="B05C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347076" y="3024187"/>
            <a:ext cx="1646237" cy="144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indent="-139700"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Medicina</a:t>
            </a:r>
            <a:endParaRPr/>
          </a:p>
          <a:p>
            <a:pPr indent="-139700"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Ciências Sociais</a:t>
            </a:r>
            <a:endParaRPr/>
          </a:p>
          <a:p>
            <a:pPr indent="-139700"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Psicologia</a:t>
            </a:r>
            <a:endParaRPr/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9387" y="5016500"/>
            <a:ext cx="4760912" cy="173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title"/>
          </p:nvPr>
        </p:nvSpPr>
        <p:spPr>
          <a:xfrm>
            <a:off x="1981200" y="1006475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3600"/>
            </a:pPr>
            <a:r>
              <a:rPr lang="en-US" sz="3600" b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 que ocorre com a psicopatologia do trabalho?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2305050" y="2776537"/>
            <a:ext cx="32893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Psicopatologia  do trabalho		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661150" y="2705100"/>
            <a:ext cx="2881312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Psicodinâmica do trabalho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594333" y="2705529"/>
            <a:ext cx="765222" cy="50468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CCB5"/>
              </a:gs>
              <a:gs pos="55000">
                <a:srgbClr val="FF924E"/>
              </a:gs>
              <a:gs pos="100000">
                <a:srgbClr val="DE7508"/>
              </a:gs>
            </a:gsLst>
            <a:path path="circle">
              <a:fillToRect r="100000" b="100000"/>
            </a:path>
            <a:tileRect l="-100000" t="-10000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880158" y="3765577"/>
            <a:ext cx="530771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Descompensações Médicas / psiquiátricas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133350">
              <a:buClr>
                <a:schemeClr val="dk1"/>
              </a:buClr>
              <a:buSzPts val="2400"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750" lvl="5" indent="-133350">
              <a:buClr>
                <a:schemeClr val="dk1"/>
              </a:buClr>
              <a:buSzPts val="2400"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959600" y="4089401"/>
            <a:ext cx="4572000" cy="267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Conhecimento em:</a:t>
            </a:r>
            <a:endParaRPr/>
          </a:p>
          <a:p>
            <a:pPr marL="285750" indent="-133350">
              <a:buClr>
                <a:schemeClr val="dk1"/>
              </a:buClr>
              <a:buSzPts val="2400"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Psiquiatria </a:t>
            </a:r>
            <a:endParaRPr/>
          </a:p>
          <a:p>
            <a:pPr marL="742950" lvl="1" indent="-285750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Psicopatologia </a:t>
            </a:r>
            <a:endParaRPr/>
          </a:p>
          <a:p>
            <a:pPr marL="742950" lvl="1" indent="-285750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Psicanálise</a:t>
            </a:r>
            <a:endParaRPr/>
          </a:p>
          <a:p>
            <a:pPr marL="742950" lvl="1" indent="-285750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Psicodinâmica</a:t>
            </a:r>
            <a:endParaRPr/>
          </a:p>
          <a:p>
            <a:pPr marL="742950" lvl="1" indent="-285750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Ergonômia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1703388" y="830262"/>
            <a:ext cx="8785225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107950" indent="0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07950" indent="0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07950" indent="0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07950" indent="0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5125" indent="-77787"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08" name="Google Shape;208;p22" descr="Uma imagem contendo pessoa, homem, vestuário, interior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4062" y="1952627"/>
            <a:ext cx="3078162" cy="244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493078" y="1341818"/>
            <a:ext cx="6105525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7950" algn="ctr">
              <a:buClr>
                <a:srgbClr val="C00000"/>
              </a:buClr>
              <a:buSzPts val="4000"/>
            </a:pP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“[...]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trabalhar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não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tão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só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produzir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trabalhar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ainda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viver</a:t>
            </a:r>
            <a:r>
              <a:rPr lang="en-US" sz="4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 junto.” </a:t>
            </a:r>
            <a:endParaRPr dirty="0"/>
          </a:p>
          <a:p>
            <a:pPr marL="107950" algn="ctr">
              <a:buClr>
                <a:srgbClr val="C00000"/>
              </a:buClr>
              <a:buSzPts val="2000"/>
            </a:pPr>
            <a:r>
              <a:rPr lang="en-US" sz="2000" b="1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(DEJOURS, 2004, p. 18)</a:t>
            </a:r>
            <a:endParaRPr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6096000" y="4827588"/>
            <a:ext cx="45720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4D5156"/>
              </a:buClr>
              <a:buSzPts val="1800"/>
            </a:pPr>
            <a:r>
              <a:rPr lang="en-US">
                <a:solidFill>
                  <a:srgbClr val="4D5156"/>
                </a:solidFill>
                <a:latin typeface="Arial"/>
                <a:ea typeface="Arial"/>
                <a:cs typeface="Arial"/>
                <a:sym typeface="Arial"/>
              </a:rPr>
              <a:t>Christophe Dejours é doutor em Medicina, especialista em medicina do trabalho e em psiquiatria e psicanalista. É considerado o pai da psicodinâmica do trabalho.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title"/>
          </p:nvPr>
        </p:nvSpPr>
        <p:spPr>
          <a:xfrm>
            <a:off x="1847850" y="69215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rgbClr val="FFC000"/>
              </a:buClr>
              <a:buSzPts val="4000"/>
            </a:pPr>
            <a:r>
              <a:rPr lang="en-US" b="1">
                <a:solidFill>
                  <a:srgbClr val="FFC000"/>
                </a:solidFill>
                <a:latin typeface="Trebuchet MS"/>
                <a:ea typeface="Trebuchet MS"/>
                <a:cs typeface="Trebuchet MS"/>
                <a:sym typeface="Trebuchet MS"/>
              </a:rPr>
              <a:t>O que é a Psicodinâmica?</a:t>
            </a:r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body" idx="1"/>
          </p:nvPr>
        </p:nvSpPr>
        <p:spPr>
          <a:xfrm>
            <a:off x="749808" y="1989137"/>
            <a:ext cx="9770555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Psicodinâmica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uma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abordagem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propõe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compreensão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da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relação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subjetiva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que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os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trabalhadores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têm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com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seu</a:t>
            </a:r>
            <a:r>
              <a:rPr lang="en-US" sz="2800" b="1" dirty="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Para 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Psicodinâmica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o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tem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lugar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central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construção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identidade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sujeito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realização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pessoal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processos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saúde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doença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tudo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aquilo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se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faz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além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prescrito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é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toda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mobilização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necessária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execução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uma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tarefa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27250" y="688975"/>
            <a:ext cx="8089900" cy="53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5" descr="Uma imagem contendo 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9688" y="750887"/>
            <a:ext cx="4098925" cy="289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 rotWithShape="1">
          <a:blip r:embed="rId4">
            <a:alphaModFix/>
          </a:blip>
          <a:srcRect l="25587" t="12200" r="24801" b="57000"/>
          <a:stretch/>
        </p:blipFill>
        <p:spPr>
          <a:xfrm>
            <a:off x="2208213" y="4005263"/>
            <a:ext cx="8066087" cy="259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 descr="Resultado de imagem para O TRABALHO NAO É NEUTRO EM RELAÇÃO A SAUD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3387" y="765175"/>
            <a:ext cx="4464050" cy="31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6"/>
          <p:cNvPicPr preferRelativeResize="0"/>
          <p:nvPr/>
        </p:nvPicPr>
        <p:blipFill rotWithShape="1">
          <a:blip r:embed="rId3">
            <a:alphaModFix/>
          </a:blip>
          <a:srcRect l="25586" t="16401" r="27162" b="65400"/>
          <a:stretch/>
        </p:blipFill>
        <p:spPr>
          <a:xfrm>
            <a:off x="2640012" y="5262563"/>
            <a:ext cx="7156450" cy="155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 descr="Uma imagem contendo text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7676" y="692151"/>
            <a:ext cx="8950325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7"/>
          <p:cNvPicPr preferRelativeResize="0"/>
          <p:nvPr/>
        </p:nvPicPr>
        <p:blipFill rotWithShape="1">
          <a:blip r:embed="rId3">
            <a:alphaModFix/>
          </a:blip>
          <a:srcRect l="25586" t="10800" r="25586" b="24800"/>
          <a:stretch/>
        </p:blipFill>
        <p:spPr>
          <a:xfrm>
            <a:off x="2276476" y="1052513"/>
            <a:ext cx="7851775" cy="54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l="28738" t="28999" r="27948" b="10800"/>
          <a:stretch/>
        </p:blipFill>
        <p:spPr>
          <a:xfrm>
            <a:off x="7606982" y="2507932"/>
            <a:ext cx="3276600" cy="324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8"/>
          <p:cNvSpPr txBox="1">
            <a:spLocks noGrp="1"/>
          </p:cNvSpPr>
          <p:nvPr>
            <p:ph type="title"/>
          </p:nvPr>
        </p:nvSpPr>
        <p:spPr>
          <a:xfrm>
            <a:off x="1389064" y="908050"/>
            <a:ext cx="9278937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C000"/>
              </a:buClr>
              <a:buSzPts val="4000"/>
            </a:pPr>
            <a:r>
              <a:rPr lang="en-US" b="1" dirty="0">
                <a:solidFill>
                  <a:srgbClr val="FFC000"/>
                </a:solidFill>
                <a:latin typeface="Trebuchet MS"/>
                <a:ea typeface="Trebuchet MS"/>
                <a:cs typeface="Trebuchet MS"/>
                <a:sym typeface="Trebuchet MS"/>
              </a:rPr>
              <a:t>PARA A PSICODINÂMICA e PARA </a:t>
            </a:r>
            <a:r>
              <a:rPr lang="en-US" b="1" dirty="0" err="1">
                <a:solidFill>
                  <a:srgbClr val="FFC000"/>
                </a:solidFill>
                <a:latin typeface="Trebuchet MS"/>
                <a:ea typeface="Trebuchet MS"/>
                <a:cs typeface="Trebuchet MS"/>
                <a:sym typeface="Trebuchet MS"/>
              </a:rPr>
              <a:t>psicanálise</a:t>
            </a:r>
            <a:r>
              <a:rPr lang="en-US" b="1" dirty="0">
                <a:solidFill>
                  <a:srgbClr val="FFC00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dirty="0"/>
          </a:p>
        </p:txBody>
      </p:sp>
      <p:sp>
        <p:nvSpPr>
          <p:cNvPr id="246" name="Google Shape;246;p28"/>
          <p:cNvSpPr txBox="1">
            <a:spLocks noGrp="1"/>
          </p:cNvSpPr>
          <p:nvPr>
            <p:ph type="body" idx="1"/>
          </p:nvPr>
        </p:nvSpPr>
        <p:spPr>
          <a:xfrm>
            <a:off x="448056" y="2249487"/>
            <a:ext cx="6656007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107950" indent="0" algn="ctr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None/>
            </a:pP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normalidade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aqui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concebida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simples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ausência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doença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e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sofrimento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mas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resultado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das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estratégias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defensivas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elaboradas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para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resistir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aquilo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é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desestabilizante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até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mesmo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nocivo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para o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funcionamento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psíquico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e a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saúde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mental” (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Dejours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1992).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>
            <a:spLocks noGrp="1"/>
          </p:cNvSpPr>
          <p:nvPr>
            <p:ph type="title"/>
          </p:nvPr>
        </p:nvSpPr>
        <p:spPr>
          <a:xfrm>
            <a:off x="1981200" y="1143000"/>
            <a:ext cx="85788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Conceitos importantes para Dejours: </a:t>
            </a:r>
            <a:r>
              <a:rPr lang="en-US" b="1">
                <a:solidFill>
                  <a:srgbClr val="FFC00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ORGANIZAÇÃO DO TRABALHO</a:t>
            </a:r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body" idx="1"/>
          </p:nvPr>
        </p:nvSpPr>
        <p:spPr>
          <a:xfrm>
            <a:off x="1981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77787">
              <a:spcBef>
                <a:spcPts val="0"/>
              </a:spcBef>
              <a:buClr>
                <a:srgbClr val="1B587C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3" name="Google Shape;253;p29"/>
          <p:cNvPicPr preferRelativeResize="0"/>
          <p:nvPr/>
        </p:nvPicPr>
        <p:blipFill rotWithShape="1">
          <a:blip r:embed="rId3">
            <a:alphaModFix/>
          </a:blip>
          <a:srcRect l="27950" t="33201" r="28735" b="10799"/>
          <a:stretch/>
        </p:blipFill>
        <p:spPr>
          <a:xfrm>
            <a:off x="1997076" y="2249487"/>
            <a:ext cx="8213725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1645444" y="959041"/>
            <a:ext cx="8901112" cy="1843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C00000"/>
              </a:buClr>
              <a:buSzPts val="4000"/>
            </a:pPr>
            <a:r>
              <a:rPr lang="en-US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CONDIÇÕES DE TRABAHO </a:t>
            </a:r>
            <a:br>
              <a:rPr lang="en-US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X </a:t>
            </a:r>
            <a:br>
              <a:rPr lang="en-US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ORGANIZAÇÃO DO TRABALHO</a:t>
            </a:r>
            <a:endParaRPr dirty="0"/>
          </a:p>
        </p:txBody>
      </p:sp>
      <p:sp>
        <p:nvSpPr>
          <p:cNvPr id="259" name="Google Shape;259;p30"/>
          <p:cNvSpPr txBox="1">
            <a:spLocks noGrp="1"/>
          </p:cNvSpPr>
          <p:nvPr>
            <p:ph type="body" idx="1"/>
          </p:nvPr>
        </p:nvSpPr>
        <p:spPr>
          <a:xfrm>
            <a:off x="493776" y="2984309"/>
            <a:ext cx="11356848" cy="45450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600"/>
              <a:buFont typeface="Georgia"/>
              <a:buChar char="•"/>
            </a:pPr>
            <a:r>
              <a:rPr lang="en-US" sz="2600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Condições</a:t>
            </a:r>
            <a:r>
              <a:rPr lang="en-US" sz="26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por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condições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deve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-se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entender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as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pressões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físicas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mecânicas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químicas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e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biológicas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no local de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 (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Dejours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p.125) –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Tem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como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alvo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o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corpo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600"/>
              <a:buFont typeface="Georgia"/>
              <a:buChar char="•"/>
            </a:pPr>
            <a:r>
              <a:rPr lang="en-US" sz="2600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Organização</a:t>
            </a:r>
            <a:r>
              <a:rPr lang="en-US" sz="26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600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6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divisão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,: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divisão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das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tarefas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entre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operadores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repartição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cadência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[...] o modo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operatório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prescrito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divisão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homens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suas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responsabilidades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hierárquica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comando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controle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etc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</a:t>
            </a:r>
            <a:r>
              <a:rPr lang="en-US" sz="26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Dejours</a:t>
            </a:r>
            <a:r>
              <a:rPr lang="en-US" sz="26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p. 125) –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Tem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como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alvo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o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funcionamento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psíquico</a:t>
            </a:r>
            <a:r>
              <a:rPr lang="en-US" sz="2600" u="sng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>
            <a:spLocks noGrp="1"/>
          </p:cNvSpPr>
          <p:nvPr>
            <p:ph type="title"/>
          </p:nvPr>
        </p:nvSpPr>
        <p:spPr>
          <a:xfrm>
            <a:off x="1703387" y="6985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5000"/>
            </a:pPr>
            <a:r>
              <a:rPr lang="en-US" sz="5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Para DEJOURS:</a:t>
            </a:r>
            <a:endParaRPr/>
          </a:p>
        </p:txBody>
      </p:sp>
      <p:sp>
        <p:nvSpPr>
          <p:cNvPr id="265" name="Google Shape;265;p31"/>
          <p:cNvSpPr/>
          <p:nvPr/>
        </p:nvSpPr>
        <p:spPr>
          <a:xfrm>
            <a:off x="4259313" y="2994014"/>
            <a:ext cx="2592387" cy="1296987"/>
          </a:xfrm>
          <a:custGeom>
            <a:avLst/>
            <a:gdLst/>
            <a:ahLst/>
            <a:cxnLst/>
            <a:rect l="l" t="t" r="r" b="b"/>
            <a:pathLst>
              <a:path w="2592388" h="1296988" extrusionOk="0">
                <a:moveTo>
                  <a:pt x="343621" y="267180"/>
                </a:moveTo>
                <a:lnTo>
                  <a:pt x="1272667" y="267180"/>
                </a:lnTo>
                <a:lnTo>
                  <a:pt x="1369912" y="0"/>
                </a:lnTo>
                <a:lnTo>
                  <a:pt x="1656567" y="104334"/>
                </a:lnTo>
                <a:lnTo>
                  <a:pt x="1597296" y="267180"/>
                </a:lnTo>
                <a:lnTo>
                  <a:pt x="2248767" y="267180"/>
                </a:lnTo>
                <a:lnTo>
                  <a:pt x="2248767" y="572231"/>
                </a:lnTo>
                <a:lnTo>
                  <a:pt x="1486266" y="572231"/>
                </a:lnTo>
                <a:lnTo>
                  <a:pt x="1430751" y="724757"/>
                </a:lnTo>
                <a:lnTo>
                  <a:pt x="2248767" y="724757"/>
                </a:lnTo>
                <a:lnTo>
                  <a:pt x="2248767" y="1029808"/>
                </a:lnTo>
                <a:lnTo>
                  <a:pt x="1319721" y="1029808"/>
                </a:lnTo>
                <a:lnTo>
                  <a:pt x="1222476" y="1296988"/>
                </a:lnTo>
                <a:lnTo>
                  <a:pt x="935821" y="1192654"/>
                </a:lnTo>
                <a:lnTo>
                  <a:pt x="995092" y="1029808"/>
                </a:lnTo>
                <a:lnTo>
                  <a:pt x="343621" y="1029808"/>
                </a:lnTo>
                <a:lnTo>
                  <a:pt x="343621" y="724757"/>
                </a:lnTo>
                <a:lnTo>
                  <a:pt x="1106122" y="724757"/>
                </a:lnTo>
                <a:lnTo>
                  <a:pt x="1161637" y="572231"/>
                </a:lnTo>
                <a:lnTo>
                  <a:pt x="343621" y="572231"/>
                </a:lnTo>
                <a:lnTo>
                  <a:pt x="343621" y="26718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rgbClr val="B05C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1"/>
          <p:cNvSpPr/>
          <p:nvPr/>
        </p:nvSpPr>
        <p:spPr>
          <a:xfrm>
            <a:off x="1398772" y="3134676"/>
            <a:ext cx="289401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C00000"/>
              </a:buClr>
              <a:buSzPts val="3000"/>
            </a:pPr>
            <a:r>
              <a:rPr lang="en-US" sz="3000" dirty="0" err="1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Organização</a:t>
            </a:r>
            <a:r>
              <a:rPr lang="en-US" sz="3000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3000" dirty="0" err="1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trabalho</a:t>
            </a:r>
            <a:endParaRPr sz="3000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6751687" y="3013064"/>
            <a:ext cx="3492500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C00000"/>
              </a:buClr>
              <a:buSzPts val="3000"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 adoecimento  do trabalhador / adoecimento mental.</a:t>
            </a:r>
            <a:endParaRPr/>
          </a:p>
        </p:txBody>
      </p:sp>
      <p:cxnSp>
        <p:nvCxnSpPr>
          <p:cNvPr id="268" name="Google Shape;268;p31"/>
          <p:cNvCxnSpPr/>
          <p:nvPr/>
        </p:nvCxnSpPr>
        <p:spPr>
          <a:xfrm rot="-5400000">
            <a:off x="5246700" y="1300213"/>
            <a:ext cx="1698600" cy="1079400"/>
          </a:xfrm>
          <a:prstGeom prst="curvedConnector3">
            <a:avLst>
              <a:gd name="adj1" fmla="val 10800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69" name="Google Shape;269;p31"/>
          <p:cNvSpPr txBox="1"/>
          <p:nvPr/>
        </p:nvSpPr>
        <p:spPr>
          <a:xfrm>
            <a:off x="6262737" y="801687"/>
            <a:ext cx="3981450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FFC000"/>
              </a:buClr>
              <a:buSzPts val="2500"/>
            </a:pPr>
            <a:r>
              <a:rPr lang="en-US" sz="2500" b="1" dirty="0" err="1">
                <a:solidFill>
                  <a:srgbClr val="FFC000"/>
                </a:solidFill>
                <a:latin typeface="Verdana"/>
                <a:ea typeface="Verdana"/>
                <a:cs typeface="Verdana"/>
                <a:sym typeface="Verdana"/>
              </a:rPr>
              <a:t>Mecanismos</a:t>
            </a:r>
            <a:r>
              <a:rPr lang="en-US" sz="2500" b="1" dirty="0">
                <a:solidFill>
                  <a:srgbClr val="FFC000"/>
                </a:solidFill>
                <a:latin typeface="Verdana"/>
                <a:ea typeface="Verdana"/>
                <a:cs typeface="Verdana"/>
                <a:sym typeface="Verdana"/>
              </a:rPr>
              <a:t> de </a:t>
            </a:r>
            <a:r>
              <a:rPr lang="en-US" sz="2500" b="1" dirty="0" err="1">
                <a:solidFill>
                  <a:srgbClr val="FFC000"/>
                </a:solidFill>
                <a:latin typeface="Verdana"/>
                <a:ea typeface="Verdana"/>
                <a:cs typeface="Verdana"/>
                <a:sym typeface="Verdana"/>
              </a:rPr>
              <a:t>defesa</a:t>
            </a:r>
            <a:endParaRPr dirty="0"/>
          </a:p>
        </p:txBody>
      </p:sp>
      <p:sp>
        <p:nvSpPr>
          <p:cNvPr id="270" name="Google Shape;270;p31"/>
          <p:cNvSpPr txBox="1"/>
          <p:nvPr/>
        </p:nvSpPr>
        <p:spPr>
          <a:xfrm>
            <a:off x="493776" y="5018087"/>
            <a:ext cx="9848087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202124"/>
              </a:buClr>
              <a:buSzPts val="2200"/>
            </a:pPr>
            <a:r>
              <a:rPr lang="en-US" sz="2200" b="1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Dejours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 (1987)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conceitua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200" b="1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organização</a:t>
            </a:r>
            <a:r>
              <a:rPr lang="en-US" sz="2200" b="1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200" b="1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trabalho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divisão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do </a:t>
            </a:r>
            <a:r>
              <a:rPr lang="en-US" sz="2200" b="1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trabalho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conteúdo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tarefa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(à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medida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dela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deriva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), o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hierárquico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, as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modalidades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comando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, as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relações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poder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, as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questões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00" dirty="0" err="1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responsabilidade</a:t>
            </a:r>
            <a:r>
              <a:rPr lang="en-US" sz="22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>
            <a:spLocks noGrp="1"/>
          </p:cNvSpPr>
          <p:nvPr>
            <p:ph type="title"/>
          </p:nvPr>
        </p:nvSpPr>
        <p:spPr>
          <a:xfrm>
            <a:off x="1981200" y="90805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4400"/>
            </a:pPr>
            <a:r>
              <a:rPr lang="en-US" sz="4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DEFESAS INDIVIDUAIS</a:t>
            </a:r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body" idx="1"/>
          </p:nvPr>
        </p:nvSpPr>
        <p:spPr>
          <a:xfrm>
            <a:off x="484632" y="1901952"/>
            <a:ext cx="9592818" cy="455282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 algn="ctr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São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respostas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pressão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organizacional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respostas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as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atividades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retiram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trabalhador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sua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“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atividade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intelectual</a:t>
            </a:r>
            <a:r>
              <a:rPr lang="en-US" sz="32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</a:t>
            </a:r>
            <a:endParaRPr dirty="0"/>
          </a:p>
        </p:txBody>
      </p:sp>
      <p:sp>
        <p:nvSpPr>
          <p:cNvPr id="277" name="Google Shape;277;p32"/>
          <p:cNvSpPr txBox="1"/>
          <p:nvPr/>
        </p:nvSpPr>
        <p:spPr>
          <a:xfrm>
            <a:off x="6986587" y="5337175"/>
            <a:ext cx="3090862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https://www.youtube.com/watch?v=7bp3YWXMpWo</a:t>
            </a:r>
            <a:endParaRPr/>
          </a:p>
        </p:txBody>
      </p:sp>
      <p:pic>
        <p:nvPicPr>
          <p:cNvPr id="278" name="Google Shape;278;p32" descr="Uma imagem contendo interior, pessoa, jornal, 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928" y="3548063"/>
            <a:ext cx="4748212" cy="26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1981200" y="69215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4400"/>
            </a:pPr>
            <a:r>
              <a:rPr lang="en-US" sz="4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DEFESAS COLETIVAS</a:t>
            </a:r>
            <a:endParaRPr/>
          </a:p>
        </p:txBody>
      </p:sp>
      <p:sp>
        <p:nvSpPr>
          <p:cNvPr id="284" name="Google Shape;284;p33"/>
          <p:cNvSpPr txBox="1">
            <a:spLocks noGrp="1"/>
          </p:cNvSpPr>
          <p:nvPr>
            <p:ph type="body" idx="1"/>
          </p:nvPr>
        </p:nvSpPr>
        <p:spPr>
          <a:xfrm>
            <a:off x="1666876" y="1893887"/>
            <a:ext cx="4751387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Elaborados por um conjunto de indivíduos em uma organização como forma de conter a ansiedade e os “perigos/riscos” provenientes do trabalho</a:t>
            </a:r>
            <a:endParaRPr/>
          </a:p>
        </p:txBody>
      </p:sp>
      <p:pic>
        <p:nvPicPr>
          <p:cNvPr id="285" name="Google Shape;285;p33" descr="Uma imagem contendo pessoa, em pé, interior, homem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6975" y="1951037"/>
            <a:ext cx="4248150" cy="40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1981200" y="531812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4400"/>
            </a:pPr>
            <a:r>
              <a:rPr lang="en-US" sz="44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TIPOS DE DEFESA NO TRABALHO</a:t>
            </a:r>
            <a:endParaRPr/>
          </a:p>
        </p:txBody>
      </p:sp>
      <p:pic>
        <p:nvPicPr>
          <p:cNvPr id="291" name="Google Shape;291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7588" y="1630363"/>
            <a:ext cx="4249737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4"/>
          <p:cNvPicPr preferRelativeResize="0"/>
          <p:nvPr/>
        </p:nvPicPr>
        <p:blipFill rotWithShape="1">
          <a:blip r:embed="rId4">
            <a:alphaModFix/>
          </a:blip>
          <a:srcRect l="24012" t="66925" r="24800" b="20599"/>
          <a:stretch/>
        </p:blipFill>
        <p:spPr>
          <a:xfrm>
            <a:off x="1524000" y="5978526"/>
            <a:ext cx="9144000" cy="83343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/>
        </p:nvSpPr>
        <p:spPr>
          <a:xfrm>
            <a:off x="1631950" y="1966912"/>
            <a:ext cx="489585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indent="-255587"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Cinismo;</a:t>
            </a:r>
            <a:endParaRPr/>
          </a:p>
          <a:p>
            <a:pPr marL="365125" indent="-255587">
              <a:spcBef>
                <a:spcPts val="300"/>
              </a:spcBef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Dissimulação</a:t>
            </a:r>
            <a:endParaRPr/>
          </a:p>
          <a:p>
            <a:pPr marL="365125" indent="-255587">
              <a:spcBef>
                <a:spcPts val="300"/>
              </a:spcBef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Desprezo;</a:t>
            </a:r>
            <a:endParaRPr/>
          </a:p>
          <a:p>
            <a:pPr marL="365125" indent="-255587">
              <a:spcBef>
                <a:spcPts val="300"/>
              </a:spcBef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Negação dos riscos;</a:t>
            </a:r>
            <a:endParaRPr/>
          </a:p>
          <a:p>
            <a:pPr marL="365125" indent="-255587">
              <a:spcBef>
                <a:spcPts val="300"/>
              </a:spcBef>
              <a:buClr>
                <a:srgbClr val="1B587C"/>
              </a:buClr>
              <a:buSzPts val="3200"/>
              <a:buFont typeface="Georgia"/>
              <a:buChar char="•"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Distorção da comunicação, etc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1960562" y="5492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C000"/>
              </a:buClr>
              <a:buSzPts val="4400"/>
            </a:pPr>
            <a:r>
              <a:rPr lang="en-US" sz="4400" b="1">
                <a:solidFill>
                  <a:srgbClr val="FFC000"/>
                </a:solidFill>
                <a:latin typeface="Trebuchet MS"/>
                <a:ea typeface="Trebuchet MS"/>
                <a:cs typeface="Trebuchet MS"/>
                <a:sym typeface="Trebuchet MS"/>
              </a:rPr>
              <a:t>A SERVIDÃO VOLUNTÁRIA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body" idx="1"/>
          </p:nvPr>
        </p:nvSpPr>
        <p:spPr>
          <a:xfrm>
            <a:off x="1524001" y="1960562"/>
            <a:ext cx="4689475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Relaciona-se ao “silenciamento” do projeto neo-liberal;</a:t>
            </a:r>
            <a:endParaRPr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Submissão sem protestos;</a:t>
            </a:r>
            <a:endParaRPr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Banalização do sofrimento;</a:t>
            </a:r>
            <a:endParaRPr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Naturalização das injustiças</a:t>
            </a:r>
            <a:endParaRPr/>
          </a:p>
          <a:p>
            <a:pPr marL="365125" indent="-77787"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00" name="Google Shape;30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5363" y="1490663"/>
            <a:ext cx="4403725" cy="50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title"/>
          </p:nvPr>
        </p:nvSpPr>
        <p:spPr>
          <a:xfrm>
            <a:off x="1343025" y="908050"/>
            <a:ext cx="88201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QUANDO O SOFRIMENTO VIRA PATOLOGIA?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1"/>
          </p:nvPr>
        </p:nvSpPr>
        <p:spPr>
          <a:xfrm>
            <a:off x="1774825" y="2203450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Quando os mecanismos de defesa falham; </a:t>
            </a:r>
            <a:endParaRPr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capacidade criativa do sujeito é extirpada</a:t>
            </a:r>
            <a:endParaRPr/>
          </a:p>
        </p:txBody>
      </p:sp>
      <p:pic>
        <p:nvPicPr>
          <p:cNvPr id="307" name="Google Shape;307;p36" descr="Resultado de imagem para LER / DO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7225" y="3357562"/>
            <a:ext cx="5797550" cy="30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>
            <a:spLocks noGrp="1"/>
          </p:cNvSpPr>
          <p:nvPr>
            <p:ph type="title"/>
          </p:nvPr>
        </p:nvSpPr>
        <p:spPr>
          <a:xfrm>
            <a:off x="1981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endParaRPr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3" name="Google Shape;313;p37" descr="Uma imagem contendo texto&#10;&#10;Descrição gerada automa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66875" y="765176"/>
            <a:ext cx="8858250" cy="57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4" name="Rectangle 33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oogle Shape;326;p39" descr="Uma imagem contendo brinquedo&#10;&#10;Descrição gerada automaticamente"/>
          <p:cNvPicPr preferRelativeResize="0"/>
          <p:nvPr/>
        </p:nvPicPr>
        <p:blipFill rotWithShape="1">
          <a:blip r:embed="rId3"/>
          <a:srcRect l="7210" r="7258"/>
          <a:stretch/>
        </p:blipFill>
        <p:spPr>
          <a:xfrm>
            <a:off x="6326272" y="10"/>
            <a:ext cx="5865727" cy="6857990"/>
          </a:xfrm>
          <a:prstGeom prst="rect">
            <a:avLst/>
          </a:prstGeom>
          <a:noFill/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703400" y="908650"/>
            <a:ext cx="4937004" cy="5358333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2"/>
              </a:buClr>
              <a:buSzPts val="3200"/>
            </a:pPr>
            <a:r>
              <a:rPr lang="en-US" sz="3200" dirty="0">
                <a:sym typeface="Trebuchet MS"/>
              </a:rPr>
              <a:t>32% dos </a:t>
            </a:r>
            <a:r>
              <a:rPr lang="en-US" sz="3200" dirty="0" err="1">
                <a:sym typeface="Trebuchet MS"/>
              </a:rPr>
              <a:t>trabalhadores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brasileiros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sofrem</a:t>
            </a:r>
            <a:r>
              <a:rPr lang="en-US" sz="3200" dirty="0">
                <a:sym typeface="Trebuchet MS"/>
              </a:rPr>
              <a:t> com a </a:t>
            </a:r>
            <a:r>
              <a:rPr lang="en-US" sz="3200" b="1" dirty="0" err="1">
                <a:sym typeface="Trebuchet MS"/>
              </a:rPr>
              <a:t>síndrome</a:t>
            </a:r>
            <a:r>
              <a:rPr lang="en-US" sz="3200" b="1" dirty="0">
                <a:sym typeface="Trebuchet MS"/>
              </a:rPr>
              <a:t> de Burnout</a:t>
            </a:r>
            <a:r>
              <a:rPr lang="en-US" sz="3200" dirty="0">
                <a:sym typeface="Trebuchet MS"/>
              </a:rPr>
              <a:t>;</a:t>
            </a:r>
            <a:br>
              <a:rPr lang="en-US" sz="3200" dirty="0">
                <a:sym typeface="Trebuchet MS"/>
              </a:rPr>
            </a:br>
            <a:br>
              <a:rPr lang="en-US" sz="3200" dirty="0">
                <a:sym typeface="Trebuchet MS"/>
              </a:rPr>
            </a:br>
            <a:r>
              <a:rPr lang="en-US" sz="3200" dirty="0">
                <a:sym typeface="Trebuchet MS"/>
              </a:rPr>
              <a:t>Em um ranking de </a:t>
            </a:r>
            <a:r>
              <a:rPr lang="en-US" sz="3200" dirty="0" err="1">
                <a:sym typeface="Trebuchet MS"/>
              </a:rPr>
              <a:t>oito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países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elaborado</a:t>
            </a:r>
            <a:r>
              <a:rPr lang="en-US" sz="3200" dirty="0">
                <a:sym typeface="Trebuchet MS"/>
              </a:rPr>
              <a:t>, </a:t>
            </a:r>
            <a:r>
              <a:rPr lang="en-US" sz="3200" dirty="0" err="1">
                <a:sym typeface="Trebuchet MS"/>
              </a:rPr>
              <a:t>estamos</a:t>
            </a:r>
            <a:r>
              <a:rPr lang="en-US" sz="3200" dirty="0">
                <a:sym typeface="Trebuchet MS"/>
              </a:rPr>
              <a:t> à </a:t>
            </a:r>
            <a:r>
              <a:rPr lang="en-US" sz="3200" dirty="0" err="1">
                <a:sym typeface="Trebuchet MS"/>
              </a:rPr>
              <a:t>frente</a:t>
            </a:r>
            <a:r>
              <a:rPr lang="en-US" sz="3200" dirty="0">
                <a:sym typeface="Trebuchet MS"/>
              </a:rPr>
              <a:t> da China e dos </a:t>
            </a:r>
            <a:r>
              <a:rPr lang="en-US" sz="3200" dirty="0" err="1">
                <a:sym typeface="Trebuchet MS"/>
              </a:rPr>
              <a:t>Estados</a:t>
            </a:r>
            <a:r>
              <a:rPr lang="en-US" sz="3200" dirty="0">
                <a:sym typeface="Trebuchet MS"/>
              </a:rPr>
              <a:t> Unidos – e </a:t>
            </a:r>
            <a:r>
              <a:rPr lang="en-US" sz="3200" dirty="0" err="1">
                <a:sym typeface="Trebuchet MS"/>
              </a:rPr>
              <a:t>perdemos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apenas</a:t>
            </a:r>
            <a:r>
              <a:rPr lang="en-US" sz="3200" dirty="0">
                <a:sym typeface="Trebuchet MS"/>
              </a:rPr>
              <a:t> para o </a:t>
            </a:r>
            <a:r>
              <a:rPr lang="en-US" sz="3200" dirty="0" err="1">
                <a:sym typeface="Trebuchet MS"/>
              </a:rPr>
              <a:t>Japão</a:t>
            </a:r>
            <a:r>
              <a:rPr lang="en-US" sz="3200" dirty="0">
                <a:sym typeface="Trebuchet MS"/>
              </a:rPr>
              <a:t>, </a:t>
            </a:r>
            <a:r>
              <a:rPr lang="en-US" sz="3200" dirty="0" err="1">
                <a:sym typeface="Trebuchet MS"/>
              </a:rPr>
              <a:t>onde</a:t>
            </a:r>
            <a:r>
              <a:rPr lang="en-US" sz="3200" dirty="0">
                <a:sym typeface="Trebuchet MS"/>
              </a:rPr>
              <a:t> 70% da </a:t>
            </a:r>
            <a:r>
              <a:rPr lang="en-US" sz="3200" dirty="0" err="1">
                <a:sym typeface="Trebuchet MS"/>
              </a:rPr>
              <a:t>população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apresenta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os</a:t>
            </a:r>
            <a:r>
              <a:rPr lang="en-US" sz="3200" dirty="0">
                <a:sym typeface="Trebuchet MS"/>
              </a:rPr>
              <a:t> </a:t>
            </a:r>
            <a:r>
              <a:rPr lang="en-US" sz="3200" dirty="0" err="1">
                <a:sym typeface="Trebuchet MS"/>
              </a:rPr>
              <a:t>sintomas</a:t>
            </a:r>
            <a:r>
              <a:rPr lang="en-US" sz="3200" dirty="0">
                <a:sym typeface="Trebuchet MS"/>
              </a:rPr>
              <a:t> do burnout.(</a:t>
            </a:r>
            <a:r>
              <a:rPr lang="en-US" sz="3200" b="1" dirty="0">
                <a:sym typeface="Trebuchet MS"/>
              </a:rPr>
              <a:t>ISMA</a:t>
            </a:r>
            <a:r>
              <a:rPr lang="en-US" sz="3200" dirty="0">
                <a:sym typeface="Trebuchet MS"/>
              </a:rPr>
              <a:t>)</a:t>
            </a:r>
            <a:endParaRPr lang="en-US" sz="3200" dirty="0"/>
          </a:p>
        </p:txBody>
      </p: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>
            <a:spLocks noGrp="1"/>
          </p:cNvSpPr>
          <p:nvPr>
            <p:ph type="body" idx="1"/>
          </p:nvPr>
        </p:nvSpPr>
        <p:spPr>
          <a:xfrm>
            <a:off x="1847850" y="1341437"/>
            <a:ext cx="84963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107950" indent="0" algn="just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3000"/>
              <a:buNone/>
            </a:pPr>
            <a:r>
              <a:rPr lang="en-US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patologia surge quando se </a:t>
            </a:r>
            <a:r>
              <a:rPr lang="en-US" sz="3000" b="1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rompe o equilíbrio e o sofrimento não é mais contornável</a:t>
            </a:r>
            <a:r>
              <a:rPr lang="en-US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Em outros termos, quando um certo trabalhador utilizou todos os seus recursos intelectuais e psicoafetivos para dar conta da atividade e demandas impostas pela organização e percebe que nada pode fazer para se adaptar e/ou transformar o trabalho </a:t>
            </a:r>
            <a:endParaRPr/>
          </a:p>
          <a:p>
            <a:pPr marL="107950" indent="0" algn="r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3000"/>
              <a:buNone/>
            </a:pPr>
            <a:r>
              <a:rPr lang="en-US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(Lancman, Uchida, 2003)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>
            <a:spLocks noGrp="1"/>
          </p:cNvSpPr>
          <p:nvPr>
            <p:ph type="title"/>
          </p:nvPr>
        </p:nvSpPr>
        <p:spPr>
          <a:xfrm>
            <a:off x="256032" y="3141662"/>
            <a:ext cx="11256263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...se o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trabalho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é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gerador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doenças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e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sofrimento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qualquer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ação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que vise a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sua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transformação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ou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vise a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amenizar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o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sofrimento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dos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trabalhadores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adoecidos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ou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em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risco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adoecimento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deve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se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dar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partir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mudanças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na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relação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das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pessoas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com o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seu</a:t>
            </a:r>
            <a:r>
              <a:rPr lang="en-US" sz="36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trabalho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ou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seja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, com o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ato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de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trabalhar</a:t>
            </a:r>
            <a:r>
              <a:rPr lang="en-US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br>
              <a:rPr lang="en-US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0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Dejours</a:t>
            </a:r>
            <a:r>
              <a:rPr lang="en-US" sz="2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) 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body" idx="1"/>
          </p:nvPr>
        </p:nvSpPr>
        <p:spPr>
          <a:xfrm>
            <a:off x="1524001" y="1527176"/>
            <a:ext cx="6124575" cy="60531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107950" indent="0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3000"/>
              <a:buNone/>
            </a:pPr>
            <a:endParaRPr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07950" indent="0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3000"/>
              <a:buNone/>
            </a:pPr>
            <a:r>
              <a:rPr lang="en-US" sz="30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“O sofrimento </a:t>
            </a:r>
            <a:r>
              <a:rPr lang="en-US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implica um estado de luta contra as formas (ligadas a organização do trabalho) que o empurram em direção a doença mental”</a:t>
            </a:r>
            <a:endParaRPr/>
          </a:p>
          <a:p>
            <a:pPr marL="107950" indent="0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3000"/>
              <a:buNone/>
            </a:pPr>
            <a:endParaRPr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07950" indent="0" algn="ctr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3000"/>
              <a:buNone/>
            </a:pPr>
            <a:r>
              <a:rPr lang="en-US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Dejours, p. 127 </a:t>
            </a:r>
            <a:endParaRPr/>
          </a:p>
        </p:txBody>
      </p:sp>
      <p:pic>
        <p:nvPicPr>
          <p:cNvPr id="342" name="Google Shape;342;p42" descr="CHISTOPHE DEJOU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8887" y="1557338"/>
            <a:ext cx="28194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1773237" y="554037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00"/>
              </a:buClr>
              <a:buSzPts val="4000"/>
            </a:pP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AMBIVALÊNCIA DO SOFRIMENTO</a:t>
            </a:r>
            <a:endParaRPr/>
          </a:p>
        </p:txBody>
      </p:sp>
      <p:sp>
        <p:nvSpPr>
          <p:cNvPr id="348" name="Google Shape;348;p43"/>
          <p:cNvSpPr txBox="1">
            <a:spLocks noGrp="1"/>
          </p:cNvSpPr>
          <p:nvPr>
            <p:ph type="body" idx="1"/>
          </p:nvPr>
        </p:nvSpPr>
        <p:spPr>
          <a:xfrm>
            <a:off x="274320" y="1620838"/>
            <a:ext cx="11338560" cy="51133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400"/>
              <a:buFont typeface="Georgia"/>
              <a:buChar char="•"/>
            </a:pPr>
            <a:r>
              <a:rPr lang="en-US" sz="2400" b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Sofrimento</a:t>
            </a:r>
            <a:r>
              <a:rPr lang="en-US" sz="24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patogênico</a:t>
            </a:r>
            <a:r>
              <a:rPr lang="en-US" sz="24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sofrimento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emerge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quando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todas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as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possibilidades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adaptação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ajustamento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à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organização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pelo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sujeito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para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colocá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-lo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concordância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com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seu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desejo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foram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utilizadas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e a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relação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subjetiva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com a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organização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está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bloqueada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5125" indent="-255587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400"/>
              <a:buNone/>
            </a:pP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* O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adoecimento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está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relacionado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as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condições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mas,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também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historia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individual do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individuo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que é “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atualizada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”, </a:t>
            </a:r>
            <a:r>
              <a:rPr lang="en-US" sz="2400" i="1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repetida</a:t>
            </a:r>
            <a:r>
              <a:rPr lang="en-US" sz="2400" i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400"/>
              <a:buFont typeface="Georgia"/>
              <a:buChar char="•"/>
            </a:pPr>
            <a:r>
              <a:rPr lang="en-US" sz="2400" b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Sofrimento</a:t>
            </a:r>
            <a:r>
              <a:rPr lang="en-US" sz="24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criador</a:t>
            </a:r>
            <a:r>
              <a:rPr lang="en-US" sz="2400" b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quando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sofrimento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transformado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criatividade</a:t>
            </a:r>
            <a:r>
              <a:rPr lang="en-US" sz="24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questão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não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é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eliminar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o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sofrimento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mas, sim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transforma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-lo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em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criatividade</a:t>
            </a:r>
            <a:r>
              <a:rPr lang="en-US" sz="2400" i="1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dirty="0"/>
          </a:p>
          <a:p>
            <a:pPr marL="365125" indent="-103187">
              <a:spcBef>
                <a:spcPts val="300"/>
              </a:spcBef>
              <a:buClr>
                <a:srgbClr val="1B587C"/>
              </a:buClr>
              <a:buSzPts val="2400"/>
              <a:buNone/>
            </a:pPr>
            <a:endParaRPr sz="2400" i="1" dirty="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>
            <a:spLocks noGrp="1"/>
          </p:cNvSpPr>
          <p:nvPr>
            <p:ph type="title"/>
          </p:nvPr>
        </p:nvSpPr>
        <p:spPr>
          <a:xfrm>
            <a:off x="1847850" y="7651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rgbClr val="FF0000"/>
              </a:buClr>
              <a:buSzPts val="4000"/>
            </a:pPr>
            <a:r>
              <a:rPr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MANIFESTAÇÕES DO SOFRIMENTO </a:t>
            </a:r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body" idx="1"/>
          </p:nvPr>
        </p:nvSpPr>
        <p:spPr>
          <a:xfrm>
            <a:off x="694944" y="1916112"/>
            <a:ext cx="11283696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Atitudes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agressivas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Preocupação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com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situações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trabalho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Ausência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“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manifestações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coletivas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Desconfiança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aos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outros;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Morosidade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dos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processos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Sentimento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reconhecimento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dos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méritos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Vivência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injustiça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remuneração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reconhecimento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etc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);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Individualismo</a:t>
            </a: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Crise entre as equipes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>
            <a:spLocks noGrp="1"/>
          </p:cNvSpPr>
          <p:nvPr>
            <p:ph type="title"/>
          </p:nvPr>
        </p:nvSpPr>
        <p:spPr>
          <a:xfrm>
            <a:off x="1981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PRAZER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body" idx="1"/>
          </p:nvPr>
        </p:nvSpPr>
        <p:spPr>
          <a:xfrm>
            <a:off x="1524001" y="2336800"/>
            <a:ext cx="5915025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65125" indent="-255587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“é necessário que a tarefa tenha um sentido para o sujeito, tendo em vista sua historia singular”. Dejours, p. 137 </a:t>
            </a:r>
            <a:endParaRPr/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5125" indent="-255587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Font typeface="Georgia"/>
              <a:buChar char="•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 trabalho é tambem um espaço de construção de sentido, de conquista da identidade. </a:t>
            </a:r>
            <a:endParaRPr/>
          </a:p>
        </p:txBody>
      </p:sp>
      <p:pic>
        <p:nvPicPr>
          <p:cNvPr id="361" name="Google Shape;361;p45" descr="A loucura do trabalho: estudo de psicopatologia do trabalho | Amazon.com.b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3197" y="1052512"/>
            <a:ext cx="320040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0876" y="901701"/>
            <a:ext cx="8143875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 txBox="1"/>
          <p:nvPr/>
        </p:nvSpPr>
        <p:spPr>
          <a:xfrm>
            <a:off x="5988051" y="5373687"/>
            <a:ext cx="442912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C00000"/>
              </a:buClr>
              <a:buSzPts val="2400"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"face oculta do trabalho“</a:t>
            </a:r>
            <a:endParaRPr/>
          </a:p>
          <a:p>
            <a:pPr algn="ctr">
              <a:buClr>
                <a:srgbClr val="C00000"/>
              </a:buClr>
              <a:buSzPts val="2400"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(Dejours, 1993b, p. 47)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70175" y="762000"/>
            <a:ext cx="6888162" cy="45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7"/>
          <p:cNvSpPr/>
          <p:nvPr/>
        </p:nvSpPr>
        <p:spPr>
          <a:xfrm>
            <a:off x="5916613" y="3573462"/>
            <a:ext cx="377825" cy="677862"/>
          </a:xfrm>
          <a:prstGeom prst="upArrow">
            <a:avLst>
              <a:gd name="adj1" fmla="val 602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B05C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7"/>
          <p:cNvSpPr txBox="1"/>
          <p:nvPr/>
        </p:nvSpPr>
        <p:spPr>
          <a:xfrm>
            <a:off x="5127625" y="4506913"/>
            <a:ext cx="1955800" cy="6699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FF0000"/>
              </a:buClr>
              <a:buSzPts val="1800"/>
            </a:pP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INTELIGÊNCIA ASTUCIOSA</a:t>
            </a:r>
            <a:endParaRPr/>
          </a:p>
        </p:txBody>
      </p:sp>
      <p:sp>
        <p:nvSpPr>
          <p:cNvPr id="375" name="Google Shape;375;p47"/>
          <p:cNvSpPr/>
          <p:nvPr/>
        </p:nvSpPr>
        <p:spPr>
          <a:xfrm>
            <a:off x="4965700" y="5343526"/>
            <a:ext cx="2279650" cy="587375"/>
          </a:xfrm>
          <a:custGeom>
            <a:avLst/>
            <a:gdLst/>
            <a:ahLst/>
            <a:cxnLst/>
            <a:rect l="l" t="t" r="r" b="b"/>
            <a:pathLst>
              <a:path w="2279650" h="587375" extrusionOk="0">
                <a:moveTo>
                  <a:pt x="0" y="440531"/>
                </a:moveTo>
                <a:lnTo>
                  <a:pt x="146844" y="293688"/>
                </a:lnTo>
                <a:lnTo>
                  <a:pt x="146844" y="367109"/>
                </a:lnTo>
                <a:lnTo>
                  <a:pt x="1066403" y="367109"/>
                </a:lnTo>
                <a:lnTo>
                  <a:pt x="1066403" y="146844"/>
                </a:lnTo>
                <a:lnTo>
                  <a:pt x="992981" y="146844"/>
                </a:lnTo>
                <a:lnTo>
                  <a:pt x="1139825" y="0"/>
                </a:lnTo>
                <a:lnTo>
                  <a:pt x="1286669" y="146844"/>
                </a:lnTo>
                <a:lnTo>
                  <a:pt x="1213247" y="146844"/>
                </a:lnTo>
                <a:lnTo>
                  <a:pt x="1213247" y="367109"/>
                </a:lnTo>
                <a:lnTo>
                  <a:pt x="2132806" y="367109"/>
                </a:lnTo>
                <a:lnTo>
                  <a:pt x="2132806" y="293688"/>
                </a:lnTo>
                <a:lnTo>
                  <a:pt x="2279650" y="440531"/>
                </a:lnTo>
                <a:lnTo>
                  <a:pt x="2132806" y="587375"/>
                </a:lnTo>
                <a:lnTo>
                  <a:pt x="2132806" y="513953"/>
                </a:lnTo>
                <a:lnTo>
                  <a:pt x="146844" y="513953"/>
                </a:lnTo>
                <a:lnTo>
                  <a:pt x="146844" y="587375"/>
                </a:lnTo>
                <a:lnTo>
                  <a:pt x="0" y="44053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rgbClr val="B05C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7453311" y="5312283"/>
            <a:ext cx="45500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92D050"/>
              </a:buClr>
              <a:buSzPts val="2400"/>
            </a:pPr>
            <a:r>
              <a:rPr lang="en-US" sz="24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VALIDADA: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PELA HIERARQUIA E PELOS PARES</a:t>
            </a:r>
            <a:endParaRPr dirty="0"/>
          </a:p>
        </p:txBody>
      </p:sp>
      <p:sp>
        <p:nvSpPr>
          <p:cNvPr id="377" name="Google Shape;377;p47"/>
          <p:cNvSpPr txBox="1"/>
          <p:nvPr/>
        </p:nvSpPr>
        <p:spPr>
          <a:xfrm>
            <a:off x="594361" y="5407025"/>
            <a:ext cx="41633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NÃO VALIDADA: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DE CONDENAÇÃO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>
            <a:spLocks noGrp="1"/>
          </p:cNvSpPr>
          <p:nvPr>
            <p:ph type="body" idx="1"/>
          </p:nvPr>
        </p:nvSpPr>
        <p:spPr>
          <a:xfrm>
            <a:off x="1847850" y="1052512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107950" indent="0" algn="just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Apesar da  programação muito precisa de cada canteiro de obra graças a um tipo de checklist que indica tanto as operações a executar quanto os instrumentos a serem utilizados, bem como as verificações terminais a serem feitas, a realização concreta do trabalho prescrito exige uma parte não negligenciável de </a:t>
            </a:r>
            <a:r>
              <a:rPr lang="en-US" sz="28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“interpretação” por parte dos operadores. A execução estrita dos modos operatórios prescritos conduziria, de fato, a incoerências, a perda de tempo e dinheiro...</a:t>
            </a:r>
            <a:endParaRPr/>
          </a:p>
          <a:p>
            <a:pPr marL="107950" indent="0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endParaRPr sz="2800" b="1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07950" indent="0" algn="r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Dejours, p.51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>
            <a:spLocks noGrp="1"/>
          </p:cNvSpPr>
          <p:nvPr>
            <p:ph type="title"/>
          </p:nvPr>
        </p:nvSpPr>
        <p:spPr>
          <a:xfrm>
            <a:off x="1981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DICAS DE LEITURAS</a:t>
            </a:r>
            <a:endParaRPr/>
          </a:p>
        </p:txBody>
      </p:sp>
      <p:pic>
        <p:nvPicPr>
          <p:cNvPr id="388" name="Google Shape;388;p49" descr="Texto&#10;&#10;Descrição gerada automa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56137" y="2276475"/>
            <a:ext cx="2855912" cy="39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9" descr="Interface gráfica do usuário, Site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9526" y="2263776"/>
            <a:ext cx="3038475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9" descr="Uma imagem contendo texto, jornal&#10;&#10;Descrição gerada automaticamente"/>
          <p:cNvPicPr preferRelativeResize="0"/>
          <p:nvPr/>
        </p:nvPicPr>
        <p:blipFill rotWithShape="1">
          <a:blip r:embed="rId5">
            <a:alphaModFix/>
          </a:blip>
          <a:srcRect l="16221" t="2539" r="15140" b="2666"/>
          <a:stretch/>
        </p:blipFill>
        <p:spPr>
          <a:xfrm>
            <a:off x="1579562" y="2276476"/>
            <a:ext cx="288925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>
            <a:spLocks noGrp="1"/>
          </p:cNvSpPr>
          <p:nvPr>
            <p:ph type="body" idx="1"/>
          </p:nvPr>
        </p:nvSpPr>
        <p:spPr>
          <a:xfrm>
            <a:off x="493776" y="2133600"/>
            <a:ext cx="9855137" cy="4324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107950" indent="0" algn="just">
              <a:lnSpc>
                <a:spcPct val="100000"/>
              </a:lnSpc>
              <a:spcBef>
                <a:spcPts val="0"/>
              </a:spcBef>
              <a:buClr>
                <a:srgbClr val="1B587C"/>
              </a:buClr>
              <a:buSzPts val="1600"/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DEJOURS, Christophe &amp; MOLINIER, Pascale. O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trabalho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enigma. In: LANCMAN, Selma &amp; SZNELWAR,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Laerte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(orgs.). Christophe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Dejours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da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psicopatologia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à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psicodinâmica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do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trabalho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Rio de Janeiro/Brasília,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Fiocruz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Paralelo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15. 2004.</a:t>
            </a:r>
            <a:endParaRPr dirty="0"/>
          </a:p>
          <a:p>
            <a:pPr marL="107950" indent="0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07950" indent="0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1600"/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DEJOURS, Christophe. Avant-propos para a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edição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brasileira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Addendum: da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psicopatologia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à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psicodinâmica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do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trabalho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In: S.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Lancman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&amp; L. I.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Sznelwar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(Orgs.), Christophe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Dejours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da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psicopatologia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à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psicodinâmica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do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trabalho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Rio de Janeiro: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Fiocruz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2004</a:t>
            </a:r>
            <a:endParaRPr dirty="0"/>
          </a:p>
          <a:p>
            <a:pPr marL="107950" indent="0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07950" indent="0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1600"/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LANCMAN, Selma; UCHIDA, Seiji.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Trabalho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subjetividade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o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olhar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da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psicodinâmica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do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trabalho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Cad. </a:t>
            </a:r>
            <a:r>
              <a:rPr lang="en-US" sz="16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psicol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soc. </a:t>
            </a:r>
            <a:r>
              <a:rPr lang="en-US" sz="16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trab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  São Paulo ,  v. 6, p. 79-90, 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dez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  2003.  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Disponível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&lt;http://pepsic.bvsalud.org/scielo.php?script=sci_arttext&amp;pid=S1516-37172003000200006&amp;lng=pt&amp;nrm=iso&gt;.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acessos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 11  set.  2019.</a:t>
            </a:r>
            <a:endParaRPr dirty="0"/>
          </a:p>
          <a:p>
            <a:pPr marL="107950" indent="0" algn="just">
              <a:lnSpc>
                <a:spcPct val="100000"/>
              </a:lnSpc>
              <a:spcBef>
                <a:spcPts val="300"/>
              </a:spcBef>
              <a:buClr>
                <a:srgbClr val="1B587C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65125" indent="-153987">
              <a:spcBef>
                <a:spcPts val="300"/>
              </a:spcBef>
              <a:buClr>
                <a:srgbClr val="1B587C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50"/>
          <p:cNvSpPr txBox="1">
            <a:spLocks noGrp="1"/>
          </p:cNvSpPr>
          <p:nvPr>
            <p:ph type="title"/>
          </p:nvPr>
        </p:nvSpPr>
        <p:spPr>
          <a:xfrm>
            <a:off x="1774825" y="7651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MAIS DICAS DE LEITURAS: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>
            <a:spLocks noGrp="1"/>
          </p:cNvSpPr>
          <p:nvPr>
            <p:ph type="title"/>
          </p:nvPr>
        </p:nvSpPr>
        <p:spPr>
          <a:xfrm>
            <a:off x="1847850" y="3284537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2"/>
              </a:buClr>
              <a:buSzPts val="10000"/>
            </a:pPr>
            <a:r>
              <a:rPr lang="en-US" sz="10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
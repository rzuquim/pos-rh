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s/slide2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7.xml" ContentType="application/vnd.openxmlformats-officedocument.presentationml.slide+xml"/>
  <Override PartName="/ppt/slides/slide12.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charts/chart1.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2.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10080625" cy="7559675"/>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stacked"/>
        <c:varyColors val="0"/>
        <c:ser>
          <c:idx val="0"/>
          <c:order val="0"/>
          <c:tx>
            <c:strRef>
              <c:f>label 0</c:f>
              <c:strCache>
                <c:ptCount val="1"/>
                <c:pt idx="0">
                  <c:v>Partipação Máx</c:v>
                </c:pt>
              </c:strCache>
            </c:strRef>
          </c:tx>
          <c:spPr>
            <a:solidFill>
              <a:srgbClr val="023884"/>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5"/>
                <c:pt idx="0">
                  <c:v>Publicidade</c:v>
                </c:pt>
                <c:pt idx="1">
                  <c:v>TV</c:v>
                </c:pt>
                <c:pt idx="2">
                  <c:v>Streaming</c:v>
                </c:pt>
                <c:pt idx="3">
                  <c:v>Cinema</c:v>
                </c:pt>
                <c:pt idx="4">
                  <c:v>Artes Cénicas</c:v>
                </c:pt>
              </c:strCache>
            </c:strRef>
          </c:cat>
          <c:val>
            <c:numRef>
              <c:f>0</c:f>
              <c:numCache>
                <c:formatCode>General</c:formatCode>
                <c:ptCount val="5"/>
                <c:pt idx="0">
                  <c:v>0.5</c:v>
                </c:pt>
                <c:pt idx="1">
                  <c:v>0.3</c:v>
                </c:pt>
                <c:pt idx="2">
                  <c:v>0.1</c:v>
                </c:pt>
                <c:pt idx="3">
                  <c:v>0.05</c:v>
                </c:pt>
                <c:pt idx="4">
                  <c:v>0.01</c:v>
                </c:pt>
              </c:numCache>
            </c:numRef>
          </c:val>
        </c:ser>
        <c:ser>
          <c:idx val="1"/>
          <c:order val="1"/>
          <c:tx>
            <c:strRef>
              <c:f>3</c:f>
              <c:strCache>
                <c:ptCount val="1"/>
                <c:pt idx="0">
                  <c:v/>
                </c:pt>
              </c:strCache>
            </c:strRef>
          </c:tx>
          <c:spPr>
            <a:solidFill>
              <a:srgbClr val="dd6a1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5"/>
                <c:pt idx="0">
                  <c:v>Publicidade</c:v>
                </c:pt>
                <c:pt idx="1">
                  <c:v>TV</c:v>
                </c:pt>
                <c:pt idx="2">
                  <c:v>Streaming</c:v>
                </c:pt>
                <c:pt idx="3">
                  <c:v>Cinema</c:v>
                </c:pt>
                <c:pt idx="4">
                  <c:v>Artes Cénicas</c:v>
                </c:pt>
              </c:strCache>
            </c:strRef>
          </c:cat>
          <c:val>
            <c:numRef>
              <c:f>2</c:f>
              <c:numCache>
                <c:formatCode>General</c:formatCode>
                <c:ptCount val="5"/>
                <c:pt idx="0">
                  <c:v>1</c:v>
                </c:pt>
                <c:pt idx="1">
                  <c:v>0.6</c:v>
                </c:pt>
                <c:pt idx="2">
                  <c:v>0.3</c:v>
                </c:pt>
                <c:pt idx="3">
                  <c:v>0.1</c:v>
                </c:pt>
                <c:pt idx="4">
                  <c:v>0.03</c:v>
                </c:pt>
              </c:numCache>
            </c:numRef>
          </c:val>
        </c:ser>
        <c:gapWidth val="100"/>
        <c:overlap val="100"/>
        <c:axId val="87538697"/>
        <c:axId val="37300437"/>
      </c:barChart>
      <c:catAx>
        <c:axId val="87538697"/>
        <c:scaling>
          <c:orientation val="minMax"/>
        </c:scaling>
        <c:delete val="0"/>
        <c:axPos val="b"/>
        <c:numFmt formatCode="General" sourceLinked="0"/>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37300437"/>
        <c:crosses val="autoZero"/>
        <c:auto val="1"/>
        <c:lblAlgn val="ctr"/>
        <c:lblOffset val="100"/>
        <c:noMultiLvlLbl val="0"/>
      </c:catAx>
      <c:valAx>
        <c:axId val="37300437"/>
        <c:scaling>
          <c:orientation val="minMax"/>
        </c:scaling>
        <c:delete val="0"/>
        <c:axPos val="l"/>
        <c:majorGridlines>
          <c:spPr>
            <a:ln w="0">
              <a:solidFill>
                <a:srgbClr val="b3b3b3"/>
              </a:solidFill>
            </a:ln>
          </c:spPr>
        </c:majorGridlines>
        <c:title>
          <c:tx>
            <c:rich>
              <a:bodyPr rot="-5400000"/>
              <a:lstStyle/>
              <a:p>
                <a:pPr>
                  <a:defRPr sz="1300" b="0" u="none" strike="noStrike">
                    <a:solidFill>
                      <a:srgbClr val="000000"/>
                    </a:solidFill>
                    <a:uFillTx/>
                    <a:latin typeface="Arial"/>
                  </a:defRPr>
                </a:pPr>
                <a:r>
                  <a:rPr sz="900" b="0" u="none" strike="noStrike">
                    <a:solidFill>
                      <a:srgbClr val="000000"/>
                    </a:solidFill>
                    <a:uFillTx/>
                    <a:latin typeface="Arial"/>
                  </a:rPr>
                  <a:t>% PIB BR</a:t>
                </a:r>
              </a:p>
            </c:rich>
          </c:tx>
          <c:overlay val="0"/>
          <c:spPr>
            <a:noFill/>
            <a:ln w="0">
              <a:noFill/>
            </a:ln>
          </c:spPr>
        </c:title>
        <c:numFmt formatCode="General" sourceLinked="0"/>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87538697"/>
        <c:crosses val="autoZero"/>
        <c:crossBetween val="between"/>
      </c:valAx>
      <c:spPr>
        <a:noFill/>
        <a:ln w="0">
          <a:solidFill>
            <a:srgbClr val="b3b3b3"/>
          </a:solidFill>
        </a:ln>
      </c:spPr>
    </c:plotArea>
    <c:plotVisOnly val="1"/>
    <c:dispBlanksAs val="gap"/>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300" b="0" u="none" strike="noStrike">
                <a:solidFill>
                  <a:srgbClr val="000000"/>
                </a:solidFill>
                <a:uFillTx/>
                <a:latin typeface="Arial"/>
              </a:rPr>
              <a:t>Escolaridade (em milhões)</a:t>
            </a:r>
          </a:p>
        </c:rich>
      </c:tx>
      <c:overlay val="0"/>
      <c:spPr>
        <a:noFill/>
        <a:ln w="0">
          <a:noFill/>
        </a:ln>
      </c:spPr>
    </c:title>
    <c:autoTitleDeleted val="0"/>
    <c:plotArea>
      <c:barChart>
        <c:barDir val="bar"/>
        <c:grouping val="clustered"/>
        <c:varyColors val="0"/>
        <c:ser>
          <c:idx val="0"/>
          <c:order val="0"/>
          <c:tx>
            <c:strRef>
              <c:f>label 0</c:f>
              <c:strCache>
                <c:ptCount val="1"/>
                <c:pt idx="0">
                  <c:v>Column B</c:v>
                </c:pt>
              </c:strCache>
            </c:strRef>
          </c:tx>
          <c:spPr>
            <a:solidFill>
              <a:srgbClr val="004586"/>
            </a:solidFill>
            <a:ln w="0">
              <a:noFill/>
            </a:ln>
          </c:spPr>
          <c:invertIfNegative val="0"/>
          <c:dPt>
            <c:idx val="1"/>
            <c:invertIfNegative val="0"/>
            <c:spPr>
              <a:solidFill>
                <a:srgbClr val="ff972f"/>
              </a:solidFill>
              <a:ln w="0">
                <a:noFill/>
              </a:ln>
            </c:spPr>
          </c:dPt>
          <c:dPt>
            <c:idx val="3"/>
            <c:invertIfNegative val="0"/>
            <c:spPr>
              <a:solidFill>
                <a:srgbClr val="ff5429"/>
              </a:solidFill>
              <a:ln w="0">
                <a:noFill/>
              </a:ln>
            </c:spPr>
          </c:dPt>
          <c:dPt>
            <c:idx val="4"/>
            <c:invertIfNegative val="0"/>
            <c:spPr>
              <a:solidFill>
                <a:srgbClr val="729fcf"/>
              </a:solidFill>
              <a:ln w="0">
                <a:noFill/>
              </a:ln>
            </c:spPr>
          </c:dPt>
          <c:dPt>
            <c:idx val="6"/>
            <c:invertIfNegative val="0"/>
            <c:spPr>
              <a:solidFill>
                <a:srgbClr val="dd6a1e"/>
              </a:solidFill>
              <a:ln w="0">
                <a:noFill/>
              </a:ln>
            </c:spPr>
          </c:dPt>
          <c:dLbls>
            <c:dLbl>
              <c:idx val="1"/>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dLbl>
              <c:idx val="3"/>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dLbl>
              <c:idx val="4"/>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dLbl>
              <c:idx val="6"/>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7"/>
                <c:pt idx="0">
                  <c:v>Sem instrução</c:v>
                </c:pt>
                <c:pt idx="1">
                  <c:v>Fundamental incompleto</c:v>
                </c:pt>
                <c:pt idx="2">
                  <c:v>Fundamental completo</c:v>
                </c:pt>
                <c:pt idx="3">
                  <c:v>Médio incompleto</c:v>
                </c:pt>
                <c:pt idx="4">
                  <c:v>Médio completo</c:v>
                </c:pt>
                <c:pt idx="5">
                  <c:v>Superior incompleto</c:v>
                </c:pt>
                <c:pt idx="6">
                  <c:v>Superior completo</c:v>
                </c:pt>
              </c:strCache>
            </c:strRef>
          </c:cat>
          <c:val>
            <c:numRef>
              <c:f>0</c:f>
              <c:numCache>
                <c:formatCode>General</c:formatCode>
                <c:ptCount val="7"/>
                <c:pt idx="0">
                  <c:v>0.03</c:v>
                </c:pt>
                <c:pt idx="1">
                  <c:v>0.25</c:v>
                </c:pt>
                <c:pt idx="2">
                  <c:v>0.1</c:v>
                </c:pt>
                <c:pt idx="3">
                  <c:v>0.09</c:v>
                </c:pt>
                <c:pt idx="4">
                  <c:v>0.77</c:v>
                </c:pt>
                <c:pt idx="5">
                  <c:v>0.34</c:v>
                </c:pt>
                <c:pt idx="6">
                  <c:v>1.43</c:v>
                </c:pt>
              </c:numCache>
            </c:numRef>
          </c:val>
        </c:ser>
        <c:gapWidth val="100"/>
        <c:overlap val="0"/>
        <c:axId val="82385951"/>
        <c:axId val="25860061"/>
      </c:barChart>
      <c:catAx>
        <c:axId val="82385951"/>
        <c:scaling>
          <c:orientation val="minMax"/>
        </c:scaling>
        <c:delete val="0"/>
        <c:axPos val="b"/>
        <c:numFmt formatCode="General" sourceLinked="0"/>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25860061"/>
        <c:crosses val="autoZero"/>
        <c:auto val="1"/>
        <c:lblAlgn val="ctr"/>
        <c:lblOffset val="100"/>
        <c:noMultiLvlLbl val="0"/>
      </c:catAx>
      <c:valAx>
        <c:axId val="25860061"/>
        <c:scaling>
          <c:orientation val="minMax"/>
        </c:scaling>
        <c:delete val="0"/>
        <c:axPos val="l"/>
        <c:majorGridlines>
          <c:spPr>
            <a:ln w="0">
              <a:solidFill>
                <a:srgbClr val="b3b3b3"/>
              </a:solidFill>
            </a:ln>
          </c:spPr>
        </c:majorGridlines>
        <c:numFmt formatCode="General" sourceLinked="0"/>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82385951"/>
        <c:crosses val="autoZero"/>
        <c:crossBetween val="midCat"/>
      </c:valAx>
      <c:spPr>
        <a:noFill/>
        <a:ln w="0">
          <a:solidFill>
            <a:srgbClr val="b3b3b3"/>
          </a:solidFill>
        </a:ln>
      </c:spPr>
    </c:plotArea>
    <c:plotVisOnly val="1"/>
    <c:dispBlanksAs val="gap"/>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300" b="0" u="none" strike="noStrike">
                <a:solidFill>
                  <a:srgbClr val="000000"/>
                </a:solidFill>
                <a:uFillTx/>
                <a:latin typeface="Arial"/>
              </a:rPr>
              <a:t>Faixa Etária (em milhões)</a:t>
            </a:r>
          </a:p>
        </c:rich>
      </c:tx>
      <c:overlay val="0"/>
      <c:spPr>
        <a:noFill/>
        <a:ln w="0">
          <a:noFill/>
        </a:ln>
      </c:spPr>
    </c:title>
    <c:autoTitleDeleted val="0"/>
    <c:plotArea>
      <c:barChart>
        <c:barDir val="bar"/>
        <c:grouping val="clustered"/>
        <c:varyColors val="0"/>
        <c:ser>
          <c:idx val="0"/>
          <c:order val="0"/>
          <c:tx>
            <c:strRef>
              <c:f>label 0</c:f>
              <c:strCache>
                <c:ptCount val="1"/>
                <c:pt idx="0">
                  <c:v>Column B</c:v>
                </c:pt>
              </c:strCache>
            </c:strRef>
          </c:tx>
          <c:spPr>
            <a:solidFill>
              <a:srgbClr val="ff972f"/>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18-24 anos</c:v>
                </c:pt>
                <c:pt idx="1">
                  <c:v>25-39 anos</c:v>
                </c:pt>
                <c:pt idx="2">
                  <c:v>40-59 anos</c:v>
                </c:pt>
                <c:pt idx="3">
                  <c:v>60+ anos</c:v>
                </c:pt>
              </c:strCache>
            </c:strRef>
          </c:cat>
          <c:val>
            <c:numRef>
              <c:f>0</c:f>
              <c:numCache>
                <c:formatCode>General</c:formatCode>
                <c:ptCount val="4"/>
                <c:pt idx="0">
                  <c:v>0.36</c:v>
                </c:pt>
                <c:pt idx="1">
                  <c:v>1.3</c:v>
                </c:pt>
                <c:pt idx="2">
                  <c:v>1</c:v>
                </c:pt>
                <c:pt idx="3">
                  <c:v>0.34</c:v>
                </c:pt>
              </c:numCache>
            </c:numRef>
          </c:val>
        </c:ser>
        <c:gapWidth val="100"/>
        <c:overlap val="0"/>
        <c:axId val="44994767"/>
        <c:axId val="19756272"/>
      </c:barChart>
      <c:catAx>
        <c:axId val="44994767"/>
        <c:scaling>
          <c:orientation val="minMax"/>
        </c:scaling>
        <c:delete val="0"/>
        <c:axPos val="b"/>
        <c:numFmt formatCode="General" sourceLinked="0"/>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19756272"/>
        <c:crosses val="autoZero"/>
        <c:auto val="1"/>
        <c:lblAlgn val="ctr"/>
        <c:lblOffset val="100"/>
        <c:noMultiLvlLbl val="0"/>
      </c:catAx>
      <c:valAx>
        <c:axId val="19756272"/>
        <c:scaling>
          <c:orientation val="minMax"/>
        </c:scaling>
        <c:delete val="0"/>
        <c:axPos val="l"/>
        <c:majorGridlines>
          <c:spPr>
            <a:ln w="0">
              <a:solidFill>
                <a:srgbClr val="b3b3b3"/>
              </a:solidFill>
            </a:ln>
          </c:spPr>
        </c:majorGridlines>
        <c:numFmt formatCode="General" sourceLinked="0"/>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44994767"/>
        <c:crosses val="autoZero"/>
        <c:crossBetween val="midCat"/>
      </c:valAx>
      <c:spPr>
        <a:noFill/>
        <a:ln w="0">
          <a:solidFill>
            <a:srgbClr val="b3b3b3"/>
          </a:solidFill>
        </a:ln>
      </c:spPr>
    </c:plotArea>
    <c:plotVisOnly val="1"/>
    <c:dispBlanksAs val="gap"/>
  </c:chart>
  <c:spPr>
    <a:no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300" b="0" u="none" strike="noStrike">
                <a:solidFill>
                  <a:srgbClr val="000000"/>
                </a:solidFill>
                <a:uFillTx/>
                <a:latin typeface="Arial"/>
              </a:rPr>
              <a:t>Divisão por Gênero (em milhões)</a:t>
            </a:r>
          </a:p>
        </c:rich>
      </c:tx>
      <c:overlay val="0"/>
      <c:spPr>
        <a:noFill/>
        <a:ln w="0">
          <a:noFill/>
        </a:ln>
      </c:spPr>
    </c:title>
    <c:autoTitleDeleted val="0"/>
    <c:plotArea>
      <c:pieChart>
        <c:varyColors val="1"/>
        <c:ser>
          <c:idx val="0"/>
          <c:order val="0"/>
          <c:tx>
            <c:strRef>
              <c:f>label 0</c:f>
              <c:strCache>
                <c:ptCount val="1"/>
                <c:pt idx="0">
                  <c:v>Column B</c:v>
                </c:pt>
              </c:strCache>
            </c:strRef>
          </c:tx>
          <c:spPr>
            <a:solidFill>
              <a:srgbClr val="004586"/>
            </a:solidFill>
            <a:ln w="0">
              <a:noFill/>
            </a:ln>
          </c:spPr>
          <c:explosion val="0"/>
          <c:dPt>
            <c:idx val="0"/>
            <c:spPr>
              <a:solidFill>
                <a:srgbClr val="004586"/>
              </a:solidFill>
              <a:ln w="0">
                <a:noFill/>
              </a:ln>
            </c:spPr>
          </c:dPt>
          <c:dPt>
            <c:idx val="1"/>
            <c:spPr>
              <a:solidFill>
                <a:srgbClr val="ff972f"/>
              </a:solidFill>
              <a:ln w="0">
                <a:noFill/>
              </a:ln>
            </c:spPr>
          </c:dPt>
          <c:dLbls>
            <c:dLbl>
              <c:idx val="0"/>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dLbl>
              <c:idx val="1"/>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dLbl>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dLbls>
          <c:cat>
            <c:strRef>
              <c:f>categories</c:f>
              <c:strCache>
                <c:ptCount val="2"/>
                <c:pt idx="0">
                  <c:v>Homem</c:v>
                </c:pt>
                <c:pt idx="1">
                  <c:v>Mulher</c:v>
                </c:pt>
              </c:strCache>
            </c:strRef>
          </c:cat>
          <c:val>
            <c:numRef>
              <c:f>0</c:f>
              <c:numCache>
                <c:formatCode>General</c:formatCode>
                <c:ptCount val="2"/>
                <c:pt idx="0">
                  <c:v>1.624</c:v>
                </c:pt>
                <c:pt idx="1">
                  <c:v>1.388</c:v>
                </c:pt>
              </c:numCache>
            </c:numRef>
          </c:val>
        </c:ser>
        <c:firstSliceAng val="0"/>
      </c:pieChart>
      <c:spPr>
        <a:noFill/>
        <a:ln w="0">
          <a:noFill/>
        </a:ln>
      </c:spPr>
    </c:plotArea>
    <c:legend>
      <c:legendPos val="r"/>
      <c:layout>
        <c:manualLayout>
          <c:xMode val="edge"/>
          <c:yMode val="edge"/>
          <c:x val="0.692879450343535"/>
          <c:y val="0.189915593069747"/>
          <c:w val="0.109181761399126"/>
          <c:h val="0.121612616614838"/>
        </c:manualLayout>
      </c:layout>
      <c:overlay val="0"/>
      <c:spPr>
        <a:noFill/>
        <a:ln w="0">
          <a:noFill/>
        </a:ln>
      </c:spPr>
      <c:txPr>
        <a:bodyPr/>
        <a:lstStyle/>
        <a:p>
          <a:pPr>
            <a:defRPr sz="1000" b="0" u="none" strike="noStrike">
              <a:solidFill>
                <a:srgbClr val="000000"/>
              </a:solidFill>
              <a:uFillTx/>
              <a:latin typeface="Arial"/>
            </a:defRPr>
          </a:pPr>
        </a:p>
      </c:txPr>
    </c:legend>
    <c:plotVisOnly val="1"/>
  </c:chart>
  <c:spPr>
    <a:noFill/>
    <a:ln w="0">
      <a:noFill/>
    </a:ln>
  </c:spPr>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300" b="0" u="none" strike="noStrike">
                <a:solidFill>
                  <a:srgbClr val="000000"/>
                </a:solidFill>
                <a:uFillTx/>
                <a:latin typeface="Arial"/>
              </a:rPr>
              <a:t>Salário Médio (R$)</a:t>
            </a:r>
          </a:p>
        </c:rich>
      </c:tx>
      <c:overlay val="0"/>
      <c:spPr>
        <a:noFill/>
        <a:ln w="0">
          <a:noFill/>
        </a:ln>
      </c:spPr>
    </c:title>
    <c:autoTitleDeleted val="0"/>
    <c:plotArea>
      <c:barChart>
        <c:barDir val="bar"/>
        <c:grouping val="clustered"/>
        <c:varyColors val="0"/>
        <c:ser>
          <c:idx val="0"/>
          <c:order val="0"/>
          <c:tx>
            <c:strRef>
              <c:f>label 0</c:f>
              <c:strCache>
                <c:ptCount val="1"/>
                <c:pt idx="0">
                  <c:v>Column B</c:v>
                </c:pt>
              </c:strCache>
            </c:strRef>
          </c:tx>
          <c:spPr>
            <a:solidFill>
              <a:srgbClr val="004586"/>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Brancos</c:v>
                </c:pt>
                <c:pt idx="1">
                  <c:v>Pardos</c:v>
                </c:pt>
                <c:pt idx="2">
                  <c:v>Pretos</c:v>
                </c:pt>
                <c:pt idx="3">
                  <c:v>Amarelos</c:v>
                </c:pt>
              </c:strCache>
            </c:strRef>
          </c:cat>
          <c:val>
            <c:numRef>
              <c:f>0</c:f>
              <c:numCache>
                <c:formatCode>General</c:formatCode>
                <c:ptCount val="4"/>
                <c:pt idx="0">
                  <c:v>5.8</c:v>
                </c:pt>
                <c:pt idx="1">
                  <c:v>3.4</c:v>
                </c:pt>
                <c:pt idx="2">
                  <c:v>3.7</c:v>
                </c:pt>
                <c:pt idx="3">
                  <c:v>6.2</c:v>
                </c:pt>
              </c:numCache>
            </c:numRef>
          </c:val>
        </c:ser>
        <c:gapWidth val="100"/>
        <c:overlap val="0"/>
        <c:axId val="68874614"/>
        <c:axId val="28760865"/>
      </c:barChart>
      <c:catAx>
        <c:axId val="68874614"/>
        <c:scaling>
          <c:orientation val="minMax"/>
        </c:scaling>
        <c:delete val="0"/>
        <c:axPos val="b"/>
        <c:numFmt formatCode="General" sourceLinked="0"/>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28760865"/>
        <c:crosses val="autoZero"/>
        <c:auto val="1"/>
        <c:lblAlgn val="ctr"/>
        <c:lblOffset val="100"/>
        <c:noMultiLvlLbl val="0"/>
      </c:catAx>
      <c:valAx>
        <c:axId val="28760865"/>
        <c:scaling>
          <c:orientation val="minMax"/>
        </c:scaling>
        <c:delete val="0"/>
        <c:axPos val="l"/>
        <c:majorGridlines>
          <c:spPr>
            <a:ln w="0">
              <a:solidFill>
                <a:srgbClr val="b3b3b3"/>
              </a:solidFill>
            </a:ln>
          </c:spPr>
        </c:majorGridlines>
        <c:numFmt formatCode="General" sourceLinked="0"/>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68874614"/>
        <c:crosses val="autoZero"/>
        <c:crossBetween val="midCat"/>
      </c:valAx>
      <c:spPr>
        <a:noFill/>
        <a:ln w="0">
          <a:solidFill>
            <a:srgbClr val="b3b3b3"/>
          </a:solidFill>
        </a:ln>
      </c:spPr>
    </c:plotArea>
    <c:plotVisOnly val="1"/>
    <c:dispBlanksAs val="gap"/>
  </c:chart>
  <c:spPr>
    <a:noFill/>
    <a:ln w="0">
      <a:noFill/>
    </a:ln>
  </c:spPr>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300" b="0" u="none" strike="noStrike">
                <a:solidFill>
                  <a:srgbClr val="000000"/>
                </a:solidFill>
                <a:uFillTx/>
                <a:latin typeface="Arial"/>
              </a:rPr>
              <a:t>Pessoas (mi)</a:t>
            </a:r>
          </a:p>
        </c:rich>
      </c:tx>
      <c:overlay val="0"/>
      <c:spPr>
        <a:noFill/>
        <a:ln w="0">
          <a:noFill/>
        </a:ln>
      </c:spPr>
    </c:title>
    <c:autoTitleDeleted val="0"/>
    <c:plotArea>
      <c:barChart>
        <c:barDir val="bar"/>
        <c:grouping val="clustered"/>
        <c:varyColors val="0"/>
        <c:ser>
          <c:idx val="0"/>
          <c:order val="0"/>
          <c:tx>
            <c:strRef>
              <c:f>label 0</c:f>
              <c:strCache>
                <c:ptCount val="1"/>
                <c:pt idx="0">
                  <c:v>Pessoas (mi)</c:v>
                </c:pt>
              </c:strCache>
            </c:strRef>
          </c:tx>
          <c:spPr>
            <a:solidFill>
              <a:srgbClr val="dd6a1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Brancos</c:v>
                </c:pt>
                <c:pt idx="1">
                  <c:v>Pardos</c:v>
                </c:pt>
                <c:pt idx="2">
                  <c:v>Pretos</c:v>
                </c:pt>
                <c:pt idx="3">
                  <c:v>Amarelos</c:v>
                </c:pt>
              </c:strCache>
            </c:strRef>
          </c:cat>
          <c:val>
            <c:numRef>
              <c:f>0</c:f>
              <c:numCache>
                <c:formatCode>General</c:formatCode>
                <c:ptCount val="4"/>
                <c:pt idx="0">
                  <c:v>1.71</c:v>
                </c:pt>
                <c:pt idx="1">
                  <c:v>0.99</c:v>
                </c:pt>
                <c:pt idx="2">
                  <c:v>0.24</c:v>
                </c:pt>
                <c:pt idx="3">
                  <c:v>0.05</c:v>
                </c:pt>
              </c:numCache>
            </c:numRef>
          </c:val>
        </c:ser>
        <c:gapWidth val="100"/>
        <c:overlap val="0"/>
        <c:axId val="1340338"/>
        <c:axId val="37360148"/>
      </c:barChart>
      <c:catAx>
        <c:axId val="1340338"/>
        <c:scaling>
          <c:orientation val="minMax"/>
        </c:scaling>
        <c:delete val="0"/>
        <c:axPos val="b"/>
        <c:numFmt formatCode="General" sourceLinked="0"/>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37360148"/>
        <c:crosses val="autoZero"/>
        <c:auto val="1"/>
        <c:lblAlgn val="ctr"/>
        <c:lblOffset val="100"/>
        <c:noMultiLvlLbl val="0"/>
      </c:catAx>
      <c:valAx>
        <c:axId val="37360148"/>
        <c:scaling>
          <c:orientation val="minMax"/>
        </c:scaling>
        <c:delete val="0"/>
        <c:axPos val="l"/>
        <c:majorGridlines>
          <c:spPr>
            <a:ln w="0">
              <a:solidFill>
                <a:srgbClr val="b3b3b3"/>
              </a:solidFill>
            </a:ln>
          </c:spPr>
        </c:majorGridlines>
        <c:numFmt formatCode="General" sourceLinked="0"/>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1340338"/>
        <c:crosses val="autoZero"/>
        <c:crossBetween val="midCat"/>
      </c:valAx>
      <c:spPr>
        <a:noFill/>
        <a:ln w="0">
          <a:solidFill>
            <a:srgbClr val="b3b3b3"/>
          </a:solidFill>
        </a:ln>
      </c:spPr>
    </c:plotArea>
    <c:plotVisOnly val="1"/>
    <c:dispBlanksAs val="gap"/>
  </c:chart>
  <c:spPr>
    <a:noFill/>
    <a:ln w="0">
      <a:noFill/>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apa">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301320"/>
            <a:ext cx="9071640" cy="12621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Arial"/>
            </a:endParaRPr>
          </a:p>
        </p:txBody>
      </p:sp>
      <p:sp>
        <p:nvSpPr>
          <p:cNvPr id="9" name="PlaceHolder 2"/>
          <p:cNvSpPr>
            <a:spLocks noGrp="1"/>
          </p:cNvSpPr>
          <p:nvPr>
            <p:ph/>
          </p:nvPr>
        </p:nvSpPr>
        <p:spPr>
          <a:xfrm>
            <a:off x="504000" y="1769040"/>
            <a:ext cx="9071640" cy="43844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D88FA63-AFC4-44B0-A01E-6294AD3D0702}"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capa">
    <p:spTree>
      <p:nvGrpSpPr>
        <p:cNvPr id="1" name=""/>
        <p:cNvGrpSpPr/>
        <p:nvPr/>
      </p:nvGrpSpPr>
      <p:grpSpPr>
        <a:xfrm>
          <a:off x="0" y="0"/>
          <a:ext cx="0" cy="0"/>
          <a:chOff x="0" y="0"/>
          <a:chExt cx="0" cy="0"/>
        </a:xfrm>
      </p:grpSpPr>
      <p:sp>
        <p:nvSpPr>
          <p:cNvPr id="10" name="PlaceHolder 1"/>
          <p:cNvSpPr>
            <a:spLocks noGrp="1"/>
          </p:cNvSpPr>
          <p:nvPr>
            <p:ph type="title"/>
          </p:nvPr>
        </p:nvSpPr>
        <p:spPr>
          <a:xfrm>
            <a:off x="504000" y="301320"/>
            <a:ext cx="9071640" cy="12621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Arial"/>
            </a:endParaRPr>
          </a:p>
        </p:txBody>
      </p:sp>
      <p:sp>
        <p:nvSpPr>
          <p:cNvPr id="11" name="PlaceHolder 2"/>
          <p:cNvSpPr>
            <a:spLocks noGrp="1"/>
          </p:cNvSpPr>
          <p:nvPr>
            <p:ph type="subTitle"/>
          </p:nvPr>
        </p:nvSpPr>
        <p:spPr>
          <a:xfrm>
            <a:off x="504000" y="1769040"/>
            <a:ext cx="9071640" cy="438444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F599742-5442-4C9D-BD16-8887EBD517D3}"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lide">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301320"/>
            <a:ext cx="9071640" cy="12621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Arial"/>
            </a:endParaRPr>
          </a:p>
        </p:txBody>
      </p:sp>
      <p:sp>
        <p:nvSpPr>
          <p:cNvPr id="19" name="PlaceHolder 2"/>
          <p:cNvSpPr>
            <a:spLocks noGrp="1"/>
          </p:cNvSpPr>
          <p:nvPr>
            <p:ph/>
          </p:nvPr>
        </p:nvSpPr>
        <p:spPr>
          <a:xfrm>
            <a:off x="504000" y="1769040"/>
            <a:ext cx="9071640" cy="438444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50096812-8854-42DE-929B-C5E9649E2443}" type="slidenum">
              <a:t>&lt;#&gt;</a:t>
            </a:fld>
          </a:p>
        </p:txBody>
      </p:sp>
      <p:sp>
        <p:nvSpPr>
          <p:cNvPr id="6" name="PlaceHolder 5"/>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301320"/>
            <a:ext cx="9071640" cy="1261800"/>
          </a:xfrm>
          <a:prstGeom prst="rect">
            <a:avLst/>
          </a:prstGeom>
          <a:noFill/>
          <a:ln w="0">
            <a:noFill/>
          </a:ln>
        </p:spPr>
        <p:txBody>
          <a:bodyPr lIns="0" rIns="0" tIns="0" bIns="0" anchor="ctr">
            <a:noAutofit/>
          </a:bodyPr>
          <a:p>
            <a:pPr indent="0" algn="ctr">
              <a:buNone/>
            </a:pPr>
            <a:r>
              <a:rPr lang="en-US" sz="5860" b="0" u="none" strike="noStrike">
                <a:solidFill>
                  <a:srgbClr val="000000"/>
                </a:solidFill>
                <a:effectLst/>
                <a:uFillTx/>
                <a:latin typeface="Arial"/>
              </a:rPr>
              <a:t>Click to edit the title text format</a:t>
            </a:r>
            <a:endParaRPr lang="en-US" sz="5860" b="0" u="none" strike="noStrike">
              <a:solidFill>
                <a:srgbClr val="000000"/>
              </a:solidFill>
              <a:effectLst/>
              <a:uFillTx/>
              <a:latin typeface="Arial"/>
            </a:endParaRPr>
          </a:p>
        </p:txBody>
      </p:sp>
      <p:sp>
        <p:nvSpPr>
          <p:cNvPr id="3" name="PlaceHolder 2"/>
          <p:cNvSpPr>
            <a:spLocks noGrp="1"/>
          </p:cNvSpPr>
          <p:nvPr>
            <p:ph type="body"/>
          </p:nvPr>
        </p:nvSpPr>
        <p:spPr>
          <a:xfrm>
            <a:off x="504000" y="1768680"/>
            <a:ext cx="9071640" cy="4384440"/>
          </a:xfrm>
          <a:prstGeom prst="rect">
            <a:avLst/>
          </a:prstGeom>
          <a:noFill/>
          <a:ln w="0">
            <a:noFill/>
          </a:ln>
        </p:spPr>
        <p:txBody>
          <a:bodyPr lIns="0" rIns="0" tIns="0" bIns="0" anchor="t">
            <a:normAutofit/>
          </a:bodyPr>
          <a:p>
            <a:pPr marL="432000" indent="-324000">
              <a:spcBef>
                <a:spcPts val="1888"/>
              </a:spcBef>
              <a:buClr>
                <a:srgbClr val="000000"/>
              </a:buClr>
              <a:buSzPct val="45000"/>
              <a:buFont typeface="Wingdings" charset="2"/>
              <a:buChar char=""/>
            </a:pPr>
            <a:r>
              <a:rPr lang="en-US" sz="4270" b="0" u="none" strike="noStrike">
                <a:solidFill>
                  <a:srgbClr val="000000"/>
                </a:solidFill>
                <a:effectLst/>
                <a:uFillTx/>
                <a:latin typeface="Arial"/>
              </a:rPr>
              <a:t>Click to edit the outline text format</a:t>
            </a:r>
            <a:endParaRPr lang="en-US" sz="4270" b="0" u="none" strike="noStrike">
              <a:solidFill>
                <a:srgbClr val="000000"/>
              </a:solidFill>
              <a:effectLst/>
              <a:uFillTx/>
              <a:latin typeface="Arial"/>
            </a:endParaRPr>
          </a:p>
          <a:p>
            <a:pPr marL="864000" lvl="1" indent="-324000">
              <a:spcBef>
                <a:spcPts val="1511"/>
              </a:spcBef>
              <a:buClr>
                <a:srgbClr val="000000"/>
              </a:buClr>
              <a:buSzPct val="75000"/>
              <a:buFont typeface="Symbol" charset="2"/>
              <a:buChar char=""/>
            </a:pPr>
            <a:r>
              <a:rPr lang="en-US" sz="3730" b="0" u="none" strike="noStrike">
                <a:solidFill>
                  <a:srgbClr val="000000"/>
                </a:solidFill>
                <a:effectLst/>
                <a:uFillTx/>
                <a:latin typeface="Arial"/>
              </a:rPr>
              <a:t>Second Outline Level</a:t>
            </a:r>
            <a:endParaRPr lang="en-US" sz="3730" b="0" u="none" strike="noStrike">
              <a:solidFill>
                <a:srgbClr val="000000"/>
              </a:solidFill>
              <a:effectLst/>
              <a:uFillTx/>
              <a:latin typeface="Arial"/>
            </a:endParaRPr>
          </a:p>
          <a:p>
            <a:pPr marL="1296000" lvl="2" indent="-288000">
              <a:spcBef>
                <a:spcPts val="1131"/>
              </a:spcBef>
              <a:buClr>
                <a:srgbClr val="000000"/>
              </a:buClr>
              <a:buSzPct val="45000"/>
              <a:buFont typeface="Wingdings" charset="2"/>
              <a:buChar char=""/>
            </a:pPr>
            <a:r>
              <a:rPr lang="en-US" sz="3200" b="0" u="none" strike="noStrike">
                <a:solidFill>
                  <a:srgbClr val="000000"/>
                </a:solidFill>
                <a:effectLst/>
                <a:uFillTx/>
                <a:latin typeface="Arial"/>
              </a:rPr>
              <a:t>Third Outline Level</a:t>
            </a:r>
            <a:endParaRPr lang="en-US" sz="3200" b="0" u="none" strike="noStrike">
              <a:solidFill>
                <a:srgbClr val="000000"/>
              </a:solidFill>
              <a:effectLst/>
              <a:uFillTx/>
              <a:latin typeface="Arial"/>
            </a:endParaRPr>
          </a:p>
          <a:p>
            <a:pPr marL="1728000" lvl="3" indent="-216000">
              <a:spcBef>
                <a:spcPts val="754"/>
              </a:spcBef>
              <a:buClr>
                <a:srgbClr val="000000"/>
              </a:buClr>
              <a:buSzPct val="75000"/>
              <a:buFont typeface="Symbol" charset="2"/>
              <a:buChar char=""/>
            </a:pPr>
            <a:r>
              <a:rPr lang="en-US" sz="2670" b="0" u="none" strike="noStrike">
                <a:solidFill>
                  <a:srgbClr val="000000"/>
                </a:solidFill>
                <a:effectLst/>
                <a:uFillTx/>
                <a:latin typeface="Arial"/>
              </a:rPr>
              <a:t>Fourth Outline Level</a:t>
            </a:r>
            <a:endParaRPr lang="en-US" sz="2670" b="0" u="none" strike="noStrike">
              <a:solidFill>
                <a:srgbClr val="000000"/>
              </a:solidFill>
              <a:effectLst/>
              <a:uFillTx/>
              <a:latin typeface="Arial"/>
            </a:endParaRPr>
          </a:p>
          <a:p>
            <a:pPr marL="2160000" lvl="4" indent="-216000">
              <a:spcBef>
                <a:spcPts val="377"/>
              </a:spcBef>
              <a:buClr>
                <a:srgbClr val="000000"/>
              </a:buClr>
              <a:buSzPct val="45000"/>
              <a:buFont typeface="Wingdings" charset="2"/>
              <a:buChar char=""/>
            </a:pPr>
            <a:r>
              <a:rPr lang="en-US" sz="2670" b="0" u="none" strike="noStrike">
                <a:solidFill>
                  <a:srgbClr val="000000"/>
                </a:solidFill>
                <a:effectLst/>
                <a:uFillTx/>
                <a:latin typeface="Arial"/>
              </a:rPr>
              <a:t>Fifth Outline Level</a:t>
            </a:r>
            <a:endParaRPr lang="en-US" sz="2670" b="0" u="none" strike="noStrike">
              <a:solidFill>
                <a:srgbClr val="000000"/>
              </a:solidFill>
              <a:effectLst/>
              <a:uFillTx/>
              <a:latin typeface="Arial"/>
            </a:endParaRPr>
          </a:p>
          <a:p>
            <a:pPr marL="2592000" lvl="5" indent="-216000">
              <a:spcBef>
                <a:spcPts val="377"/>
              </a:spcBef>
              <a:buClr>
                <a:srgbClr val="000000"/>
              </a:buClr>
              <a:buSzPct val="45000"/>
              <a:buFont typeface="Wingdings" charset="2"/>
              <a:buChar char=""/>
            </a:pPr>
            <a:r>
              <a:rPr lang="en-US" sz="2670" b="0" u="none" strike="noStrike">
                <a:solidFill>
                  <a:srgbClr val="000000"/>
                </a:solidFill>
                <a:effectLst/>
                <a:uFillTx/>
                <a:latin typeface="Arial"/>
              </a:rPr>
              <a:t>Sixth Outline Level</a:t>
            </a:r>
            <a:endParaRPr lang="en-US" sz="2670" b="0" u="none" strike="noStrike">
              <a:solidFill>
                <a:srgbClr val="000000"/>
              </a:solidFill>
              <a:effectLst/>
              <a:uFillTx/>
              <a:latin typeface="Arial"/>
            </a:endParaRPr>
          </a:p>
          <a:p>
            <a:pPr marL="3024000" lvl="6" indent="-216000">
              <a:spcBef>
                <a:spcPts val="377"/>
              </a:spcBef>
              <a:buClr>
                <a:srgbClr val="000000"/>
              </a:buClr>
              <a:buSzPct val="45000"/>
              <a:buFont typeface="Wingdings" charset="2"/>
              <a:buChar char=""/>
            </a:pPr>
            <a:r>
              <a:rPr lang="en-US" sz="2670" b="0" u="none" strike="noStrike">
                <a:solidFill>
                  <a:srgbClr val="000000"/>
                </a:solidFill>
                <a:effectLst/>
                <a:uFillTx/>
                <a:latin typeface="Arial"/>
              </a:rPr>
              <a:t>Seventh Outline Level</a:t>
            </a:r>
            <a:endParaRPr lang="en-US" sz="2670" b="0" u="none" strike="noStrike">
              <a:solidFill>
                <a:srgbClr val="000000"/>
              </a:solidFill>
              <a:effectLst/>
              <a:uFillTx/>
              <a:latin typeface="Arial"/>
            </a:endParaRPr>
          </a:p>
        </p:txBody>
      </p:sp>
      <p:sp>
        <p:nvSpPr>
          <p:cNvPr id="4" name="PlaceHolder 3"/>
          <p:cNvSpPr>
            <a:spLocks noGrp="1"/>
          </p:cNvSpPr>
          <p:nvPr>
            <p:ph type="dt" idx="1"/>
          </p:nvPr>
        </p:nvSpPr>
        <p:spPr>
          <a:xfrm>
            <a:off x="504000" y="6886800"/>
            <a:ext cx="2348280" cy="520920"/>
          </a:xfrm>
          <a:prstGeom prst="rect">
            <a:avLst/>
          </a:prstGeom>
          <a:noFill/>
          <a:ln w="0">
            <a:noFill/>
          </a:ln>
        </p:spPr>
        <p:txBody>
          <a:bodyPr lIns="0" rIns="0" tIns="0" bIns="0" anchor="t">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 name="PlaceHolder 4"/>
          <p:cNvSpPr>
            <a:spLocks noGrp="1"/>
          </p:cNvSpPr>
          <p:nvPr>
            <p:ph type="ftr" idx="2"/>
          </p:nvPr>
        </p:nvSpPr>
        <p:spPr>
          <a:xfrm>
            <a:off x="3447360" y="6886800"/>
            <a:ext cx="3195000" cy="520920"/>
          </a:xfrm>
          <a:prstGeom prst="rect">
            <a:avLst/>
          </a:prstGeom>
          <a:noFill/>
          <a:ln w="0">
            <a:noFill/>
          </a:ln>
        </p:spPr>
        <p:txBody>
          <a:bodyPr lIns="0" rIns="0" tIns="0" bIns="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7227360" y="6886800"/>
            <a:ext cx="2348280" cy="52092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fld id="{4763369E-DD11-4177-B43F-819ED5ECF50A}"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pic>
        <p:nvPicPr>
          <p:cNvPr id="7" name=""/>
          <p:cNvPicPr/>
          <p:nvPr/>
        </p:nvPicPr>
        <p:blipFill>
          <a:blip r:embed="rId2"/>
          <a:stretch/>
        </p:blipFill>
        <p:spPr>
          <a:xfrm>
            <a:off x="0" y="0"/>
            <a:ext cx="10080000" cy="7560000"/>
          </a:xfrm>
          <a:prstGeom prst="rect">
            <a:avLst/>
          </a:prstGeom>
          <a:noFill/>
          <a:ln w="0">
            <a:noFill/>
          </a:ln>
        </p:spPr>
      </p:pic>
    </p:spTree>
  </p:cSld>
  <p:clrMap bg1="lt1" tx1="dk1" bg2="lt2" tx2="dk2" accent1="accent1" accent2="accent2" accent3="accent3" accent4="accent4" accent5="accent5" accent6="accent6" hlink="hlink" folHlink="folHlink"/>
  <p:sldLayoutIdLst>
    <p:sldLayoutId id="2147483649" r:id="rId3"/>
    <p:sldLayoutId id="2147483650"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301320"/>
            <a:ext cx="9071640" cy="126216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3" name="PlaceHolder 2"/>
          <p:cNvSpPr>
            <a:spLocks noGrp="1"/>
          </p:cNvSpPr>
          <p:nvPr>
            <p:ph type="body"/>
          </p:nvPr>
        </p:nvSpPr>
        <p:spPr>
          <a:xfrm>
            <a:off x="504000" y="1769040"/>
            <a:ext cx="9071640" cy="4384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
        <p:nvSpPr>
          <p:cNvPr id="14" name="PlaceHolder 3"/>
          <p:cNvSpPr>
            <a:spLocks noGrp="1"/>
          </p:cNvSpPr>
          <p:nvPr>
            <p:ph type="dt" idx="4"/>
          </p:nvPr>
        </p:nvSpPr>
        <p:spPr>
          <a:xfrm>
            <a:off x="504000" y="6887160"/>
            <a:ext cx="2348280" cy="521280"/>
          </a:xfrm>
          <a:prstGeom prst="rect">
            <a:avLst/>
          </a:prstGeom>
          <a:noFill/>
          <a:ln w="0">
            <a:noFill/>
          </a:ln>
        </p:spPr>
        <p:txBody>
          <a:bodyPr lIns="0" rIns="0" tIns="0" bIns="0" anchor="t">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5" name="PlaceHolder 4"/>
          <p:cNvSpPr>
            <a:spLocks noGrp="1"/>
          </p:cNvSpPr>
          <p:nvPr>
            <p:ph type="ftr" idx="5"/>
          </p:nvPr>
        </p:nvSpPr>
        <p:spPr>
          <a:xfrm>
            <a:off x="3447360" y="6887160"/>
            <a:ext cx="3195000" cy="521280"/>
          </a:xfrm>
          <a:prstGeom prst="rect">
            <a:avLst/>
          </a:prstGeom>
          <a:noFill/>
          <a:ln w="0">
            <a:noFill/>
          </a:ln>
        </p:spPr>
        <p:txBody>
          <a:bodyPr lIns="0" rIns="0" tIns="0" bIns="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5"/>
          <p:cNvSpPr>
            <a:spLocks noGrp="1"/>
          </p:cNvSpPr>
          <p:nvPr>
            <p:ph type="sldNum" idx="6"/>
          </p:nvPr>
        </p:nvSpPr>
        <p:spPr>
          <a:xfrm>
            <a:off x="7227360" y="6887160"/>
            <a:ext cx="2348280" cy="52128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fld id="{989B51B5-C509-4893-B8D9-36F2B685C629}"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pic>
        <p:nvPicPr>
          <p:cNvPr id="17" name=""/>
          <p:cNvPicPr/>
          <p:nvPr/>
        </p:nvPicPr>
        <p:blipFill>
          <a:blip r:embed="rId2"/>
          <a:stretch/>
        </p:blipFill>
        <p:spPr>
          <a:xfrm>
            <a:off x="-1236240" y="0"/>
            <a:ext cx="11659320" cy="7772400"/>
          </a:xfrm>
          <a:prstGeom prst="rect">
            <a:avLst/>
          </a:prstGeom>
          <a:noFill/>
          <a:ln w="0">
            <a:noFill/>
          </a:ln>
        </p:spPr>
      </p:pic>
    </p:spTree>
  </p:cSld>
  <p:clrMap bg1="lt1" tx1="dk1" bg2="lt2" tx2="dk2" accent1="accent1" accent2="accent2" accent3="accent3" accent4="accent4" accent5="accent5" accent6="accent6" hlink="hlink" folHlink="folHlink"/>
  <p:sldLayoutIdLst>
    <p:sldLayoutId id="2147483652"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chart" Target="../charts/chart1.xml"/><Relationship Id="rId4"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chart" Target="../charts/chart2.xml"/><Relationship Id="rId3"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chart" Target="../charts/chart3.xml"/><Relationship Id="rId3"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chart" Target="../charts/chart4.xml"/><Relationship Id="rId3"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
</Relationships>
</file>

<file path=ppt/slides/_rels/slide2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
</Relationships>
</file>

<file path=ppt/slides/_rels/slide2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
</Relationships>
</file>

<file path=ppt/slides/_rels/slide2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8.png"/><Relationship Id="rId3" Type="http://schemas.openxmlformats.org/officeDocument/2006/relationships/slideLayout" Target="../slideLayouts/slideLayout3.xml"/>
</Relationships>
</file>

<file path=ppt/slides/_rels/slide2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
</Relationships>
</file>

<file path=ppt/slides/_rels/slide2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3.xml"/>
</Relationships>
</file>

<file path=ppt/slides/_rels/slide2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
</Relationships>
</file>

<file path=ppt/slides/_rels/slide2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xml"/>
</Relationships>
</file>

<file path=ppt/slides/_rels/slide2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
          <p:cNvSpPr txBox="1"/>
          <p:nvPr/>
        </p:nvSpPr>
        <p:spPr>
          <a:xfrm>
            <a:off x="547200" y="769320"/>
            <a:ext cx="2881800" cy="373680"/>
          </a:xfrm>
          <a:prstGeom prst="rect">
            <a:avLst/>
          </a:prstGeom>
          <a:noFill/>
          <a:ln w="0">
            <a:noFill/>
          </a:ln>
        </p:spPr>
        <p:txBody>
          <a:bodyPr wrap="none" lIns="90000" rIns="90000" tIns="45000" bIns="45000" anchor="t">
            <a:spAutoFit/>
          </a:bodyPr>
          <a:p>
            <a:r>
              <a:rPr lang="en-US" sz="2000" b="0" u="none" strike="noStrike">
                <a:solidFill>
                  <a:srgbClr val="3a4968"/>
                </a:solidFill>
                <a:effectLst/>
                <a:uFillTx/>
                <a:latin typeface="Arial"/>
              </a:rPr>
              <a:t>PÓS GRADUAÇÃO EM</a:t>
            </a:r>
            <a:endParaRPr lang="en-US" sz="2000" b="0" u="none" strike="noStrike">
              <a:solidFill>
                <a:srgbClr val="000000"/>
              </a:solidFill>
              <a:effectLst/>
              <a:uFillTx/>
              <a:latin typeface="Arial"/>
            </a:endParaRPr>
          </a:p>
        </p:txBody>
      </p:sp>
      <p:sp>
        <p:nvSpPr>
          <p:cNvPr id="21" name=""/>
          <p:cNvSpPr txBox="1"/>
          <p:nvPr/>
        </p:nvSpPr>
        <p:spPr>
          <a:xfrm>
            <a:off x="547200" y="1143000"/>
            <a:ext cx="5224680" cy="942480"/>
          </a:xfrm>
          <a:prstGeom prst="rect">
            <a:avLst/>
          </a:prstGeom>
          <a:noFill/>
          <a:ln w="0">
            <a:noFill/>
          </a:ln>
        </p:spPr>
        <p:txBody>
          <a:bodyPr wrap="none" lIns="90000" rIns="90000" tIns="45000" bIns="45000" anchor="t">
            <a:spAutoFit/>
          </a:bodyPr>
          <a:p>
            <a:r>
              <a:rPr lang="en-US" sz="6000" b="0" u="none" spc="300" strike="noStrike">
                <a:solidFill>
                  <a:srgbClr val="023884"/>
                </a:solidFill>
                <a:effectLst/>
                <a:uFillTx/>
                <a:latin typeface="Arial"/>
              </a:rPr>
              <a:t>PSICOLOGIA</a:t>
            </a:r>
            <a:endParaRPr lang="en-US" sz="6000" b="0" u="none" strike="noStrike">
              <a:solidFill>
                <a:srgbClr val="000000"/>
              </a:solidFill>
              <a:effectLst/>
              <a:uFillTx/>
              <a:latin typeface="Arial"/>
            </a:endParaRPr>
          </a:p>
        </p:txBody>
      </p:sp>
      <p:sp>
        <p:nvSpPr>
          <p:cNvPr id="22" name=""/>
          <p:cNvSpPr txBox="1"/>
          <p:nvPr/>
        </p:nvSpPr>
        <p:spPr>
          <a:xfrm>
            <a:off x="547200" y="1828800"/>
            <a:ext cx="6010560" cy="942480"/>
          </a:xfrm>
          <a:prstGeom prst="rect">
            <a:avLst/>
          </a:prstGeom>
          <a:noFill/>
          <a:ln w="0">
            <a:noFill/>
          </a:ln>
        </p:spPr>
        <p:txBody>
          <a:bodyPr wrap="none" lIns="90000" rIns="90000" tIns="45000" bIns="45000" anchor="t">
            <a:spAutoFit/>
          </a:bodyPr>
          <a:p>
            <a:r>
              <a:rPr lang="en-US" sz="6000" b="0" u="none" spc="300" strike="noStrike">
                <a:solidFill>
                  <a:srgbClr val="dd6a1e"/>
                </a:solidFill>
                <a:effectLst/>
                <a:uFillTx/>
                <a:latin typeface="Arial"/>
              </a:rPr>
              <a:t>DO TRABALHO</a:t>
            </a:r>
            <a:endParaRPr lang="en-US" sz="6000" b="0" u="none" strike="noStrike">
              <a:solidFill>
                <a:srgbClr val="000000"/>
              </a:solidFill>
              <a:effectLst/>
              <a:uFillTx/>
              <a:latin typeface="Arial"/>
            </a:endParaRPr>
          </a:p>
        </p:txBody>
      </p:sp>
      <p:sp>
        <p:nvSpPr>
          <p:cNvPr id="23" name=""/>
          <p:cNvSpPr txBox="1"/>
          <p:nvPr/>
        </p:nvSpPr>
        <p:spPr>
          <a:xfrm>
            <a:off x="372600" y="4690800"/>
            <a:ext cx="3429000" cy="685800"/>
          </a:xfrm>
          <a:prstGeom prst="rect">
            <a:avLst/>
          </a:prstGeom>
          <a:noFill/>
          <a:ln w="0">
            <a:noFill/>
          </a:ln>
          <a:effectLst>
            <a:outerShdw dist="17819" dir="2700000" rotWithShape="0">
              <a:srgbClr val="000000">
                <a:alpha val="30000"/>
              </a:srgbClr>
            </a:outerShdw>
          </a:effectLst>
        </p:spPr>
        <p:txBody>
          <a:bodyPr lIns="90000" rIns="90000" tIns="45000" bIns="45000" anchor="t">
            <a:spAutoFit/>
          </a:bodyPr>
          <a:p>
            <a:r>
              <a:rPr lang="en-US" sz="4000" b="0" u="none" strike="noStrike">
                <a:solidFill>
                  <a:srgbClr val="ffffff"/>
                </a:solidFill>
                <a:effectLst/>
                <a:uFillTx/>
                <a:latin typeface="Arial"/>
              </a:rPr>
              <a:t>Amor à arte e</a:t>
            </a:r>
            <a:endParaRPr lang="en-US" sz="4000" b="0" u="none" strike="noStrike">
              <a:solidFill>
                <a:srgbClr val="000000"/>
              </a:solidFill>
              <a:effectLst/>
              <a:uFillTx/>
              <a:latin typeface="Arial"/>
            </a:endParaRPr>
          </a:p>
        </p:txBody>
      </p:sp>
      <p:sp>
        <p:nvSpPr>
          <p:cNvPr id="24" name=""/>
          <p:cNvSpPr/>
          <p:nvPr/>
        </p:nvSpPr>
        <p:spPr>
          <a:xfrm>
            <a:off x="633240" y="1143000"/>
            <a:ext cx="2657160" cy="0"/>
          </a:xfrm>
          <a:prstGeom prst="line">
            <a:avLst/>
          </a:prstGeom>
          <a:ln w="27360">
            <a:solidFill>
              <a:srgbClr val="c1c5ca"/>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5" name=""/>
          <p:cNvSpPr/>
          <p:nvPr/>
        </p:nvSpPr>
        <p:spPr>
          <a:xfrm>
            <a:off x="614160" y="27432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6" name=""/>
          <p:cNvSpPr txBox="1"/>
          <p:nvPr/>
        </p:nvSpPr>
        <p:spPr>
          <a:xfrm>
            <a:off x="829800" y="5176440"/>
            <a:ext cx="6400800" cy="657360"/>
          </a:xfrm>
          <a:prstGeom prst="rect">
            <a:avLst/>
          </a:prstGeom>
          <a:noFill/>
          <a:ln w="0">
            <a:noFill/>
          </a:ln>
          <a:effectLst>
            <a:outerShdw dist="17819" dir="2700000" rotWithShape="0">
              <a:srgbClr val="000000">
                <a:alpha val="30000"/>
              </a:srgbClr>
            </a:outerShdw>
          </a:effectLst>
        </p:spPr>
        <p:txBody>
          <a:bodyPr lIns="90000" rIns="90000" tIns="45000" bIns="45000" anchor="t">
            <a:spAutoFit/>
          </a:bodyPr>
          <a:p>
            <a:r>
              <a:rPr lang="en-US" sz="4000" b="0" u="none" strike="noStrike">
                <a:solidFill>
                  <a:srgbClr val="ffffff"/>
                </a:solidFill>
                <a:effectLst/>
                <a:uFillTx/>
                <a:latin typeface="Arial"/>
              </a:rPr>
              <a:t>a precarização do trabalho</a:t>
            </a:r>
            <a:endParaRPr lang="en-US" sz="4000" b="0" u="none" strike="noStrike">
              <a:solidFill>
                <a:srgbClr val="000000"/>
              </a:solidFill>
              <a:effectLst/>
              <a:uFillTx/>
              <a:latin typeface="Arial"/>
            </a:endParaRPr>
          </a:p>
        </p:txBody>
      </p:sp>
      <p:sp>
        <p:nvSpPr>
          <p:cNvPr id="27" name=""/>
          <p:cNvSpPr txBox="1"/>
          <p:nvPr/>
        </p:nvSpPr>
        <p:spPr>
          <a:xfrm>
            <a:off x="1515600" y="5633640"/>
            <a:ext cx="6400800" cy="657360"/>
          </a:xfrm>
          <a:prstGeom prst="rect">
            <a:avLst/>
          </a:prstGeom>
          <a:noFill/>
          <a:ln w="0">
            <a:noFill/>
          </a:ln>
          <a:effectLst>
            <a:outerShdw dist="17819" dir="2700000" rotWithShape="0">
              <a:srgbClr val="000000">
                <a:alpha val="30000"/>
              </a:srgbClr>
            </a:outerShdw>
          </a:effectLst>
        </p:spPr>
        <p:txBody>
          <a:bodyPr lIns="90000" rIns="90000" tIns="45000" bIns="45000" anchor="t">
            <a:spAutoFit/>
          </a:bodyPr>
          <a:p>
            <a:r>
              <a:rPr lang="en-US" sz="4000" b="0" u="none" strike="noStrike">
                <a:solidFill>
                  <a:srgbClr val="ffffff"/>
                </a:solidFill>
                <a:effectLst/>
                <a:uFillTx/>
                <a:latin typeface="Arial"/>
              </a:rPr>
              <a:t>da figurinista</a:t>
            </a:r>
            <a:endParaRPr lang="en-US"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9" name=""/>
          <p:cNvSpPr txBox="1"/>
          <p:nvPr/>
        </p:nvSpPr>
        <p:spPr>
          <a:xfrm>
            <a:off x="457200" y="74232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ECONOMIA CRIATIVA</a:t>
            </a:r>
            <a:endParaRPr lang="en-US" sz="2000" b="0" u="none" strike="noStrike">
              <a:solidFill>
                <a:srgbClr val="000000"/>
              </a:solidFill>
              <a:effectLst/>
              <a:uFillTx/>
              <a:latin typeface="Arial"/>
            </a:endParaRPr>
          </a:p>
        </p:txBody>
      </p:sp>
      <p:sp>
        <p:nvSpPr>
          <p:cNvPr id="30" name=""/>
          <p:cNvSpPr txBox="1"/>
          <p:nvPr/>
        </p:nvSpPr>
        <p:spPr>
          <a:xfrm>
            <a:off x="318600" y="1255680"/>
            <a:ext cx="1738800" cy="377352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2000" b="0" u="none" strike="noStrike">
                <a:solidFill>
                  <a:srgbClr val="3a4968"/>
                </a:solidFill>
                <a:effectLst/>
                <a:uFillTx/>
                <a:latin typeface="Arial"/>
              </a:rPr>
              <a:t>Cinema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TV</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Streaming</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Video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Publicidade</a:t>
            </a:r>
            <a:br>
              <a:rPr sz="2000"/>
            </a:br>
            <a:r>
              <a:rPr lang="en-US" sz="2000" b="0" u="none" strike="noStrike">
                <a:solidFill>
                  <a:srgbClr val="3a4968"/>
                </a:solidFill>
                <a:effectLst/>
                <a:uFillTx/>
                <a:latin typeface="Arial"/>
              </a:rPr>
              <a:t>Editorial</a:t>
            </a:r>
            <a:br>
              <a:rPr sz="2000"/>
            </a:br>
            <a:r>
              <a:rPr lang="en-US" sz="2000" b="0" u="none" strike="noStrike">
                <a:solidFill>
                  <a:srgbClr val="3a4968"/>
                </a:solidFill>
                <a:effectLst/>
                <a:uFillTx/>
                <a:latin typeface="Arial"/>
              </a:rPr>
              <a:t>Teatro</a:t>
            </a:r>
            <a:br>
              <a:rPr sz="2000"/>
            </a:br>
            <a:br>
              <a:rPr sz="2000"/>
            </a:br>
            <a:r>
              <a:rPr lang="en-US" sz="2000" b="0" u="none" strike="sngStrike">
                <a:solidFill>
                  <a:srgbClr val="3a4968"/>
                </a:solidFill>
                <a:effectLst/>
                <a:uFillTx/>
                <a:latin typeface="Arial"/>
              </a:rPr>
              <a:t>Radio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Games</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Animação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Arquitetura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Design</a:t>
            </a:r>
            <a:endParaRPr lang="en-US" sz="2000" b="0" u="none" strike="noStrike">
              <a:solidFill>
                <a:srgbClr val="000000"/>
              </a:solidFill>
              <a:effectLst/>
              <a:uFillTx/>
              <a:latin typeface="Arial"/>
            </a:endParaRPr>
          </a:p>
        </p:txBody>
      </p:sp>
      <p:sp>
        <p:nvSpPr>
          <p:cNvPr id="31" name=""/>
          <p:cNvSpPr txBox="1"/>
          <p:nvPr/>
        </p:nvSpPr>
        <p:spPr>
          <a:xfrm>
            <a:off x="457200" y="6629400"/>
            <a:ext cx="2286000" cy="346320"/>
          </a:xfrm>
          <a:prstGeom prst="rect">
            <a:avLst/>
          </a:prstGeom>
          <a:noFill/>
          <a:ln w="0">
            <a:noFill/>
          </a:ln>
        </p:spPr>
        <p:txBody>
          <a:bodyPr lIns="90000" rIns="90000" tIns="45000" bIns="45000" anchor="t">
            <a:spAutoFit/>
          </a:bodyPr>
          <a:p>
            <a:r>
              <a:rPr lang="en-US" sz="1800" b="0" u="none" strike="noStrike">
                <a:solidFill>
                  <a:srgbClr val="dd6a1e"/>
                </a:solidFill>
                <a:effectLst/>
                <a:uFillTx/>
                <a:latin typeface="Arial"/>
              </a:rPr>
              <a:t>Dados: Itaú Cultural</a:t>
            </a:r>
            <a:endParaRPr lang="en-US" sz="1800" b="0" u="none" strike="noStrike">
              <a:solidFill>
                <a:srgbClr val="000000"/>
              </a:solidFill>
              <a:effectLst/>
              <a:uFillTx/>
              <a:latin typeface="Arial"/>
            </a:endParaRPr>
          </a:p>
        </p:txBody>
      </p:sp>
      <p:pic>
        <p:nvPicPr>
          <p:cNvPr id="32" name=""/>
          <p:cNvPicPr/>
          <p:nvPr/>
        </p:nvPicPr>
        <p:blipFill>
          <a:blip r:embed="rId1"/>
          <a:stretch/>
        </p:blipFill>
        <p:spPr>
          <a:xfrm>
            <a:off x="457560" y="5029200"/>
            <a:ext cx="1599840" cy="1600200"/>
          </a:xfrm>
          <a:prstGeom prst="rect">
            <a:avLst/>
          </a:prstGeom>
          <a:noFill/>
          <a:ln w="0">
            <a:noFill/>
          </a:ln>
        </p:spPr>
      </p:pic>
      <p:pic>
        <p:nvPicPr>
          <p:cNvPr id="33" name=""/>
          <p:cNvPicPr/>
          <p:nvPr/>
        </p:nvPicPr>
        <p:blipFill>
          <a:blip r:embed="rId2"/>
          <a:stretch/>
        </p:blipFill>
        <p:spPr>
          <a:xfrm rot="21576600">
            <a:off x="3649680" y="346320"/>
            <a:ext cx="5964840" cy="3976560"/>
          </a:xfrm>
          <a:prstGeom prst="rect">
            <a:avLst/>
          </a:prstGeom>
          <a:noFill/>
          <a:ln w="0">
            <a:noFill/>
          </a:ln>
        </p:spPr>
      </p:pic>
      <p:graphicFrame>
        <p:nvGraphicFramePr>
          <p:cNvPr id="34" name=""/>
          <p:cNvGraphicFramePr/>
          <p:nvPr/>
        </p:nvGraphicFramePr>
        <p:xfrm>
          <a:off x="3429000" y="3387600"/>
          <a:ext cx="5755320" cy="3241800"/>
        </p:xfrm>
        <a:graphic>
          <a:graphicData uri="http://schemas.openxmlformats.org/drawingml/2006/chart">
            <c:chart xmlns:c="http://schemas.openxmlformats.org/drawingml/2006/chart" xmlns:r="http://schemas.openxmlformats.org/officeDocument/2006/relationships" r:id="rId3"/>
          </a:graphicData>
        </a:graphic>
      </p:graphicFrame>
      <p:sp>
        <p:nvSpPr>
          <p:cNvPr id="35"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CONTEXTUALIZAÇÃO</a:t>
            </a:r>
            <a:endParaRPr lang="en-US"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7" name=""/>
          <p:cNvSpPr txBox="1"/>
          <p:nvPr/>
        </p:nvSpPr>
        <p:spPr>
          <a:xfrm>
            <a:off x="457200" y="74232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ECONOMIA CRIATIVA</a:t>
            </a:r>
            <a:endParaRPr lang="en-US" sz="2000" b="0" u="none" strike="noStrike">
              <a:solidFill>
                <a:srgbClr val="000000"/>
              </a:solidFill>
              <a:effectLst/>
              <a:uFillTx/>
              <a:latin typeface="Arial"/>
            </a:endParaRPr>
          </a:p>
        </p:txBody>
      </p:sp>
      <p:pic>
        <p:nvPicPr>
          <p:cNvPr id="38" name=""/>
          <p:cNvPicPr/>
          <p:nvPr/>
        </p:nvPicPr>
        <p:blipFill>
          <a:blip r:embed="rId1"/>
          <a:stretch/>
        </p:blipFill>
        <p:spPr>
          <a:xfrm>
            <a:off x="6543360" y="1600200"/>
            <a:ext cx="2996640" cy="1962720"/>
          </a:xfrm>
          <a:prstGeom prst="rect">
            <a:avLst/>
          </a:prstGeom>
          <a:noFill/>
          <a:ln w="0">
            <a:noFill/>
          </a:ln>
        </p:spPr>
      </p:pic>
      <p:pic>
        <p:nvPicPr>
          <p:cNvPr id="39" name=""/>
          <p:cNvPicPr/>
          <p:nvPr/>
        </p:nvPicPr>
        <p:blipFill>
          <a:blip r:embed="rId2"/>
          <a:stretch/>
        </p:blipFill>
        <p:spPr>
          <a:xfrm>
            <a:off x="3691800" y="3691800"/>
            <a:ext cx="5909400" cy="2023200"/>
          </a:xfrm>
          <a:prstGeom prst="rect">
            <a:avLst/>
          </a:prstGeom>
          <a:noFill/>
          <a:ln w="0">
            <a:noFill/>
          </a:ln>
        </p:spPr>
      </p:pic>
      <p:pic>
        <p:nvPicPr>
          <p:cNvPr id="40" name=""/>
          <p:cNvPicPr/>
          <p:nvPr/>
        </p:nvPicPr>
        <p:blipFill>
          <a:blip r:embed="rId3"/>
          <a:stretch/>
        </p:blipFill>
        <p:spPr>
          <a:xfrm>
            <a:off x="3691800" y="1600200"/>
            <a:ext cx="2792880" cy="1992600"/>
          </a:xfrm>
          <a:prstGeom prst="rect">
            <a:avLst/>
          </a:prstGeom>
          <a:noFill/>
          <a:ln w="0">
            <a:noFill/>
          </a:ln>
        </p:spPr>
      </p:pic>
      <p:sp>
        <p:nvSpPr>
          <p:cNvPr id="41" name=""/>
          <p:cNvSpPr txBox="1"/>
          <p:nvPr/>
        </p:nvSpPr>
        <p:spPr>
          <a:xfrm>
            <a:off x="318960" y="1256040"/>
            <a:ext cx="1738800" cy="377352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2000" b="0" u="none" strike="noStrike">
                <a:solidFill>
                  <a:srgbClr val="3a4968"/>
                </a:solidFill>
                <a:effectLst/>
                <a:uFillTx/>
                <a:latin typeface="Arial"/>
              </a:rPr>
              <a:t>Cinema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TV</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Streaming</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Video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Publicidade</a:t>
            </a:r>
            <a:br>
              <a:rPr sz="2000"/>
            </a:br>
            <a:r>
              <a:rPr lang="en-US" sz="2000" b="0" u="none" strike="noStrike">
                <a:solidFill>
                  <a:srgbClr val="3a4968"/>
                </a:solidFill>
                <a:effectLst/>
                <a:uFillTx/>
                <a:latin typeface="Arial"/>
              </a:rPr>
              <a:t>Editorial</a:t>
            </a:r>
            <a:br>
              <a:rPr sz="2000"/>
            </a:br>
            <a:r>
              <a:rPr lang="en-US" sz="2000" b="0" u="none" strike="noStrike">
                <a:solidFill>
                  <a:srgbClr val="3a4968"/>
                </a:solidFill>
                <a:effectLst/>
                <a:uFillTx/>
                <a:latin typeface="Arial"/>
              </a:rPr>
              <a:t>Teatro</a:t>
            </a:r>
            <a:br>
              <a:rPr sz="2000"/>
            </a:br>
            <a:br>
              <a:rPr sz="2000"/>
            </a:br>
            <a:r>
              <a:rPr lang="en-US" sz="2000" b="0" u="none" strike="sngStrike">
                <a:solidFill>
                  <a:srgbClr val="3a4968"/>
                </a:solidFill>
                <a:effectLst/>
                <a:uFillTx/>
                <a:latin typeface="Arial"/>
              </a:rPr>
              <a:t>Radio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Games</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Animação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Arquitetura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Design</a:t>
            </a:r>
            <a:endParaRPr lang="en-US" sz="2000" b="0" u="none" strike="noStrike">
              <a:solidFill>
                <a:srgbClr val="000000"/>
              </a:solidFill>
              <a:effectLst/>
              <a:uFillTx/>
              <a:latin typeface="Arial"/>
            </a:endParaRPr>
          </a:p>
        </p:txBody>
      </p:sp>
      <p:sp>
        <p:nvSpPr>
          <p:cNvPr id="42" name=""/>
          <p:cNvSpPr txBox="1"/>
          <p:nvPr/>
        </p:nvSpPr>
        <p:spPr>
          <a:xfrm>
            <a:off x="457560" y="6629760"/>
            <a:ext cx="2286000" cy="346320"/>
          </a:xfrm>
          <a:prstGeom prst="rect">
            <a:avLst/>
          </a:prstGeom>
          <a:noFill/>
          <a:ln w="0">
            <a:noFill/>
          </a:ln>
        </p:spPr>
        <p:txBody>
          <a:bodyPr lIns="90000" rIns="90000" tIns="45000" bIns="45000" anchor="t">
            <a:spAutoFit/>
          </a:bodyPr>
          <a:p>
            <a:r>
              <a:rPr lang="en-US" sz="1800" b="0" u="none" strike="noStrike">
                <a:solidFill>
                  <a:srgbClr val="dd6a1e"/>
                </a:solidFill>
                <a:effectLst/>
                <a:uFillTx/>
                <a:latin typeface="Arial"/>
              </a:rPr>
              <a:t>Dados: Itaú Cultural</a:t>
            </a:r>
            <a:endParaRPr lang="en-US" sz="1800" b="0" u="none" strike="noStrike">
              <a:solidFill>
                <a:srgbClr val="000000"/>
              </a:solidFill>
              <a:effectLst/>
              <a:uFillTx/>
              <a:latin typeface="Arial"/>
            </a:endParaRPr>
          </a:p>
        </p:txBody>
      </p:sp>
      <p:pic>
        <p:nvPicPr>
          <p:cNvPr id="43" name=""/>
          <p:cNvPicPr/>
          <p:nvPr/>
        </p:nvPicPr>
        <p:blipFill>
          <a:blip r:embed="rId4"/>
          <a:stretch/>
        </p:blipFill>
        <p:spPr>
          <a:xfrm>
            <a:off x="457920" y="5029560"/>
            <a:ext cx="1599840" cy="1600200"/>
          </a:xfrm>
          <a:prstGeom prst="rect">
            <a:avLst/>
          </a:prstGeom>
          <a:noFill/>
          <a:ln w="0">
            <a:noFill/>
          </a:ln>
        </p:spPr>
      </p:pic>
      <p:sp>
        <p:nvSpPr>
          <p:cNvPr id="44"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CONTEXTUALIZAÇÃO</a:t>
            </a:r>
            <a:endParaRPr lang="en-US"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46" name=""/>
          <p:cNvSpPr txBox="1"/>
          <p:nvPr/>
        </p:nvSpPr>
        <p:spPr>
          <a:xfrm>
            <a:off x="457200" y="74232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ECONOMIA CRIATIVA</a:t>
            </a:r>
            <a:endParaRPr lang="en-US" sz="2000" b="0" u="none" strike="noStrike">
              <a:solidFill>
                <a:srgbClr val="000000"/>
              </a:solidFill>
              <a:effectLst/>
              <a:uFillTx/>
              <a:latin typeface="Arial"/>
            </a:endParaRPr>
          </a:p>
        </p:txBody>
      </p:sp>
      <p:sp>
        <p:nvSpPr>
          <p:cNvPr id="47" name=""/>
          <p:cNvSpPr txBox="1"/>
          <p:nvPr/>
        </p:nvSpPr>
        <p:spPr>
          <a:xfrm>
            <a:off x="319320" y="1256400"/>
            <a:ext cx="1738800" cy="377352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2000" b="0" u="none" strike="noStrike">
                <a:solidFill>
                  <a:srgbClr val="3a4968"/>
                </a:solidFill>
                <a:effectLst/>
                <a:uFillTx/>
                <a:latin typeface="Arial"/>
              </a:rPr>
              <a:t>Cinema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TV</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Streaming</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Video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Publicidade</a:t>
            </a:r>
            <a:br>
              <a:rPr sz="2000"/>
            </a:br>
            <a:r>
              <a:rPr lang="en-US" sz="2000" b="0" u="none" strike="noStrike">
                <a:solidFill>
                  <a:srgbClr val="3a4968"/>
                </a:solidFill>
                <a:effectLst/>
                <a:uFillTx/>
                <a:latin typeface="Arial"/>
              </a:rPr>
              <a:t>Editorial</a:t>
            </a:r>
            <a:br>
              <a:rPr sz="2000"/>
            </a:br>
            <a:r>
              <a:rPr lang="en-US" sz="2000" b="0" u="none" strike="noStrike">
                <a:solidFill>
                  <a:srgbClr val="3a4968"/>
                </a:solidFill>
                <a:effectLst/>
                <a:uFillTx/>
                <a:latin typeface="Arial"/>
              </a:rPr>
              <a:t>Teatro</a:t>
            </a:r>
            <a:br>
              <a:rPr sz="2000"/>
            </a:br>
            <a:br>
              <a:rPr sz="2000"/>
            </a:br>
            <a:r>
              <a:rPr lang="en-US" sz="2000" b="0" u="none" strike="sngStrike">
                <a:solidFill>
                  <a:srgbClr val="3a4968"/>
                </a:solidFill>
                <a:effectLst/>
                <a:uFillTx/>
                <a:latin typeface="Arial"/>
              </a:rPr>
              <a:t>Radio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Games</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Animação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Arquitetura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Design</a:t>
            </a:r>
            <a:endParaRPr lang="en-US" sz="2000" b="0" u="none" strike="noStrike">
              <a:solidFill>
                <a:srgbClr val="000000"/>
              </a:solidFill>
              <a:effectLst/>
              <a:uFillTx/>
              <a:latin typeface="Arial"/>
            </a:endParaRPr>
          </a:p>
        </p:txBody>
      </p:sp>
      <p:sp>
        <p:nvSpPr>
          <p:cNvPr id="48" name=""/>
          <p:cNvSpPr txBox="1"/>
          <p:nvPr/>
        </p:nvSpPr>
        <p:spPr>
          <a:xfrm>
            <a:off x="457920" y="6630120"/>
            <a:ext cx="2286000" cy="346320"/>
          </a:xfrm>
          <a:prstGeom prst="rect">
            <a:avLst/>
          </a:prstGeom>
          <a:noFill/>
          <a:ln w="0">
            <a:noFill/>
          </a:ln>
        </p:spPr>
        <p:txBody>
          <a:bodyPr lIns="90000" rIns="90000" tIns="45000" bIns="45000" anchor="t">
            <a:spAutoFit/>
          </a:bodyPr>
          <a:p>
            <a:r>
              <a:rPr lang="en-US" sz="1800" b="0" u="none" strike="noStrike">
                <a:solidFill>
                  <a:srgbClr val="dd6a1e"/>
                </a:solidFill>
                <a:effectLst/>
                <a:uFillTx/>
                <a:latin typeface="Arial"/>
              </a:rPr>
              <a:t>Dados: Itaú Cultural</a:t>
            </a:r>
            <a:endParaRPr lang="en-US" sz="1800" b="0" u="none" strike="noStrike">
              <a:solidFill>
                <a:srgbClr val="000000"/>
              </a:solidFill>
              <a:effectLst/>
              <a:uFillTx/>
              <a:latin typeface="Arial"/>
            </a:endParaRPr>
          </a:p>
        </p:txBody>
      </p:sp>
      <p:pic>
        <p:nvPicPr>
          <p:cNvPr id="49" name=""/>
          <p:cNvPicPr/>
          <p:nvPr/>
        </p:nvPicPr>
        <p:blipFill>
          <a:blip r:embed="rId1"/>
          <a:stretch/>
        </p:blipFill>
        <p:spPr>
          <a:xfrm>
            <a:off x="458280" y="5029920"/>
            <a:ext cx="1599840" cy="1600200"/>
          </a:xfrm>
          <a:prstGeom prst="rect">
            <a:avLst/>
          </a:prstGeom>
          <a:noFill/>
          <a:ln w="0">
            <a:noFill/>
          </a:ln>
        </p:spPr>
      </p:pic>
      <p:sp>
        <p:nvSpPr>
          <p:cNvPr id="50"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CONTEXTUALIZAÇÃO</a:t>
            </a:r>
            <a:endParaRPr lang="en-US" sz="3000" b="0" u="none" strike="noStrike">
              <a:solidFill>
                <a:srgbClr val="000000"/>
              </a:solidFill>
              <a:effectLst/>
              <a:uFillTx/>
              <a:latin typeface="Arial"/>
            </a:endParaRPr>
          </a:p>
        </p:txBody>
      </p:sp>
      <p:graphicFrame>
        <p:nvGraphicFramePr>
          <p:cNvPr id="51" name=""/>
          <p:cNvGraphicFramePr/>
          <p:nvPr/>
        </p:nvGraphicFramePr>
        <p:xfrm>
          <a:off x="2743200" y="1330200"/>
          <a:ext cx="7086600" cy="4156200"/>
        </p:xfrm>
        <a:graphic>
          <a:graphicData uri="http://schemas.openxmlformats.org/drawingml/2006/chart">
            <c:chart xmlns:c="http://schemas.openxmlformats.org/drawingml/2006/chart" xmlns:r="http://schemas.openxmlformats.org/officeDocument/2006/relationships" r:id="rId2"/>
          </a:graphicData>
        </a:graphic>
      </p:graphicFrame>
      <p:sp>
        <p:nvSpPr>
          <p:cNvPr id="52" name=""/>
          <p:cNvSpPr txBox="1"/>
          <p:nvPr/>
        </p:nvSpPr>
        <p:spPr>
          <a:xfrm>
            <a:off x="8782920" y="1917000"/>
            <a:ext cx="986760" cy="40500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47%</a:t>
            </a:r>
            <a:endParaRPr lang="en-US" sz="1600" b="0" u="none" strike="noStrike">
              <a:solidFill>
                <a:srgbClr val="000000"/>
              </a:solidFill>
              <a:effectLst/>
              <a:uFillTx/>
              <a:latin typeface="Arial"/>
            </a:endParaRPr>
          </a:p>
        </p:txBody>
      </p:sp>
      <p:sp>
        <p:nvSpPr>
          <p:cNvPr id="53" name=""/>
          <p:cNvSpPr txBox="1"/>
          <p:nvPr/>
        </p:nvSpPr>
        <p:spPr>
          <a:xfrm>
            <a:off x="5257800" y="2400840"/>
            <a:ext cx="986760" cy="40536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11%</a:t>
            </a:r>
            <a:endParaRPr lang="en-US" sz="1600" b="0" u="none" strike="noStrike">
              <a:solidFill>
                <a:srgbClr val="000000"/>
              </a:solidFill>
              <a:effectLst/>
              <a:uFillTx/>
              <a:latin typeface="Arial"/>
            </a:endParaRPr>
          </a:p>
        </p:txBody>
      </p:sp>
      <p:sp>
        <p:nvSpPr>
          <p:cNvPr id="54" name=""/>
          <p:cNvSpPr txBox="1"/>
          <p:nvPr/>
        </p:nvSpPr>
        <p:spPr>
          <a:xfrm>
            <a:off x="6629400" y="2848680"/>
            <a:ext cx="986400" cy="40536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25%</a:t>
            </a:r>
            <a:endParaRPr lang="en-US" sz="1600" b="0" u="none" strike="noStrike">
              <a:solidFill>
                <a:srgbClr val="000000"/>
              </a:solidFill>
              <a:effectLst/>
              <a:uFillTx/>
              <a:latin typeface="Arial"/>
            </a:endParaRPr>
          </a:p>
        </p:txBody>
      </p:sp>
      <p:sp>
        <p:nvSpPr>
          <p:cNvPr id="55" name=""/>
          <p:cNvSpPr txBox="1"/>
          <p:nvPr/>
        </p:nvSpPr>
        <p:spPr>
          <a:xfrm>
            <a:off x="4386960" y="3358800"/>
            <a:ext cx="986400" cy="40500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3%</a:t>
            </a:r>
            <a:endParaRPr lang="en-US" sz="1600" b="0" u="none" strike="noStrike">
              <a:solidFill>
                <a:srgbClr val="000000"/>
              </a:solidFill>
              <a:effectLst/>
              <a:uFillTx/>
              <a:latin typeface="Arial"/>
            </a:endParaRPr>
          </a:p>
        </p:txBody>
      </p:sp>
      <p:sp>
        <p:nvSpPr>
          <p:cNvPr id="56" name=""/>
          <p:cNvSpPr txBox="1"/>
          <p:nvPr/>
        </p:nvSpPr>
        <p:spPr>
          <a:xfrm>
            <a:off x="4392000" y="3810240"/>
            <a:ext cx="986400" cy="40500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3%</a:t>
            </a:r>
            <a:endParaRPr lang="en-US" sz="1600" b="0" u="none" strike="noStrike">
              <a:solidFill>
                <a:srgbClr val="000000"/>
              </a:solidFill>
              <a:effectLst/>
              <a:uFillTx/>
              <a:latin typeface="Arial"/>
            </a:endParaRPr>
          </a:p>
        </p:txBody>
      </p:sp>
      <p:sp>
        <p:nvSpPr>
          <p:cNvPr id="57" name=""/>
          <p:cNvSpPr txBox="1"/>
          <p:nvPr/>
        </p:nvSpPr>
        <p:spPr>
          <a:xfrm>
            <a:off x="4957200" y="4284000"/>
            <a:ext cx="986400" cy="40536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8%</a:t>
            </a:r>
            <a:endParaRPr lang="en-US" sz="1600" b="0" u="none" strike="noStrike">
              <a:solidFill>
                <a:srgbClr val="000000"/>
              </a:solidFill>
              <a:effectLst/>
              <a:uFillTx/>
              <a:latin typeface="Arial"/>
            </a:endParaRPr>
          </a:p>
        </p:txBody>
      </p:sp>
      <p:sp>
        <p:nvSpPr>
          <p:cNvPr id="58" name=""/>
          <p:cNvSpPr txBox="1"/>
          <p:nvPr/>
        </p:nvSpPr>
        <p:spPr>
          <a:xfrm>
            <a:off x="4186800" y="4764600"/>
            <a:ext cx="986400" cy="40536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1%</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60" name=""/>
          <p:cNvSpPr txBox="1"/>
          <p:nvPr/>
        </p:nvSpPr>
        <p:spPr>
          <a:xfrm>
            <a:off x="457200" y="74232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ECONOMIA CRIATIVA</a:t>
            </a:r>
            <a:endParaRPr lang="en-US" sz="2000" b="0" u="none" strike="noStrike">
              <a:solidFill>
                <a:srgbClr val="000000"/>
              </a:solidFill>
              <a:effectLst/>
              <a:uFillTx/>
              <a:latin typeface="Arial"/>
            </a:endParaRPr>
          </a:p>
        </p:txBody>
      </p:sp>
      <p:sp>
        <p:nvSpPr>
          <p:cNvPr id="61" name=""/>
          <p:cNvSpPr txBox="1"/>
          <p:nvPr/>
        </p:nvSpPr>
        <p:spPr>
          <a:xfrm>
            <a:off x="319320" y="1256400"/>
            <a:ext cx="1738800" cy="377352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2000" b="0" u="none" strike="noStrike">
                <a:solidFill>
                  <a:srgbClr val="3a4968"/>
                </a:solidFill>
                <a:effectLst/>
                <a:uFillTx/>
                <a:latin typeface="Arial"/>
              </a:rPr>
              <a:t>Cinema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TV</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Streaming</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Video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Publicidade</a:t>
            </a:r>
            <a:br>
              <a:rPr sz="2000"/>
            </a:br>
            <a:r>
              <a:rPr lang="en-US" sz="2000" b="0" u="none" strike="noStrike">
                <a:solidFill>
                  <a:srgbClr val="3a4968"/>
                </a:solidFill>
                <a:effectLst/>
                <a:uFillTx/>
                <a:latin typeface="Arial"/>
              </a:rPr>
              <a:t>Editorial</a:t>
            </a:r>
            <a:br>
              <a:rPr sz="2000"/>
            </a:br>
            <a:r>
              <a:rPr lang="en-US" sz="2000" b="0" u="none" strike="noStrike">
                <a:solidFill>
                  <a:srgbClr val="3a4968"/>
                </a:solidFill>
                <a:effectLst/>
                <a:uFillTx/>
                <a:latin typeface="Arial"/>
              </a:rPr>
              <a:t>Teatro</a:t>
            </a:r>
            <a:br>
              <a:rPr sz="2000"/>
            </a:br>
            <a:br>
              <a:rPr sz="2000"/>
            </a:br>
            <a:r>
              <a:rPr lang="en-US" sz="2000" b="0" u="none" strike="sngStrike">
                <a:solidFill>
                  <a:srgbClr val="3a4968"/>
                </a:solidFill>
                <a:effectLst/>
                <a:uFillTx/>
                <a:latin typeface="Arial"/>
              </a:rPr>
              <a:t>Radio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Games</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Animação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Arquitetura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Design</a:t>
            </a:r>
            <a:endParaRPr lang="en-US" sz="2000" b="0" u="none" strike="noStrike">
              <a:solidFill>
                <a:srgbClr val="000000"/>
              </a:solidFill>
              <a:effectLst/>
              <a:uFillTx/>
              <a:latin typeface="Arial"/>
            </a:endParaRPr>
          </a:p>
        </p:txBody>
      </p:sp>
      <p:sp>
        <p:nvSpPr>
          <p:cNvPr id="62" name=""/>
          <p:cNvSpPr txBox="1"/>
          <p:nvPr/>
        </p:nvSpPr>
        <p:spPr>
          <a:xfrm>
            <a:off x="457920" y="6630120"/>
            <a:ext cx="2286000" cy="346320"/>
          </a:xfrm>
          <a:prstGeom prst="rect">
            <a:avLst/>
          </a:prstGeom>
          <a:noFill/>
          <a:ln w="0">
            <a:noFill/>
          </a:ln>
        </p:spPr>
        <p:txBody>
          <a:bodyPr lIns="90000" rIns="90000" tIns="45000" bIns="45000" anchor="t">
            <a:spAutoFit/>
          </a:bodyPr>
          <a:p>
            <a:r>
              <a:rPr lang="en-US" sz="1800" b="0" u="none" strike="noStrike">
                <a:solidFill>
                  <a:srgbClr val="dd6a1e"/>
                </a:solidFill>
                <a:effectLst/>
                <a:uFillTx/>
                <a:latin typeface="Arial"/>
              </a:rPr>
              <a:t>Dados: Itaú Cultural</a:t>
            </a:r>
            <a:endParaRPr lang="en-US" sz="1800" b="0" u="none" strike="noStrike">
              <a:solidFill>
                <a:srgbClr val="000000"/>
              </a:solidFill>
              <a:effectLst/>
              <a:uFillTx/>
              <a:latin typeface="Arial"/>
            </a:endParaRPr>
          </a:p>
        </p:txBody>
      </p:sp>
      <p:pic>
        <p:nvPicPr>
          <p:cNvPr id="63" name=""/>
          <p:cNvPicPr/>
          <p:nvPr/>
        </p:nvPicPr>
        <p:blipFill>
          <a:blip r:embed="rId1"/>
          <a:stretch/>
        </p:blipFill>
        <p:spPr>
          <a:xfrm>
            <a:off x="458280" y="5029920"/>
            <a:ext cx="1599840" cy="1600200"/>
          </a:xfrm>
          <a:prstGeom prst="rect">
            <a:avLst/>
          </a:prstGeom>
          <a:noFill/>
          <a:ln w="0">
            <a:noFill/>
          </a:ln>
        </p:spPr>
      </p:pic>
      <p:sp>
        <p:nvSpPr>
          <p:cNvPr id="64"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CONTEXTUALIZAÇÃO</a:t>
            </a:r>
            <a:endParaRPr lang="en-US" sz="3000" b="0" u="none" strike="noStrike">
              <a:solidFill>
                <a:srgbClr val="000000"/>
              </a:solidFill>
              <a:effectLst/>
              <a:uFillTx/>
              <a:latin typeface="Arial"/>
            </a:endParaRPr>
          </a:p>
        </p:txBody>
      </p:sp>
      <p:graphicFrame>
        <p:nvGraphicFramePr>
          <p:cNvPr id="65" name=""/>
          <p:cNvGraphicFramePr/>
          <p:nvPr/>
        </p:nvGraphicFramePr>
        <p:xfrm>
          <a:off x="2743200" y="1143000"/>
          <a:ext cx="6893640" cy="4114800"/>
        </p:xfrm>
        <a:graphic>
          <a:graphicData uri="http://schemas.openxmlformats.org/drawingml/2006/chart">
            <c:chart xmlns:c="http://schemas.openxmlformats.org/drawingml/2006/chart" xmlns:r="http://schemas.openxmlformats.org/officeDocument/2006/relationships" r:id="rId2"/>
          </a:graphicData>
        </a:graphic>
      </p:graphicFrame>
      <p:sp>
        <p:nvSpPr>
          <p:cNvPr id="66" name=""/>
          <p:cNvSpPr txBox="1"/>
          <p:nvPr/>
        </p:nvSpPr>
        <p:spPr>
          <a:xfrm>
            <a:off x="4844160" y="4361400"/>
            <a:ext cx="959760" cy="40140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12%</a:t>
            </a:r>
            <a:endParaRPr lang="en-US" sz="1600" b="0" u="none" strike="noStrike">
              <a:solidFill>
                <a:srgbClr val="000000"/>
              </a:solidFill>
              <a:effectLst/>
              <a:uFillTx/>
              <a:latin typeface="Arial"/>
            </a:endParaRPr>
          </a:p>
        </p:txBody>
      </p:sp>
      <p:sp>
        <p:nvSpPr>
          <p:cNvPr id="67" name=""/>
          <p:cNvSpPr txBox="1"/>
          <p:nvPr/>
        </p:nvSpPr>
        <p:spPr>
          <a:xfrm>
            <a:off x="8758080" y="3536640"/>
            <a:ext cx="959760" cy="40104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43%</a:t>
            </a:r>
            <a:endParaRPr lang="en-US" sz="1600" b="0" u="none" strike="noStrike">
              <a:solidFill>
                <a:srgbClr val="000000"/>
              </a:solidFill>
              <a:effectLst/>
              <a:uFillTx/>
              <a:latin typeface="Arial"/>
            </a:endParaRPr>
          </a:p>
        </p:txBody>
      </p:sp>
      <p:sp>
        <p:nvSpPr>
          <p:cNvPr id="68" name=""/>
          <p:cNvSpPr txBox="1"/>
          <p:nvPr/>
        </p:nvSpPr>
        <p:spPr>
          <a:xfrm>
            <a:off x="4765320" y="1866600"/>
            <a:ext cx="959760" cy="40104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11%</a:t>
            </a:r>
            <a:endParaRPr lang="en-US" sz="1600" b="0" u="none" strike="noStrike">
              <a:solidFill>
                <a:srgbClr val="000000"/>
              </a:solidFill>
              <a:effectLst/>
              <a:uFillTx/>
              <a:latin typeface="Arial"/>
            </a:endParaRPr>
          </a:p>
        </p:txBody>
      </p:sp>
      <p:sp>
        <p:nvSpPr>
          <p:cNvPr id="69" name=""/>
          <p:cNvSpPr txBox="1"/>
          <p:nvPr/>
        </p:nvSpPr>
        <p:spPr>
          <a:xfrm>
            <a:off x="7535160" y="2727360"/>
            <a:ext cx="959760" cy="40140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33%</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71" name=""/>
          <p:cNvSpPr txBox="1"/>
          <p:nvPr/>
        </p:nvSpPr>
        <p:spPr>
          <a:xfrm>
            <a:off x="457200" y="74232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ECONOMIA CRIATIVA</a:t>
            </a:r>
            <a:endParaRPr lang="en-US" sz="2000" b="0" u="none" strike="noStrike">
              <a:solidFill>
                <a:srgbClr val="000000"/>
              </a:solidFill>
              <a:effectLst/>
              <a:uFillTx/>
              <a:latin typeface="Arial"/>
            </a:endParaRPr>
          </a:p>
        </p:txBody>
      </p:sp>
      <p:sp>
        <p:nvSpPr>
          <p:cNvPr id="72" name=""/>
          <p:cNvSpPr txBox="1"/>
          <p:nvPr/>
        </p:nvSpPr>
        <p:spPr>
          <a:xfrm>
            <a:off x="319320" y="1256400"/>
            <a:ext cx="1738800" cy="377352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2000" b="0" u="none" strike="noStrike">
                <a:solidFill>
                  <a:srgbClr val="3a4968"/>
                </a:solidFill>
                <a:effectLst/>
                <a:uFillTx/>
                <a:latin typeface="Arial"/>
              </a:rPr>
              <a:t>Cinema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TV</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Streaming</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Video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Publicidade</a:t>
            </a:r>
            <a:br>
              <a:rPr sz="2000"/>
            </a:br>
            <a:r>
              <a:rPr lang="en-US" sz="2000" b="0" u="none" strike="noStrike">
                <a:solidFill>
                  <a:srgbClr val="3a4968"/>
                </a:solidFill>
                <a:effectLst/>
                <a:uFillTx/>
                <a:latin typeface="Arial"/>
              </a:rPr>
              <a:t>Editorial</a:t>
            </a:r>
            <a:br>
              <a:rPr sz="2000"/>
            </a:br>
            <a:r>
              <a:rPr lang="en-US" sz="2000" b="0" u="none" strike="noStrike">
                <a:solidFill>
                  <a:srgbClr val="3a4968"/>
                </a:solidFill>
                <a:effectLst/>
                <a:uFillTx/>
                <a:latin typeface="Arial"/>
              </a:rPr>
              <a:t>Teatro</a:t>
            </a:r>
            <a:br>
              <a:rPr sz="2000"/>
            </a:br>
            <a:br>
              <a:rPr sz="2000"/>
            </a:br>
            <a:r>
              <a:rPr lang="en-US" sz="2000" b="0" u="none" strike="sngStrike">
                <a:solidFill>
                  <a:srgbClr val="3a4968"/>
                </a:solidFill>
                <a:effectLst/>
                <a:uFillTx/>
                <a:latin typeface="Arial"/>
              </a:rPr>
              <a:t>Radio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Games</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Animação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Arquitetura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Design</a:t>
            </a:r>
            <a:endParaRPr lang="en-US" sz="2000" b="0" u="none" strike="noStrike">
              <a:solidFill>
                <a:srgbClr val="000000"/>
              </a:solidFill>
              <a:effectLst/>
              <a:uFillTx/>
              <a:latin typeface="Arial"/>
            </a:endParaRPr>
          </a:p>
        </p:txBody>
      </p:sp>
      <p:sp>
        <p:nvSpPr>
          <p:cNvPr id="73" name=""/>
          <p:cNvSpPr txBox="1"/>
          <p:nvPr/>
        </p:nvSpPr>
        <p:spPr>
          <a:xfrm>
            <a:off x="457920" y="6630120"/>
            <a:ext cx="2286000" cy="346320"/>
          </a:xfrm>
          <a:prstGeom prst="rect">
            <a:avLst/>
          </a:prstGeom>
          <a:noFill/>
          <a:ln w="0">
            <a:noFill/>
          </a:ln>
        </p:spPr>
        <p:txBody>
          <a:bodyPr lIns="90000" rIns="90000" tIns="45000" bIns="45000" anchor="t">
            <a:spAutoFit/>
          </a:bodyPr>
          <a:p>
            <a:r>
              <a:rPr lang="en-US" sz="1800" b="0" u="none" strike="noStrike">
                <a:solidFill>
                  <a:srgbClr val="dd6a1e"/>
                </a:solidFill>
                <a:effectLst/>
                <a:uFillTx/>
                <a:latin typeface="Arial"/>
              </a:rPr>
              <a:t>Dados: Itaú Cultural</a:t>
            </a:r>
            <a:endParaRPr lang="en-US" sz="1800" b="0" u="none" strike="noStrike">
              <a:solidFill>
                <a:srgbClr val="000000"/>
              </a:solidFill>
              <a:effectLst/>
              <a:uFillTx/>
              <a:latin typeface="Arial"/>
            </a:endParaRPr>
          </a:p>
        </p:txBody>
      </p:sp>
      <p:pic>
        <p:nvPicPr>
          <p:cNvPr id="74" name=""/>
          <p:cNvPicPr/>
          <p:nvPr/>
        </p:nvPicPr>
        <p:blipFill>
          <a:blip r:embed="rId1"/>
          <a:stretch/>
        </p:blipFill>
        <p:spPr>
          <a:xfrm>
            <a:off x="458280" y="5029920"/>
            <a:ext cx="1599840" cy="1600200"/>
          </a:xfrm>
          <a:prstGeom prst="rect">
            <a:avLst/>
          </a:prstGeom>
          <a:noFill/>
          <a:ln w="0">
            <a:noFill/>
          </a:ln>
        </p:spPr>
      </p:pic>
      <p:sp>
        <p:nvSpPr>
          <p:cNvPr id="75"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CONTEXTUALIZAÇÃO</a:t>
            </a:r>
            <a:endParaRPr lang="en-US" sz="3000" b="0" u="none" strike="noStrike">
              <a:solidFill>
                <a:srgbClr val="000000"/>
              </a:solidFill>
              <a:effectLst/>
              <a:uFillTx/>
              <a:latin typeface="Arial"/>
            </a:endParaRPr>
          </a:p>
        </p:txBody>
      </p:sp>
      <p:graphicFrame>
        <p:nvGraphicFramePr>
          <p:cNvPr id="76" name=""/>
          <p:cNvGraphicFramePr/>
          <p:nvPr/>
        </p:nvGraphicFramePr>
        <p:xfrm>
          <a:off x="3429000" y="1828800"/>
          <a:ext cx="5763600" cy="3241440"/>
        </p:xfrm>
        <a:graphic>
          <a:graphicData uri="http://schemas.openxmlformats.org/drawingml/2006/chart">
            <c:chart xmlns:c="http://schemas.openxmlformats.org/drawingml/2006/chart" xmlns:r="http://schemas.openxmlformats.org/officeDocument/2006/relationships" r:id="rId2"/>
          </a:graphicData>
        </a:graphic>
      </p:graphicFrame>
      <p:sp>
        <p:nvSpPr>
          <p:cNvPr id="77" name=""/>
          <p:cNvSpPr txBox="1"/>
          <p:nvPr/>
        </p:nvSpPr>
        <p:spPr>
          <a:xfrm>
            <a:off x="4446000" y="3143160"/>
            <a:ext cx="1726200" cy="85824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ffffff"/>
                </a:solidFill>
                <a:effectLst/>
                <a:uFillTx/>
                <a:latin typeface="Arial"/>
              </a:rPr>
              <a:t>1.6M (53,92%)</a:t>
            </a:r>
            <a:endParaRPr lang="en-US" sz="1600" b="0" u="none" strike="noStrike">
              <a:solidFill>
                <a:srgbClr val="ffffff"/>
              </a:solidFill>
              <a:effectLst/>
              <a:uFillTx/>
              <a:latin typeface="Arial"/>
            </a:endParaRPr>
          </a:p>
        </p:txBody>
      </p:sp>
      <p:sp>
        <p:nvSpPr>
          <p:cNvPr id="78" name=""/>
          <p:cNvSpPr txBox="1"/>
          <p:nvPr/>
        </p:nvSpPr>
        <p:spPr>
          <a:xfrm>
            <a:off x="5943600" y="3828960"/>
            <a:ext cx="1838880" cy="40104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000000"/>
                </a:solidFill>
                <a:effectLst/>
                <a:uFillTx/>
                <a:latin typeface="Arial"/>
              </a:rPr>
              <a:t>1.38M (46.08%)</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80" name=""/>
          <p:cNvSpPr txBox="1"/>
          <p:nvPr/>
        </p:nvSpPr>
        <p:spPr>
          <a:xfrm>
            <a:off x="457200" y="74232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ECONOMIA CRIATIVA</a:t>
            </a:r>
            <a:endParaRPr lang="en-US" sz="2000" b="0" u="none" strike="noStrike">
              <a:solidFill>
                <a:srgbClr val="000000"/>
              </a:solidFill>
              <a:effectLst/>
              <a:uFillTx/>
              <a:latin typeface="Arial"/>
            </a:endParaRPr>
          </a:p>
        </p:txBody>
      </p:sp>
      <p:sp>
        <p:nvSpPr>
          <p:cNvPr id="81" name=""/>
          <p:cNvSpPr txBox="1"/>
          <p:nvPr/>
        </p:nvSpPr>
        <p:spPr>
          <a:xfrm>
            <a:off x="319320" y="1256400"/>
            <a:ext cx="1738800" cy="377352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2000" b="0" u="none" strike="noStrike">
                <a:solidFill>
                  <a:srgbClr val="3a4968"/>
                </a:solidFill>
                <a:effectLst/>
                <a:uFillTx/>
                <a:latin typeface="Arial"/>
              </a:rPr>
              <a:t>Cinema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TV</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Streaming</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Video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Publicidade</a:t>
            </a:r>
            <a:br>
              <a:rPr sz="2000"/>
            </a:br>
            <a:r>
              <a:rPr lang="en-US" sz="2000" b="0" u="none" strike="noStrike">
                <a:solidFill>
                  <a:srgbClr val="3a4968"/>
                </a:solidFill>
                <a:effectLst/>
                <a:uFillTx/>
                <a:latin typeface="Arial"/>
              </a:rPr>
              <a:t>Editorial</a:t>
            </a:r>
            <a:br>
              <a:rPr sz="2000"/>
            </a:br>
            <a:r>
              <a:rPr lang="en-US" sz="2000" b="0" u="none" strike="noStrike">
                <a:solidFill>
                  <a:srgbClr val="3a4968"/>
                </a:solidFill>
                <a:effectLst/>
                <a:uFillTx/>
                <a:latin typeface="Arial"/>
              </a:rPr>
              <a:t>Teatro</a:t>
            </a:r>
            <a:br>
              <a:rPr sz="2000"/>
            </a:br>
            <a:br>
              <a:rPr sz="2000"/>
            </a:br>
            <a:r>
              <a:rPr lang="en-US" sz="2000" b="0" u="none" strike="sngStrike">
                <a:solidFill>
                  <a:srgbClr val="3a4968"/>
                </a:solidFill>
                <a:effectLst/>
                <a:uFillTx/>
                <a:latin typeface="Arial"/>
              </a:rPr>
              <a:t>Radio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Games</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Animação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Arquitetura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sngStrike">
                <a:solidFill>
                  <a:srgbClr val="3a4968"/>
                </a:solidFill>
                <a:effectLst/>
                <a:uFillTx/>
                <a:latin typeface="Arial"/>
              </a:rPr>
              <a:t>Design</a:t>
            </a:r>
            <a:endParaRPr lang="en-US" sz="2000" b="0" u="none" strike="noStrike">
              <a:solidFill>
                <a:srgbClr val="000000"/>
              </a:solidFill>
              <a:effectLst/>
              <a:uFillTx/>
              <a:latin typeface="Arial"/>
            </a:endParaRPr>
          </a:p>
        </p:txBody>
      </p:sp>
      <p:sp>
        <p:nvSpPr>
          <p:cNvPr id="82" name=""/>
          <p:cNvSpPr txBox="1"/>
          <p:nvPr/>
        </p:nvSpPr>
        <p:spPr>
          <a:xfrm>
            <a:off x="457920" y="6630120"/>
            <a:ext cx="2286000" cy="346320"/>
          </a:xfrm>
          <a:prstGeom prst="rect">
            <a:avLst/>
          </a:prstGeom>
          <a:noFill/>
          <a:ln w="0">
            <a:noFill/>
          </a:ln>
        </p:spPr>
        <p:txBody>
          <a:bodyPr lIns="90000" rIns="90000" tIns="45000" bIns="45000" anchor="t">
            <a:spAutoFit/>
          </a:bodyPr>
          <a:p>
            <a:r>
              <a:rPr lang="en-US" sz="1800" b="0" u="none" strike="noStrike">
                <a:solidFill>
                  <a:srgbClr val="dd6a1e"/>
                </a:solidFill>
                <a:effectLst/>
                <a:uFillTx/>
                <a:latin typeface="Arial"/>
              </a:rPr>
              <a:t>Dados: Itaú Cultural</a:t>
            </a:r>
            <a:endParaRPr lang="en-US" sz="1800" b="0" u="none" strike="noStrike">
              <a:solidFill>
                <a:srgbClr val="000000"/>
              </a:solidFill>
              <a:effectLst/>
              <a:uFillTx/>
              <a:latin typeface="Arial"/>
            </a:endParaRPr>
          </a:p>
        </p:txBody>
      </p:sp>
      <p:pic>
        <p:nvPicPr>
          <p:cNvPr id="83" name=""/>
          <p:cNvPicPr/>
          <p:nvPr/>
        </p:nvPicPr>
        <p:blipFill>
          <a:blip r:embed="rId1"/>
          <a:stretch/>
        </p:blipFill>
        <p:spPr>
          <a:xfrm>
            <a:off x="458280" y="5029920"/>
            <a:ext cx="1599840" cy="1600200"/>
          </a:xfrm>
          <a:prstGeom prst="rect">
            <a:avLst/>
          </a:prstGeom>
          <a:noFill/>
          <a:ln w="0">
            <a:noFill/>
          </a:ln>
        </p:spPr>
      </p:pic>
      <p:sp>
        <p:nvSpPr>
          <p:cNvPr id="84"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CONTEXTUALIZAÇÃO</a:t>
            </a:r>
            <a:endParaRPr lang="en-US" sz="3000" b="0" u="none" strike="noStrike">
              <a:solidFill>
                <a:srgbClr val="000000"/>
              </a:solidFill>
              <a:effectLst/>
              <a:uFillTx/>
              <a:latin typeface="Arial"/>
            </a:endParaRPr>
          </a:p>
        </p:txBody>
      </p:sp>
      <p:graphicFrame>
        <p:nvGraphicFramePr>
          <p:cNvPr id="85" name=""/>
          <p:cNvGraphicFramePr/>
          <p:nvPr/>
        </p:nvGraphicFramePr>
        <p:xfrm>
          <a:off x="4114800" y="873360"/>
          <a:ext cx="5763960" cy="32414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6" name=""/>
          <p:cNvGraphicFramePr/>
          <p:nvPr/>
        </p:nvGraphicFramePr>
        <p:xfrm>
          <a:off x="4114800" y="3886200"/>
          <a:ext cx="5763960" cy="3241440"/>
        </p:xfrm>
        <a:graphic>
          <a:graphicData uri="http://schemas.openxmlformats.org/drawingml/2006/chart">
            <c:chart xmlns:c="http://schemas.openxmlformats.org/drawingml/2006/chart" xmlns:r="http://schemas.openxmlformats.org/officeDocument/2006/relationships" r:id="rId3"/>
          </a:graphicData>
        </a:graphic>
      </p:graphicFrame>
      <p:sp>
        <p:nvSpPr>
          <p:cNvPr id="87" name=""/>
          <p:cNvSpPr txBox="1"/>
          <p:nvPr/>
        </p:nvSpPr>
        <p:spPr>
          <a:xfrm>
            <a:off x="4656600" y="1463760"/>
            <a:ext cx="2210760" cy="40104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dd6a1e"/>
                </a:solidFill>
                <a:effectLst/>
                <a:uFillTx/>
                <a:latin typeface="Arial"/>
              </a:rPr>
              <a:t>R$ 6.200,00 (106%)</a:t>
            </a:r>
            <a:endParaRPr lang="en-US" sz="1600" b="0" u="none" strike="noStrike">
              <a:solidFill>
                <a:srgbClr val="dd6a1e"/>
              </a:solidFill>
              <a:effectLst/>
              <a:uFillTx/>
              <a:latin typeface="Arial"/>
            </a:endParaRPr>
          </a:p>
        </p:txBody>
      </p:sp>
      <p:sp>
        <p:nvSpPr>
          <p:cNvPr id="88" name=""/>
          <p:cNvSpPr txBox="1"/>
          <p:nvPr/>
        </p:nvSpPr>
        <p:spPr>
          <a:xfrm>
            <a:off x="4608000" y="2093400"/>
            <a:ext cx="2098080" cy="40104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dd6a1e"/>
                </a:solidFill>
                <a:effectLst/>
                <a:uFillTx/>
                <a:latin typeface="Arial"/>
              </a:rPr>
              <a:t>R$ 3.700,00 (63%)</a:t>
            </a:r>
            <a:endParaRPr lang="en-US" sz="1600" b="0" u="none" strike="noStrike">
              <a:solidFill>
                <a:srgbClr val="dd6a1e"/>
              </a:solidFill>
              <a:effectLst/>
              <a:uFillTx/>
              <a:latin typeface="Arial"/>
            </a:endParaRPr>
          </a:p>
        </p:txBody>
      </p:sp>
      <p:sp>
        <p:nvSpPr>
          <p:cNvPr id="89" name=""/>
          <p:cNvSpPr txBox="1"/>
          <p:nvPr/>
        </p:nvSpPr>
        <p:spPr>
          <a:xfrm>
            <a:off x="4619520" y="2707200"/>
            <a:ext cx="2098080" cy="40104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dd6a1e"/>
                </a:solidFill>
                <a:effectLst/>
                <a:uFillTx/>
                <a:latin typeface="Arial"/>
              </a:rPr>
              <a:t>R$ 3.400,00 (58%)</a:t>
            </a:r>
            <a:endParaRPr lang="en-US" sz="1600" b="0" u="none" strike="noStrike">
              <a:solidFill>
                <a:srgbClr val="dd6a1e"/>
              </a:solidFill>
              <a:effectLst/>
              <a:uFillTx/>
              <a:latin typeface="Arial"/>
            </a:endParaRPr>
          </a:p>
        </p:txBody>
      </p:sp>
      <p:sp>
        <p:nvSpPr>
          <p:cNvPr id="90" name=""/>
          <p:cNvSpPr txBox="1"/>
          <p:nvPr/>
        </p:nvSpPr>
        <p:spPr>
          <a:xfrm>
            <a:off x="4608000" y="3357000"/>
            <a:ext cx="1501200" cy="40104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dd6a1e"/>
                </a:solidFill>
                <a:effectLst/>
                <a:uFillTx/>
                <a:latin typeface="Arial"/>
              </a:rPr>
              <a:t>R$ 5.800,00</a:t>
            </a:r>
            <a:endParaRPr lang="en-US" sz="1600" b="0" u="none" strike="noStrike">
              <a:solidFill>
                <a:srgbClr val="dd6a1e"/>
              </a:solidFill>
              <a:effectLst/>
              <a:uFillTx/>
              <a:latin typeface="Arial"/>
            </a:endParaRPr>
          </a:p>
        </p:txBody>
      </p:sp>
      <p:sp>
        <p:nvSpPr>
          <p:cNvPr id="91" name=""/>
          <p:cNvSpPr txBox="1"/>
          <p:nvPr/>
        </p:nvSpPr>
        <p:spPr>
          <a:xfrm>
            <a:off x="4764600" y="4507560"/>
            <a:ext cx="1275480" cy="40104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0.05 (1%)</a:t>
            </a:r>
            <a:endParaRPr lang="en-US" sz="1600" b="0" u="none" strike="noStrike">
              <a:solidFill>
                <a:srgbClr val="3a4968"/>
              </a:solidFill>
              <a:effectLst/>
              <a:uFillTx/>
              <a:latin typeface="Arial"/>
            </a:endParaRPr>
          </a:p>
        </p:txBody>
      </p:sp>
      <p:sp>
        <p:nvSpPr>
          <p:cNvPr id="92" name=""/>
          <p:cNvSpPr txBox="1"/>
          <p:nvPr/>
        </p:nvSpPr>
        <p:spPr>
          <a:xfrm>
            <a:off x="5306400" y="5121360"/>
            <a:ext cx="1557360" cy="40104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0.24 (0.08%)</a:t>
            </a:r>
            <a:endParaRPr lang="en-US" sz="1600" b="0" u="none" strike="noStrike">
              <a:solidFill>
                <a:srgbClr val="3a4968"/>
              </a:solidFill>
              <a:effectLst/>
              <a:uFillTx/>
              <a:latin typeface="Arial"/>
            </a:endParaRPr>
          </a:p>
        </p:txBody>
      </p:sp>
      <p:sp>
        <p:nvSpPr>
          <p:cNvPr id="93" name=""/>
          <p:cNvSpPr txBox="1"/>
          <p:nvPr/>
        </p:nvSpPr>
        <p:spPr>
          <a:xfrm>
            <a:off x="7279200" y="5735160"/>
            <a:ext cx="1557360" cy="40104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0.99 (0.33%)</a:t>
            </a:r>
            <a:endParaRPr lang="en-US" sz="1600" b="0" u="none" strike="noStrike">
              <a:solidFill>
                <a:srgbClr val="3a4968"/>
              </a:solidFill>
              <a:effectLst/>
              <a:uFillTx/>
              <a:latin typeface="Arial"/>
            </a:endParaRPr>
          </a:p>
        </p:txBody>
      </p:sp>
      <p:sp>
        <p:nvSpPr>
          <p:cNvPr id="94" name=""/>
          <p:cNvSpPr txBox="1"/>
          <p:nvPr/>
        </p:nvSpPr>
        <p:spPr>
          <a:xfrm>
            <a:off x="7887240" y="6364800"/>
            <a:ext cx="1557360" cy="40104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1600" b="0" u="none" strike="noStrike">
                <a:solidFill>
                  <a:srgbClr val="3a4968"/>
                </a:solidFill>
                <a:effectLst/>
                <a:uFillTx/>
                <a:latin typeface="Arial"/>
              </a:rPr>
              <a:t>1.71 (0.57%)</a:t>
            </a:r>
            <a:endParaRPr lang="en-US" sz="1600" b="0" u="none" strike="noStrike">
              <a:solidFill>
                <a:srgbClr val="3a4968"/>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pic>
        <p:nvPicPr>
          <p:cNvPr id="96" name=""/>
          <p:cNvPicPr/>
          <p:nvPr/>
        </p:nvPicPr>
        <p:blipFill>
          <a:blip r:embed="rId1"/>
          <a:stretch/>
        </p:blipFill>
        <p:spPr>
          <a:xfrm>
            <a:off x="470520" y="1143000"/>
            <a:ext cx="1828440" cy="1828440"/>
          </a:xfrm>
          <a:prstGeom prst="rect">
            <a:avLst/>
          </a:prstGeom>
          <a:noFill/>
          <a:ln w="0">
            <a:noFill/>
          </a:ln>
        </p:spPr>
      </p:pic>
      <p:pic>
        <p:nvPicPr>
          <p:cNvPr id="97" name=""/>
          <p:cNvPicPr/>
          <p:nvPr/>
        </p:nvPicPr>
        <p:blipFill>
          <a:blip r:embed="rId2">
            <a:grayscl/>
          </a:blip>
          <a:stretch/>
        </p:blipFill>
        <p:spPr>
          <a:xfrm>
            <a:off x="1143360" y="2598840"/>
            <a:ext cx="1828440" cy="1828440"/>
          </a:xfrm>
          <a:prstGeom prst="rect">
            <a:avLst/>
          </a:prstGeom>
          <a:noFill/>
          <a:ln w="0">
            <a:noFill/>
          </a:ln>
        </p:spPr>
      </p:pic>
      <p:pic>
        <p:nvPicPr>
          <p:cNvPr id="98" name=""/>
          <p:cNvPicPr/>
          <p:nvPr/>
        </p:nvPicPr>
        <p:blipFill>
          <a:blip r:embed="rId3">
            <a:grayscl/>
          </a:blip>
          <a:stretch/>
        </p:blipFill>
        <p:spPr>
          <a:xfrm>
            <a:off x="169920" y="3875040"/>
            <a:ext cx="1828440" cy="1828440"/>
          </a:xfrm>
          <a:prstGeom prst="rect">
            <a:avLst/>
          </a:prstGeom>
          <a:noFill/>
          <a:ln w="0">
            <a:noFill/>
          </a:ln>
        </p:spPr>
      </p:pic>
      <p:sp>
        <p:nvSpPr>
          <p:cNvPr id="99" name=""/>
          <p:cNvSpPr txBox="1"/>
          <p:nvPr/>
        </p:nvSpPr>
        <p:spPr>
          <a:xfrm>
            <a:off x="2971800" y="1107000"/>
            <a:ext cx="6577560" cy="179028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2000" b="0" u="none" strike="noStrike">
                <a:solidFill>
                  <a:srgbClr val="3a4968"/>
                </a:solidFill>
                <a:effectLst/>
                <a:uFillTx/>
                <a:latin typeface="Arial"/>
              </a:rPr>
              <a:t>L. 34 anos, branca, mulher cis hétero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Nasceu em Guaratinguetá-SP, vive em São Paulo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Superior Incompleto</a:t>
            </a:r>
            <a:br>
              <a:rPr sz="2000"/>
            </a:br>
            <a:r>
              <a:rPr lang="en-US" sz="2000" b="0" u="none" strike="noStrike">
                <a:solidFill>
                  <a:srgbClr val="3a4968"/>
                </a:solidFill>
                <a:effectLst/>
                <a:uFillTx/>
                <a:latin typeface="Arial"/>
              </a:rPr>
              <a:t>Mora com marido em casa própria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Não possui dependentes</a:t>
            </a:r>
            <a:br>
              <a:rPr sz="2000"/>
            </a:br>
            <a:r>
              <a:rPr lang="en-US" sz="2000" b="0" u="none" strike="noStrike">
                <a:solidFill>
                  <a:srgbClr val="3a4968"/>
                </a:solidFill>
                <a:effectLst/>
                <a:uFillTx/>
                <a:latin typeface="Arial"/>
              </a:rPr>
              <a:t>Trabalha em </a:t>
            </a:r>
            <a:r>
              <a:rPr lang="en-US" sz="2000" b="1" u="none" strike="noStrike">
                <a:solidFill>
                  <a:srgbClr val="dd6a1e"/>
                </a:solidFill>
                <a:effectLst/>
                <a:uFillTx/>
                <a:latin typeface="Arial"/>
              </a:rPr>
              <a:t>Teatro Musical</a:t>
            </a:r>
            <a:r>
              <a:rPr lang="en-US" sz="2000" b="0" u="none" strike="noStrike">
                <a:solidFill>
                  <a:srgbClr val="3a4968"/>
                </a:solidFill>
                <a:effectLst/>
                <a:uFillTx/>
                <a:latin typeface="Arial"/>
              </a:rPr>
              <a:t> e </a:t>
            </a:r>
            <a:r>
              <a:rPr lang="en-US" sz="2000" b="1" u="none" strike="noStrike">
                <a:solidFill>
                  <a:srgbClr val="dd6a1e"/>
                </a:solidFill>
                <a:effectLst/>
                <a:uFillTx/>
                <a:latin typeface="Arial"/>
              </a:rPr>
              <a:t>Cinema Independente</a:t>
            </a:r>
            <a:endParaRPr lang="en-US" sz="2000" b="0" u="none" strike="noStrike">
              <a:solidFill>
                <a:srgbClr val="000000"/>
              </a:solidFill>
              <a:effectLst/>
              <a:uFillTx/>
              <a:latin typeface="Arial"/>
            </a:endParaRPr>
          </a:p>
        </p:txBody>
      </p:sp>
      <p:sp>
        <p:nvSpPr>
          <p:cNvPr id="100"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ENTREVISTADOS</a:t>
            </a:r>
            <a:endParaRPr lang="en-US" sz="3000" b="0" u="none" strike="noStrike">
              <a:solidFill>
                <a:srgbClr val="000000"/>
              </a:solidFill>
              <a:effectLst/>
              <a:uFillTx/>
              <a:latin typeface="Arial"/>
            </a:endParaRPr>
          </a:p>
        </p:txBody>
      </p:sp>
      <p:sp>
        <p:nvSpPr>
          <p:cNvPr id="101" name=""/>
          <p:cNvSpPr txBox="1"/>
          <p:nvPr/>
        </p:nvSpPr>
        <p:spPr>
          <a:xfrm>
            <a:off x="3086280" y="3200400"/>
            <a:ext cx="491472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ESTUDANTE DE ENG. QUÍMICA</a:t>
            </a:r>
            <a:endParaRPr lang="en-US" sz="2000" b="0" u="none" strike="noStrike">
              <a:solidFill>
                <a:srgbClr val="000000"/>
              </a:solidFill>
              <a:effectLst/>
              <a:uFillTx/>
              <a:latin typeface="Arial"/>
            </a:endParaRPr>
          </a:p>
        </p:txBody>
      </p:sp>
      <p:sp>
        <p:nvSpPr>
          <p:cNvPr id="102" name=""/>
          <p:cNvSpPr txBox="1"/>
          <p:nvPr/>
        </p:nvSpPr>
        <p:spPr>
          <a:xfrm>
            <a:off x="2394360" y="5769000"/>
            <a:ext cx="2946960" cy="515520"/>
          </a:xfrm>
          <a:prstGeom prst="rect">
            <a:avLst/>
          </a:prstGeom>
          <a:noFill/>
          <a:ln w="0">
            <a:noFill/>
          </a:ln>
        </p:spPr>
        <p:txBody>
          <a:bodyPr wrap="none" lIns="90000" rIns="90000" tIns="45000" bIns="45000" anchor="t">
            <a:spAutoFit/>
          </a:bodyPr>
          <a:p>
            <a:r>
              <a:rPr lang="en-US" sz="3000" b="0" u="none" spc="300" strike="noStrike">
                <a:solidFill>
                  <a:srgbClr val="dd6a1e"/>
                </a:solidFill>
                <a:effectLst/>
                <a:uFillTx/>
                <a:latin typeface="Arial"/>
              </a:rPr>
              <a:t>FIGURINISTA</a:t>
            </a:r>
            <a:endParaRPr lang="en-US" sz="3000" b="0" u="none" strike="noStrike">
              <a:solidFill>
                <a:srgbClr val="000000"/>
              </a:solidFill>
              <a:effectLst/>
              <a:uFillTx/>
              <a:latin typeface="Arial"/>
            </a:endParaRPr>
          </a:p>
        </p:txBody>
      </p:sp>
      <p:sp>
        <p:nvSpPr>
          <p:cNvPr id="103" name=""/>
          <p:cNvSpPr txBox="1"/>
          <p:nvPr/>
        </p:nvSpPr>
        <p:spPr>
          <a:xfrm>
            <a:off x="4198320" y="4370400"/>
            <a:ext cx="5631480" cy="430200"/>
          </a:xfrm>
          <a:prstGeom prst="rect">
            <a:avLst/>
          </a:prstGeom>
          <a:noFill/>
          <a:ln w="0">
            <a:noFill/>
          </a:ln>
        </p:spPr>
        <p:txBody>
          <a:bodyPr wrap="none" lIns="90000" rIns="90000" tIns="45000" bIns="45000" anchor="t">
            <a:spAutoFit/>
          </a:bodyPr>
          <a:p>
            <a:r>
              <a:rPr lang="en-US" sz="2400" b="0" u="none" spc="300" strike="noStrike">
                <a:solidFill>
                  <a:srgbClr val="dd6a1e"/>
                </a:solidFill>
                <a:effectLst/>
                <a:uFillTx/>
                <a:latin typeface="Arial"/>
              </a:rPr>
              <a:t>MAQUIADORA &amp; CABELEREIRA</a:t>
            </a:r>
            <a:endParaRPr lang="en-US" sz="2400" b="0" u="none" strike="noStrike">
              <a:solidFill>
                <a:srgbClr val="000000"/>
              </a:solidFill>
              <a:effectLst/>
              <a:uFillTx/>
              <a:latin typeface="Arial"/>
            </a:endParaRPr>
          </a:p>
        </p:txBody>
      </p:sp>
      <p:sp>
        <p:nvSpPr>
          <p:cNvPr id="104" name=""/>
          <p:cNvSpPr/>
          <p:nvPr/>
        </p:nvSpPr>
        <p:spPr>
          <a:xfrm flipH="1" flipV="1" rot="15060000">
            <a:off x="4627080" y="355932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105" name=""/>
          <p:cNvSpPr/>
          <p:nvPr/>
        </p:nvSpPr>
        <p:spPr>
          <a:xfrm flipV="1" rot="6540000">
            <a:off x="4856760" y="487044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106" name=""/>
          <p:cNvSpPr txBox="1"/>
          <p:nvPr/>
        </p:nvSpPr>
        <p:spPr>
          <a:xfrm>
            <a:off x="3429360" y="6172200"/>
            <a:ext cx="21596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há 4 anos</a:t>
            </a:r>
            <a:endParaRPr lang="en-US"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pic>
        <p:nvPicPr>
          <p:cNvPr id="108" name=""/>
          <p:cNvPicPr/>
          <p:nvPr/>
        </p:nvPicPr>
        <p:blipFill>
          <a:blip r:embed="rId1">
            <a:grayscl/>
          </a:blip>
          <a:stretch/>
        </p:blipFill>
        <p:spPr>
          <a:xfrm>
            <a:off x="470520" y="1143000"/>
            <a:ext cx="1828440" cy="1828440"/>
          </a:xfrm>
          <a:prstGeom prst="rect">
            <a:avLst/>
          </a:prstGeom>
          <a:noFill/>
          <a:ln w="0">
            <a:noFill/>
          </a:ln>
        </p:spPr>
      </p:pic>
      <p:pic>
        <p:nvPicPr>
          <p:cNvPr id="109" name=""/>
          <p:cNvPicPr/>
          <p:nvPr/>
        </p:nvPicPr>
        <p:blipFill>
          <a:blip r:embed="rId2"/>
          <a:stretch/>
        </p:blipFill>
        <p:spPr>
          <a:xfrm>
            <a:off x="1143360" y="2598840"/>
            <a:ext cx="1828440" cy="1828440"/>
          </a:xfrm>
          <a:prstGeom prst="rect">
            <a:avLst/>
          </a:prstGeom>
          <a:noFill/>
          <a:ln w="0">
            <a:noFill/>
          </a:ln>
        </p:spPr>
      </p:pic>
      <p:pic>
        <p:nvPicPr>
          <p:cNvPr id="110" name=""/>
          <p:cNvPicPr/>
          <p:nvPr/>
        </p:nvPicPr>
        <p:blipFill>
          <a:blip r:embed="rId3">
            <a:grayscl/>
          </a:blip>
          <a:stretch/>
        </p:blipFill>
        <p:spPr>
          <a:xfrm>
            <a:off x="169920" y="3875040"/>
            <a:ext cx="1828440" cy="1828440"/>
          </a:xfrm>
          <a:prstGeom prst="rect">
            <a:avLst/>
          </a:prstGeom>
          <a:noFill/>
          <a:ln w="0">
            <a:noFill/>
          </a:ln>
        </p:spPr>
      </p:pic>
      <p:sp>
        <p:nvSpPr>
          <p:cNvPr id="111" name=""/>
          <p:cNvSpPr txBox="1"/>
          <p:nvPr/>
        </p:nvSpPr>
        <p:spPr>
          <a:xfrm>
            <a:off x="2971800" y="1143000"/>
            <a:ext cx="5489280" cy="179028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2000" b="0" u="none" strike="noStrike">
                <a:solidFill>
                  <a:srgbClr val="3a4968"/>
                </a:solidFill>
                <a:effectLst/>
                <a:uFillTx/>
                <a:latin typeface="Arial"/>
              </a:rPr>
              <a:t>AD. 53 anos, branca, mulher cis hétero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Nasceu em Tupã-SP e vive em São Paulo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Superior Completo</a:t>
            </a:r>
            <a:br>
              <a:rPr sz="2000"/>
            </a:br>
            <a:r>
              <a:rPr lang="en-US" sz="2000" b="0" u="none" strike="noStrike">
                <a:solidFill>
                  <a:srgbClr val="3a4968"/>
                </a:solidFill>
                <a:effectLst/>
                <a:uFillTx/>
                <a:latin typeface="Arial"/>
              </a:rPr>
              <a:t>Mora com amiga em casa alugada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Não tem mais dependentes (filhos crescidos)</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Trabalha com </a:t>
            </a:r>
            <a:r>
              <a:rPr lang="en-US" sz="2000" b="1" u="none" strike="noStrike">
                <a:solidFill>
                  <a:srgbClr val="dd6a1e"/>
                </a:solidFill>
                <a:effectLst/>
                <a:uFillTx/>
                <a:latin typeface="Arial"/>
              </a:rPr>
              <a:t>Publicidade</a:t>
            </a:r>
            <a:endParaRPr lang="en-US" sz="2000" b="0" u="none" strike="noStrike">
              <a:solidFill>
                <a:srgbClr val="000000"/>
              </a:solidFill>
              <a:effectLst/>
              <a:uFillTx/>
              <a:latin typeface="Arial"/>
            </a:endParaRPr>
          </a:p>
        </p:txBody>
      </p:sp>
      <p:sp>
        <p:nvSpPr>
          <p:cNvPr id="112"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ENTREVISTADOS</a:t>
            </a:r>
            <a:endParaRPr lang="en-US" sz="3000" b="0" u="none" strike="noStrike">
              <a:solidFill>
                <a:srgbClr val="000000"/>
              </a:solidFill>
              <a:effectLst/>
              <a:uFillTx/>
              <a:latin typeface="Arial"/>
            </a:endParaRPr>
          </a:p>
        </p:txBody>
      </p:sp>
      <p:sp>
        <p:nvSpPr>
          <p:cNvPr id="113" name=""/>
          <p:cNvSpPr txBox="1"/>
          <p:nvPr/>
        </p:nvSpPr>
        <p:spPr>
          <a:xfrm>
            <a:off x="3086280" y="3429000"/>
            <a:ext cx="24714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GASTRONOMIA</a:t>
            </a:r>
            <a:endParaRPr lang="en-US" sz="2000" b="0" u="none" strike="noStrike">
              <a:solidFill>
                <a:srgbClr val="000000"/>
              </a:solidFill>
              <a:effectLst/>
              <a:uFillTx/>
              <a:latin typeface="Arial"/>
            </a:endParaRPr>
          </a:p>
        </p:txBody>
      </p:sp>
      <p:sp>
        <p:nvSpPr>
          <p:cNvPr id="114" name=""/>
          <p:cNvSpPr txBox="1"/>
          <p:nvPr/>
        </p:nvSpPr>
        <p:spPr>
          <a:xfrm>
            <a:off x="6882840" y="4457160"/>
            <a:ext cx="2946960" cy="515520"/>
          </a:xfrm>
          <a:prstGeom prst="rect">
            <a:avLst/>
          </a:prstGeom>
          <a:noFill/>
          <a:ln w="0">
            <a:noFill/>
          </a:ln>
        </p:spPr>
        <p:txBody>
          <a:bodyPr wrap="none" lIns="90000" rIns="90000" tIns="45000" bIns="45000" anchor="t">
            <a:spAutoFit/>
          </a:bodyPr>
          <a:p>
            <a:r>
              <a:rPr lang="en-US" sz="3000" b="0" u="none" spc="300" strike="noStrike">
                <a:solidFill>
                  <a:srgbClr val="dd6a1e"/>
                </a:solidFill>
                <a:effectLst/>
                <a:uFillTx/>
                <a:latin typeface="Arial"/>
              </a:rPr>
              <a:t>FIGURINISTA</a:t>
            </a:r>
            <a:endParaRPr lang="en-US" sz="3000" b="0" u="none" strike="noStrike">
              <a:solidFill>
                <a:srgbClr val="000000"/>
              </a:solidFill>
              <a:effectLst/>
              <a:uFillTx/>
              <a:latin typeface="Arial"/>
            </a:endParaRPr>
          </a:p>
        </p:txBody>
      </p:sp>
      <p:sp>
        <p:nvSpPr>
          <p:cNvPr id="115" name=""/>
          <p:cNvSpPr txBox="1"/>
          <p:nvPr/>
        </p:nvSpPr>
        <p:spPr>
          <a:xfrm>
            <a:off x="4343400" y="4572000"/>
            <a:ext cx="1998000" cy="430200"/>
          </a:xfrm>
          <a:prstGeom prst="rect">
            <a:avLst/>
          </a:prstGeom>
          <a:noFill/>
          <a:ln w="0">
            <a:noFill/>
          </a:ln>
        </p:spPr>
        <p:txBody>
          <a:bodyPr wrap="none" lIns="90000" rIns="90000" tIns="45000" bIns="45000" anchor="t">
            <a:spAutoFit/>
          </a:bodyPr>
          <a:p>
            <a:r>
              <a:rPr lang="en-US" sz="2400" b="0" u="none" spc="300" strike="noStrike">
                <a:solidFill>
                  <a:srgbClr val="dd6a1e"/>
                </a:solidFill>
                <a:effectLst/>
                <a:uFillTx/>
                <a:latin typeface="Arial"/>
              </a:rPr>
              <a:t>MODELO</a:t>
            </a:r>
            <a:endParaRPr lang="en-US" sz="2400" b="0" u="none" strike="noStrike">
              <a:solidFill>
                <a:srgbClr val="000000"/>
              </a:solidFill>
              <a:effectLst/>
              <a:uFillTx/>
              <a:latin typeface="Arial"/>
            </a:endParaRPr>
          </a:p>
        </p:txBody>
      </p:sp>
      <p:sp>
        <p:nvSpPr>
          <p:cNvPr id="116" name=""/>
          <p:cNvSpPr/>
          <p:nvPr/>
        </p:nvSpPr>
        <p:spPr>
          <a:xfrm flipH="1" flipV="1" rot="15060000">
            <a:off x="4398480" y="389952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117" name=""/>
          <p:cNvSpPr/>
          <p:nvPr/>
        </p:nvSpPr>
        <p:spPr>
          <a:xfrm flipH="1" flipV="1" rot="8580000">
            <a:off x="6306480" y="490752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118" name=""/>
          <p:cNvSpPr txBox="1"/>
          <p:nvPr/>
        </p:nvSpPr>
        <p:spPr>
          <a:xfrm>
            <a:off x="2177280" y="5742000"/>
            <a:ext cx="4223520" cy="430200"/>
          </a:xfrm>
          <a:prstGeom prst="rect">
            <a:avLst/>
          </a:prstGeom>
          <a:noFill/>
          <a:ln w="0">
            <a:noFill/>
          </a:ln>
        </p:spPr>
        <p:txBody>
          <a:bodyPr wrap="none" lIns="90000" rIns="90000" tIns="45000" bIns="45000" anchor="t">
            <a:spAutoFit/>
          </a:bodyPr>
          <a:p>
            <a:r>
              <a:rPr lang="en-US" sz="2400" b="0" u="none" spc="300" strike="noStrike">
                <a:solidFill>
                  <a:srgbClr val="dd6a1e"/>
                </a:solidFill>
                <a:effectLst/>
                <a:uFillTx/>
                <a:latin typeface="Arial"/>
              </a:rPr>
              <a:t>PRODUTORA DE MODA</a:t>
            </a:r>
            <a:endParaRPr lang="en-US" sz="2400" b="0" u="none" strike="noStrike">
              <a:solidFill>
                <a:srgbClr val="000000"/>
              </a:solidFill>
              <a:effectLst/>
              <a:uFillTx/>
              <a:latin typeface="Arial"/>
            </a:endParaRPr>
          </a:p>
        </p:txBody>
      </p:sp>
      <p:sp>
        <p:nvSpPr>
          <p:cNvPr id="119" name=""/>
          <p:cNvSpPr/>
          <p:nvPr/>
        </p:nvSpPr>
        <p:spPr>
          <a:xfrm flipV="1" rot="6540000">
            <a:off x="4170960" y="504252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120" name=""/>
          <p:cNvSpPr txBox="1"/>
          <p:nvPr/>
        </p:nvSpPr>
        <p:spPr>
          <a:xfrm>
            <a:off x="7543800" y="4970880"/>
            <a:ext cx="240948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há 30 anos</a:t>
            </a:r>
            <a:endParaRPr lang="en-US"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pic>
        <p:nvPicPr>
          <p:cNvPr id="122" name=""/>
          <p:cNvPicPr/>
          <p:nvPr/>
        </p:nvPicPr>
        <p:blipFill>
          <a:blip r:embed="rId1">
            <a:grayscl/>
          </a:blip>
          <a:stretch/>
        </p:blipFill>
        <p:spPr>
          <a:xfrm>
            <a:off x="470520" y="1143000"/>
            <a:ext cx="1828440" cy="1828440"/>
          </a:xfrm>
          <a:prstGeom prst="rect">
            <a:avLst/>
          </a:prstGeom>
          <a:noFill/>
          <a:ln w="0">
            <a:noFill/>
          </a:ln>
        </p:spPr>
      </p:pic>
      <p:pic>
        <p:nvPicPr>
          <p:cNvPr id="123" name=""/>
          <p:cNvPicPr/>
          <p:nvPr/>
        </p:nvPicPr>
        <p:blipFill>
          <a:blip r:embed="rId2">
            <a:grayscl/>
          </a:blip>
          <a:stretch/>
        </p:blipFill>
        <p:spPr>
          <a:xfrm>
            <a:off x="1143360" y="2598840"/>
            <a:ext cx="1828440" cy="1828440"/>
          </a:xfrm>
          <a:prstGeom prst="rect">
            <a:avLst/>
          </a:prstGeom>
          <a:noFill/>
          <a:ln w="0">
            <a:noFill/>
          </a:ln>
        </p:spPr>
      </p:pic>
      <p:pic>
        <p:nvPicPr>
          <p:cNvPr id="124" name=""/>
          <p:cNvPicPr/>
          <p:nvPr/>
        </p:nvPicPr>
        <p:blipFill>
          <a:blip r:embed="rId3"/>
          <a:stretch/>
        </p:blipFill>
        <p:spPr>
          <a:xfrm>
            <a:off x="169920" y="3875040"/>
            <a:ext cx="1828440" cy="1828440"/>
          </a:xfrm>
          <a:prstGeom prst="rect">
            <a:avLst/>
          </a:prstGeom>
          <a:noFill/>
          <a:ln w="0">
            <a:noFill/>
          </a:ln>
        </p:spPr>
      </p:pic>
      <p:sp>
        <p:nvSpPr>
          <p:cNvPr id="125" name=""/>
          <p:cNvSpPr txBox="1"/>
          <p:nvPr/>
        </p:nvSpPr>
        <p:spPr>
          <a:xfrm>
            <a:off x="2971800" y="1143000"/>
            <a:ext cx="5205960" cy="1790280"/>
          </a:xfrm>
          <a:prstGeom prst="rect">
            <a:avLst/>
          </a:prstGeom>
          <a:noFill/>
          <a:ln w="0">
            <a:noFill/>
          </a:ln>
        </p:spPr>
        <p:txBody>
          <a:bodyPr wrap="none" lIns="90000" rIns="90000" tIns="45000" bIns="45000" anchor="t">
            <a:spAutoFit/>
          </a:bodyPr>
          <a:p>
            <a:pPr marL="216000" indent="-216000">
              <a:buClr>
                <a:srgbClr val="000000"/>
              </a:buClr>
              <a:buSzPct val="45000"/>
              <a:buFont typeface="Wingdings" charset="2"/>
              <a:buChar char=""/>
            </a:pPr>
            <a:r>
              <a:rPr lang="en-US" sz="2000" b="0" u="none" strike="noStrike">
                <a:solidFill>
                  <a:srgbClr val="3a4968"/>
                </a:solidFill>
                <a:effectLst/>
                <a:uFillTx/>
                <a:latin typeface="Arial"/>
              </a:rPr>
              <a:t>AC. 27 anos, branco, homem cis gay</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Nasceu em Osório-RS, vive em São Paulo</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Pós-Graduado</a:t>
            </a:r>
            <a:br>
              <a:rPr sz="2000"/>
            </a:br>
            <a:r>
              <a:rPr lang="en-US" sz="2000" b="0" u="none" strike="noStrike">
                <a:solidFill>
                  <a:srgbClr val="3a4968"/>
                </a:solidFill>
                <a:effectLst/>
                <a:uFillTx/>
                <a:latin typeface="Arial"/>
              </a:rPr>
              <a:t>Mora com amigo em casa alugada</a:t>
            </a:r>
            <a:endParaRPr lang="en-US" sz="2000" b="0" u="none" strike="noStrike">
              <a:solidFill>
                <a:srgbClr val="000000"/>
              </a:solidFill>
              <a:effectLst/>
              <a:uFillTx/>
              <a:latin typeface="Arial"/>
            </a:endParaRPr>
          </a:p>
          <a:p>
            <a:pPr marL="216000" indent="-216000">
              <a:buClr>
                <a:srgbClr val="000000"/>
              </a:buClr>
              <a:buSzPct val="45000"/>
              <a:buFont typeface="Wingdings" charset="2"/>
              <a:buChar char=""/>
            </a:pPr>
            <a:r>
              <a:rPr lang="en-US" sz="2000" b="0" u="none" strike="noStrike">
                <a:solidFill>
                  <a:srgbClr val="3a4968"/>
                </a:solidFill>
                <a:effectLst/>
                <a:uFillTx/>
                <a:latin typeface="Arial"/>
              </a:rPr>
              <a:t>Ajuda os pais</a:t>
            </a:r>
            <a:br>
              <a:rPr sz="2000"/>
            </a:br>
            <a:r>
              <a:rPr lang="en-US" sz="2000" b="0" u="none" strike="noStrike">
                <a:solidFill>
                  <a:srgbClr val="3a4968"/>
                </a:solidFill>
                <a:effectLst/>
                <a:uFillTx/>
                <a:latin typeface="Arial"/>
              </a:rPr>
              <a:t>Trabalha com </a:t>
            </a:r>
            <a:r>
              <a:rPr lang="en-US" sz="2000" b="1" u="none" strike="noStrike">
                <a:solidFill>
                  <a:srgbClr val="dd6a1e"/>
                </a:solidFill>
                <a:effectLst/>
                <a:uFillTx/>
                <a:latin typeface="Arial"/>
              </a:rPr>
              <a:t>Teatro Musical</a:t>
            </a:r>
            <a:r>
              <a:rPr lang="en-US" sz="2000" b="0" u="none" strike="noStrike">
                <a:solidFill>
                  <a:srgbClr val="3a4968"/>
                </a:solidFill>
                <a:effectLst/>
                <a:uFillTx/>
                <a:latin typeface="Arial"/>
              </a:rPr>
              <a:t> e </a:t>
            </a:r>
            <a:r>
              <a:rPr lang="en-US" sz="2000" b="1" u="none" strike="noStrike">
                <a:solidFill>
                  <a:srgbClr val="dd6a1e"/>
                </a:solidFill>
                <a:effectLst/>
                <a:uFillTx/>
                <a:latin typeface="Arial"/>
              </a:rPr>
              <a:t>Teatrão</a:t>
            </a:r>
            <a:endParaRPr lang="en-US" sz="2000" b="0" u="none" strike="noStrike">
              <a:solidFill>
                <a:srgbClr val="000000"/>
              </a:solidFill>
              <a:effectLst/>
              <a:uFillTx/>
              <a:latin typeface="Arial"/>
            </a:endParaRPr>
          </a:p>
        </p:txBody>
      </p:sp>
      <p:sp>
        <p:nvSpPr>
          <p:cNvPr id="126"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ENTREVISTADOS</a:t>
            </a:r>
            <a:endParaRPr lang="en-US" sz="3000" b="0" u="none" strike="noStrike">
              <a:solidFill>
                <a:srgbClr val="000000"/>
              </a:solidFill>
              <a:effectLst/>
              <a:uFillTx/>
              <a:latin typeface="Arial"/>
            </a:endParaRPr>
          </a:p>
        </p:txBody>
      </p:sp>
      <p:sp>
        <p:nvSpPr>
          <p:cNvPr id="127" name=""/>
          <p:cNvSpPr txBox="1"/>
          <p:nvPr/>
        </p:nvSpPr>
        <p:spPr>
          <a:xfrm>
            <a:off x="3945600" y="3200400"/>
            <a:ext cx="97884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ATOR</a:t>
            </a:r>
            <a:endParaRPr lang="en-US" sz="2000" b="0" u="none" strike="noStrike">
              <a:solidFill>
                <a:srgbClr val="000000"/>
              </a:solidFill>
              <a:effectLst/>
              <a:uFillTx/>
              <a:latin typeface="Arial"/>
            </a:endParaRPr>
          </a:p>
        </p:txBody>
      </p:sp>
      <p:sp>
        <p:nvSpPr>
          <p:cNvPr id="128" name=""/>
          <p:cNvSpPr txBox="1"/>
          <p:nvPr/>
        </p:nvSpPr>
        <p:spPr>
          <a:xfrm>
            <a:off x="2394360" y="5769000"/>
            <a:ext cx="2946960" cy="515520"/>
          </a:xfrm>
          <a:prstGeom prst="rect">
            <a:avLst/>
          </a:prstGeom>
          <a:noFill/>
          <a:ln w="0">
            <a:noFill/>
          </a:ln>
        </p:spPr>
        <p:txBody>
          <a:bodyPr wrap="none" lIns="90000" rIns="90000" tIns="45000" bIns="45000" anchor="t">
            <a:spAutoFit/>
          </a:bodyPr>
          <a:p>
            <a:r>
              <a:rPr lang="en-US" sz="3000" b="0" u="none" spc="300" strike="noStrike">
                <a:solidFill>
                  <a:srgbClr val="dd6a1e"/>
                </a:solidFill>
                <a:effectLst/>
                <a:uFillTx/>
                <a:latin typeface="Arial"/>
              </a:rPr>
              <a:t>FIGURINISTA</a:t>
            </a:r>
            <a:endParaRPr lang="en-US" sz="3000" b="0" u="none" strike="noStrike">
              <a:solidFill>
                <a:srgbClr val="000000"/>
              </a:solidFill>
              <a:effectLst/>
              <a:uFillTx/>
              <a:latin typeface="Arial"/>
            </a:endParaRPr>
          </a:p>
        </p:txBody>
      </p:sp>
      <p:sp>
        <p:nvSpPr>
          <p:cNvPr id="129" name=""/>
          <p:cNvSpPr txBox="1"/>
          <p:nvPr/>
        </p:nvSpPr>
        <p:spPr>
          <a:xfrm>
            <a:off x="4198320" y="4370400"/>
            <a:ext cx="2717640" cy="430200"/>
          </a:xfrm>
          <a:prstGeom prst="rect">
            <a:avLst/>
          </a:prstGeom>
          <a:noFill/>
          <a:ln w="0">
            <a:noFill/>
          </a:ln>
        </p:spPr>
        <p:txBody>
          <a:bodyPr wrap="none" lIns="90000" rIns="90000" tIns="45000" bIns="45000" anchor="t">
            <a:spAutoFit/>
          </a:bodyPr>
          <a:p>
            <a:r>
              <a:rPr lang="en-US" sz="2400" b="0" u="none" spc="300" strike="noStrike">
                <a:solidFill>
                  <a:srgbClr val="dd6a1e"/>
                </a:solidFill>
                <a:effectLst/>
                <a:uFillTx/>
                <a:latin typeface="Arial"/>
              </a:rPr>
              <a:t>PUBLICITÁRIO</a:t>
            </a:r>
            <a:endParaRPr lang="en-US" sz="2400" b="0" u="none" strike="noStrike">
              <a:solidFill>
                <a:srgbClr val="000000"/>
              </a:solidFill>
              <a:effectLst/>
              <a:uFillTx/>
              <a:latin typeface="Arial"/>
            </a:endParaRPr>
          </a:p>
        </p:txBody>
      </p:sp>
      <p:sp>
        <p:nvSpPr>
          <p:cNvPr id="130" name=""/>
          <p:cNvSpPr/>
          <p:nvPr/>
        </p:nvSpPr>
        <p:spPr>
          <a:xfrm flipH="1" flipV="1" rot="15060000">
            <a:off x="4627080" y="355932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131" name=""/>
          <p:cNvSpPr/>
          <p:nvPr/>
        </p:nvSpPr>
        <p:spPr>
          <a:xfrm flipV="1" rot="6540000">
            <a:off x="4856760" y="487044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132" name=""/>
          <p:cNvSpPr txBox="1"/>
          <p:nvPr/>
        </p:nvSpPr>
        <p:spPr>
          <a:xfrm>
            <a:off x="3429000" y="6172200"/>
            <a:ext cx="240948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há 10 anos</a:t>
            </a:r>
            <a:endParaRPr lang="en-US"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34"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TEMÁTICA</a:t>
            </a:r>
            <a:endParaRPr lang="en-US" sz="3000" b="0" u="none" strike="noStrike">
              <a:solidFill>
                <a:srgbClr val="000000"/>
              </a:solidFill>
              <a:effectLst/>
              <a:uFillTx/>
              <a:latin typeface="Arial"/>
            </a:endParaRPr>
          </a:p>
        </p:txBody>
      </p:sp>
      <p:sp>
        <p:nvSpPr>
          <p:cNvPr id="135" name=""/>
          <p:cNvSpPr txBox="1"/>
          <p:nvPr/>
        </p:nvSpPr>
        <p:spPr>
          <a:xfrm>
            <a:off x="457200" y="742680"/>
            <a:ext cx="787752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AMOR À ARTE E PRECARIZAÇÃO DO FIGURINISTA</a:t>
            </a:r>
            <a:endParaRPr lang="en-US" sz="2000" b="0" u="none" strike="noStrike">
              <a:solidFill>
                <a:srgbClr val="000000"/>
              </a:solidFill>
              <a:effectLst/>
              <a:uFillTx/>
              <a:latin typeface="Arial"/>
            </a:endParaRPr>
          </a:p>
        </p:txBody>
      </p:sp>
      <p:sp>
        <p:nvSpPr>
          <p:cNvPr id="136"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37" name=""/>
          <p:cNvSpPr txBox="1"/>
          <p:nvPr/>
        </p:nvSpPr>
        <p:spPr>
          <a:xfrm>
            <a:off x="457200" y="743040"/>
            <a:ext cx="787752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AMOR À ARTE E PRECARIZAÇÃO DO FIGURINISTA</a:t>
            </a:r>
            <a:endParaRPr lang="en-US" sz="2000" b="0" u="none" strike="noStrike">
              <a:solidFill>
                <a:srgbClr val="000000"/>
              </a:solidFill>
              <a:effectLst/>
              <a:uFillTx/>
              <a:latin typeface="Arial"/>
            </a:endParaRPr>
          </a:p>
        </p:txBody>
      </p:sp>
      <p:sp>
        <p:nvSpPr>
          <p:cNvPr id="138" name=""/>
          <p:cNvSpPr/>
          <p:nvPr/>
        </p:nvSpPr>
        <p:spPr>
          <a:xfrm>
            <a:off x="295920" y="1367640"/>
            <a:ext cx="9372240" cy="34437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139"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40" name=""/>
          <p:cNvSpPr txBox="1"/>
          <p:nvPr/>
        </p:nvSpPr>
        <p:spPr>
          <a:xfrm>
            <a:off x="295560" y="5005800"/>
            <a:ext cx="6858000" cy="1176840"/>
          </a:xfrm>
          <a:prstGeom prst="rect">
            <a:avLst/>
          </a:prstGeom>
          <a:noFill/>
          <a:ln w="0">
            <a:noFill/>
          </a:ln>
        </p:spPr>
        <p:txBody>
          <a:bodyPr lIns="90000" rIns="90000" tIns="45000" bIns="45000" anchor="t">
            <a:spAutoFit/>
          </a:bodyPr>
          <a:p>
            <a:r>
              <a:rPr lang="en-US" sz="1800" b="0" i="1" u="none" strike="noStrike">
                <a:solidFill>
                  <a:srgbClr val="3a4968"/>
                </a:solidFill>
                <a:effectLst/>
                <a:uFillTx/>
                <a:latin typeface="Arial"/>
              </a:rPr>
              <a:t>KIM, Jae Yun; CAMPBELL, Troy H.; SHEPHERD, Steven; KAY, Aaron C. Understanding contemporary forms of exploitation: attributions of passion serve to legitimize the poor treatment of workers. Journal of Personality and Social Psychology, 2019.</a:t>
            </a:r>
            <a:endParaRPr lang="en-US" sz="1800" b="0" i="1" u="none" strike="noStrike">
              <a:solidFill>
                <a:srgbClr val="3a4968"/>
              </a:solidFill>
              <a:effectLst/>
              <a:uFillTx/>
              <a:latin typeface="Arial"/>
            </a:endParaRPr>
          </a:p>
        </p:txBody>
      </p:sp>
      <p:sp>
        <p:nvSpPr>
          <p:cNvPr id="141" name=""/>
          <p:cNvSpPr txBox="1"/>
          <p:nvPr/>
        </p:nvSpPr>
        <p:spPr>
          <a:xfrm>
            <a:off x="493200" y="1680120"/>
            <a:ext cx="8987040" cy="2741400"/>
          </a:xfrm>
          <a:prstGeom prst="rect">
            <a:avLst/>
          </a:prstGeom>
          <a:noFill/>
          <a:ln w="0">
            <a:noFill/>
          </a:ln>
        </p:spPr>
        <p:txBody>
          <a:bodyPr lIns="90000" rIns="90000" tIns="45000" bIns="45000" anchor="t">
            <a:spAutoFit/>
          </a:bodyPr>
          <a:p>
            <a:pPr>
              <a:lnSpc>
                <a:spcPct val="100000"/>
              </a:lnSpc>
              <a:spcBef>
                <a:spcPts val="1191"/>
              </a:spcBef>
              <a:spcAft>
                <a:spcPts val="992"/>
              </a:spcAft>
            </a:pPr>
            <a:r>
              <a:rPr lang="en-US" sz="2200" b="0" u="none" strike="noStrike">
                <a:solidFill>
                  <a:srgbClr val="3a4968"/>
                </a:solidFill>
                <a:effectLst/>
                <a:uFillTx/>
                <a:latin typeface="Arial"/>
              </a:rPr>
              <a:t>A busca pela paixão no trabalho é exaltada no discurso contemporâneo, mas também serve para facilitar a legitimação de práticas de gestão injustas e degradantes, um fenômeno que denominamos legitimação da </a:t>
            </a:r>
            <a:r>
              <a:rPr lang="en-US" sz="2200" b="1" u="none" strike="noStrike">
                <a:solidFill>
                  <a:srgbClr val="dd6a1e"/>
                </a:solidFill>
                <a:effectLst/>
                <a:uFillTx/>
                <a:latin typeface="Arial"/>
              </a:rPr>
              <a:t>exploração da paixão</a:t>
            </a:r>
            <a:r>
              <a:rPr lang="en-US" sz="2200" b="0" u="none" strike="noStrike">
                <a:solidFill>
                  <a:srgbClr val="3a4968"/>
                </a:solidFill>
                <a:effectLst/>
                <a:uFillTx/>
                <a:latin typeface="Arial"/>
              </a:rPr>
              <a:t>.</a:t>
            </a:r>
            <a:endParaRPr lang="en-US" sz="2200" b="0" u="none" strike="noStrike">
              <a:solidFill>
                <a:srgbClr val="000000"/>
              </a:solidFill>
              <a:effectLst/>
              <a:uFillTx/>
              <a:latin typeface="Arial"/>
            </a:endParaRPr>
          </a:p>
          <a:p>
            <a:pPr>
              <a:lnSpc>
                <a:spcPct val="100000"/>
              </a:lnSpc>
              <a:spcBef>
                <a:spcPts val="1191"/>
              </a:spcBef>
              <a:spcAft>
                <a:spcPts val="992"/>
              </a:spcAft>
            </a:pPr>
            <a:r>
              <a:rPr lang="en-US" sz="2200" b="0" u="none" strike="noStrike">
                <a:solidFill>
                  <a:srgbClr val="3a4968"/>
                </a:solidFill>
                <a:effectLst/>
                <a:uFillTx/>
                <a:latin typeface="Arial"/>
              </a:rPr>
              <a:t>Ao longo de sete estudos e uma meta-análise, demonstramos que as pessoas de fato consideram aceitável o tratamento inadequado de trabalhadores (...) quando se presume que esses trabalhadores são </a:t>
            </a:r>
            <a:r>
              <a:rPr lang="en-US" sz="2200" b="1" u="none" strike="noStrike">
                <a:solidFill>
                  <a:srgbClr val="dd6a1e"/>
                </a:solidFill>
                <a:effectLst/>
                <a:uFillTx/>
                <a:latin typeface="Arial"/>
              </a:rPr>
              <a:t>“apaixonados”</a:t>
            </a:r>
            <a:r>
              <a:rPr lang="en-US" sz="2200" b="0" u="none" strike="noStrike">
                <a:solidFill>
                  <a:srgbClr val="3a4968"/>
                </a:solidFill>
                <a:effectLst/>
                <a:uFillTx/>
                <a:latin typeface="Arial"/>
              </a:rPr>
              <a:t> pelo seu trabalho.</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43"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TEMÁTICA</a:t>
            </a:r>
            <a:endParaRPr lang="en-US" sz="3000" b="0" u="none" strike="noStrike">
              <a:solidFill>
                <a:srgbClr val="000000"/>
              </a:solidFill>
              <a:effectLst/>
              <a:uFillTx/>
              <a:latin typeface="Arial"/>
            </a:endParaRPr>
          </a:p>
        </p:txBody>
      </p:sp>
      <p:sp>
        <p:nvSpPr>
          <p:cNvPr id="144" name=""/>
          <p:cNvSpPr txBox="1"/>
          <p:nvPr/>
        </p:nvSpPr>
        <p:spPr>
          <a:xfrm>
            <a:off x="457200" y="742680"/>
            <a:ext cx="787752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AMOR À ARTE E PRECARIZAÇÃO DO FIGURINISTA</a:t>
            </a:r>
            <a:endParaRPr lang="en-US" sz="2000" b="0" u="none" strike="noStrike">
              <a:solidFill>
                <a:srgbClr val="000000"/>
              </a:solidFill>
              <a:effectLst/>
              <a:uFillTx/>
              <a:latin typeface="Arial"/>
            </a:endParaRPr>
          </a:p>
        </p:txBody>
      </p:sp>
      <p:sp>
        <p:nvSpPr>
          <p:cNvPr id="145" name=""/>
          <p:cNvSpPr/>
          <p:nvPr/>
        </p:nvSpPr>
        <p:spPr>
          <a:xfrm>
            <a:off x="457560" y="2042640"/>
            <a:ext cx="7772040" cy="34437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endParaRPr lang="en-US" sz="1800" b="0" u="none" strike="noStrike">
              <a:solidFill>
                <a:srgbClr val="3a4968"/>
              </a:solidFill>
              <a:effectLst/>
              <a:uFillTx/>
              <a:latin typeface="Arial"/>
            </a:endParaRPr>
          </a:p>
        </p:txBody>
      </p:sp>
      <p:sp>
        <p:nvSpPr>
          <p:cNvPr id="146" name=""/>
          <p:cNvSpPr txBox="1"/>
          <p:nvPr/>
        </p:nvSpPr>
        <p:spPr>
          <a:xfrm>
            <a:off x="390240" y="181800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pic>
        <p:nvPicPr>
          <p:cNvPr id="147" name=""/>
          <p:cNvPicPr/>
          <p:nvPr/>
        </p:nvPicPr>
        <p:blipFill>
          <a:blip r:embed="rId1"/>
          <a:stretch/>
        </p:blipFill>
        <p:spPr>
          <a:xfrm>
            <a:off x="7772760" y="1143360"/>
            <a:ext cx="1828440" cy="1828440"/>
          </a:xfrm>
          <a:prstGeom prst="rect">
            <a:avLst/>
          </a:prstGeom>
          <a:noFill/>
          <a:ln w="0">
            <a:noFill/>
          </a:ln>
        </p:spPr>
      </p:pic>
      <p:sp>
        <p:nvSpPr>
          <p:cNvPr id="148" name=""/>
          <p:cNvSpPr txBox="1"/>
          <p:nvPr/>
        </p:nvSpPr>
        <p:spPr>
          <a:xfrm>
            <a:off x="842400" y="2355120"/>
            <a:ext cx="7141320" cy="290268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A gente só trabalha com arte porque a gente acredita no que a gente está fazendo e porque a gente não consegue viver sem. (…) se eu converso com qualquer amigo que também é da arte, a pessoa entende completamente o que eu sinto. O sentimento de falta de uma coisa que não é palpável, sabe, </a:t>
            </a:r>
            <a:r>
              <a:rPr lang="en-US" sz="2200" b="1" u="none" strike="noStrike">
                <a:solidFill>
                  <a:srgbClr val="dd6a1e"/>
                </a:solidFill>
                <a:effectLst/>
                <a:uFillTx/>
                <a:latin typeface="Arial"/>
              </a:rPr>
              <a:t>acho que é o amor mesmo</a:t>
            </a:r>
            <a:r>
              <a:rPr lang="en-US" sz="2200" b="0" u="none" strike="noStrike">
                <a:solidFill>
                  <a:srgbClr val="3a4968"/>
                </a:solidFill>
                <a:effectLst/>
                <a:uFillTx/>
                <a:latin typeface="Arial"/>
              </a:rPr>
              <a:t>, por aquilo que você faz. E por acreditar tanto naquilo, você continua querendo impactar mais</a:t>
            </a:r>
            <a:endParaRPr lang="en-US" sz="2200" b="0" u="none" strike="noStrike">
              <a:solidFill>
                <a:srgbClr val="000000"/>
              </a:solidFill>
              <a:effectLst/>
              <a:uFillTx/>
              <a:latin typeface="Arial"/>
            </a:endParaRPr>
          </a:p>
          <a:p>
            <a:pPr algn="ctr">
              <a:lnSpc>
                <a:spcPct val="100000"/>
              </a:lnSpc>
            </a:pPr>
            <a:r>
              <a:rPr lang="en-US" sz="2200" b="0" u="none" strike="noStrike">
                <a:solidFill>
                  <a:srgbClr val="3a4968"/>
                </a:solidFill>
                <a:effectLst/>
                <a:uFillTx/>
                <a:latin typeface="Arial"/>
              </a:rPr>
              <a:t>pessoas com aquilo.</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50" name=""/>
          <p:cNvSpPr txBox="1"/>
          <p:nvPr/>
        </p:nvSpPr>
        <p:spPr>
          <a:xfrm>
            <a:off x="228960" y="200520"/>
            <a:ext cx="6348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PERSPECTIVAS HISTÓRICAS</a:t>
            </a:r>
            <a:endParaRPr lang="en-US" sz="3000" b="0" u="none" strike="noStrike">
              <a:solidFill>
                <a:srgbClr val="000000"/>
              </a:solidFill>
              <a:effectLst/>
              <a:uFillTx/>
              <a:latin typeface="Arial"/>
            </a:endParaRPr>
          </a:p>
        </p:txBody>
      </p:sp>
      <p:sp>
        <p:nvSpPr>
          <p:cNvPr id="151"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52" name=""/>
          <p:cNvSpPr txBox="1"/>
          <p:nvPr/>
        </p:nvSpPr>
        <p:spPr>
          <a:xfrm>
            <a:off x="457200" y="77904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NO MUNDO</a:t>
            </a:r>
            <a:endParaRPr lang="en-US" sz="2000" b="0" u="none" strike="noStrike">
              <a:solidFill>
                <a:srgbClr val="000000"/>
              </a:solidFill>
              <a:effectLst/>
              <a:uFillTx/>
              <a:latin typeface="Arial"/>
            </a:endParaRPr>
          </a:p>
        </p:txBody>
      </p:sp>
      <p:sp>
        <p:nvSpPr>
          <p:cNvPr id="153"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54" name=""/>
          <p:cNvSpPr/>
          <p:nvPr/>
        </p:nvSpPr>
        <p:spPr>
          <a:xfrm>
            <a:off x="228600" y="1360800"/>
            <a:ext cx="9439560" cy="34398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155" name=""/>
          <p:cNvSpPr txBox="1"/>
          <p:nvPr/>
        </p:nvSpPr>
        <p:spPr>
          <a:xfrm>
            <a:off x="493200" y="1680120"/>
            <a:ext cx="8987040" cy="2741400"/>
          </a:xfrm>
          <a:prstGeom prst="rect">
            <a:avLst/>
          </a:prstGeom>
          <a:noFill/>
          <a:ln w="0">
            <a:noFill/>
          </a:ln>
        </p:spPr>
        <p:txBody>
          <a:bodyPr lIns="90000" rIns="90000" tIns="45000" bIns="45000" anchor="t">
            <a:spAutoFit/>
          </a:bodyPr>
          <a:p>
            <a:pPr>
              <a:lnSpc>
                <a:spcPct val="100000"/>
              </a:lnSpc>
              <a:spcBef>
                <a:spcPts val="1191"/>
              </a:spcBef>
              <a:spcAft>
                <a:spcPts val="992"/>
              </a:spcAft>
            </a:pPr>
            <a:r>
              <a:rPr lang="en-US" sz="2200" b="0" u="none" strike="noStrike">
                <a:solidFill>
                  <a:srgbClr val="3a4968"/>
                </a:solidFill>
                <a:effectLst/>
                <a:uFillTx/>
                <a:latin typeface="Arial"/>
              </a:rPr>
              <a:t>No mundo moderno, o teatro e o cinema passaram por um processo gradual de profissionalização. No teatro europeu, principalmente a partir do </a:t>
            </a:r>
            <a:r>
              <a:rPr lang="en-US" sz="2200" b="1" u="none" strike="noStrike">
                <a:solidFill>
                  <a:srgbClr val="dd6a1e"/>
                </a:solidFill>
                <a:effectLst/>
                <a:uFillTx/>
                <a:latin typeface="Arial"/>
              </a:rPr>
              <a:t>século XIX</a:t>
            </a:r>
            <a:r>
              <a:rPr lang="en-US" sz="2200" b="0" u="none" strike="noStrike">
                <a:solidFill>
                  <a:srgbClr val="3a4968"/>
                </a:solidFill>
                <a:effectLst/>
                <a:uFillTx/>
                <a:latin typeface="Arial"/>
              </a:rPr>
              <a:t>, surgem companhias estáveis, temporadas regulares e uma </a:t>
            </a:r>
            <a:r>
              <a:rPr lang="en-US" sz="2200" b="1" u="none" strike="noStrike">
                <a:solidFill>
                  <a:srgbClr val="dd6a1e"/>
                </a:solidFill>
                <a:effectLst/>
                <a:uFillTx/>
                <a:latin typeface="Arial"/>
              </a:rPr>
              <a:t>divisão mais clara das funções artísticas e técnicas</a:t>
            </a:r>
            <a:r>
              <a:rPr lang="en-US" sz="2200" b="0" u="none" strike="noStrike">
                <a:solidFill>
                  <a:srgbClr val="3a4968"/>
                </a:solidFill>
                <a:effectLst/>
                <a:uFillTx/>
                <a:latin typeface="Arial"/>
              </a:rPr>
              <a:t>, como direção, atuação, cenografia e </a:t>
            </a:r>
            <a:r>
              <a:rPr lang="en-US" sz="2200" b="1" u="none" strike="noStrike">
                <a:solidFill>
                  <a:srgbClr val="dd6a1e"/>
                </a:solidFill>
                <a:effectLst/>
                <a:uFillTx/>
                <a:latin typeface="Arial"/>
              </a:rPr>
              <a:t>figurino</a:t>
            </a:r>
            <a:r>
              <a:rPr lang="en-US" sz="2200" b="0" u="none" strike="noStrike">
                <a:solidFill>
                  <a:srgbClr val="3a4968"/>
                </a:solidFill>
                <a:effectLst/>
                <a:uFillTx/>
                <a:latin typeface="Arial"/>
              </a:rPr>
              <a:t>.</a:t>
            </a:r>
            <a:endParaRPr lang="en-US" sz="2200" b="0" u="none" strike="noStrike">
              <a:solidFill>
                <a:srgbClr val="3a4968"/>
              </a:solidFill>
              <a:effectLst/>
              <a:uFillTx/>
              <a:latin typeface="Arial"/>
            </a:endParaRPr>
          </a:p>
          <a:p>
            <a:pPr>
              <a:lnSpc>
                <a:spcPct val="100000"/>
              </a:lnSpc>
              <a:spcBef>
                <a:spcPts val="1191"/>
              </a:spcBef>
              <a:spcAft>
                <a:spcPts val="992"/>
              </a:spcAft>
            </a:pPr>
            <a:r>
              <a:rPr lang="en-US" sz="2200" b="0" u="none" strike="noStrike">
                <a:solidFill>
                  <a:srgbClr val="3a4968"/>
                </a:solidFill>
                <a:effectLst/>
                <a:uFillTx/>
                <a:latin typeface="Arial"/>
              </a:rPr>
              <a:t>O cinema, desde o início do século XX, nasce fortemente ligado à </a:t>
            </a:r>
            <a:r>
              <a:rPr lang="en-US" sz="2200" b="1" u="none" strike="noStrike">
                <a:solidFill>
                  <a:srgbClr val="dd6a1e"/>
                </a:solidFill>
                <a:effectLst/>
                <a:uFillTx/>
                <a:latin typeface="Arial"/>
              </a:rPr>
              <a:t>lógica industrial</a:t>
            </a:r>
            <a:r>
              <a:rPr lang="en-US" sz="2200" b="0" u="none" strike="noStrike">
                <a:solidFill>
                  <a:srgbClr val="3a4968"/>
                </a:solidFill>
                <a:effectLst/>
                <a:uFillTx/>
                <a:latin typeface="Arial"/>
              </a:rPr>
              <a:t>, especialmente em Hollywood, com grandes estúdios organizando o trabalho de forma hierarquizada e contínua.</a:t>
            </a:r>
            <a:endParaRPr lang="en-US" sz="2200" b="0" u="none" strike="noStrike">
              <a:solidFill>
                <a:srgbClr val="3a4968"/>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57" name=""/>
          <p:cNvSpPr txBox="1"/>
          <p:nvPr/>
        </p:nvSpPr>
        <p:spPr>
          <a:xfrm>
            <a:off x="228960" y="200520"/>
            <a:ext cx="6348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PERSPECTIVAS HISTÓRICAS</a:t>
            </a:r>
            <a:endParaRPr lang="en-US" sz="3000" b="0" u="none" strike="noStrike">
              <a:solidFill>
                <a:srgbClr val="000000"/>
              </a:solidFill>
              <a:effectLst/>
              <a:uFillTx/>
              <a:latin typeface="Arial"/>
            </a:endParaRPr>
          </a:p>
        </p:txBody>
      </p:sp>
      <p:sp>
        <p:nvSpPr>
          <p:cNvPr id="158"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59" name=""/>
          <p:cNvSpPr txBox="1"/>
          <p:nvPr/>
        </p:nvSpPr>
        <p:spPr>
          <a:xfrm>
            <a:off x="457200" y="77904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NO BRASIL</a:t>
            </a:r>
            <a:endParaRPr lang="en-US" sz="2000" b="0" u="none" strike="noStrike">
              <a:solidFill>
                <a:srgbClr val="000000"/>
              </a:solidFill>
              <a:effectLst/>
              <a:uFillTx/>
              <a:latin typeface="Arial"/>
            </a:endParaRPr>
          </a:p>
        </p:txBody>
      </p:sp>
      <p:sp>
        <p:nvSpPr>
          <p:cNvPr id="160"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61" name=""/>
          <p:cNvSpPr/>
          <p:nvPr/>
        </p:nvSpPr>
        <p:spPr>
          <a:xfrm>
            <a:off x="228600" y="1360800"/>
            <a:ext cx="9439560" cy="20682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162" name=""/>
          <p:cNvSpPr txBox="1"/>
          <p:nvPr/>
        </p:nvSpPr>
        <p:spPr>
          <a:xfrm>
            <a:off x="493200" y="1680120"/>
            <a:ext cx="8987040" cy="1520280"/>
          </a:xfrm>
          <a:prstGeom prst="rect">
            <a:avLst/>
          </a:prstGeom>
          <a:noFill/>
          <a:ln w="0">
            <a:noFill/>
          </a:ln>
        </p:spPr>
        <p:txBody>
          <a:bodyPr lIns="90000" rIns="90000" tIns="45000" bIns="45000" anchor="t">
            <a:spAutoFit/>
          </a:bodyPr>
          <a:p>
            <a:pPr>
              <a:lnSpc>
                <a:spcPct val="100000"/>
              </a:lnSpc>
              <a:spcBef>
                <a:spcPts val="1191"/>
              </a:spcBef>
              <a:spcAft>
                <a:spcPts val="992"/>
              </a:spcAft>
            </a:pPr>
            <a:r>
              <a:rPr lang="en-US" sz="2200" b="0" u="none" strike="noStrike">
                <a:solidFill>
                  <a:srgbClr val="3a4968"/>
                </a:solidFill>
                <a:effectLst/>
                <a:uFillTx/>
                <a:latin typeface="Arial"/>
              </a:rPr>
              <a:t>No Brasil, o teatro começa a se estruturar em companhias fixas no final do século XIX e início do século XX. O cinema ganha força a partir da década de 1930, com estúdios como a Cinédia, mas enfrenta diversas descontinuidades ao longo da história.</a:t>
            </a:r>
            <a:endParaRPr lang="en-US" sz="2200" b="0" u="none" strike="noStrike">
              <a:solidFill>
                <a:srgbClr val="3a4968"/>
              </a:solidFill>
              <a:effectLst/>
              <a:uFillTx/>
              <a:latin typeface="Arial"/>
            </a:endParaRPr>
          </a:p>
        </p:txBody>
      </p:sp>
      <p:pic>
        <p:nvPicPr>
          <p:cNvPr id="163" name=""/>
          <p:cNvPicPr/>
          <p:nvPr/>
        </p:nvPicPr>
        <p:blipFill>
          <a:blip r:embed="rId1"/>
          <a:stretch/>
        </p:blipFill>
        <p:spPr>
          <a:xfrm>
            <a:off x="6629400" y="3657600"/>
            <a:ext cx="1957680" cy="2828880"/>
          </a:xfrm>
          <a:prstGeom prst="rect">
            <a:avLst/>
          </a:prstGeom>
          <a:noFill/>
          <a:ln w="0">
            <a:noFill/>
          </a:ln>
        </p:spPr>
      </p:pic>
      <p:pic>
        <p:nvPicPr>
          <p:cNvPr id="164" name=""/>
          <p:cNvPicPr/>
          <p:nvPr/>
        </p:nvPicPr>
        <p:blipFill>
          <a:blip r:embed="rId2"/>
          <a:stretch/>
        </p:blipFill>
        <p:spPr>
          <a:xfrm>
            <a:off x="1371600" y="3657600"/>
            <a:ext cx="4363200" cy="318384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66" name=""/>
          <p:cNvSpPr txBox="1"/>
          <p:nvPr/>
        </p:nvSpPr>
        <p:spPr>
          <a:xfrm>
            <a:off x="228960" y="200520"/>
            <a:ext cx="6348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PERSPECTIVAS HISTÓRICAS</a:t>
            </a:r>
            <a:endParaRPr lang="en-US" sz="3000" b="0" u="none" strike="noStrike">
              <a:solidFill>
                <a:srgbClr val="000000"/>
              </a:solidFill>
              <a:effectLst/>
              <a:uFillTx/>
              <a:latin typeface="Arial"/>
            </a:endParaRPr>
          </a:p>
        </p:txBody>
      </p:sp>
      <p:sp>
        <p:nvSpPr>
          <p:cNvPr id="167"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68" name=""/>
          <p:cNvSpPr txBox="1"/>
          <p:nvPr/>
        </p:nvSpPr>
        <p:spPr>
          <a:xfrm>
            <a:off x="457200" y="77904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NO BRASIL</a:t>
            </a:r>
            <a:endParaRPr lang="en-US" sz="2000" b="0" u="none" strike="noStrike">
              <a:solidFill>
                <a:srgbClr val="000000"/>
              </a:solidFill>
              <a:effectLst/>
              <a:uFillTx/>
              <a:latin typeface="Arial"/>
            </a:endParaRPr>
          </a:p>
        </p:txBody>
      </p:sp>
      <p:sp>
        <p:nvSpPr>
          <p:cNvPr id="169"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70" name=""/>
          <p:cNvSpPr/>
          <p:nvPr/>
        </p:nvSpPr>
        <p:spPr>
          <a:xfrm>
            <a:off x="228600" y="1360800"/>
            <a:ext cx="9439560" cy="20682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171" name=""/>
          <p:cNvSpPr txBox="1"/>
          <p:nvPr/>
        </p:nvSpPr>
        <p:spPr>
          <a:xfrm>
            <a:off x="493200" y="1680120"/>
            <a:ext cx="8987040" cy="1520280"/>
          </a:xfrm>
          <a:prstGeom prst="rect">
            <a:avLst/>
          </a:prstGeom>
          <a:noFill/>
          <a:ln w="0">
            <a:noFill/>
          </a:ln>
        </p:spPr>
        <p:txBody>
          <a:bodyPr lIns="90000" rIns="90000" tIns="45000" bIns="45000" anchor="t">
            <a:spAutoFit/>
          </a:bodyPr>
          <a:p>
            <a:pPr>
              <a:lnSpc>
                <a:spcPct val="100000"/>
              </a:lnSpc>
              <a:spcBef>
                <a:spcPts val="1191"/>
              </a:spcBef>
              <a:spcAft>
                <a:spcPts val="992"/>
              </a:spcAft>
            </a:pPr>
            <a:r>
              <a:rPr lang="en-US" sz="2200" b="0" u="none" strike="noStrike">
                <a:solidFill>
                  <a:srgbClr val="3a4968"/>
                </a:solidFill>
                <a:effectLst/>
                <a:uFillTx/>
                <a:latin typeface="Arial"/>
              </a:rPr>
              <a:t>O </a:t>
            </a:r>
            <a:r>
              <a:rPr lang="en-US" sz="2200" b="1" u="none" strike="noStrike">
                <a:solidFill>
                  <a:srgbClr val="3a4968"/>
                </a:solidFill>
                <a:effectLst/>
                <a:uFillTx/>
                <a:latin typeface="Arial"/>
              </a:rPr>
              <a:t>DRT (Delegacia Regional do Trabalho) </a:t>
            </a:r>
            <a:r>
              <a:rPr lang="en-US" sz="2200" b="0" u="none" strike="noStrike">
                <a:solidFill>
                  <a:srgbClr val="3a4968"/>
                </a:solidFill>
                <a:effectLst/>
                <a:uFillTx/>
                <a:latin typeface="Arial"/>
              </a:rPr>
              <a:t>surge como uma forma de registro profissional, garantindo reconhecimento legal para artistas e técnicos do espetáculo. Esse registro funciona como uma autorização para o exercício formal da profissão em diversos projetos culturais.</a:t>
            </a:r>
            <a:endParaRPr lang="en-US" sz="2200" b="0" u="none" strike="noStrike">
              <a:solidFill>
                <a:srgbClr val="3a4968"/>
              </a:solidFill>
              <a:effectLst/>
              <a:uFillTx/>
              <a:latin typeface="Arial"/>
            </a:endParaRPr>
          </a:p>
        </p:txBody>
      </p:sp>
      <p:pic>
        <p:nvPicPr>
          <p:cNvPr id="172" name=""/>
          <p:cNvPicPr/>
          <p:nvPr/>
        </p:nvPicPr>
        <p:blipFill>
          <a:blip r:embed="rId1"/>
          <a:stretch/>
        </p:blipFill>
        <p:spPr>
          <a:xfrm>
            <a:off x="8001000" y="3657600"/>
            <a:ext cx="1828440" cy="1828440"/>
          </a:xfrm>
          <a:prstGeom prst="rect">
            <a:avLst/>
          </a:prstGeom>
          <a:noFill/>
          <a:ln w="0">
            <a:noFill/>
          </a:ln>
        </p:spPr>
      </p:pic>
      <p:pic>
        <p:nvPicPr>
          <p:cNvPr id="173" name=""/>
          <p:cNvPicPr/>
          <p:nvPr/>
        </p:nvPicPr>
        <p:blipFill>
          <a:blip r:embed="rId2"/>
          <a:stretch/>
        </p:blipFill>
        <p:spPr>
          <a:xfrm>
            <a:off x="79200" y="4052160"/>
            <a:ext cx="1828440" cy="1828440"/>
          </a:xfrm>
          <a:prstGeom prst="rect">
            <a:avLst/>
          </a:prstGeom>
          <a:noFill/>
          <a:ln w="0">
            <a:noFill/>
          </a:ln>
        </p:spPr>
      </p:pic>
      <p:pic>
        <p:nvPicPr>
          <p:cNvPr id="174" name=""/>
          <p:cNvPicPr/>
          <p:nvPr/>
        </p:nvPicPr>
        <p:blipFill>
          <a:blip r:embed="rId3"/>
          <a:stretch/>
        </p:blipFill>
        <p:spPr>
          <a:xfrm>
            <a:off x="2286000" y="5325120"/>
            <a:ext cx="1828440" cy="1828440"/>
          </a:xfrm>
          <a:prstGeom prst="rect">
            <a:avLst/>
          </a:prstGeom>
          <a:noFill/>
          <a:ln w="0">
            <a:noFill/>
          </a:ln>
        </p:spPr>
      </p:pic>
      <p:sp>
        <p:nvSpPr>
          <p:cNvPr id="175" name=""/>
          <p:cNvSpPr/>
          <p:nvPr/>
        </p:nvSpPr>
        <p:spPr>
          <a:xfrm>
            <a:off x="1792800" y="4052160"/>
            <a:ext cx="2286000" cy="7527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176" name=""/>
          <p:cNvSpPr txBox="1"/>
          <p:nvPr/>
        </p:nvSpPr>
        <p:spPr>
          <a:xfrm>
            <a:off x="1913400" y="4200120"/>
            <a:ext cx="2129400" cy="53280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Eu não tenho.</a:t>
            </a:r>
            <a:endParaRPr lang="en-US" sz="2200" b="0" u="none" strike="noStrike">
              <a:solidFill>
                <a:srgbClr val="000000"/>
              </a:solidFill>
              <a:effectLst/>
              <a:uFillTx/>
              <a:latin typeface="Arial"/>
            </a:endParaRPr>
          </a:p>
        </p:txBody>
      </p:sp>
      <p:sp>
        <p:nvSpPr>
          <p:cNvPr id="177" name=""/>
          <p:cNvSpPr/>
          <p:nvPr/>
        </p:nvSpPr>
        <p:spPr>
          <a:xfrm>
            <a:off x="3886200" y="5419440"/>
            <a:ext cx="2286000" cy="7527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178" name=""/>
          <p:cNvSpPr txBox="1"/>
          <p:nvPr/>
        </p:nvSpPr>
        <p:spPr>
          <a:xfrm>
            <a:off x="4006800" y="5567400"/>
            <a:ext cx="2129400" cy="53280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Eu não tenho.</a:t>
            </a:r>
            <a:endParaRPr lang="en-US" sz="2200" b="0" u="none" strike="noStrike">
              <a:solidFill>
                <a:srgbClr val="000000"/>
              </a:solidFill>
              <a:effectLst/>
              <a:uFillTx/>
              <a:latin typeface="Arial"/>
            </a:endParaRPr>
          </a:p>
        </p:txBody>
      </p:sp>
      <p:sp>
        <p:nvSpPr>
          <p:cNvPr id="179" name=""/>
          <p:cNvSpPr/>
          <p:nvPr/>
        </p:nvSpPr>
        <p:spPr>
          <a:xfrm>
            <a:off x="6629400" y="4572000"/>
            <a:ext cx="1532880" cy="7527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180" name=""/>
          <p:cNvSpPr txBox="1"/>
          <p:nvPr/>
        </p:nvSpPr>
        <p:spPr>
          <a:xfrm>
            <a:off x="6710400" y="4719960"/>
            <a:ext cx="1427760" cy="53280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Eu tenho.</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82"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183" name=""/>
          <p:cNvSpPr txBox="1"/>
          <p:nvPr/>
        </p:nvSpPr>
        <p:spPr>
          <a:xfrm>
            <a:off x="457200" y="742680"/>
            <a:ext cx="501948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O QUE FAZ (NA PUBLICIDADE)?</a:t>
            </a:r>
            <a:endParaRPr lang="en-US" sz="2000" b="0" u="none" strike="noStrike">
              <a:solidFill>
                <a:srgbClr val="000000"/>
              </a:solidFill>
              <a:effectLst/>
              <a:uFillTx/>
              <a:latin typeface="Arial"/>
            </a:endParaRPr>
          </a:p>
        </p:txBody>
      </p:sp>
      <p:sp>
        <p:nvSpPr>
          <p:cNvPr id="184"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85"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186" name=""/>
          <p:cNvSpPr/>
          <p:nvPr/>
        </p:nvSpPr>
        <p:spPr>
          <a:xfrm>
            <a:off x="914400" y="16002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BRIEFING</a:t>
            </a:r>
            <a:br>
              <a:rPr sz="1800"/>
            </a:br>
            <a:r>
              <a:rPr lang="en-US" sz="1800" b="0" u="none" strike="noStrike">
                <a:solidFill>
                  <a:srgbClr val="3a4968"/>
                </a:solidFill>
                <a:effectLst/>
                <a:uFillTx/>
                <a:latin typeface="Arial"/>
              </a:rPr>
              <a:t>ORÇAMENTO</a:t>
            </a:r>
            <a:endParaRPr lang="en-US" sz="1800" b="0" u="none" strike="noStrike">
              <a:solidFill>
                <a:srgbClr val="3a4968"/>
              </a:solidFill>
              <a:effectLst/>
              <a:uFillTx/>
              <a:latin typeface="Arial"/>
            </a:endParaRPr>
          </a:p>
        </p:txBody>
      </p:sp>
      <p:sp>
        <p:nvSpPr>
          <p:cNvPr id="187" name=""/>
          <p:cNvSpPr/>
          <p:nvPr/>
        </p:nvSpPr>
        <p:spPr>
          <a:xfrm>
            <a:off x="4114800" y="18288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PESQUISA</a:t>
            </a:r>
            <a:br>
              <a:rPr sz="1800"/>
            </a:br>
            <a:r>
              <a:rPr lang="en-US" sz="1800" b="0" u="none" strike="noStrike">
                <a:solidFill>
                  <a:srgbClr val="3a4968"/>
                </a:solidFill>
                <a:effectLst/>
                <a:uFillTx/>
                <a:latin typeface="Arial"/>
              </a:rPr>
              <a:t>REFERÊNCIAS</a:t>
            </a:r>
            <a:endParaRPr lang="en-US" sz="1800" b="0" u="none" strike="noStrike">
              <a:solidFill>
                <a:srgbClr val="3a4968"/>
              </a:solidFill>
              <a:effectLst/>
              <a:uFillTx/>
              <a:latin typeface="Arial"/>
            </a:endParaRPr>
          </a:p>
        </p:txBody>
      </p:sp>
      <p:sp>
        <p:nvSpPr>
          <p:cNvPr id="188" name=""/>
          <p:cNvSpPr/>
          <p:nvPr/>
        </p:nvSpPr>
        <p:spPr>
          <a:xfrm>
            <a:off x="7086600" y="27432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PPM COM AGÊNCIA</a:t>
            </a:r>
            <a:endParaRPr lang="en-US" sz="1800" b="0" u="none" strike="noStrike">
              <a:solidFill>
                <a:srgbClr val="3a4968"/>
              </a:solidFill>
              <a:effectLst/>
              <a:uFillTx/>
              <a:latin typeface="Arial"/>
            </a:endParaRPr>
          </a:p>
        </p:txBody>
      </p:sp>
      <p:sp>
        <p:nvSpPr>
          <p:cNvPr id="189" name=""/>
          <p:cNvSpPr/>
          <p:nvPr/>
        </p:nvSpPr>
        <p:spPr>
          <a:xfrm>
            <a:off x="7086600" y="38862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PPM COM CLIENTE</a:t>
            </a:r>
            <a:endParaRPr lang="en-US" sz="1800" b="0" u="none" strike="noStrike">
              <a:solidFill>
                <a:srgbClr val="3a4968"/>
              </a:solidFill>
              <a:effectLst/>
              <a:uFillTx/>
              <a:latin typeface="Arial"/>
            </a:endParaRPr>
          </a:p>
        </p:txBody>
      </p:sp>
      <p:sp>
        <p:nvSpPr>
          <p:cNvPr id="190" name=""/>
          <p:cNvSpPr/>
          <p:nvPr/>
        </p:nvSpPr>
        <p:spPr>
          <a:xfrm>
            <a:off x="3429000" y="29718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RECRUTAMENTO</a:t>
            </a:r>
            <a:br>
              <a:rPr sz="1800"/>
            </a:br>
            <a:r>
              <a:rPr lang="en-US" sz="1800" b="0" u="none" strike="noStrike">
                <a:solidFill>
                  <a:srgbClr val="3a4968"/>
                </a:solidFill>
                <a:effectLst/>
                <a:uFillTx/>
                <a:latin typeface="Arial"/>
              </a:rPr>
              <a:t>EQUIPE</a:t>
            </a:r>
            <a:endParaRPr lang="en-US" sz="1800" b="0" u="none" strike="noStrike">
              <a:solidFill>
                <a:srgbClr val="3a4968"/>
              </a:solidFill>
              <a:effectLst/>
              <a:uFillTx/>
              <a:latin typeface="Arial"/>
            </a:endParaRPr>
          </a:p>
        </p:txBody>
      </p:sp>
      <p:sp>
        <p:nvSpPr>
          <p:cNvPr id="191" name=""/>
          <p:cNvSpPr/>
          <p:nvPr/>
        </p:nvSpPr>
        <p:spPr>
          <a:xfrm>
            <a:off x="4343400" y="45720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PRODUÇÃO</a:t>
            </a:r>
            <a:endParaRPr lang="en-US" sz="1800" b="0" u="none" strike="noStrike">
              <a:solidFill>
                <a:srgbClr val="3a4968"/>
              </a:solidFill>
              <a:effectLst/>
              <a:uFillTx/>
              <a:latin typeface="Arial"/>
            </a:endParaRPr>
          </a:p>
        </p:txBody>
      </p:sp>
      <p:sp>
        <p:nvSpPr>
          <p:cNvPr id="192" name=""/>
          <p:cNvSpPr/>
          <p:nvPr/>
        </p:nvSpPr>
        <p:spPr>
          <a:xfrm flipH="1" flipV="1" rot="21240000">
            <a:off x="6753240" y="462600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193" name=""/>
          <p:cNvSpPr/>
          <p:nvPr/>
        </p:nvSpPr>
        <p:spPr>
          <a:xfrm>
            <a:off x="2971800" y="59436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FILMAGEM</a:t>
            </a:r>
            <a:endParaRPr lang="en-US" sz="1800" b="0" u="none" strike="noStrike">
              <a:solidFill>
                <a:srgbClr val="3a4968"/>
              </a:solidFill>
              <a:effectLst/>
              <a:uFillTx/>
              <a:latin typeface="Arial"/>
            </a:endParaRPr>
          </a:p>
        </p:txBody>
      </p:sp>
      <p:sp>
        <p:nvSpPr>
          <p:cNvPr id="194" name=""/>
          <p:cNvSpPr/>
          <p:nvPr/>
        </p:nvSpPr>
        <p:spPr>
          <a:xfrm>
            <a:off x="228600" y="50292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DESPRODUÇÃO</a:t>
            </a:r>
            <a:endParaRPr lang="en-US" sz="1800" b="0" u="none" strike="noStrike">
              <a:solidFill>
                <a:srgbClr val="3a4968"/>
              </a:solidFill>
              <a:effectLst/>
              <a:uFillTx/>
              <a:latin typeface="Arial"/>
            </a:endParaRPr>
          </a:p>
        </p:txBody>
      </p:sp>
      <p:sp>
        <p:nvSpPr>
          <p:cNvPr id="195" name=""/>
          <p:cNvSpPr/>
          <p:nvPr/>
        </p:nvSpPr>
        <p:spPr>
          <a:xfrm flipH="1" flipV="1" rot="19680000">
            <a:off x="5158440" y="541152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196" name=""/>
          <p:cNvSpPr/>
          <p:nvPr/>
        </p:nvSpPr>
        <p:spPr>
          <a:xfrm>
            <a:off x="685800" y="34290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PRESTAÇÃO DE CONTAS</a:t>
            </a:r>
            <a:endParaRPr lang="en-US" sz="1800" b="0" u="none" strike="noStrike">
              <a:solidFill>
                <a:srgbClr val="3a4968"/>
              </a:solidFill>
              <a:effectLst/>
              <a:uFillTx/>
              <a:latin typeface="Arial"/>
            </a:endParaRPr>
          </a:p>
        </p:txBody>
      </p:sp>
      <p:sp>
        <p:nvSpPr>
          <p:cNvPr id="197" name=""/>
          <p:cNvSpPr/>
          <p:nvPr/>
        </p:nvSpPr>
        <p:spPr>
          <a:xfrm flipH="1" flipV="1" rot="4140000">
            <a:off x="2409480" y="576936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198" name=""/>
          <p:cNvSpPr/>
          <p:nvPr/>
        </p:nvSpPr>
        <p:spPr>
          <a:xfrm flipH="1" flipV="1" rot="7860000">
            <a:off x="680040" y="428796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199" name=""/>
          <p:cNvSpPr/>
          <p:nvPr/>
        </p:nvSpPr>
        <p:spPr>
          <a:xfrm flipH="1" flipV="1" rot="16200000">
            <a:off x="4536000" y="382212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200" name=""/>
          <p:cNvSpPr/>
          <p:nvPr/>
        </p:nvSpPr>
        <p:spPr>
          <a:xfrm flipH="1" flipV="1" rot="13320000">
            <a:off x="3420000" y="177048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201" name=""/>
          <p:cNvSpPr/>
          <p:nvPr/>
        </p:nvSpPr>
        <p:spPr>
          <a:xfrm flipH="1" flipV="1" rot="14640000">
            <a:off x="6500880" y="220968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202" name=""/>
          <p:cNvSpPr/>
          <p:nvPr/>
        </p:nvSpPr>
        <p:spPr>
          <a:xfrm flipH="1" flipV="1" rot="18780000">
            <a:off x="9158400" y="337356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203" name=""/>
          <p:cNvSpPr/>
          <p:nvPr/>
        </p:nvSpPr>
        <p:spPr>
          <a:xfrm flipH="1" rot="12300000">
            <a:off x="2986560" y="235368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pic>
        <p:nvPicPr>
          <p:cNvPr id="204" name=""/>
          <p:cNvPicPr/>
          <p:nvPr/>
        </p:nvPicPr>
        <p:blipFill>
          <a:blip r:embed="rId1"/>
          <a:stretch/>
        </p:blipFill>
        <p:spPr>
          <a:xfrm>
            <a:off x="7772760" y="1130760"/>
            <a:ext cx="1828440" cy="182844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06"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207" name=""/>
          <p:cNvSpPr txBox="1"/>
          <p:nvPr/>
        </p:nvSpPr>
        <p:spPr>
          <a:xfrm>
            <a:off x="457200" y="742680"/>
            <a:ext cx="418248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O QUE FAZ (NO TEATRO)?</a:t>
            </a:r>
            <a:endParaRPr lang="en-US" sz="2000" b="0" u="none" strike="noStrike">
              <a:solidFill>
                <a:srgbClr val="000000"/>
              </a:solidFill>
              <a:effectLst/>
              <a:uFillTx/>
              <a:latin typeface="Arial"/>
            </a:endParaRPr>
          </a:p>
        </p:txBody>
      </p:sp>
      <p:sp>
        <p:nvSpPr>
          <p:cNvPr id="208"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09"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10" name=""/>
          <p:cNvSpPr/>
          <p:nvPr/>
        </p:nvSpPr>
        <p:spPr>
          <a:xfrm>
            <a:off x="552600" y="205776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DECUPAGEM</a:t>
            </a:r>
            <a:endParaRPr lang="en-US" sz="1800" b="0" u="none" strike="noStrike">
              <a:solidFill>
                <a:srgbClr val="3a4968"/>
              </a:solidFill>
              <a:effectLst/>
              <a:uFillTx/>
              <a:latin typeface="Arial"/>
            </a:endParaRPr>
          </a:p>
        </p:txBody>
      </p:sp>
      <p:sp>
        <p:nvSpPr>
          <p:cNvPr id="211" name=""/>
          <p:cNvSpPr/>
          <p:nvPr/>
        </p:nvSpPr>
        <p:spPr>
          <a:xfrm>
            <a:off x="3429000" y="13716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CONCEITUAÇÃO</a:t>
            </a:r>
            <a:endParaRPr lang="en-US" sz="1800" b="0" u="none" strike="noStrike">
              <a:solidFill>
                <a:srgbClr val="3a4968"/>
              </a:solidFill>
              <a:effectLst/>
              <a:uFillTx/>
              <a:latin typeface="Arial"/>
            </a:endParaRPr>
          </a:p>
        </p:txBody>
      </p:sp>
      <p:sp>
        <p:nvSpPr>
          <p:cNvPr id="212" name=""/>
          <p:cNvSpPr/>
          <p:nvPr/>
        </p:nvSpPr>
        <p:spPr>
          <a:xfrm flipH="1" flipV="1" rot="10020000">
            <a:off x="2812680" y="163980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213" name=""/>
          <p:cNvSpPr/>
          <p:nvPr/>
        </p:nvSpPr>
        <p:spPr>
          <a:xfrm>
            <a:off x="5943600" y="25146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DESENHO</a:t>
            </a:r>
            <a:endParaRPr lang="en-US" sz="1800" b="0" u="none" strike="noStrike">
              <a:solidFill>
                <a:srgbClr val="3a4968"/>
              </a:solidFill>
              <a:effectLst/>
              <a:uFillTx/>
              <a:latin typeface="Arial"/>
            </a:endParaRPr>
          </a:p>
        </p:txBody>
      </p:sp>
      <p:sp>
        <p:nvSpPr>
          <p:cNvPr id="214" name=""/>
          <p:cNvSpPr/>
          <p:nvPr/>
        </p:nvSpPr>
        <p:spPr>
          <a:xfrm flipH="1" flipV="1" rot="14340000">
            <a:off x="5727960" y="199188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215" name=""/>
          <p:cNvSpPr/>
          <p:nvPr/>
        </p:nvSpPr>
        <p:spPr>
          <a:xfrm>
            <a:off x="6183000" y="38268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PRODUÇÃO</a:t>
            </a:r>
            <a:endParaRPr lang="en-US" sz="1800" b="0" u="none" strike="noStrike">
              <a:solidFill>
                <a:srgbClr val="3a4968"/>
              </a:solidFill>
              <a:effectLst/>
              <a:uFillTx/>
              <a:latin typeface="Arial"/>
            </a:endParaRPr>
          </a:p>
        </p:txBody>
      </p:sp>
      <p:sp>
        <p:nvSpPr>
          <p:cNvPr id="216" name=""/>
          <p:cNvSpPr/>
          <p:nvPr/>
        </p:nvSpPr>
        <p:spPr>
          <a:xfrm flipH="1" flipV="1" rot="16680000">
            <a:off x="7248600" y="330264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217" name=""/>
          <p:cNvSpPr/>
          <p:nvPr/>
        </p:nvSpPr>
        <p:spPr>
          <a:xfrm>
            <a:off x="7086600" y="50292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TESTES</a:t>
            </a:r>
            <a:br>
              <a:rPr sz="1800"/>
            </a:br>
            <a:r>
              <a:rPr lang="en-US" sz="1800" b="0" u="none" strike="noStrike">
                <a:solidFill>
                  <a:srgbClr val="3a4968"/>
                </a:solidFill>
                <a:effectLst/>
                <a:uFillTx/>
                <a:latin typeface="Arial"/>
              </a:rPr>
              <a:t>ATORES e TIME</a:t>
            </a:r>
            <a:endParaRPr lang="en-US" sz="1800" b="0" u="none" strike="noStrike">
              <a:solidFill>
                <a:srgbClr val="3a4968"/>
              </a:solidFill>
              <a:effectLst/>
              <a:uFillTx/>
              <a:latin typeface="Arial"/>
            </a:endParaRPr>
          </a:p>
        </p:txBody>
      </p:sp>
      <p:sp>
        <p:nvSpPr>
          <p:cNvPr id="218" name=""/>
          <p:cNvSpPr/>
          <p:nvPr/>
        </p:nvSpPr>
        <p:spPr>
          <a:xfrm flipH="1" flipV="1" rot="15060000">
            <a:off x="8285400" y="447372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219" name=""/>
          <p:cNvSpPr/>
          <p:nvPr/>
        </p:nvSpPr>
        <p:spPr>
          <a:xfrm>
            <a:off x="223920" y="3448440"/>
            <a:ext cx="5647680" cy="34329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220" name=""/>
          <p:cNvSpPr txBox="1"/>
          <p:nvPr/>
        </p:nvSpPr>
        <p:spPr>
          <a:xfrm>
            <a:off x="156600" y="304380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sp>
        <p:nvSpPr>
          <p:cNvPr id="221" name=""/>
          <p:cNvSpPr txBox="1"/>
          <p:nvPr/>
        </p:nvSpPr>
        <p:spPr>
          <a:xfrm>
            <a:off x="608760" y="3760920"/>
            <a:ext cx="4805640" cy="290268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E aí tinha um vídeo de uma menina falando. Não, porque a amarração na frente (…) elas ficavam trancadas na torre. Então elas mesmas têm que fechar o vestido. (…) Gente, que loucura! Eu só desenhei porque eu achei bonito. E a menina criou todo o imaginário sobre a amarração do vestido, sabe?</a:t>
            </a:r>
            <a:endParaRPr lang="en-US" sz="2200" b="0" u="none" strike="noStrike">
              <a:solidFill>
                <a:srgbClr val="000000"/>
              </a:solidFill>
              <a:effectLst/>
              <a:uFillTx/>
              <a:latin typeface="Arial"/>
            </a:endParaRPr>
          </a:p>
        </p:txBody>
      </p:sp>
      <p:sp>
        <p:nvSpPr>
          <p:cNvPr id="222" name=""/>
          <p:cNvSpPr/>
          <p:nvPr/>
        </p:nvSpPr>
        <p:spPr>
          <a:xfrm>
            <a:off x="5029200" y="6400800"/>
            <a:ext cx="2514600" cy="914400"/>
          </a:xfrm>
          <a:prstGeom prst="roundRect">
            <a:avLst>
              <a:gd name="adj" fmla="val 16667"/>
            </a:avLst>
          </a:prstGeom>
          <a:solidFill>
            <a:srgbClr val="dd6a1e">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PÚBLICO</a:t>
            </a:r>
            <a:endParaRPr lang="en-US" sz="1800" b="0" u="none" strike="noStrike">
              <a:solidFill>
                <a:srgbClr val="3a4968"/>
              </a:solidFill>
              <a:effectLst/>
              <a:uFillTx/>
              <a:latin typeface="Arial"/>
            </a:endParaRPr>
          </a:p>
        </p:txBody>
      </p:sp>
      <p:sp>
        <p:nvSpPr>
          <p:cNvPr id="223" name=""/>
          <p:cNvSpPr/>
          <p:nvPr/>
        </p:nvSpPr>
        <p:spPr>
          <a:xfrm flipH="1" flipV="1" rot="19500000">
            <a:off x="7081920" y="598392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pic>
        <p:nvPicPr>
          <p:cNvPr id="224" name=""/>
          <p:cNvPicPr/>
          <p:nvPr/>
        </p:nvPicPr>
        <p:blipFill>
          <a:blip r:embed="rId1"/>
          <a:stretch/>
        </p:blipFill>
        <p:spPr>
          <a:xfrm>
            <a:off x="7773120" y="1143720"/>
            <a:ext cx="1828440" cy="182844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26"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227" name=""/>
          <p:cNvSpPr txBox="1"/>
          <p:nvPr/>
        </p:nvSpPr>
        <p:spPr>
          <a:xfrm>
            <a:off x="457200" y="742680"/>
            <a:ext cx="418248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O QUE FAZ (NO TEATRO)?</a:t>
            </a:r>
            <a:endParaRPr lang="en-US" sz="2000" b="0" u="none" strike="noStrike">
              <a:solidFill>
                <a:srgbClr val="000000"/>
              </a:solidFill>
              <a:effectLst/>
              <a:uFillTx/>
              <a:latin typeface="Arial"/>
            </a:endParaRPr>
          </a:p>
        </p:txBody>
      </p:sp>
      <p:sp>
        <p:nvSpPr>
          <p:cNvPr id="228"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29"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30" name=""/>
          <p:cNvSpPr/>
          <p:nvPr/>
        </p:nvSpPr>
        <p:spPr>
          <a:xfrm>
            <a:off x="1371600" y="27432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DECUPAGEM</a:t>
            </a:r>
            <a:endParaRPr lang="en-US" sz="1800" b="0" u="none" strike="noStrike">
              <a:solidFill>
                <a:srgbClr val="3a4968"/>
              </a:solidFill>
              <a:effectLst/>
              <a:uFillTx/>
              <a:latin typeface="Arial"/>
            </a:endParaRPr>
          </a:p>
        </p:txBody>
      </p:sp>
      <p:sp>
        <p:nvSpPr>
          <p:cNvPr id="231" name=""/>
          <p:cNvSpPr/>
          <p:nvPr/>
        </p:nvSpPr>
        <p:spPr>
          <a:xfrm>
            <a:off x="3429000" y="13716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CONCEITUAÇÃO</a:t>
            </a:r>
            <a:endParaRPr lang="en-US" sz="1800" b="0" u="none" strike="noStrike">
              <a:solidFill>
                <a:srgbClr val="3a4968"/>
              </a:solidFill>
              <a:effectLst/>
              <a:uFillTx/>
              <a:latin typeface="Arial"/>
            </a:endParaRPr>
          </a:p>
        </p:txBody>
      </p:sp>
      <p:sp>
        <p:nvSpPr>
          <p:cNvPr id="232" name=""/>
          <p:cNvSpPr/>
          <p:nvPr/>
        </p:nvSpPr>
        <p:spPr>
          <a:xfrm flipH="1" flipV="1" rot="10020000">
            <a:off x="3258720" y="213660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233" name=""/>
          <p:cNvSpPr/>
          <p:nvPr/>
        </p:nvSpPr>
        <p:spPr>
          <a:xfrm>
            <a:off x="7315200" y="29718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DESENHO PRODUÇÃO</a:t>
            </a:r>
            <a:endParaRPr lang="en-US" sz="1800" b="0" u="none" strike="noStrike">
              <a:solidFill>
                <a:srgbClr val="3a4968"/>
              </a:solidFill>
              <a:effectLst/>
              <a:uFillTx/>
              <a:latin typeface="Arial"/>
            </a:endParaRPr>
          </a:p>
        </p:txBody>
      </p:sp>
      <p:sp>
        <p:nvSpPr>
          <p:cNvPr id="234" name=""/>
          <p:cNvSpPr/>
          <p:nvPr/>
        </p:nvSpPr>
        <p:spPr>
          <a:xfrm>
            <a:off x="5943600" y="44280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TESTES</a:t>
            </a:r>
            <a:br>
              <a:rPr sz="1800"/>
            </a:br>
            <a:r>
              <a:rPr lang="en-US" sz="1800" b="0" u="none" strike="noStrike">
                <a:solidFill>
                  <a:srgbClr val="3a4968"/>
                </a:solidFill>
                <a:effectLst/>
                <a:uFillTx/>
                <a:latin typeface="Arial"/>
              </a:rPr>
              <a:t>ATORES e TIME</a:t>
            </a:r>
            <a:endParaRPr lang="en-US" sz="1800" b="0" u="none" strike="noStrike">
              <a:solidFill>
                <a:srgbClr val="3a4968"/>
              </a:solidFill>
              <a:effectLst/>
              <a:uFillTx/>
              <a:latin typeface="Arial"/>
            </a:endParaRPr>
          </a:p>
        </p:txBody>
      </p:sp>
      <p:sp>
        <p:nvSpPr>
          <p:cNvPr id="235" name=""/>
          <p:cNvSpPr/>
          <p:nvPr/>
        </p:nvSpPr>
        <p:spPr>
          <a:xfrm flipH="1" flipV="1" rot="19800000">
            <a:off x="7898040" y="393804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236" name=""/>
          <p:cNvSpPr/>
          <p:nvPr/>
        </p:nvSpPr>
        <p:spPr>
          <a:xfrm>
            <a:off x="2971800" y="5029200"/>
            <a:ext cx="25146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ESTRÉIA</a:t>
            </a:r>
            <a:br>
              <a:rPr sz="1800"/>
            </a:br>
            <a:r>
              <a:rPr lang="en-US" sz="1800" b="0" u="none" strike="noStrike">
                <a:solidFill>
                  <a:srgbClr val="3a4968"/>
                </a:solidFill>
                <a:effectLst/>
                <a:uFillTx/>
                <a:latin typeface="Arial"/>
              </a:rPr>
              <a:t>REFINAR</a:t>
            </a:r>
            <a:endParaRPr lang="en-US" sz="1800" b="0" u="none" strike="noStrike">
              <a:solidFill>
                <a:srgbClr val="3a4968"/>
              </a:solidFill>
              <a:effectLst/>
              <a:uFillTx/>
              <a:latin typeface="Arial"/>
            </a:endParaRPr>
          </a:p>
        </p:txBody>
      </p:sp>
      <p:sp>
        <p:nvSpPr>
          <p:cNvPr id="237" name=""/>
          <p:cNvSpPr/>
          <p:nvPr/>
        </p:nvSpPr>
        <p:spPr>
          <a:xfrm flipH="1" flipV="1" rot="660000">
            <a:off x="5325480" y="493200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pic>
        <p:nvPicPr>
          <p:cNvPr id="238" name=""/>
          <p:cNvPicPr/>
          <p:nvPr/>
        </p:nvPicPr>
        <p:blipFill>
          <a:blip r:embed="rId1"/>
          <a:stretch/>
        </p:blipFill>
        <p:spPr>
          <a:xfrm flipH="1">
            <a:off x="7759440" y="1130760"/>
            <a:ext cx="1828440" cy="1828440"/>
          </a:xfrm>
          <a:prstGeom prst="rect">
            <a:avLst/>
          </a:prstGeom>
          <a:noFill/>
          <a:ln w="0">
            <a:noFill/>
          </a:ln>
        </p:spPr>
      </p:pic>
      <p:sp>
        <p:nvSpPr>
          <p:cNvPr id="239" name=""/>
          <p:cNvSpPr/>
          <p:nvPr/>
        </p:nvSpPr>
        <p:spPr>
          <a:xfrm>
            <a:off x="228600" y="1371600"/>
            <a:ext cx="2514600" cy="914400"/>
          </a:xfrm>
          <a:prstGeom prst="roundRect">
            <a:avLst>
              <a:gd name="adj" fmla="val 16667"/>
            </a:avLst>
          </a:prstGeom>
          <a:solidFill>
            <a:srgbClr val="dd6a1e">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PROPOSTA</a:t>
            </a:r>
            <a:br>
              <a:rPr sz="1800"/>
            </a:br>
            <a:r>
              <a:rPr lang="en-US" sz="1800" b="0" u="none" strike="noStrike">
                <a:solidFill>
                  <a:srgbClr val="3a4968"/>
                </a:solidFill>
                <a:effectLst/>
                <a:uFillTx/>
                <a:latin typeface="Arial"/>
              </a:rPr>
              <a:t>PRODUÇÃO</a:t>
            </a:r>
            <a:endParaRPr lang="en-US" sz="1800" b="0" u="none" strike="noStrike">
              <a:solidFill>
                <a:srgbClr val="3a4968"/>
              </a:solidFill>
              <a:effectLst/>
              <a:uFillTx/>
              <a:latin typeface="Arial"/>
            </a:endParaRPr>
          </a:p>
        </p:txBody>
      </p:sp>
      <p:sp>
        <p:nvSpPr>
          <p:cNvPr id="240" name=""/>
          <p:cNvSpPr/>
          <p:nvPr/>
        </p:nvSpPr>
        <p:spPr>
          <a:xfrm flipH="1" flipV="1" rot="16140000">
            <a:off x="1528920" y="221544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241" name=""/>
          <p:cNvSpPr/>
          <p:nvPr/>
        </p:nvSpPr>
        <p:spPr>
          <a:xfrm>
            <a:off x="4343400" y="2743200"/>
            <a:ext cx="2514600" cy="914400"/>
          </a:xfrm>
          <a:prstGeom prst="roundRect">
            <a:avLst>
              <a:gd name="adj" fmla="val 16667"/>
            </a:avLst>
          </a:prstGeom>
          <a:solidFill>
            <a:srgbClr val="dd6a1e">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PRÉ-PRODUÇÃO</a:t>
            </a:r>
            <a:br>
              <a:rPr sz="1800"/>
            </a:br>
            <a:r>
              <a:rPr lang="en-US" sz="1800" b="0" u="none" strike="noStrike">
                <a:solidFill>
                  <a:srgbClr val="3a4968"/>
                </a:solidFill>
                <a:effectLst/>
                <a:uFillTx/>
                <a:latin typeface="Arial"/>
              </a:rPr>
              <a:t>APROVAÇÃO</a:t>
            </a:r>
            <a:endParaRPr lang="en-US" sz="1800" b="0" u="none" strike="noStrike">
              <a:solidFill>
                <a:srgbClr val="3a4968"/>
              </a:solidFill>
              <a:effectLst/>
              <a:uFillTx/>
              <a:latin typeface="Arial"/>
            </a:endParaRPr>
          </a:p>
        </p:txBody>
      </p:sp>
      <p:sp>
        <p:nvSpPr>
          <p:cNvPr id="242" name=""/>
          <p:cNvSpPr/>
          <p:nvPr/>
        </p:nvSpPr>
        <p:spPr>
          <a:xfrm flipH="1" flipV="1" rot="17340000">
            <a:off x="4187160" y="218772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243" name=""/>
          <p:cNvSpPr/>
          <p:nvPr/>
        </p:nvSpPr>
        <p:spPr>
          <a:xfrm flipH="1" flipV="1" rot="14340000">
            <a:off x="6737400" y="300852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244" name=""/>
          <p:cNvSpPr/>
          <p:nvPr/>
        </p:nvSpPr>
        <p:spPr>
          <a:xfrm>
            <a:off x="228600" y="3886200"/>
            <a:ext cx="2514600" cy="914400"/>
          </a:xfrm>
          <a:prstGeom prst="roundRect">
            <a:avLst>
              <a:gd name="adj" fmla="val 16667"/>
            </a:avLst>
          </a:prstGeom>
          <a:solidFill>
            <a:srgbClr val="dd6a1e">
              <a:alpha val="50000"/>
            </a:srgbClr>
          </a:solidFill>
          <a:ln w="0">
            <a:noFill/>
          </a:ln>
        </p:spPr>
        <p:style>
          <a:lnRef idx="0"/>
          <a:fillRef idx="0"/>
          <a:effectRef idx="0"/>
          <a:fontRef idx="minor"/>
        </p:style>
        <p:txBody>
          <a:bodyPr lIns="90000" rIns="90000" tIns="45000" bIns="45000" anchor="ctr">
            <a:noAutofit/>
          </a:bodyPr>
          <a:p>
            <a:pPr algn="ctr"/>
            <a:r>
              <a:rPr lang="en-US" sz="1800" b="0" u="none" strike="noStrike">
                <a:solidFill>
                  <a:srgbClr val="3a4968"/>
                </a:solidFill>
                <a:effectLst/>
                <a:uFillTx/>
                <a:latin typeface="Arial"/>
              </a:rPr>
              <a:t>PRESTAÇÃO DE CONTAS</a:t>
            </a:r>
            <a:endParaRPr lang="en-US" sz="1800" b="0" u="none" strike="noStrike">
              <a:solidFill>
                <a:srgbClr val="3a4968"/>
              </a:solidFill>
              <a:effectLst/>
              <a:uFillTx/>
              <a:latin typeface="Arial"/>
            </a:endParaRPr>
          </a:p>
        </p:txBody>
      </p:sp>
      <p:sp>
        <p:nvSpPr>
          <p:cNvPr id="245" name=""/>
          <p:cNvSpPr/>
          <p:nvPr/>
        </p:nvSpPr>
        <p:spPr>
          <a:xfrm flipH="1" flipV="1" rot="4260000">
            <a:off x="2342160" y="4473720"/>
            <a:ext cx="785160" cy="713880"/>
          </a:xfrm>
          <a:custGeom>
            <a:avLst/>
            <a:gdLst/>
            <a:ahLst/>
            <a:rect l="l" t="t" r="r" b="b"/>
            <a:pathLst>
              <a:path w="142" h="147">
                <a:moveTo>
                  <a:pt x="98" y="21"/>
                </a:moveTo>
                <a:cubicBezTo>
                  <a:pt x="64" y="21"/>
                  <a:pt x="36" y="50"/>
                  <a:pt x="36" y="84"/>
                </a:cubicBezTo>
                <a:cubicBezTo>
                  <a:pt x="36" y="102"/>
                  <a:pt x="22" y="116"/>
                  <a:pt x="4" y="116"/>
                </a:cubicBezTo>
                <a:cubicBezTo>
                  <a:pt x="0" y="116"/>
                  <a:pt x="0" y="116"/>
                  <a:pt x="0" y="116"/>
                </a:cubicBezTo>
                <a:cubicBezTo>
                  <a:pt x="0" y="147"/>
                  <a:pt x="0" y="147"/>
                  <a:pt x="0" y="147"/>
                </a:cubicBezTo>
                <a:cubicBezTo>
                  <a:pt x="4" y="147"/>
                  <a:pt x="4" y="147"/>
                  <a:pt x="4" y="147"/>
                </a:cubicBezTo>
                <a:cubicBezTo>
                  <a:pt x="39" y="147"/>
                  <a:pt x="67" y="119"/>
                  <a:pt x="67" y="84"/>
                </a:cubicBezTo>
                <a:cubicBezTo>
                  <a:pt x="67" y="67"/>
                  <a:pt x="81" y="53"/>
                  <a:pt x="98" y="53"/>
                </a:cubicBezTo>
                <a:cubicBezTo>
                  <a:pt x="103" y="53"/>
                  <a:pt x="103" y="53"/>
                  <a:pt x="103" y="53"/>
                </a:cubicBezTo>
                <a:cubicBezTo>
                  <a:pt x="103" y="73"/>
                  <a:pt x="103" y="73"/>
                  <a:pt x="103" y="73"/>
                </a:cubicBezTo>
                <a:cubicBezTo>
                  <a:pt x="142" y="37"/>
                  <a:pt x="142" y="37"/>
                  <a:pt x="142" y="37"/>
                </a:cubicBezTo>
                <a:cubicBezTo>
                  <a:pt x="103" y="0"/>
                  <a:pt x="103" y="0"/>
                  <a:pt x="103" y="0"/>
                </a:cubicBezTo>
                <a:cubicBezTo>
                  <a:pt x="103" y="21"/>
                  <a:pt x="103" y="21"/>
                  <a:pt x="103" y="21"/>
                </a:cubicBezTo>
                <a:lnTo>
                  <a:pt x="98" y="21"/>
                </a:lnTo>
                <a:close/>
              </a:path>
            </a:pathLst>
          </a:custGeom>
          <a:solidFill>
            <a:srgbClr val="2a6099"/>
          </a:solidFill>
          <a:ln w="0">
            <a:solidFill>
              <a:srgbClr val="3a4968"/>
            </a:solid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sp>
        <p:nvSpPr>
          <p:cNvPr id="246" name=""/>
          <p:cNvSpPr/>
          <p:nvPr/>
        </p:nvSpPr>
        <p:spPr>
          <a:xfrm>
            <a:off x="478080" y="6161400"/>
            <a:ext cx="3636720" cy="11235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247" name=""/>
          <p:cNvSpPr txBox="1"/>
          <p:nvPr/>
        </p:nvSpPr>
        <p:spPr>
          <a:xfrm>
            <a:off x="338760" y="575676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sp>
        <p:nvSpPr>
          <p:cNvPr id="248" name=""/>
          <p:cNvSpPr txBox="1"/>
          <p:nvPr/>
        </p:nvSpPr>
        <p:spPr>
          <a:xfrm>
            <a:off x="685800" y="6515280"/>
            <a:ext cx="3709080" cy="71532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Então, muitas planilhas...</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50"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251" name=""/>
          <p:cNvSpPr txBox="1"/>
          <p:nvPr/>
        </p:nvSpPr>
        <p:spPr>
          <a:xfrm>
            <a:off x="457200" y="742680"/>
            <a:ext cx="416376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O QUE FAZ (NO CINEMA)?</a:t>
            </a:r>
            <a:endParaRPr lang="en-US" sz="2000" b="0" u="none" strike="noStrike">
              <a:solidFill>
                <a:srgbClr val="000000"/>
              </a:solidFill>
              <a:effectLst/>
              <a:uFillTx/>
              <a:latin typeface="Arial"/>
            </a:endParaRPr>
          </a:p>
        </p:txBody>
      </p:sp>
      <p:sp>
        <p:nvSpPr>
          <p:cNvPr id="252"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53"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pic>
        <p:nvPicPr>
          <p:cNvPr id="254" name=""/>
          <p:cNvPicPr/>
          <p:nvPr/>
        </p:nvPicPr>
        <p:blipFill>
          <a:blip r:embed="rId1"/>
          <a:stretch/>
        </p:blipFill>
        <p:spPr>
          <a:xfrm flipH="1">
            <a:off x="7759440" y="1130760"/>
            <a:ext cx="1828440" cy="1828440"/>
          </a:xfrm>
          <a:prstGeom prst="rect">
            <a:avLst/>
          </a:prstGeom>
          <a:noFill/>
          <a:ln w="0">
            <a:noFill/>
          </a:ln>
        </p:spPr>
      </p:pic>
      <p:sp>
        <p:nvSpPr>
          <p:cNvPr id="255" name=""/>
          <p:cNvSpPr/>
          <p:nvPr/>
        </p:nvSpPr>
        <p:spPr>
          <a:xfrm>
            <a:off x="595800" y="1619640"/>
            <a:ext cx="7345800" cy="29523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256" name=""/>
          <p:cNvSpPr txBox="1"/>
          <p:nvPr/>
        </p:nvSpPr>
        <p:spPr>
          <a:xfrm>
            <a:off x="456480" y="121500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sp>
        <p:nvSpPr>
          <p:cNvPr id="257" name=""/>
          <p:cNvSpPr txBox="1"/>
          <p:nvPr/>
        </p:nvSpPr>
        <p:spPr>
          <a:xfrm>
            <a:off x="803520" y="1973520"/>
            <a:ext cx="6909480" cy="236988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 no cinema, em si, essas equipes são bem mais</a:t>
            </a:r>
            <a:endParaRPr lang="en-US" sz="2200" b="0" u="none" strike="noStrike">
              <a:solidFill>
                <a:srgbClr val="000000"/>
              </a:solidFill>
              <a:effectLst/>
              <a:uFillTx/>
              <a:latin typeface="Arial"/>
            </a:endParaRPr>
          </a:p>
          <a:p>
            <a:pPr algn="ctr">
              <a:lnSpc>
                <a:spcPct val="100000"/>
              </a:lnSpc>
            </a:pPr>
            <a:r>
              <a:rPr lang="en-US" sz="2200" b="0" u="none" strike="noStrike">
                <a:solidFill>
                  <a:srgbClr val="3a4968"/>
                </a:solidFill>
                <a:effectLst/>
                <a:uFillTx/>
                <a:latin typeface="Arial"/>
              </a:rPr>
              <a:t>segmentadas (...). Por exemplo, o primeiro assistente de figurino tem uma função. O segundo assistente de figurino tem outra função (…) Tem muito mais hierarquia, mas também tem muito mais divisão que às vezes não é nem tanto de quem responde a quem, mas do que especificamente, cada um faz.</a:t>
            </a:r>
            <a:endParaRPr lang="en-US" sz="2200" b="0" u="none" strike="noStrike">
              <a:solidFill>
                <a:srgbClr val="000000"/>
              </a:solidFill>
              <a:effectLst/>
              <a:uFillTx/>
              <a:latin typeface="Arial"/>
            </a:endParaRPr>
          </a:p>
        </p:txBody>
      </p:sp>
      <p:sp>
        <p:nvSpPr>
          <p:cNvPr id="258" name=""/>
          <p:cNvSpPr txBox="1"/>
          <p:nvPr/>
        </p:nvSpPr>
        <p:spPr>
          <a:xfrm>
            <a:off x="-5338080" y="7086600"/>
            <a:ext cx="180720" cy="602280"/>
          </a:xfrm>
          <a:prstGeom prst="rect">
            <a:avLst/>
          </a:prstGeom>
          <a:noFill/>
          <a:ln w="0">
            <a:noFill/>
          </a:ln>
        </p:spPr>
        <p:txBody>
          <a:bodyPr wrap="none" lIns="90000" rIns="90000" tIns="45000" bIns="45000" anchor="t">
            <a:spAutoFit/>
          </a:bodyPr>
          <a:p>
            <a:endParaRPr lang="en-US" sz="1800" b="0" u="none" strike="noStrike">
              <a:solidFill>
                <a:srgbClr val="000000"/>
              </a:solidFill>
              <a:effectLst/>
              <a:uFillTx/>
              <a:latin typeface="Arial"/>
            </a:endParaRPr>
          </a:p>
          <a:p>
            <a:endParaRPr lang="en-US" sz="1800" b="0" u="none" strike="noStrike">
              <a:solidFill>
                <a:srgbClr val="000000"/>
              </a:solidFill>
              <a:effectLst/>
              <a:uFillTx/>
              <a:latin typeface="Arial"/>
            </a:endParaRPr>
          </a:p>
        </p:txBody>
      </p:sp>
      <p:sp>
        <p:nvSpPr>
          <p:cNvPr id="259" name=""/>
          <p:cNvSpPr/>
          <p:nvPr/>
        </p:nvSpPr>
        <p:spPr>
          <a:xfrm>
            <a:off x="2484000" y="4783680"/>
            <a:ext cx="7345800" cy="230292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260" name=""/>
          <p:cNvSpPr txBox="1"/>
          <p:nvPr/>
        </p:nvSpPr>
        <p:spPr>
          <a:xfrm>
            <a:off x="2344680" y="437904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sp>
        <p:nvSpPr>
          <p:cNvPr id="261" name=""/>
          <p:cNvSpPr txBox="1"/>
          <p:nvPr/>
        </p:nvSpPr>
        <p:spPr>
          <a:xfrm>
            <a:off x="2691720" y="5137560"/>
            <a:ext cx="6909480" cy="172044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Até estranhei, porque quando eu fazia produção de revista… a produção de revista é uma profissão muito ingrata (…) eu fazia de cenário, casting, contratar o cabeleireiro, chamar o motorista e fazer a produção</a:t>
            </a:r>
            <a:endParaRPr lang="en-US" sz="2200" b="0" u="none" strike="noStrike">
              <a:solidFill>
                <a:srgbClr val="000000"/>
              </a:solidFill>
              <a:effectLst/>
              <a:uFillTx/>
              <a:latin typeface="Arial"/>
            </a:endParaRPr>
          </a:p>
          <a:p>
            <a:pPr algn="ctr">
              <a:lnSpc>
                <a:spcPct val="100000"/>
              </a:lnSpc>
            </a:pPr>
            <a:r>
              <a:rPr lang="en-US" sz="2200" b="0" u="none" strike="noStrike">
                <a:solidFill>
                  <a:srgbClr val="3a4968"/>
                </a:solidFill>
                <a:effectLst/>
                <a:uFillTx/>
                <a:latin typeface="Arial"/>
              </a:rPr>
              <a:t>e depois montar todo o set. Então era insano.</a:t>
            </a:r>
            <a:endParaRPr lang="en-US" sz="2200" b="0" u="none" strike="noStrike">
              <a:solidFill>
                <a:srgbClr val="000000"/>
              </a:solidFill>
              <a:effectLst/>
              <a:uFillTx/>
              <a:latin typeface="Arial"/>
            </a:endParaRPr>
          </a:p>
        </p:txBody>
      </p:sp>
      <p:pic>
        <p:nvPicPr>
          <p:cNvPr id="262" name=""/>
          <p:cNvPicPr/>
          <p:nvPr/>
        </p:nvPicPr>
        <p:blipFill>
          <a:blip r:embed="rId2"/>
          <a:stretch/>
        </p:blipFill>
        <p:spPr>
          <a:xfrm flipH="1">
            <a:off x="862920" y="5486400"/>
            <a:ext cx="1828440" cy="182844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64"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265"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66" name=""/>
          <p:cNvSpPr txBox="1"/>
          <p:nvPr/>
        </p:nvSpPr>
        <p:spPr>
          <a:xfrm>
            <a:off x="457200" y="74304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JORNADA</a:t>
            </a:r>
            <a:endParaRPr lang="en-US" sz="2000" b="0" u="none" strike="noStrike">
              <a:solidFill>
                <a:srgbClr val="000000"/>
              </a:solidFill>
              <a:effectLst/>
              <a:uFillTx/>
              <a:latin typeface="Arial"/>
            </a:endParaRPr>
          </a:p>
        </p:txBody>
      </p:sp>
      <p:sp>
        <p:nvSpPr>
          <p:cNvPr id="267" name=""/>
          <p:cNvSpPr/>
          <p:nvPr/>
        </p:nvSpPr>
        <p:spPr>
          <a:xfrm>
            <a:off x="295920" y="1367640"/>
            <a:ext cx="9305280" cy="25185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268"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69" name=""/>
          <p:cNvSpPr txBox="1"/>
          <p:nvPr/>
        </p:nvSpPr>
        <p:spPr>
          <a:xfrm>
            <a:off x="228600" y="4019400"/>
            <a:ext cx="6858000" cy="480600"/>
          </a:xfrm>
          <a:prstGeom prst="rect">
            <a:avLst/>
          </a:prstGeom>
          <a:noFill/>
          <a:ln w="0">
            <a:noFill/>
          </a:ln>
        </p:spPr>
        <p:txBody>
          <a:bodyPr lIns="90000" rIns="90000" tIns="45000" bIns="45000" anchor="t">
            <a:spAutoFit/>
          </a:bodyPr>
          <a:p>
            <a:r>
              <a:rPr lang="en-US" sz="1800" b="0" i="1" u="none" strike="noStrike">
                <a:solidFill>
                  <a:srgbClr val="3a4968"/>
                </a:solidFill>
                <a:effectLst/>
                <a:uFillTx/>
                <a:latin typeface="Arial"/>
              </a:rPr>
              <a:t>Ricardo Antunes em entrevista a equipe da EPSJV/Fiocruz</a:t>
            </a:r>
            <a:endParaRPr lang="en-US" sz="1800" b="0" i="1" u="none" strike="noStrike">
              <a:solidFill>
                <a:srgbClr val="3a4968"/>
              </a:solidFill>
              <a:effectLst/>
              <a:uFillTx/>
              <a:latin typeface="Arial"/>
            </a:endParaRPr>
          </a:p>
        </p:txBody>
      </p:sp>
      <p:sp>
        <p:nvSpPr>
          <p:cNvPr id="270" name=""/>
          <p:cNvSpPr txBox="1"/>
          <p:nvPr/>
        </p:nvSpPr>
        <p:spPr>
          <a:xfrm>
            <a:off x="537120" y="1644120"/>
            <a:ext cx="8987040" cy="1965240"/>
          </a:xfrm>
          <a:prstGeom prst="rect">
            <a:avLst/>
          </a:prstGeom>
          <a:noFill/>
          <a:ln w="0">
            <a:noFill/>
          </a:ln>
        </p:spPr>
        <p:txBody>
          <a:bodyPr lIns="90000" rIns="90000" tIns="45000" bIns="45000" anchor="t">
            <a:spAutoFit/>
          </a:bodyPr>
          <a:p>
            <a:pPr>
              <a:lnSpc>
                <a:spcPct val="100000"/>
              </a:lnSpc>
              <a:spcBef>
                <a:spcPts val="1191"/>
              </a:spcBef>
              <a:spcAft>
                <a:spcPts val="992"/>
              </a:spcAft>
            </a:pPr>
            <a:r>
              <a:rPr lang="en-US" sz="2200" b="0" u="none" strike="noStrike">
                <a:solidFill>
                  <a:srgbClr val="3a4968"/>
                </a:solidFill>
                <a:effectLst/>
                <a:uFillTx/>
                <a:latin typeface="Arial"/>
              </a:rPr>
              <a:t>A jornada de trabalho atualmente é um tema de gravidade relevante (...) do trabalho intermitente, o trabalho em plataforma, o trabalho uberizado ou o trabalho no setor de serviços. Nestes setores, que reforço, são os que mais se expandem, </a:t>
            </a:r>
            <a:r>
              <a:rPr lang="en-US" sz="2200" b="1" u="none" strike="noStrike">
                <a:solidFill>
                  <a:srgbClr val="dd6a1e"/>
                </a:solidFill>
                <a:effectLst/>
                <a:uFillTx/>
                <a:latin typeface="Arial"/>
              </a:rPr>
              <a:t>a jornada é ilimitada</a:t>
            </a:r>
            <a:r>
              <a:rPr lang="en-US" sz="2200" b="0" u="none" strike="noStrike">
                <a:solidFill>
                  <a:srgbClr val="3a4968"/>
                </a:solidFill>
                <a:effectLst/>
                <a:uFillTx/>
                <a:latin typeface="Arial"/>
              </a:rPr>
              <a:t>.</a:t>
            </a:r>
            <a:br>
              <a:rPr sz="2200"/>
            </a:br>
            <a:r>
              <a:rPr lang="en-US" sz="2200" b="0" u="none" strike="noStrike">
                <a:solidFill>
                  <a:srgbClr val="3a4968"/>
                </a:solidFill>
                <a:effectLst/>
                <a:uFillTx/>
                <a:latin typeface="Arial"/>
              </a:rPr>
              <a:t>(...) Se eu não tenho trabalho nenhum e o que me oferecem é uma jornada ilimitada, eu aceito, porque não tenho trabalho nenhum.</a:t>
            </a:r>
            <a:endParaRPr lang="en-US" sz="2200" b="0" u="none" strike="noStrike">
              <a:solidFill>
                <a:srgbClr val="3a4968"/>
              </a:solidFill>
              <a:effectLst/>
              <a:uFillTx/>
              <a:latin typeface="Arial"/>
            </a:endParaRPr>
          </a:p>
        </p:txBody>
      </p:sp>
      <p:sp>
        <p:nvSpPr>
          <p:cNvPr id="271" name=""/>
          <p:cNvSpPr/>
          <p:nvPr/>
        </p:nvSpPr>
        <p:spPr>
          <a:xfrm>
            <a:off x="2971800" y="5029200"/>
            <a:ext cx="5257800" cy="20613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272" name=""/>
          <p:cNvSpPr txBox="1"/>
          <p:nvPr/>
        </p:nvSpPr>
        <p:spPr>
          <a:xfrm>
            <a:off x="3128400" y="5249160"/>
            <a:ext cx="4888080" cy="184140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Aí. Você está sem trabalho e você aceita uma bomba dessas.</a:t>
            </a:r>
            <a:endParaRPr lang="en-US" sz="2200" b="0" u="none" strike="noStrike">
              <a:solidFill>
                <a:srgbClr val="000000"/>
              </a:solidFill>
              <a:effectLst/>
              <a:uFillTx/>
              <a:latin typeface="Arial"/>
            </a:endParaRPr>
          </a:p>
          <a:p>
            <a:pPr algn="ctr">
              <a:lnSpc>
                <a:spcPct val="100000"/>
              </a:lnSpc>
            </a:pPr>
            <a:r>
              <a:rPr lang="en-US" sz="2200" b="0" u="none" strike="noStrike">
                <a:solidFill>
                  <a:srgbClr val="3a4968"/>
                </a:solidFill>
                <a:effectLst/>
                <a:uFillTx/>
                <a:latin typeface="Arial"/>
              </a:rPr>
              <a:t>(…) Não tem uma carga horária definida, essa semana (um dia fiquei) </a:t>
            </a:r>
            <a:r>
              <a:rPr lang="en-US" sz="2200" b="1" u="none" strike="noStrike">
                <a:solidFill>
                  <a:srgbClr val="dd6a1e"/>
                </a:solidFill>
                <a:effectLst/>
                <a:uFillTx/>
                <a:latin typeface="Arial"/>
              </a:rPr>
              <a:t>14 horas</a:t>
            </a:r>
            <a:r>
              <a:rPr lang="en-US" sz="2200" b="0" u="none" strike="noStrike">
                <a:solidFill>
                  <a:srgbClr val="3a4968"/>
                </a:solidFill>
                <a:effectLst/>
                <a:uFillTx/>
                <a:latin typeface="Arial"/>
              </a:rPr>
              <a:t> no teatro, já.</a:t>
            </a:r>
            <a:endParaRPr lang="en-US" sz="2200" b="0" u="none" strike="noStrike">
              <a:solidFill>
                <a:srgbClr val="000000"/>
              </a:solidFill>
              <a:effectLst/>
              <a:uFillTx/>
              <a:latin typeface="Arial"/>
            </a:endParaRPr>
          </a:p>
        </p:txBody>
      </p:sp>
      <p:sp>
        <p:nvSpPr>
          <p:cNvPr id="273" name=""/>
          <p:cNvSpPr txBox="1"/>
          <p:nvPr/>
        </p:nvSpPr>
        <p:spPr>
          <a:xfrm>
            <a:off x="2743200" y="457596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pic>
        <p:nvPicPr>
          <p:cNvPr id="274" name=""/>
          <p:cNvPicPr/>
          <p:nvPr/>
        </p:nvPicPr>
        <p:blipFill>
          <a:blip r:embed="rId1"/>
          <a:stretch/>
        </p:blipFill>
        <p:spPr>
          <a:xfrm>
            <a:off x="8001360" y="4114800"/>
            <a:ext cx="1828440" cy="182844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76"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277" name=""/>
          <p:cNvSpPr txBox="1"/>
          <p:nvPr/>
        </p:nvSpPr>
        <p:spPr>
          <a:xfrm>
            <a:off x="457200" y="74268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JORNADA</a:t>
            </a:r>
            <a:endParaRPr lang="en-US" sz="2000" b="0" u="none" strike="noStrike">
              <a:solidFill>
                <a:srgbClr val="000000"/>
              </a:solidFill>
              <a:effectLst/>
              <a:uFillTx/>
              <a:latin typeface="Arial"/>
            </a:endParaRPr>
          </a:p>
        </p:txBody>
      </p:sp>
      <p:sp>
        <p:nvSpPr>
          <p:cNvPr id="278"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79"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80"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81"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82"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83" name=""/>
          <p:cNvSpPr/>
          <p:nvPr/>
        </p:nvSpPr>
        <p:spPr>
          <a:xfrm>
            <a:off x="2286000" y="1139040"/>
            <a:ext cx="5257800" cy="27471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284" name=""/>
          <p:cNvSpPr txBox="1"/>
          <p:nvPr/>
        </p:nvSpPr>
        <p:spPr>
          <a:xfrm>
            <a:off x="2514600" y="1371600"/>
            <a:ext cx="4888080" cy="227772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A gente fez essa produção (de um dia pro outro). Aí eu fiquei em casa, tomei banho. Eu fiquei das nove da noite até as seis da manhã separando os looks porque eram cinco dias de filmagem e cada um era específico.</a:t>
            </a:r>
            <a:endParaRPr lang="en-US" sz="2200" b="0" u="none" strike="noStrike">
              <a:solidFill>
                <a:srgbClr val="000000"/>
              </a:solidFill>
              <a:effectLst/>
              <a:uFillTx/>
              <a:latin typeface="Arial"/>
            </a:endParaRPr>
          </a:p>
        </p:txBody>
      </p:sp>
      <p:sp>
        <p:nvSpPr>
          <p:cNvPr id="285" name=""/>
          <p:cNvSpPr/>
          <p:nvPr/>
        </p:nvSpPr>
        <p:spPr>
          <a:xfrm>
            <a:off x="457200" y="4114800"/>
            <a:ext cx="5257800" cy="29718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286" name=""/>
          <p:cNvSpPr txBox="1"/>
          <p:nvPr/>
        </p:nvSpPr>
        <p:spPr>
          <a:xfrm>
            <a:off x="598320" y="4347360"/>
            <a:ext cx="4888080" cy="259020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É complicado. Eu durmo pouco. Eu durmo quatro horas por dia. Então se eu dormir meia noite das quatro da manhã pra mim, tá ok, mas eu sei que as pessoas em geral, não. Então não posso fazer a minha régua por mim. (...) você pode esquecer coisa. </a:t>
            </a:r>
            <a:r>
              <a:rPr lang="en-US" sz="2200" b="1" u="none" strike="noStrike">
                <a:solidFill>
                  <a:srgbClr val="dd6a1e"/>
                </a:solidFill>
                <a:effectLst/>
                <a:uFillTx/>
                <a:latin typeface="Arial"/>
              </a:rPr>
              <a:t>Você não tem a mesma atenção.</a:t>
            </a:r>
            <a:endParaRPr lang="en-US" sz="2200" b="0" u="none" strike="noStrike">
              <a:solidFill>
                <a:srgbClr val="000000"/>
              </a:solidFill>
              <a:effectLst/>
              <a:uFillTx/>
              <a:latin typeface="Arial"/>
            </a:endParaRPr>
          </a:p>
        </p:txBody>
      </p:sp>
      <p:pic>
        <p:nvPicPr>
          <p:cNvPr id="287" name=""/>
          <p:cNvPicPr/>
          <p:nvPr/>
        </p:nvPicPr>
        <p:blipFill>
          <a:blip r:embed="rId1"/>
          <a:stretch/>
        </p:blipFill>
        <p:spPr>
          <a:xfrm>
            <a:off x="7773120" y="1131120"/>
            <a:ext cx="1828440" cy="1828440"/>
          </a:xfrm>
          <a:prstGeom prst="rect">
            <a:avLst/>
          </a:prstGeom>
          <a:noFill/>
          <a:ln w="0">
            <a:noFill/>
          </a:ln>
        </p:spPr>
      </p:pic>
      <p:sp>
        <p:nvSpPr>
          <p:cNvPr id="288" name=""/>
          <p:cNvSpPr txBox="1"/>
          <p:nvPr/>
        </p:nvSpPr>
        <p:spPr>
          <a:xfrm>
            <a:off x="1990440" y="74268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sp>
        <p:nvSpPr>
          <p:cNvPr id="289" name=""/>
          <p:cNvSpPr txBox="1"/>
          <p:nvPr/>
        </p:nvSpPr>
        <p:spPr>
          <a:xfrm>
            <a:off x="228600" y="366156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91"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292" name=""/>
          <p:cNvSpPr txBox="1"/>
          <p:nvPr/>
        </p:nvSpPr>
        <p:spPr>
          <a:xfrm>
            <a:off x="457200" y="74268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JORNADA</a:t>
            </a:r>
            <a:endParaRPr lang="en-US" sz="2000" b="0" u="none" strike="noStrike">
              <a:solidFill>
                <a:srgbClr val="000000"/>
              </a:solidFill>
              <a:effectLst/>
              <a:uFillTx/>
              <a:latin typeface="Arial"/>
            </a:endParaRPr>
          </a:p>
        </p:txBody>
      </p:sp>
      <p:sp>
        <p:nvSpPr>
          <p:cNvPr id="293"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94"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95"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96"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97"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298" name=""/>
          <p:cNvSpPr/>
          <p:nvPr/>
        </p:nvSpPr>
        <p:spPr>
          <a:xfrm>
            <a:off x="457200" y="1367640"/>
            <a:ext cx="6858000" cy="22899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299" name=""/>
          <p:cNvSpPr txBox="1"/>
          <p:nvPr/>
        </p:nvSpPr>
        <p:spPr>
          <a:xfrm>
            <a:off x="457200" y="1600200"/>
            <a:ext cx="6716880" cy="205740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O audiovisual como um todo tem carga horária definida (...) inclusive existe um cálculo de hora extra, que é já senso comum. Não tem uma lei que nos lei que nos defenda (…) mas tem uma organização bem, já, senso comum (…) mas, agora </a:t>
            </a:r>
            <a:r>
              <a:rPr lang="en-US" sz="2200" b="1" u="none" strike="noStrike">
                <a:solidFill>
                  <a:srgbClr val="dd6a1e"/>
                </a:solidFill>
                <a:effectLst/>
                <a:uFillTx/>
                <a:latin typeface="Arial"/>
              </a:rPr>
              <a:t>no teatro, eu nunca vi</a:t>
            </a:r>
            <a:r>
              <a:rPr lang="en-US" sz="2200" b="0" u="none" strike="noStrike">
                <a:solidFill>
                  <a:srgbClr val="3a4968"/>
                </a:solidFill>
                <a:effectLst/>
                <a:uFillTx/>
                <a:latin typeface="Arial"/>
              </a:rPr>
              <a:t>.</a:t>
            </a:r>
            <a:endParaRPr lang="en-US" sz="2200" b="0" u="none" strike="noStrike">
              <a:solidFill>
                <a:srgbClr val="000000"/>
              </a:solidFill>
              <a:effectLst/>
              <a:uFillTx/>
              <a:latin typeface="Arial"/>
            </a:endParaRPr>
          </a:p>
        </p:txBody>
      </p:sp>
      <p:sp>
        <p:nvSpPr>
          <p:cNvPr id="300" name=""/>
          <p:cNvSpPr/>
          <p:nvPr/>
        </p:nvSpPr>
        <p:spPr>
          <a:xfrm>
            <a:off x="457200" y="4572000"/>
            <a:ext cx="8458200" cy="205344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01" name=""/>
          <p:cNvSpPr txBox="1"/>
          <p:nvPr/>
        </p:nvSpPr>
        <p:spPr>
          <a:xfrm>
            <a:off x="914400" y="4800600"/>
            <a:ext cx="7859880" cy="182484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Olha, eu acho que tem gente que sabe lidar melhor, mas eu sou péssima nisso. (…) Eu basicamente só faço isso da minha vida. Os meus momentos de descanso existem. Mas eles são, tipo, quando eu de fato </a:t>
            </a:r>
            <a:r>
              <a:rPr lang="en-US" sz="2200" b="1" u="none" strike="noStrike">
                <a:solidFill>
                  <a:srgbClr val="dd6a1e"/>
                </a:solidFill>
                <a:effectLst/>
                <a:uFillTx/>
                <a:latin typeface="Arial"/>
              </a:rPr>
              <a:t>não aguento e desligo</a:t>
            </a:r>
            <a:r>
              <a:rPr lang="en-US" sz="2200" b="0" u="none" strike="noStrike">
                <a:solidFill>
                  <a:srgbClr val="3a4968"/>
                </a:solidFill>
                <a:effectLst/>
                <a:uFillTx/>
                <a:latin typeface="Arial"/>
              </a:rPr>
              <a:t>. (…) quando o corpo implora, eu acho.</a:t>
            </a:r>
            <a:endParaRPr lang="en-US" sz="2200" b="0" u="none" strike="noStrike">
              <a:solidFill>
                <a:srgbClr val="3a4968"/>
              </a:solidFill>
              <a:effectLst/>
              <a:uFillTx/>
              <a:latin typeface="Arial"/>
            </a:endParaRPr>
          </a:p>
        </p:txBody>
      </p:sp>
      <p:sp>
        <p:nvSpPr>
          <p:cNvPr id="302" name=""/>
          <p:cNvSpPr txBox="1"/>
          <p:nvPr/>
        </p:nvSpPr>
        <p:spPr>
          <a:xfrm>
            <a:off x="228600" y="91836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pic>
        <p:nvPicPr>
          <p:cNvPr id="303" name=""/>
          <p:cNvPicPr/>
          <p:nvPr/>
        </p:nvPicPr>
        <p:blipFill>
          <a:blip r:embed="rId1"/>
          <a:stretch/>
        </p:blipFill>
        <p:spPr>
          <a:xfrm flipH="1">
            <a:off x="7760160" y="1131480"/>
            <a:ext cx="1828440" cy="1828440"/>
          </a:xfrm>
          <a:prstGeom prst="rect">
            <a:avLst/>
          </a:prstGeom>
          <a:noFill/>
          <a:ln w="0">
            <a:noFill/>
          </a:ln>
        </p:spPr>
      </p:pic>
      <p:sp>
        <p:nvSpPr>
          <p:cNvPr id="304" name=""/>
          <p:cNvSpPr txBox="1"/>
          <p:nvPr/>
        </p:nvSpPr>
        <p:spPr>
          <a:xfrm>
            <a:off x="8001000" y="4118760"/>
            <a:ext cx="110808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 ”</a:t>
            </a:r>
            <a:endParaRPr lang="en-US" sz="9000" b="1"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06"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307" name=""/>
          <p:cNvSpPr txBox="1"/>
          <p:nvPr/>
        </p:nvSpPr>
        <p:spPr>
          <a:xfrm>
            <a:off x="457200" y="742680"/>
            <a:ext cx="806652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FINANCIAMENTO DE TEATRO E CINEMA NO BRASIL</a:t>
            </a:r>
            <a:endParaRPr lang="en-US" sz="2000" b="0" u="none" strike="noStrike">
              <a:solidFill>
                <a:srgbClr val="000000"/>
              </a:solidFill>
              <a:effectLst/>
              <a:uFillTx/>
              <a:latin typeface="Arial"/>
            </a:endParaRPr>
          </a:p>
        </p:txBody>
      </p:sp>
      <p:sp>
        <p:nvSpPr>
          <p:cNvPr id="308"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09"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10" name=""/>
          <p:cNvSpPr/>
          <p:nvPr/>
        </p:nvSpPr>
        <p:spPr>
          <a:xfrm>
            <a:off x="228600" y="1371600"/>
            <a:ext cx="9439560" cy="183924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11" name=""/>
          <p:cNvSpPr txBox="1"/>
          <p:nvPr/>
        </p:nvSpPr>
        <p:spPr>
          <a:xfrm>
            <a:off x="493200" y="1690920"/>
            <a:ext cx="8987040" cy="1062720"/>
          </a:xfrm>
          <a:prstGeom prst="rect">
            <a:avLst/>
          </a:prstGeom>
          <a:noFill/>
          <a:ln w="0">
            <a:noFill/>
          </a:ln>
        </p:spPr>
        <p:txBody>
          <a:bodyPr lIns="90000" rIns="90000" tIns="45000" bIns="45000" anchor="t">
            <a:spAutoFit/>
          </a:bodyPr>
          <a:p>
            <a:pPr>
              <a:lnSpc>
                <a:spcPct val="100000"/>
              </a:lnSpc>
              <a:spcBef>
                <a:spcPts val="1191"/>
              </a:spcBef>
              <a:spcAft>
                <a:spcPts val="992"/>
              </a:spcAft>
            </a:pPr>
            <a:r>
              <a:rPr lang="en-US" sz="2200" b="0" u="none" strike="noStrike">
                <a:solidFill>
                  <a:srgbClr val="3a4968"/>
                </a:solidFill>
                <a:effectLst/>
                <a:uFillTx/>
                <a:latin typeface="Arial"/>
              </a:rPr>
              <a:t>Leis de incentivo, principalmente a </a:t>
            </a:r>
            <a:r>
              <a:rPr lang="en-US" sz="2200" b="1" u="none" strike="noStrike">
                <a:solidFill>
                  <a:srgbClr val="dd6a1e"/>
                </a:solidFill>
                <a:effectLst/>
                <a:uFillTx/>
                <a:latin typeface="Arial"/>
              </a:rPr>
              <a:t>Lei Rouanet</a:t>
            </a:r>
            <a:r>
              <a:rPr lang="en-US" sz="2200" b="0" u="none" strike="noStrike">
                <a:solidFill>
                  <a:srgbClr val="3a4968"/>
                </a:solidFill>
                <a:effectLst/>
                <a:uFillTx/>
                <a:latin typeface="Arial"/>
              </a:rPr>
              <a:t>, estabelece um mecanismo de financiamento cultural por meio de renúncia fiscal, permitindo que projetos captem recursos para sua realização. </a:t>
            </a:r>
            <a:endParaRPr lang="en-US" sz="2200" b="0" u="none" strike="noStrike">
              <a:solidFill>
                <a:srgbClr val="3a4968"/>
              </a:solidFill>
              <a:effectLst/>
              <a:uFillTx/>
              <a:latin typeface="Arial"/>
            </a:endParaRPr>
          </a:p>
        </p:txBody>
      </p:sp>
      <p:pic>
        <p:nvPicPr>
          <p:cNvPr id="312" name=""/>
          <p:cNvPicPr/>
          <p:nvPr/>
        </p:nvPicPr>
        <p:blipFill>
          <a:blip r:embed="rId1"/>
          <a:stretch/>
        </p:blipFill>
        <p:spPr>
          <a:xfrm flipH="1">
            <a:off x="7772760" y="3429000"/>
            <a:ext cx="1828440" cy="1828440"/>
          </a:xfrm>
          <a:prstGeom prst="rect">
            <a:avLst/>
          </a:prstGeom>
          <a:noFill/>
          <a:ln w="0">
            <a:noFill/>
          </a:ln>
        </p:spPr>
      </p:pic>
      <p:sp>
        <p:nvSpPr>
          <p:cNvPr id="313" name=""/>
          <p:cNvSpPr/>
          <p:nvPr/>
        </p:nvSpPr>
        <p:spPr>
          <a:xfrm>
            <a:off x="457200" y="3767760"/>
            <a:ext cx="7543800" cy="309024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14" name=""/>
          <p:cNvSpPr txBox="1"/>
          <p:nvPr/>
        </p:nvSpPr>
        <p:spPr>
          <a:xfrm>
            <a:off x="649800" y="3858120"/>
            <a:ext cx="7086600" cy="290268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Só que a gente estava naquela fase do governo Bolsonaro em que a lei Rouanet ficou congelada porque estava para mudar o teto (…) Meio que os patrocinadores foram desistindo. (…) eles não sabiam se eles iam ter a dedução do imposto ou não. (…) imagina que eles dessem esse dinheiro (…) aí depois não recebessem ali a isenção devida e tal. Então, meio que nisso, a turnê foi cancelada. Eu me vi em São Paulo sem ninguém me conhecer e sem trabalho.</a:t>
            </a:r>
            <a:endParaRPr lang="en-US" sz="2200" b="0" u="none" strike="noStrike">
              <a:solidFill>
                <a:srgbClr val="000000"/>
              </a:solidFill>
              <a:effectLst/>
              <a:uFillTx/>
              <a:latin typeface="Arial"/>
            </a:endParaRPr>
          </a:p>
        </p:txBody>
      </p:sp>
      <p:sp>
        <p:nvSpPr>
          <p:cNvPr id="315" name=""/>
          <p:cNvSpPr txBox="1"/>
          <p:nvPr/>
        </p:nvSpPr>
        <p:spPr>
          <a:xfrm>
            <a:off x="318240" y="337752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17"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318" name=""/>
          <p:cNvSpPr txBox="1"/>
          <p:nvPr/>
        </p:nvSpPr>
        <p:spPr>
          <a:xfrm>
            <a:off x="457200" y="74268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REMUNERAÇÃO</a:t>
            </a:r>
            <a:endParaRPr lang="en-US" sz="2000" b="0" u="none" strike="noStrike">
              <a:solidFill>
                <a:srgbClr val="000000"/>
              </a:solidFill>
              <a:effectLst/>
              <a:uFillTx/>
              <a:latin typeface="Arial"/>
            </a:endParaRPr>
          </a:p>
        </p:txBody>
      </p:sp>
      <p:sp>
        <p:nvSpPr>
          <p:cNvPr id="319"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20"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pic>
        <p:nvPicPr>
          <p:cNvPr id="321" name=""/>
          <p:cNvPicPr/>
          <p:nvPr/>
        </p:nvPicPr>
        <p:blipFill>
          <a:blip r:embed="rId1"/>
          <a:stretch/>
        </p:blipFill>
        <p:spPr>
          <a:xfrm>
            <a:off x="7772040" y="5029560"/>
            <a:ext cx="1828440" cy="1828440"/>
          </a:xfrm>
          <a:prstGeom prst="rect">
            <a:avLst/>
          </a:prstGeom>
          <a:noFill/>
          <a:ln w="0">
            <a:noFill/>
          </a:ln>
        </p:spPr>
      </p:pic>
      <p:sp>
        <p:nvSpPr>
          <p:cNvPr id="322" name=""/>
          <p:cNvSpPr/>
          <p:nvPr/>
        </p:nvSpPr>
        <p:spPr>
          <a:xfrm>
            <a:off x="3953160" y="5482800"/>
            <a:ext cx="4093920" cy="15699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23" name=""/>
          <p:cNvSpPr txBox="1"/>
          <p:nvPr/>
        </p:nvSpPr>
        <p:spPr>
          <a:xfrm>
            <a:off x="4196880" y="5766120"/>
            <a:ext cx="3709080" cy="134028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Já fiquei sabendo que teve gente que pagou cachê em três vezes em três meses.</a:t>
            </a:r>
            <a:endParaRPr lang="en-US" sz="2200" b="0" u="none" strike="noStrike">
              <a:solidFill>
                <a:srgbClr val="000000"/>
              </a:solidFill>
              <a:effectLst/>
              <a:uFillTx/>
              <a:latin typeface="Arial"/>
            </a:endParaRPr>
          </a:p>
          <a:p>
            <a:pPr algn="ctr">
              <a:lnSpc>
                <a:spcPct val="100000"/>
              </a:lnSpc>
            </a:pPr>
            <a:endParaRPr lang="en-US" sz="2200" b="0" u="none" strike="noStrike">
              <a:solidFill>
                <a:srgbClr val="000000"/>
              </a:solidFill>
              <a:effectLst/>
              <a:uFillTx/>
              <a:latin typeface="Arial"/>
            </a:endParaRPr>
          </a:p>
        </p:txBody>
      </p:sp>
      <p:sp>
        <p:nvSpPr>
          <p:cNvPr id="324" name=""/>
          <p:cNvSpPr txBox="1"/>
          <p:nvPr/>
        </p:nvSpPr>
        <p:spPr>
          <a:xfrm>
            <a:off x="3657600" y="502956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pic>
        <p:nvPicPr>
          <p:cNvPr id="325" name=""/>
          <p:cNvPicPr/>
          <p:nvPr/>
        </p:nvPicPr>
        <p:blipFill>
          <a:blip r:embed="rId2"/>
          <a:stretch/>
        </p:blipFill>
        <p:spPr>
          <a:xfrm flipH="1">
            <a:off x="7759800" y="1131120"/>
            <a:ext cx="1828440" cy="1828440"/>
          </a:xfrm>
          <a:prstGeom prst="rect">
            <a:avLst/>
          </a:prstGeom>
          <a:noFill/>
          <a:ln w="0">
            <a:noFill/>
          </a:ln>
        </p:spPr>
      </p:pic>
      <p:sp>
        <p:nvSpPr>
          <p:cNvPr id="326" name=""/>
          <p:cNvSpPr/>
          <p:nvPr/>
        </p:nvSpPr>
        <p:spPr>
          <a:xfrm>
            <a:off x="529200" y="1990440"/>
            <a:ext cx="7543800" cy="29415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27" name=""/>
          <p:cNvSpPr txBox="1"/>
          <p:nvPr/>
        </p:nvSpPr>
        <p:spPr>
          <a:xfrm>
            <a:off x="721800" y="2080800"/>
            <a:ext cx="7086600" cy="259020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 o jeito mais certinho, digamos assim, mais esperado é que a gente tenha, quando a gente recebe uma proposta, uma proposta de cachê e uma proposta de verba. (...) Precisa fazer tudo aquilo caber nessa verba. (…) às vezes vem um grande pacote em que, se você economizar, você ganha mais. Se você gastar mais, você ganha menos. Mas não é o ideal, e eu evito pegar.</a:t>
            </a:r>
            <a:endParaRPr lang="en-US" sz="2200" b="0" u="none" strike="noStrike">
              <a:solidFill>
                <a:srgbClr val="000000"/>
              </a:solidFill>
              <a:effectLst/>
              <a:uFillTx/>
              <a:latin typeface="Arial"/>
            </a:endParaRPr>
          </a:p>
        </p:txBody>
      </p:sp>
      <p:sp>
        <p:nvSpPr>
          <p:cNvPr id="328" name=""/>
          <p:cNvSpPr txBox="1"/>
          <p:nvPr/>
        </p:nvSpPr>
        <p:spPr>
          <a:xfrm>
            <a:off x="390240" y="160020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30"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331" name=""/>
          <p:cNvSpPr txBox="1"/>
          <p:nvPr/>
        </p:nvSpPr>
        <p:spPr>
          <a:xfrm>
            <a:off x="457200" y="74268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REMUNERAÇÃO</a:t>
            </a:r>
            <a:endParaRPr lang="en-US" sz="2000" b="0" u="none" strike="noStrike">
              <a:solidFill>
                <a:srgbClr val="000000"/>
              </a:solidFill>
              <a:effectLst/>
              <a:uFillTx/>
              <a:latin typeface="Arial"/>
            </a:endParaRPr>
          </a:p>
        </p:txBody>
      </p:sp>
      <p:sp>
        <p:nvSpPr>
          <p:cNvPr id="332"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33"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34"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35"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36"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pic>
        <p:nvPicPr>
          <p:cNvPr id="337" name=""/>
          <p:cNvPicPr/>
          <p:nvPr/>
        </p:nvPicPr>
        <p:blipFill>
          <a:blip r:embed="rId1"/>
          <a:stretch/>
        </p:blipFill>
        <p:spPr>
          <a:xfrm flipH="1">
            <a:off x="7759440" y="1130760"/>
            <a:ext cx="1828440" cy="1828440"/>
          </a:xfrm>
          <a:prstGeom prst="rect">
            <a:avLst/>
          </a:prstGeom>
          <a:noFill/>
          <a:ln w="0">
            <a:noFill/>
          </a:ln>
        </p:spPr>
      </p:pic>
      <p:sp>
        <p:nvSpPr>
          <p:cNvPr id="338" name=""/>
          <p:cNvSpPr/>
          <p:nvPr/>
        </p:nvSpPr>
        <p:spPr>
          <a:xfrm>
            <a:off x="630000" y="1632240"/>
            <a:ext cx="7345800" cy="27237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39" name=""/>
          <p:cNvSpPr txBox="1"/>
          <p:nvPr/>
        </p:nvSpPr>
        <p:spPr>
          <a:xfrm>
            <a:off x="490680" y="122760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sp>
        <p:nvSpPr>
          <p:cNvPr id="340" name=""/>
          <p:cNvSpPr txBox="1"/>
          <p:nvPr/>
        </p:nvSpPr>
        <p:spPr>
          <a:xfrm>
            <a:off x="837720" y="1986120"/>
            <a:ext cx="6909480" cy="214128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Quem está muito inserido no mercado está sempre emendando um no outro. E aí tudo bem. Eu no geral preciso ter o plano B. E aí, como eu ainda sou cabeleireira, né? Eu acabo complementando assim, ou pegando outras coisas também, porque eu não faço só figurino.</a:t>
            </a:r>
            <a:endParaRPr lang="en-US" sz="2200" b="0" u="none" strike="noStrike">
              <a:solidFill>
                <a:srgbClr val="000000"/>
              </a:solidFill>
              <a:effectLst/>
              <a:uFillTx/>
              <a:latin typeface="Arial"/>
            </a:endParaRPr>
          </a:p>
        </p:txBody>
      </p:sp>
      <p:sp>
        <p:nvSpPr>
          <p:cNvPr id="341" name=""/>
          <p:cNvSpPr/>
          <p:nvPr/>
        </p:nvSpPr>
        <p:spPr>
          <a:xfrm>
            <a:off x="2298600" y="4633200"/>
            <a:ext cx="7345800" cy="18288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42" name=""/>
          <p:cNvSpPr txBox="1"/>
          <p:nvPr/>
        </p:nvSpPr>
        <p:spPr>
          <a:xfrm>
            <a:off x="2506320" y="4987080"/>
            <a:ext cx="6909480" cy="134028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Nem sempre você vai receber logo de cara o que você fizer. E dependendo do tipo da sua empresa, você vai pagar o imposto antes de você receber o dinheiro.</a:t>
            </a:r>
            <a:endParaRPr lang="en-US" sz="2200" b="0" u="none" strike="noStrike">
              <a:solidFill>
                <a:srgbClr val="000000"/>
              </a:solidFill>
              <a:effectLst/>
              <a:uFillTx/>
              <a:latin typeface="Arial"/>
            </a:endParaRPr>
          </a:p>
        </p:txBody>
      </p:sp>
      <p:sp>
        <p:nvSpPr>
          <p:cNvPr id="343" name=""/>
          <p:cNvSpPr txBox="1"/>
          <p:nvPr/>
        </p:nvSpPr>
        <p:spPr>
          <a:xfrm>
            <a:off x="8735400" y="4215960"/>
            <a:ext cx="110808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 ”</a:t>
            </a:r>
            <a:endParaRPr lang="en-US" sz="9000" b="1"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45"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346" name=""/>
          <p:cNvSpPr txBox="1"/>
          <p:nvPr/>
        </p:nvSpPr>
        <p:spPr>
          <a:xfrm>
            <a:off x="457200" y="74268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PRECARIZAÇÃO</a:t>
            </a:r>
            <a:endParaRPr lang="en-US" sz="2000" b="0" u="none" strike="noStrike">
              <a:solidFill>
                <a:srgbClr val="000000"/>
              </a:solidFill>
              <a:effectLst/>
              <a:uFillTx/>
              <a:latin typeface="Arial"/>
            </a:endParaRPr>
          </a:p>
        </p:txBody>
      </p:sp>
      <p:sp>
        <p:nvSpPr>
          <p:cNvPr id="347"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48"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49"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50"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51"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52" name=""/>
          <p:cNvSpPr/>
          <p:nvPr/>
        </p:nvSpPr>
        <p:spPr>
          <a:xfrm>
            <a:off x="2743200" y="1596240"/>
            <a:ext cx="5257800" cy="29757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53" name=""/>
          <p:cNvSpPr txBox="1"/>
          <p:nvPr/>
        </p:nvSpPr>
        <p:spPr>
          <a:xfrm>
            <a:off x="2971800" y="1972800"/>
            <a:ext cx="4888080" cy="259920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Normalmente não tem contrato, né? (...) se o dinheiro está caindo a conta, a gente continua trabalhando. (…) E aí ele foi cancelado. E eu só agradeci por ter recebido uma parcela. Pelo menos (…) Mas foi difícil porque ninguém do elenco recebeu. </a:t>
            </a:r>
            <a:endParaRPr lang="en-US" sz="2200" b="0" u="none" strike="noStrike">
              <a:solidFill>
                <a:srgbClr val="000000"/>
              </a:solidFill>
              <a:effectLst/>
              <a:uFillTx/>
              <a:latin typeface="Arial"/>
            </a:endParaRPr>
          </a:p>
        </p:txBody>
      </p:sp>
      <p:sp>
        <p:nvSpPr>
          <p:cNvPr id="354" name=""/>
          <p:cNvSpPr txBox="1"/>
          <p:nvPr/>
        </p:nvSpPr>
        <p:spPr>
          <a:xfrm>
            <a:off x="2676240" y="114696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pic>
        <p:nvPicPr>
          <p:cNvPr id="355" name=""/>
          <p:cNvPicPr/>
          <p:nvPr/>
        </p:nvPicPr>
        <p:blipFill>
          <a:blip r:embed="rId1"/>
          <a:stretch/>
        </p:blipFill>
        <p:spPr>
          <a:xfrm>
            <a:off x="7773480" y="1144080"/>
            <a:ext cx="1828440" cy="1828440"/>
          </a:xfrm>
          <a:prstGeom prst="rect">
            <a:avLst/>
          </a:prstGeom>
          <a:noFill/>
          <a:ln w="0">
            <a:noFill/>
          </a:ln>
        </p:spPr>
      </p:pic>
      <p:pic>
        <p:nvPicPr>
          <p:cNvPr id="356" name=""/>
          <p:cNvPicPr/>
          <p:nvPr/>
        </p:nvPicPr>
        <p:blipFill>
          <a:blip r:embed="rId2"/>
          <a:stretch/>
        </p:blipFill>
        <p:spPr>
          <a:xfrm>
            <a:off x="308520" y="3429360"/>
            <a:ext cx="1828440" cy="1828440"/>
          </a:xfrm>
          <a:prstGeom prst="rect">
            <a:avLst/>
          </a:prstGeom>
          <a:noFill/>
          <a:ln w="0">
            <a:noFill/>
          </a:ln>
        </p:spPr>
      </p:pic>
      <p:sp>
        <p:nvSpPr>
          <p:cNvPr id="357" name=""/>
          <p:cNvSpPr/>
          <p:nvPr/>
        </p:nvSpPr>
        <p:spPr>
          <a:xfrm>
            <a:off x="1548720" y="4919760"/>
            <a:ext cx="4114440" cy="182844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58" name=""/>
          <p:cNvSpPr txBox="1"/>
          <p:nvPr/>
        </p:nvSpPr>
        <p:spPr>
          <a:xfrm>
            <a:off x="1792440" y="5203080"/>
            <a:ext cx="3709080" cy="134028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No cinema (...) sua ajuda de custo de alimentação, ela é bem baixa (…) mas pelo menos ela existe.</a:t>
            </a:r>
            <a:endParaRPr lang="en-US" sz="2200" b="0" u="none" strike="noStrike">
              <a:solidFill>
                <a:srgbClr val="000000"/>
              </a:solidFill>
              <a:effectLst/>
              <a:uFillTx/>
              <a:latin typeface="Arial"/>
            </a:endParaRPr>
          </a:p>
        </p:txBody>
      </p:sp>
      <p:sp>
        <p:nvSpPr>
          <p:cNvPr id="359" name=""/>
          <p:cNvSpPr/>
          <p:nvPr/>
        </p:nvSpPr>
        <p:spPr>
          <a:xfrm>
            <a:off x="5715360" y="5947560"/>
            <a:ext cx="2286000" cy="9144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60" name=""/>
          <p:cNvSpPr txBox="1"/>
          <p:nvPr/>
        </p:nvSpPr>
        <p:spPr>
          <a:xfrm>
            <a:off x="5715360" y="6146640"/>
            <a:ext cx="2286000" cy="48672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 25 reais, tá?</a:t>
            </a:r>
            <a:endParaRPr lang="en-US" sz="2200" b="0" u="none" strike="noStrike">
              <a:solidFill>
                <a:srgbClr val="000000"/>
              </a:solidFill>
              <a:effectLst/>
              <a:uFillTx/>
              <a:latin typeface="Arial"/>
            </a:endParaRPr>
          </a:p>
        </p:txBody>
      </p:sp>
      <p:pic>
        <p:nvPicPr>
          <p:cNvPr id="361" name=""/>
          <p:cNvPicPr/>
          <p:nvPr/>
        </p:nvPicPr>
        <p:blipFill>
          <a:blip r:embed="rId3"/>
          <a:stretch/>
        </p:blipFill>
        <p:spPr>
          <a:xfrm>
            <a:off x="7482960" y="4635360"/>
            <a:ext cx="1828440" cy="1828440"/>
          </a:xfrm>
          <a:prstGeom prst="rect">
            <a:avLst/>
          </a:prstGeom>
          <a:noFill/>
          <a:ln w="0">
            <a:noFill/>
          </a:ln>
        </p:spPr>
      </p:pic>
      <p:sp>
        <p:nvSpPr>
          <p:cNvPr id="362" name=""/>
          <p:cNvSpPr txBox="1"/>
          <p:nvPr/>
        </p:nvSpPr>
        <p:spPr>
          <a:xfrm>
            <a:off x="7193880" y="6404760"/>
            <a:ext cx="110808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 ”</a:t>
            </a:r>
            <a:endParaRPr lang="en-US" sz="9000" b="1" u="none" strike="noStrike">
              <a:solidFill>
                <a:srgbClr val="000000"/>
              </a:solidFill>
              <a:effectLst/>
              <a:uFillTx/>
              <a:latin typeface="Arial"/>
            </a:endParaRPr>
          </a:p>
        </p:txBody>
      </p:sp>
      <p:sp>
        <p:nvSpPr>
          <p:cNvPr id="363" name=""/>
          <p:cNvSpPr txBox="1"/>
          <p:nvPr/>
        </p:nvSpPr>
        <p:spPr>
          <a:xfrm>
            <a:off x="4835520" y="4500000"/>
            <a:ext cx="110808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 ”</a:t>
            </a:r>
            <a:endParaRPr lang="en-US" sz="9000" b="1"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65"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366" name=""/>
          <p:cNvSpPr txBox="1"/>
          <p:nvPr/>
        </p:nvSpPr>
        <p:spPr>
          <a:xfrm>
            <a:off x="457200" y="74268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SAÚDE</a:t>
            </a:r>
            <a:endParaRPr lang="en-US" sz="2000" b="0" u="none" strike="noStrike">
              <a:solidFill>
                <a:srgbClr val="000000"/>
              </a:solidFill>
              <a:effectLst/>
              <a:uFillTx/>
              <a:latin typeface="Arial"/>
            </a:endParaRPr>
          </a:p>
        </p:txBody>
      </p:sp>
      <p:sp>
        <p:nvSpPr>
          <p:cNvPr id="367"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68"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69"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70"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71"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72" name=""/>
          <p:cNvSpPr/>
          <p:nvPr/>
        </p:nvSpPr>
        <p:spPr>
          <a:xfrm>
            <a:off x="634320" y="1652400"/>
            <a:ext cx="6680880" cy="26910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73" name=""/>
          <p:cNvSpPr txBox="1"/>
          <p:nvPr/>
        </p:nvSpPr>
        <p:spPr>
          <a:xfrm>
            <a:off x="878040" y="1935720"/>
            <a:ext cx="6437160" cy="217908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 não é uma mala. Eu levo sete (...) Às vezes dez capas! (..)Tem às vezes que é um caminhão de roupa. (...) sempre, sempre, presta atenção! Sempre vai ter uma escada para o figurino! Você tem uma locação... Eles arranjam lugar que você tem que subir uma </a:t>
            </a:r>
            <a:r>
              <a:rPr lang="en-US" sz="2200" b="1" u="none" strike="noStrike">
                <a:solidFill>
                  <a:srgbClr val="dd6a1e"/>
                </a:solidFill>
                <a:effectLst/>
                <a:uFillTx/>
                <a:latin typeface="Arial"/>
              </a:rPr>
              <a:t>escada</a:t>
            </a:r>
            <a:r>
              <a:rPr lang="en-US" sz="2200" b="0" u="none" strike="noStrike">
                <a:solidFill>
                  <a:srgbClr val="3a4968"/>
                </a:solidFill>
                <a:effectLst/>
                <a:uFillTx/>
                <a:latin typeface="Arial"/>
              </a:rPr>
              <a:t>.</a:t>
            </a:r>
            <a:endParaRPr lang="en-US" sz="2200" b="0" u="none" strike="noStrike">
              <a:solidFill>
                <a:srgbClr val="000000"/>
              </a:solidFill>
              <a:effectLst/>
              <a:uFillTx/>
              <a:latin typeface="Arial"/>
            </a:endParaRPr>
          </a:p>
        </p:txBody>
      </p:sp>
      <p:pic>
        <p:nvPicPr>
          <p:cNvPr id="374" name=""/>
          <p:cNvPicPr/>
          <p:nvPr/>
        </p:nvPicPr>
        <p:blipFill>
          <a:blip r:embed="rId1"/>
          <a:stretch/>
        </p:blipFill>
        <p:spPr>
          <a:xfrm>
            <a:off x="7773480" y="1131480"/>
            <a:ext cx="1828440" cy="1828440"/>
          </a:xfrm>
          <a:prstGeom prst="rect">
            <a:avLst/>
          </a:prstGeom>
          <a:noFill/>
          <a:ln w="0">
            <a:noFill/>
          </a:ln>
        </p:spPr>
      </p:pic>
      <p:sp>
        <p:nvSpPr>
          <p:cNvPr id="375" name=""/>
          <p:cNvSpPr/>
          <p:nvPr/>
        </p:nvSpPr>
        <p:spPr>
          <a:xfrm>
            <a:off x="3148920" y="4572000"/>
            <a:ext cx="6680880" cy="26910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76" name=""/>
          <p:cNvSpPr txBox="1"/>
          <p:nvPr/>
        </p:nvSpPr>
        <p:spPr>
          <a:xfrm>
            <a:off x="3306600" y="4897800"/>
            <a:ext cx="6437160" cy="200268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Quando a gente chega, as pessoas ajudam a gente, né? (...) Mas na vida, na hora de a gente carregar o carro, às vezes é eu, o assistente e o motorista para carregar (…) um caminhão. Literalmente, um caminhão. Quebrou o elevador!O acervo dele era no décimo andar.</a:t>
            </a:r>
            <a:endParaRPr lang="en-US" sz="2200" b="0" u="none" strike="noStrike">
              <a:solidFill>
                <a:srgbClr val="000000"/>
              </a:solidFill>
              <a:effectLst/>
              <a:uFillTx/>
              <a:latin typeface="Arial"/>
            </a:endParaRPr>
          </a:p>
        </p:txBody>
      </p:sp>
      <p:sp>
        <p:nvSpPr>
          <p:cNvPr id="377" name=""/>
          <p:cNvSpPr txBox="1"/>
          <p:nvPr/>
        </p:nvSpPr>
        <p:spPr>
          <a:xfrm>
            <a:off x="457200" y="114696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sp>
        <p:nvSpPr>
          <p:cNvPr id="378" name=""/>
          <p:cNvSpPr txBox="1"/>
          <p:nvPr/>
        </p:nvSpPr>
        <p:spPr>
          <a:xfrm>
            <a:off x="2904840" y="411876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80"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381"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82" name=""/>
          <p:cNvSpPr txBox="1"/>
          <p:nvPr/>
        </p:nvSpPr>
        <p:spPr>
          <a:xfrm>
            <a:off x="457200" y="74304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SAÚDE</a:t>
            </a:r>
            <a:endParaRPr lang="en-US" sz="2000" b="0" u="none" strike="noStrike">
              <a:solidFill>
                <a:srgbClr val="000000"/>
              </a:solidFill>
              <a:effectLst/>
              <a:uFillTx/>
              <a:latin typeface="Arial"/>
            </a:endParaRPr>
          </a:p>
        </p:txBody>
      </p:sp>
      <p:sp>
        <p:nvSpPr>
          <p:cNvPr id="383"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84" name=""/>
          <p:cNvSpPr/>
          <p:nvPr/>
        </p:nvSpPr>
        <p:spPr>
          <a:xfrm>
            <a:off x="457560" y="2023920"/>
            <a:ext cx="3657240" cy="16149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85" name=""/>
          <p:cNvSpPr txBox="1"/>
          <p:nvPr/>
        </p:nvSpPr>
        <p:spPr>
          <a:xfrm>
            <a:off x="228600" y="158544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pic>
        <p:nvPicPr>
          <p:cNvPr id="386" name=""/>
          <p:cNvPicPr/>
          <p:nvPr/>
        </p:nvPicPr>
        <p:blipFill>
          <a:blip r:embed="rId1"/>
          <a:stretch/>
        </p:blipFill>
        <p:spPr>
          <a:xfrm>
            <a:off x="7507800" y="4752360"/>
            <a:ext cx="1828440" cy="1828440"/>
          </a:xfrm>
          <a:prstGeom prst="rect">
            <a:avLst/>
          </a:prstGeom>
          <a:noFill/>
          <a:ln w="0">
            <a:noFill/>
          </a:ln>
        </p:spPr>
      </p:pic>
      <p:sp>
        <p:nvSpPr>
          <p:cNvPr id="387" name=""/>
          <p:cNvSpPr txBox="1"/>
          <p:nvPr/>
        </p:nvSpPr>
        <p:spPr>
          <a:xfrm>
            <a:off x="842400" y="2336400"/>
            <a:ext cx="3043800" cy="107388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O olho está piscando sozinho do corpo, mas a gente está aqui.</a:t>
            </a:r>
            <a:endParaRPr lang="en-US" sz="2200" b="0" u="none" strike="noStrike">
              <a:solidFill>
                <a:srgbClr val="000000"/>
              </a:solidFill>
              <a:effectLst/>
              <a:uFillTx/>
              <a:latin typeface="Arial"/>
            </a:endParaRPr>
          </a:p>
        </p:txBody>
      </p:sp>
      <p:sp>
        <p:nvSpPr>
          <p:cNvPr id="388" name=""/>
          <p:cNvSpPr/>
          <p:nvPr/>
        </p:nvSpPr>
        <p:spPr>
          <a:xfrm>
            <a:off x="4343760" y="1124280"/>
            <a:ext cx="3657240" cy="13863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89" name=""/>
          <p:cNvSpPr txBox="1"/>
          <p:nvPr/>
        </p:nvSpPr>
        <p:spPr>
          <a:xfrm>
            <a:off x="4114800" y="68580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sp>
        <p:nvSpPr>
          <p:cNvPr id="390" name=""/>
          <p:cNvSpPr txBox="1"/>
          <p:nvPr/>
        </p:nvSpPr>
        <p:spPr>
          <a:xfrm>
            <a:off x="4728600" y="1436760"/>
            <a:ext cx="3043800" cy="84528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Desculpa, tá difícil... a respiração.</a:t>
            </a:r>
            <a:endParaRPr lang="en-US" sz="2200" b="0" u="none" strike="noStrike">
              <a:solidFill>
                <a:srgbClr val="000000"/>
              </a:solidFill>
              <a:effectLst/>
              <a:uFillTx/>
              <a:latin typeface="Arial"/>
            </a:endParaRPr>
          </a:p>
        </p:txBody>
      </p:sp>
      <p:sp>
        <p:nvSpPr>
          <p:cNvPr id="391" name=""/>
          <p:cNvSpPr/>
          <p:nvPr/>
        </p:nvSpPr>
        <p:spPr>
          <a:xfrm>
            <a:off x="686160" y="4042800"/>
            <a:ext cx="6171480" cy="30438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92" name=""/>
          <p:cNvSpPr txBox="1"/>
          <p:nvPr/>
        </p:nvSpPr>
        <p:spPr>
          <a:xfrm>
            <a:off x="457200" y="360432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sp>
        <p:nvSpPr>
          <p:cNvPr id="393" name=""/>
          <p:cNvSpPr txBox="1"/>
          <p:nvPr/>
        </p:nvSpPr>
        <p:spPr>
          <a:xfrm>
            <a:off x="842760" y="4267800"/>
            <a:ext cx="5786640" cy="259020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 e doente por conta da rotina do trabalho (…) normalmente eu sempre sou uma pessoa que fico doente, porque minha imunidade baixa, porque eu não estou me alimentando bem. (…) </a:t>
            </a:r>
            <a:r>
              <a:rPr lang="en-US" sz="2200" b="1" u="none" strike="noStrike">
                <a:solidFill>
                  <a:srgbClr val="dd6a1e"/>
                </a:solidFill>
                <a:effectLst/>
                <a:uFillTx/>
                <a:latin typeface="Arial"/>
              </a:rPr>
              <a:t>Só que eu não paro de trabalhar, entendeu?</a:t>
            </a:r>
            <a:r>
              <a:rPr lang="en-US" sz="2200" b="0" u="none" strike="noStrike">
                <a:solidFill>
                  <a:srgbClr val="3a4968"/>
                </a:solidFill>
                <a:effectLst/>
                <a:uFillTx/>
                <a:latin typeface="Arial"/>
              </a:rPr>
              <a:t> (…) tem pessoas que dependem daquilo. E o espetáculo tem uma data de estreia (...)</a:t>
            </a:r>
            <a:endParaRPr lang="en-US" sz="2200" b="0" u="none" strike="noStrike">
              <a:solidFill>
                <a:srgbClr val="000000"/>
              </a:solidFill>
              <a:effectLst/>
              <a:uFillTx/>
              <a:latin typeface="Arial"/>
            </a:endParaRPr>
          </a:p>
        </p:txBody>
      </p:sp>
      <p:sp>
        <p:nvSpPr>
          <p:cNvPr id="394" name=""/>
          <p:cNvSpPr/>
          <p:nvPr/>
        </p:nvSpPr>
        <p:spPr>
          <a:xfrm>
            <a:off x="6172560" y="2652840"/>
            <a:ext cx="3657240" cy="161496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395" name=""/>
          <p:cNvSpPr txBox="1"/>
          <p:nvPr/>
        </p:nvSpPr>
        <p:spPr>
          <a:xfrm>
            <a:off x="5943960" y="2282040"/>
            <a:ext cx="75276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a:t>
            </a:r>
            <a:endParaRPr lang="en-US" sz="9000" b="1" u="none" strike="noStrike">
              <a:solidFill>
                <a:srgbClr val="000000"/>
              </a:solidFill>
              <a:effectLst/>
              <a:uFillTx/>
              <a:latin typeface="Arial"/>
            </a:endParaRPr>
          </a:p>
        </p:txBody>
      </p:sp>
      <p:sp>
        <p:nvSpPr>
          <p:cNvPr id="396" name=""/>
          <p:cNvSpPr txBox="1"/>
          <p:nvPr/>
        </p:nvSpPr>
        <p:spPr>
          <a:xfrm>
            <a:off x="6557760" y="2881440"/>
            <a:ext cx="3043800" cy="1340280"/>
          </a:xfrm>
          <a:prstGeom prst="rect">
            <a:avLst/>
          </a:prstGeom>
          <a:noFill/>
          <a:ln w="0">
            <a:noFill/>
          </a:ln>
        </p:spPr>
        <p:txBody>
          <a:bodyPr lIns="90000" rIns="90000" tIns="45000" bIns="45000" anchor="t">
            <a:spAutoFit/>
          </a:bodyPr>
          <a:p>
            <a:pPr algn="ctr">
              <a:lnSpc>
                <a:spcPct val="100000"/>
              </a:lnSpc>
            </a:pPr>
            <a:r>
              <a:rPr lang="en-US" sz="2200" b="0" u="none" strike="noStrike">
                <a:solidFill>
                  <a:srgbClr val="3a4968"/>
                </a:solidFill>
                <a:effectLst/>
                <a:uFillTx/>
                <a:latin typeface="Arial"/>
              </a:rPr>
              <a:t>Hoje foi um dia difícil, então tudo está batendo em lugares...</a:t>
            </a:r>
            <a:endParaRPr lang="en-US" sz="2200" b="0" u="none" strike="noStrike">
              <a:solidFill>
                <a:srgbClr val="000000"/>
              </a:solidFill>
              <a:effectLst/>
              <a:uFillTx/>
              <a:latin typeface="Arial"/>
            </a:endParaRPr>
          </a:p>
          <a:p>
            <a:pPr algn="ctr">
              <a:lnSpc>
                <a:spcPct val="100000"/>
              </a:lnSpc>
            </a:pP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398"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399"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400" name=""/>
          <p:cNvSpPr txBox="1"/>
          <p:nvPr/>
        </p:nvSpPr>
        <p:spPr>
          <a:xfrm>
            <a:off x="457200" y="74304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SAÚDE</a:t>
            </a:r>
            <a:endParaRPr lang="en-US" sz="2000" b="0" u="none" strike="noStrike">
              <a:solidFill>
                <a:srgbClr val="000000"/>
              </a:solidFill>
              <a:effectLst/>
              <a:uFillTx/>
              <a:latin typeface="Arial"/>
            </a:endParaRPr>
          </a:p>
        </p:txBody>
      </p:sp>
      <p:sp>
        <p:nvSpPr>
          <p:cNvPr id="401"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pic>
        <p:nvPicPr>
          <p:cNvPr id="402" name=""/>
          <p:cNvPicPr/>
          <p:nvPr/>
        </p:nvPicPr>
        <p:blipFill>
          <a:blip r:embed="rId1"/>
          <a:stretch/>
        </p:blipFill>
        <p:spPr>
          <a:xfrm>
            <a:off x="308880" y="1253160"/>
            <a:ext cx="1828440" cy="1828440"/>
          </a:xfrm>
          <a:prstGeom prst="rect">
            <a:avLst/>
          </a:prstGeom>
          <a:noFill/>
          <a:ln w="0">
            <a:noFill/>
          </a:ln>
        </p:spPr>
      </p:pic>
      <p:sp>
        <p:nvSpPr>
          <p:cNvPr id="403" name=""/>
          <p:cNvSpPr/>
          <p:nvPr/>
        </p:nvSpPr>
        <p:spPr>
          <a:xfrm>
            <a:off x="2286000" y="1299600"/>
            <a:ext cx="6172200" cy="2358000"/>
          </a:xfrm>
          <a:prstGeom prst="roundRect">
            <a:avLst>
              <a:gd name="adj" fmla="val 16667"/>
            </a:avLst>
          </a:prstGeom>
          <a:solidFill>
            <a:srgbClr val="b3e3f4">
              <a:alpha val="50000"/>
            </a:srgbClr>
          </a:solidFill>
          <a:ln w="0">
            <a:noFill/>
          </a:ln>
        </p:spPr>
        <p:style>
          <a:lnRef idx="0"/>
          <a:fillRef idx="0"/>
          <a:effectRef idx="0"/>
          <a:fontRef idx="minor"/>
        </p:style>
        <p:txBody>
          <a:bodyPr lIns="90000" rIns="90000" tIns="45000" bIns="45000" anchor="ctr">
            <a:noAutofit/>
          </a:bodyPr>
          <a:p>
            <a:endParaRPr lang="en-US" sz="1800" b="0" u="none" strike="noStrike">
              <a:solidFill>
                <a:srgbClr val="3a4968"/>
              </a:solidFill>
              <a:effectLst/>
              <a:uFillTx/>
              <a:latin typeface="Arial"/>
            </a:endParaRPr>
          </a:p>
        </p:txBody>
      </p:sp>
      <p:sp>
        <p:nvSpPr>
          <p:cNvPr id="404" name=""/>
          <p:cNvSpPr txBox="1"/>
          <p:nvPr/>
        </p:nvSpPr>
        <p:spPr>
          <a:xfrm>
            <a:off x="2495160" y="1564200"/>
            <a:ext cx="5963040" cy="1882080"/>
          </a:xfrm>
          <a:prstGeom prst="rect">
            <a:avLst/>
          </a:prstGeom>
          <a:noFill/>
          <a:ln w="0">
            <a:noFill/>
          </a:ln>
        </p:spPr>
        <p:txBody>
          <a:bodyPr lIns="90000" rIns="90000" tIns="45000" bIns="45000" anchor="t">
            <a:spAutoFit/>
          </a:bodyPr>
          <a:p>
            <a:r>
              <a:rPr lang="en-US" sz="1800" b="0" u="none" strike="noStrike">
                <a:solidFill>
                  <a:srgbClr val="3a4968"/>
                </a:solidFill>
                <a:effectLst/>
                <a:uFillTx/>
                <a:latin typeface="Arial"/>
              </a:rPr>
              <a:t>Acho que é a parte física. Assim, de </a:t>
            </a:r>
            <a:r>
              <a:rPr lang="en-US" sz="1800" b="1" u="none" strike="noStrike">
                <a:solidFill>
                  <a:srgbClr val="dd6a1e"/>
                </a:solidFill>
                <a:effectLst/>
                <a:uFillTx/>
                <a:latin typeface="Arial"/>
              </a:rPr>
              <a:t>aguentar mesmo o tranco das horas</a:t>
            </a:r>
            <a:r>
              <a:rPr lang="en-US" sz="1800" b="0" u="none" strike="noStrike">
                <a:solidFill>
                  <a:srgbClr val="3a4968"/>
                </a:solidFill>
                <a:effectLst/>
                <a:uFillTx/>
                <a:latin typeface="Arial"/>
              </a:rPr>
              <a:t>, todas de trabalho (…) Normal, né? De ficar doente e tal (…) de comer, mal, dormir mal e tudo mais (…) não é exatamente um risco tão grande (...) é uma coisa meio do a longo prazo. Coluna, essas coisas (...) eu não vejo pessoas que normalmente cuidam dessa parte para o tanto que trabalham.</a:t>
            </a:r>
            <a:endParaRPr lang="en-US" sz="1800" b="0" u="none" strike="noStrike">
              <a:solidFill>
                <a:srgbClr val="3a4968"/>
              </a:solidFill>
              <a:effectLst/>
              <a:uFillTx/>
              <a:latin typeface="Arial"/>
            </a:endParaRPr>
          </a:p>
        </p:txBody>
      </p:sp>
      <p:sp>
        <p:nvSpPr>
          <p:cNvPr id="405" name=""/>
          <p:cNvSpPr txBox="1"/>
          <p:nvPr/>
        </p:nvSpPr>
        <p:spPr>
          <a:xfrm>
            <a:off x="7578720" y="914400"/>
            <a:ext cx="1108080" cy="1367640"/>
          </a:xfrm>
          <a:prstGeom prst="rect">
            <a:avLst/>
          </a:prstGeom>
          <a:noFill/>
          <a:ln w="0">
            <a:noFill/>
          </a:ln>
        </p:spPr>
        <p:txBody>
          <a:bodyPr wrap="none" lIns="90000" rIns="90000" tIns="45000" bIns="45000" anchor="t">
            <a:spAutoFit/>
          </a:bodyPr>
          <a:p>
            <a:r>
              <a:rPr lang="en-US" sz="9000" b="1" u="none" spc="300" strike="noStrike">
                <a:solidFill>
                  <a:srgbClr val="dd6a1e"/>
                </a:solidFill>
                <a:effectLst/>
                <a:uFillTx/>
                <a:latin typeface="Arial"/>
              </a:rPr>
              <a:t> ”</a:t>
            </a:r>
            <a:endParaRPr lang="en-US" sz="9000" b="1"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
          <p:cNvSpPr/>
          <p:nvPr/>
        </p:nvSpPr>
        <p:spPr>
          <a:xfrm>
            <a:off x="493200" y="75780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407" name=""/>
          <p:cNvSpPr txBox="1"/>
          <p:nvPr/>
        </p:nvSpPr>
        <p:spPr>
          <a:xfrm>
            <a:off x="228960" y="200520"/>
            <a:ext cx="4881240" cy="515520"/>
          </a:xfrm>
          <a:prstGeom prst="rect">
            <a:avLst/>
          </a:prstGeom>
          <a:noFill/>
          <a:ln w="0">
            <a:noFill/>
          </a:ln>
        </p:spPr>
        <p:txBody>
          <a:bodyPr wrap="none" lIns="90000" rIns="90000" tIns="45000" bIns="45000" anchor="t">
            <a:spAutoFit/>
          </a:bodyPr>
          <a:p>
            <a:r>
              <a:rPr lang="en-US" sz="3000" b="0" u="none" spc="300" strike="noStrike">
                <a:solidFill>
                  <a:srgbClr val="023884"/>
                </a:solidFill>
                <a:effectLst/>
                <a:uFillTx/>
                <a:latin typeface="Arial"/>
              </a:rPr>
              <a:t>FIGURINISTA</a:t>
            </a:r>
            <a:endParaRPr lang="en-US" sz="3000" b="0" u="none" strike="noStrike">
              <a:solidFill>
                <a:srgbClr val="000000"/>
              </a:solidFill>
              <a:effectLst/>
              <a:uFillTx/>
              <a:latin typeface="Arial"/>
            </a:endParaRPr>
          </a:p>
        </p:txBody>
      </p:sp>
      <p:sp>
        <p:nvSpPr>
          <p:cNvPr id="408"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
        <p:nvSpPr>
          <p:cNvPr id="409" name=""/>
          <p:cNvSpPr txBox="1"/>
          <p:nvPr/>
        </p:nvSpPr>
        <p:spPr>
          <a:xfrm>
            <a:off x="457200" y="743040"/>
            <a:ext cx="3369600" cy="400680"/>
          </a:xfrm>
          <a:prstGeom prst="rect">
            <a:avLst/>
          </a:prstGeom>
          <a:noFill/>
          <a:ln w="0">
            <a:noFill/>
          </a:ln>
        </p:spPr>
        <p:txBody>
          <a:bodyPr wrap="none" lIns="90000" rIns="90000" tIns="45000" bIns="45000" anchor="t">
            <a:spAutoFit/>
          </a:bodyPr>
          <a:p>
            <a:r>
              <a:rPr lang="en-US" sz="2000" b="0" u="none" spc="300" strike="noStrike">
                <a:solidFill>
                  <a:srgbClr val="dd6a1e"/>
                </a:solidFill>
                <a:effectLst/>
                <a:uFillTx/>
                <a:latin typeface="Arial"/>
              </a:rPr>
              <a:t>SAÚDE</a:t>
            </a:r>
            <a:endParaRPr lang="en-US" sz="2000" b="0" u="none" strike="noStrike">
              <a:solidFill>
                <a:srgbClr val="000000"/>
              </a:solidFill>
              <a:effectLst/>
              <a:uFillTx/>
              <a:latin typeface="Arial"/>
            </a:endParaRPr>
          </a:p>
        </p:txBody>
      </p:sp>
      <p:sp>
        <p:nvSpPr>
          <p:cNvPr id="410" name=""/>
          <p:cNvSpPr/>
          <p:nvPr/>
        </p:nvSpPr>
        <p:spPr>
          <a:xfrm>
            <a:off x="493200" y="758160"/>
            <a:ext cx="5943600" cy="0"/>
          </a:xfrm>
          <a:prstGeom prst="line">
            <a:avLst/>
          </a:prstGeom>
          <a:ln w="27360">
            <a:solidFill>
              <a:srgbClr val="f6a53e"/>
            </a:solidFill>
            <a:round/>
          </a:ln>
        </p:spPr>
        <p:style>
          <a:lnRef idx="0"/>
          <a:fillRef idx="0"/>
          <a:effectRef idx="0"/>
          <a:fontRef idx="minor"/>
        </p:style>
        <p:txBody>
          <a:bodyPr lIns="117720" rIns="117720" tIns="-72720" bIns="-72720" anchor="ctr">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408</TotalTime>
  <Application>LibreOffice/25.8.6.2$Linux_X86_64 LibreOffice_project/580$Build-2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2026-03-29T19:03:24Z</dcterms:created>
  <dc:creator/>
  <dc:description/>
  <dc:language>en-US</dc:language>
  <cp:lastModifiedBy/>
  <dcterms:modified xsi:type="dcterms:W3CDTF">2026-03-30T18:46:36Z</dcterms:modified>
  <cp:revision>62</cp:revision>
  <dc:subject/>
  <dc:title/>
</cp:coreProperties>
</file>
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Lst>
  <p:sldSz cy="6858000" cx="12192000"/>
  <p:notesSz cx="6858000" cy="9144000"/>
  <p:embeddedFontLst>
    <p:embeddedFont>
      <p:font typeface="Palatino Linotype"/>
      <p:regular r:id="rId54"/>
      <p:bold r:id="rId55"/>
      <p:italic r:id="rId56"/>
      <p:boldItalic r:id="rId57"/>
    </p:embeddedFont>
    <p:embeddedFont>
      <p:font typeface="Lora"/>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2" roundtripDataSignature="AMtx7mhZGvSEPk3gi+LPv4DX62Ih7j/G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customschemas.google.com/relationships/presentationmetadata" Target="metadata"/><Relationship Id="rId61" Type="http://schemas.openxmlformats.org/officeDocument/2006/relationships/font" Target="fonts/Lora-bold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font" Target="fonts/Lora-italic.fntdata"/><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font" Target="fonts/PalatinoLinotype-bold.fntdata"/><Relationship Id="rId10" Type="http://schemas.openxmlformats.org/officeDocument/2006/relationships/slide" Target="slides/slide6.xml"/><Relationship Id="rId54" Type="http://schemas.openxmlformats.org/officeDocument/2006/relationships/font" Target="fonts/PalatinoLinotype-regular.fntdata"/><Relationship Id="rId13" Type="http://schemas.openxmlformats.org/officeDocument/2006/relationships/slide" Target="slides/slide9.xml"/><Relationship Id="rId57" Type="http://schemas.openxmlformats.org/officeDocument/2006/relationships/font" Target="fonts/PalatinoLinotype-boldItalic.fntdata"/><Relationship Id="rId12" Type="http://schemas.openxmlformats.org/officeDocument/2006/relationships/slide" Target="slides/slide8.xml"/><Relationship Id="rId56" Type="http://schemas.openxmlformats.org/officeDocument/2006/relationships/font" Target="fonts/PalatinoLinotype-italic.fntdata"/><Relationship Id="rId15" Type="http://schemas.openxmlformats.org/officeDocument/2006/relationships/slide" Target="slides/slide11.xml"/><Relationship Id="rId59" Type="http://schemas.openxmlformats.org/officeDocument/2006/relationships/font" Target="fonts/Lora-bold.fntdata"/><Relationship Id="rId14" Type="http://schemas.openxmlformats.org/officeDocument/2006/relationships/slide" Target="slides/slide10.xml"/><Relationship Id="rId58" Type="http://schemas.openxmlformats.org/officeDocument/2006/relationships/font" Target="fonts/Lora-regular.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t-B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a:t>Emotions are lower level responses occurring in the subcortical regions of the brain, the amygdala, and the ventromedial prefrontal cortices, creating biochemical reactions in your body altering your physical state. Emotional reactions are coded in our genes and while they do vary slightly individually and depending on circumstances, are generally universally similar across all humans and even other species. </a:t>
            </a:r>
            <a:r>
              <a:rPr b="0" i="0" lang="pt-BR">
                <a:solidFill>
                  <a:srgbClr val="535353"/>
                </a:solidFill>
                <a:latin typeface="Lora"/>
                <a:ea typeface="Lora"/>
                <a:cs typeface="Lora"/>
                <a:sym typeface="Lora"/>
              </a:rPr>
              <a:t>Feelings originate in the neocortical regions of the brain, are mental associations and reactions to emotions, and are subjective being influenced by personal experience, beliefs, and memories.</a:t>
            </a:r>
            <a:endParaRPr/>
          </a:p>
          <a:p>
            <a:pPr indent="0" lvl="0" marL="0" rtl="0" algn="l">
              <a:spcBef>
                <a:spcPts val="0"/>
              </a:spcBef>
              <a:spcAft>
                <a:spcPts val="0"/>
              </a:spcAft>
              <a:buNone/>
            </a:pPr>
            <a:r>
              <a:t/>
            </a:r>
            <a:endParaRPr/>
          </a:p>
        </p:txBody>
      </p:sp>
      <p:sp>
        <p:nvSpPr>
          <p:cNvPr id="251" name="Google Shape;25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pt-BR"/>
              <a:t>Emotions are lower level responses occurring in the subcortical regions of the brain, the amygdala, and the ventromedial prefrontal cortices, creating biochemical reactions in your body altering your physical state. Emotional reactions are coded in our genes and while they do vary slightly individually and depending on circumstances, are generally universally similar across all humans and even other species. </a:t>
            </a:r>
            <a:r>
              <a:rPr b="0" i="0" lang="pt-BR">
                <a:solidFill>
                  <a:srgbClr val="535353"/>
                </a:solidFill>
                <a:latin typeface="Lora"/>
                <a:ea typeface="Lora"/>
                <a:cs typeface="Lora"/>
                <a:sym typeface="Lora"/>
              </a:rPr>
              <a:t>Feelings originate in the neocortical regions of the brain, are mental associations and reactions to emotions, and are subjective being influenced by personal experience, beliefs, and memories.</a:t>
            </a:r>
            <a:endParaRPr/>
          </a:p>
          <a:p>
            <a:pPr indent="0" lvl="0" marL="0" rtl="0" algn="l">
              <a:spcBef>
                <a:spcPts val="0"/>
              </a:spcBef>
              <a:spcAft>
                <a:spcPts val="0"/>
              </a:spcAft>
              <a:buNone/>
            </a:pPr>
            <a:r>
              <a:t/>
            </a:r>
            <a:endParaRPr/>
          </a:p>
        </p:txBody>
      </p:sp>
      <p:sp>
        <p:nvSpPr>
          <p:cNvPr id="260" name="Google Shape;26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pt-BR"/>
              <a:t>Emotions are lower level responses occurring in the subcortical regions of the brain, the amygdala, and the ventromedial prefrontal cortices, creating biochemical reactions in your body altering your physical state. Emotional reactions are coded in our genes and while they do vary slightly individually and depending on circumstances, are generally universally similar across all humans and even other species. </a:t>
            </a:r>
            <a:r>
              <a:rPr b="0" i="0" lang="pt-BR">
                <a:solidFill>
                  <a:srgbClr val="535353"/>
                </a:solidFill>
                <a:latin typeface="Lora"/>
                <a:ea typeface="Lora"/>
                <a:cs typeface="Lora"/>
                <a:sym typeface="Lora"/>
              </a:rPr>
              <a:t>Feelings originate in the neocortical regions of the brain, are mental associations and reactions to emotions, and are subjective being influenced by personal experience, beliefs, and memories.</a:t>
            </a:r>
            <a:endParaRPr/>
          </a:p>
          <a:p>
            <a:pPr indent="0" lvl="0" marL="0" rtl="0" algn="l">
              <a:spcBef>
                <a:spcPts val="0"/>
              </a:spcBef>
              <a:spcAft>
                <a:spcPts val="0"/>
              </a:spcAft>
              <a:buNone/>
            </a:pPr>
            <a:r>
              <a:t/>
            </a:r>
            <a:endParaRPr/>
          </a:p>
        </p:txBody>
      </p:sp>
      <p:sp>
        <p:nvSpPr>
          <p:cNvPr id="270" name="Google Shape;27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pt-BR"/>
              <a:t>Emotions are lower level responses occurring in the subcortical regions of the brain, the amygdala, and the ventromedial prefrontal cortices, creating biochemical reactions in your body altering your physical state. Emotional reactions are coded in our genes and while they do vary slightly individually and depending on circumstances, are generally universally similar across all humans and even other species. </a:t>
            </a:r>
            <a:r>
              <a:rPr b="0" i="0" lang="pt-BR">
                <a:solidFill>
                  <a:srgbClr val="535353"/>
                </a:solidFill>
                <a:latin typeface="Lora"/>
                <a:ea typeface="Lora"/>
                <a:cs typeface="Lora"/>
                <a:sym typeface="Lora"/>
              </a:rPr>
              <a:t>Feelings originate in the neocortical regions of the brain, are mental associations and reactions to emotions, and are subjective being influenced by personal experience, beliefs, and memories.</a:t>
            </a:r>
            <a:endParaRPr/>
          </a:p>
          <a:p>
            <a:pPr indent="0" lvl="0" marL="0" rtl="0" algn="l">
              <a:spcBef>
                <a:spcPts val="0"/>
              </a:spcBef>
              <a:spcAft>
                <a:spcPts val="0"/>
              </a:spcAft>
              <a:buNone/>
            </a:pPr>
            <a:r>
              <a:t/>
            </a:r>
            <a:endParaRPr/>
          </a:p>
        </p:txBody>
      </p:sp>
      <p:sp>
        <p:nvSpPr>
          <p:cNvPr id="281" name="Google Shape;28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pt-BR"/>
              <a:t>Emotions are lower level responses occurring in the subcortical regions of the brain, the amygdala, and the ventromedial prefrontal cortices, creating biochemical reactions in your body altering your physical state. Emotional reactions are coded in our genes and while they do vary slightly individually and depending on circumstances, are generally universally similar across all humans and even other species. </a:t>
            </a:r>
            <a:r>
              <a:rPr b="0" i="0" lang="pt-BR">
                <a:solidFill>
                  <a:srgbClr val="535353"/>
                </a:solidFill>
                <a:latin typeface="Lora"/>
                <a:ea typeface="Lora"/>
                <a:cs typeface="Lora"/>
                <a:sym typeface="Lora"/>
              </a:rPr>
              <a:t>Feelings originate in the neocortical regions of the brain, are mental associations and reactions to emotions, and are subjective being influenced by personal experience, beliefs, and memories.</a:t>
            </a:r>
            <a:endParaRPr/>
          </a:p>
          <a:p>
            <a:pPr indent="0" lvl="0" marL="0" rtl="0" algn="l">
              <a:spcBef>
                <a:spcPts val="0"/>
              </a:spcBef>
              <a:spcAft>
                <a:spcPts val="0"/>
              </a:spcAft>
              <a:buNone/>
            </a:pPr>
            <a:r>
              <a:t/>
            </a:r>
            <a:endParaRPr/>
          </a:p>
        </p:txBody>
      </p:sp>
      <p:sp>
        <p:nvSpPr>
          <p:cNvPr id="293" name="Google Shape;29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 name="Google Shape;550;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 name="Google Shape;610;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9" name="Google Shape;629;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15" name="Shape 15"/>
        <p:cNvGrpSpPr/>
        <p:nvPr/>
      </p:nvGrpSpPr>
      <p:grpSpPr>
        <a:xfrm>
          <a:off x="0" y="0"/>
          <a:ext cx="0" cy="0"/>
          <a:chOff x="0" y="0"/>
          <a:chExt cx="0" cy="0"/>
        </a:xfrm>
      </p:grpSpPr>
      <p:sp>
        <p:nvSpPr>
          <p:cNvPr id="16" name="Google Shape;16;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21" name="Shape 21"/>
        <p:cNvGrpSpPr/>
        <p:nvPr/>
      </p:nvGrpSpPr>
      <p:grpSpPr>
        <a:xfrm>
          <a:off x="0" y="0"/>
          <a:ext cx="0" cy="0"/>
          <a:chOff x="0" y="0"/>
          <a:chExt cx="0" cy="0"/>
        </a:xfrm>
      </p:grpSpPr>
      <p:sp>
        <p:nvSpPr>
          <p:cNvPr id="22" name="Google Shape;22;p5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27" name="Shape 27"/>
        <p:cNvGrpSpPr/>
        <p:nvPr/>
      </p:nvGrpSpPr>
      <p:grpSpPr>
        <a:xfrm>
          <a:off x="0" y="0"/>
          <a:ext cx="0" cy="0"/>
          <a:chOff x="0" y="0"/>
          <a:chExt cx="0" cy="0"/>
        </a:xfrm>
      </p:grpSpPr>
      <p:sp>
        <p:nvSpPr>
          <p:cNvPr id="28" name="Google Shape;28;p5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3" name="Shape 33"/>
        <p:cNvGrpSpPr/>
        <p:nvPr/>
      </p:nvGrpSpPr>
      <p:grpSpPr>
        <a:xfrm>
          <a:off x="0" y="0"/>
          <a:ext cx="0" cy="0"/>
          <a:chOff x="0" y="0"/>
          <a:chExt cx="0" cy="0"/>
        </a:xfrm>
      </p:grpSpPr>
      <p:sp>
        <p:nvSpPr>
          <p:cNvPr id="34" name="Google Shape;34;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0" name="Shape 40"/>
        <p:cNvGrpSpPr/>
        <p:nvPr/>
      </p:nvGrpSpPr>
      <p:grpSpPr>
        <a:xfrm>
          <a:off x="0" y="0"/>
          <a:ext cx="0" cy="0"/>
          <a:chOff x="0" y="0"/>
          <a:chExt cx="0" cy="0"/>
        </a:xfrm>
      </p:grpSpPr>
      <p:sp>
        <p:nvSpPr>
          <p:cNvPr id="41" name="Google Shape;41;p5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5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5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49" name="Shape 49"/>
        <p:cNvGrpSpPr/>
        <p:nvPr/>
      </p:nvGrpSpPr>
      <p:grpSpPr>
        <a:xfrm>
          <a:off x="0" y="0"/>
          <a:ext cx="0" cy="0"/>
          <a:chOff x="0" y="0"/>
          <a:chExt cx="0" cy="0"/>
        </a:xfrm>
      </p:grpSpPr>
      <p:sp>
        <p:nvSpPr>
          <p:cNvPr id="50" name="Google Shape;50;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54" name="Shape 54"/>
        <p:cNvGrpSpPr/>
        <p:nvPr/>
      </p:nvGrpSpPr>
      <p:grpSpPr>
        <a:xfrm>
          <a:off x="0" y="0"/>
          <a:ext cx="0" cy="0"/>
          <a:chOff x="0" y="0"/>
          <a:chExt cx="0" cy="0"/>
        </a:xfrm>
      </p:grpSpPr>
      <p:sp>
        <p:nvSpPr>
          <p:cNvPr id="55" name="Google Shape;55;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8" name="Shape 58"/>
        <p:cNvGrpSpPr/>
        <p:nvPr/>
      </p:nvGrpSpPr>
      <p:grpSpPr>
        <a:xfrm>
          <a:off x="0" y="0"/>
          <a:ext cx="0" cy="0"/>
          <a:chOff x="0" y="0"/>
          <a:chExt cx="0" cy="0"/>
        </a:xfrm>
      </p:grpSpPr>
      <p:sp>
        <p:nvSpPr>
          <p:cNvPr id="59" name="Google Shape;59;p5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5" name="Shape 65"/>
        <p:cNvGrpSpPr/>
        <p:nvPr/>
      </p:nvGrpSpPr>
      <p:grpSpPr>
        <a:xfrm>
          <a:off x="0" y="0"/>
          <a:ext cx="0" cy="0"/>
          <a:chOff x="0" y="0"/>
          <a:chExt cx="0" cy="0"/>
        </a:xfrm>
      </p:grpSpPr>
      <p:sp>
        <p:nvSpPr>
          <p:cNvPr id="66" name="Google Shape;66;p5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9"/>
          <p:cNvSpPr/>
          <p:nvPr>
            <p:ph idx="2" type="pic"/>
          </p:nvPr>
        </p:nvSpPr>
        <p:spPr>
          <a:xfrm>
            <a:off x="5183188" y="987425"/>
            <a:ext cx="6172200" cy="4873625"/>
          </a:xfrm>
          <a:prstGeom prst="rect">
            <a:avLst/>
          </a:prstGeom>
          <a:noFill/>
          <a:ln>
            <a:noFill/>
          </a:ln>
        </p:spPr>
      </p:sp>
      <p:sp>
        <p:nvSpPr>
          <p:cNvPr id="68" name="Google Shape;68;p5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2" name="Shape 72"/>
        <p:cNvGrpSpPr/>
        <p:nvPr/>
      </p:nvGrpSpPr>
      <p:grpSpPr>
        <a:xfrm>
          <a:off x="0" y="0"/>
          <a:ext cx="0" cy="0"/>
          <a:chOff x="0" y="0"/>
          <a:chExt cx="0" cy="0"/>
        </a:xfrm>
      </p:grpSpPr>
      <p:sp>
        <p:nvSpPr>
          <p:cNvPr id="73" name="Google Shape;73;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type="vertTitleAndTx">
  <p:cSld name="VERTICAL_TITLE_AND_VERTICAL_TEXT">
    <p:spTree>
      <p:nvGrpSpPr>
        <p:cNvPr id="78" name="Shape 78"/>
        <p:cNvGrpSpPr/>
        <p:nvPr/>
      </p:nvGrpSpPr>
      <p:grpSpPr>
        <a:xfrm>
          <a:off x="0" y="0"/>
          <a:ext cx="0" cy="0"/>
          <a:chOff x="0" y="0"/>
          <a:chExt cx="0" cy="0"/>
        </a:xfrm>
      </p:grpSpPr>
      <p:sp>
        <p:nvSpPr>
          <p:cNvPr id="79" name="Google Shape;79;p6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2.jpg"/><Relationship Id="rId5"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25.png"/><Relationship Id="rId5"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8.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9.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4.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89" name="Google Shape;89;p1"/>
          <p:cNvSpPr txBox="1"/>
          <p:nvPr/>
        </p:nvSpPr>
        <p:spPr>
          <a:xfrm>
            <a:off x="1463039" y="1628834"/>
            <a:ext cx="9064200" cy="2247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pt-BR" sz="2000" u="none" cap="none" strike="noStrike">
                <a:solidFill>
                  <a:schemeClr val="dk1"/>
                </a:solidFill>
                <a:latin typeface="Arial Rounded"/>
                <a:ea typeface="Arial Rounded"/>
                <a:cs typeface="Arial Rounded"/>
                <a:sym typeface="Arial Rounded"/>
              </a:rPr>
              <a:t>Especialização em Psicologia Organizacional e do Trabalho</a:t>
            </a:r>
            <a:endParaRPr/>
          </a:p>
          <a:p>
            <a:pPr indent="0" lvl="0" marL="0" marR="0" rtl="0" algn="ctr">
              <a:spcBef>
                <a:spcPts val="0"/>
              </a:spcBef>
              <a:spcAft>
                <a:spcPts val="0"/>
              </a:spcAft>
              <a:buNone/>
            </a:pPr>
            <a:r>
              <a:t/>
            </a:r>
            <a:endParaRPr b="1" i="0" sz="2000" u="none" cap="none" strike="noStrike">
              <a:solidFill>
                <a:schemeClr val="dk1"/>
              </a:solidFill>
              <a:latin typeface="Arial Rounded"/>
              <a:ea typeface="Arial Rounded"/>
              <a:cs typeface="Arial Rounded"/>
              <a:sym typeface="Arial Rounded"/>
            </a:endParaRPr>
          </a:p>
          <a:p>
            <a:pPr indent="0" lvl="0" marL="0" marR="0" rtl="0" algn="ctr">
              <a:spcBef>
                <a:spcPts val="0"/>
              </a:spcBef>
              <a:spcAft>
                <a:spcPts val="0"/>
              </a:spcAft>
              <a:buNone/>
            </a:pPr>
            <a:r>
              <a:rPr b="1" i="0" lang="pt-BR" sz="2000" u="none" cap="none" strike="noStrike">
                <a:solidFill>
                  <a:schemeClr val="dk1"/>
                </a:solidFill>
                <a:latin typeface="Arial Rounded"/>
                <a:ea typeface="Arial Rounded"/>
                <a:cs typeface="Arial Rounded"/>
                <a:sym typeface="Arial Rounded"/>
              </a:rPr>
              <a:t>Disciplina: Relações de Poder nas Organizações</a:t>
            </a:r>
            <a:endParaRPr b="1" i="0" sz="2000" u="none" cap="none" strike="noStrike">
              <a:solidFill>
                <a:schemeClr val="dk1"/>
              </a:solidFill>
              <a:latin typeface="Arial Rounded"/>
              <a:ea typeface="Arial Rounded"/>
              <a:cs typeface="Arial Rounded"/>
              <a:sym typeface="Arial Rounded"/>
            </a:endParaRPr>
          </a:p>
          <a:p>
            <a:pPr indent="0" lvl="0" marL="0" marR="0" rtl="0" algn="ctr">
              <a:spcBef>
                <a:spcPts val="0"/>
              </a:spcBef>
              <a:spcAft>
                <a:spcPts val="0"/>
              </a:spcAft>
              <a:buNone/>
            </a:pPr>
            <a:r>
              <a:t/>
            </a:r>
            <a:endParaRPr b="1" i="0" sz="2000" u="none" cap="none" strike="noStrike">
              <a:solidFill>
                <a:schemeClr val="dk1"/>
              </a:solidFill>
              <a:latin typeface="Arial Rounded"/>
              <a:ea typeface="Arial Rounded"/>
              <a:cs typeface="Arial Rounded"/>
              <a:sym typeface="Arial Rounded"/>
            </a:endParaRPr>
          </a:p>
          <a:p>
            <a:pPr indent="0" lvl="0" marL="0" marR="0" rtl="0" algn="ctr">
              <a:spcBef>
                <a:spcPts val="0"/>
              </a:spcBef>
              <a:spcAft>
                <a:spcPts val="0"/>
              </a:spcAft>
              <a:buNone/>
            </a:pPr>
            <a:r>
              <a:rPr b="1" i="0" lang="pt-BR" sz="2000" u="none" cap="none" strike="noStrike">
                <a:solidFill>
                  <a:schemeClr val="dk1"/>
                </a:solidFill>
                <a:latin typeface="Arial Rounded"/>
                <a:ea typeface="Arial Rounded"/>
                <a:cs typeface="Arial Rounded"/>
                <a:sym typeface="Arial Rounded"/>
              </a:rPr>
              <a:t>Aula 7: Contrapoder e Resistência II</a:t>
            </a:r>
            <a:endParaRPr/>
          </a:p>
          <a:p>
            <a:pPr indent="0" lvl="0" marL="0" marR="0" rtl="0" algn="ctr">
              <a:spcBef>
                <a:spcPts val="0"/>
              </a:spcBef>
              <a:spcAft>
                <a:spcPts val="0"/>
              </a:spcAft>
              <a:buNone/>
            </a:pPr>
            <a:r>
              <a:t/>
            </a:r>
            <a:endParaRPr b="1" i="0" sz="2000" u="none" cap="none" strike="noStrike">
              <a:solidFill>
                <a:schemeClr val="dk1"/>
              </a:solidFill>
              <a:latin typeface="Arial Rounded"/>
              <a:ea typeface="Arial Rounded"/>
              <a:cs typeface="Arial Rounded"/>
              <a:sym typeface="Arial Rounded"/>
            </a:endParaRPr>
          </a:p>
          <a:p>
            <a:pPr indent="0" lvl="0" marL="0" marR="0" rtl="0" algn="ctr">
              <a:spcBef>
                <a:spcPts val="0"/>
              </a:spcBef>
              <a:spcAft>
                <a:spcPts val="0"/>
              </a:spcAft>
              <a:buNone/>
            </a:pPr>
            <a:r>
              <a:t/>
            </a:r>
            <a:endParaRPr b="1" i="0" sz="2000" u="none" cap="none" strike="noStrike">
              <a:solidFill>
                <a:schemeClr val="dk1"/>
              </a:solidFill>
              <a:latin typeface="Arial Rounded"/>
              <a:ea typeface="Arial Rounded"/>
              <a:cs typeface="Arial Rounded"/>
              <a:sym typeface="Arial Rounded"/>
            </a:endParaRPr>
          </a:p>
        </p:txBody>
      </p:sp>
      <p:sp>
        <p:nvSpPr>
          <p:cNvPr id="90" name="Google Shape;90;p1"/>
          <p:cNvSpPr/>
          <p:nvPr/>
        </p:nvSpPr>
        <p:spPr>
          <a:xfrm>
            <a:off x="4149190" y="3906456"/>
            <a:ext cx="1828124" cy="2401746"/>
          </a:xfrm>
          <a:custGeom>
            <a:rect b="b" l="l" r="r" t="t"/>
            <a:pathLst>
              <a:path extrusionOk="0" h="2401746" w="1828124">
                <a:moveTo>
                  <a:pt x="1765474" y="300941"/>
                </a:moveTo>
                <a:cubicBezTo>
                  <a:pt x="1793446" y="291295"/>
                  <a:pt x="1763059" y="277456"/>
                  <a:pt x="1759687" y="266217"/>
                </a:cubicBezTo>
                <a:cubicBezTo>
                  <a:pt x="1757208" y="257954"/>
                  <a:pt x="1749065" y="251642"/>
                  <a:pt x="1748112" y="243068"/>
                </a:cubicBezTo>
                <a:cubicBezTo>
                  <a:pt x="1741281" y="181594"/>
                  <a:pt x="1746705" y="118884"/>
                  <a:pt x="1736537" y="57873"/>
                </a:cubicBezTo>
                <a:cubicBezTo>
                  <a:pt x="1734743" y="47109"/>
                  <a:pt x="1722468" y="40777"/>
                  <a:pt x="1713388" y="34724"/>
                </a:cubicBezTo>
                <a:cubicBezTo>
                  <a:pt x="1677069" y="10511"/>
                  <a:pt x="1661509" y="10179"/>
                  <a:pt x="1620790" y="0"/>
                </a:cubicBezTo>
                <a:cubicBezTo>
                  <a:pt x="1485752" y="1929"/>
                  <a:pt x="1350564" y="-874"/>
                  <a:pt x="1215677" y="5787"/>
                </a:cubicBezTo>
                <a:cubicBezTo>
                  <a:pt x="1193708" y="6872"/>
                  <a:pt x="1173665" y="19263"/>
                  <a:pt x="1152016" y="23149"/>
                </a:cubicBezTo>
                <a:cubicBezTo>
                  <a:pt x="1098310" y="32788"/>
                  <a:pt x="989970" y="46298"/>
                  <a:pt x="989970" y="46298"/>
                </a:cubicBezTo>
                <a:cubicBezTo>
                  <a:pt x="982254" y="52085"/>
                  <a:pt x="975253" y="58976"/>
                  <a:pt x="966821" y="63660"/>
                </a:cubicBezTo>
                <a:cubicBezTo>
                  <a:pt x="938830" y="79211"/>
                  <a:pt x="904566" y="81753"/>
                  <a:pt x="874223" y="86810"/>
                </a:cubicBezTo>
                <a:cubicBezTo>
                  <a:pt x="702524" y="115426"/>
                  <a:pt x="904902" y="78525"/>
                  <a:pt x="706390" y="115746"/>
                </a:cubicBezTo>
                <a:cubicBezTo>
                  <a:pt x="689028" y="123463"/>
                  <a:pt x="671033" y="129888"/>
                  <a:pt x="654304" y="138896"/>
                </a:cubicBezTo>
                <a:cubicBezTo>
                  <a:pt x="645811" y="143469"/>
                  <a:pt x="639587" y="151574"/>
                  <a:pt x="631155" y="156258"/>
                </a:cubicBezTo>
                <a:cubicBezTo>
                  <a:pt x="606914" y="169726"/>
                  <a:pt x="576050" y="173648"/>
                  <a:pt x="550132" y="179407"/>
                </a:cubicBezTo>
                <a:cubicBezTo>
                  <a:pt x="534699" y="187124"/>
                  <a:pt x="518629" y="193679"/>
                  <a:pt x="503833" y="202557"/>
                </a:cubicBezTo>
                <a:cubicBezTo>
                  <a:pt x="494188" y="208344"/>
                  <a:pt x="485298" y="215636"/>
                  <a:pt x="474897" y="219919"/>
                </a:cubicBezTo>
                <a:cubicBezTo>
                  <a:pt x="452333" y="229210"/>
                  <a:pt x="427274" y="232156"/>
                  <a:pt x="405449" y="243068"/>
                </a:cubicBezTo>
                <a:cubicBezTo>
                  <a:pt x="390016" y="250784"/>
                  <a:pt x="375170" y="259809"/>
                  <a:pt x="359150" y="266217"/>
                </a:cubicBezTo>
                <a:cubicBezTo>
                  <a:pt x="318885" y="282323"/>
                  <a:pt x="340069" y="274507"/>
                  <a:pt x="295489" y="289367"/>
                </a:cubicBezTo>
                <a:cubicBezTo>
                  <a:pt x="291631" y="299012"/>
                  <a:pt x="290248" y="310069"/>
                  <a:pt x="283914" y="318303"/>
                </a:cubicBezTo>
                <a:cubicBezTo>
                  <a:pt x="270607" y="335602"/>
                  <a:pt x="251588" y="347835"/>
                  <a:pt x="237616" y="364602"/>
                </a:cubicBezTo>
                <a:lnTo>
                  <a:pt x="208679" y="399326"/>
                </a:lnTo>
                <a:cubicBezTo>
                  <a:pt x="200963" y="418617"/>
                  <a:pt x="193061" y="437835"/>
                  <a:pt x="185530" y="457200"/>
                </a:cubicBezTo>
                <a:cubicBezTo>
                  <a:pt x="179556" y="472561"/>
                  <a:pt x="179823" y="491843"/>
                  <a:pt x="168168" y="503498"/>
                </a:cubicBezTo>
                <a:lnTo>
                  <a:pt x="139231" y="532435"/>
                </a:lnTo>
                <a:cubicBezTo>
                  <a:pt x="102698" y="617677"/>
                  <a:pt x="139405" y="526091"/>
                  <a:pt x="110294" y="619245"/>
                </a:cubicBezTo>
                <a:cubicBezTo>
                  <a:pt x="105378" y="634977"/>
                  <a:pt x="98144" y="649907"/>
                  <a:pt x="92932" y="665544"/>
                </a:cubicBezTo>
                <a:cubicBezTo>
                  <a:pt x="88491" y="678867"/>
                  <a:pt x="85799" y="692732"/>
                  <a:pt x="81358" y="706055"/>
                </a:cubicBezTo>
                <a:cubicBezTo>
                  <a:pt x="76146" y="721692"/>
                  <a:pt x="68911" y="736622"/>
                  <a:pt x="63995" y="752354"/>
                </a:cubicBezTo>
                <a:cubicBezTo>
                  <a:pt x="42229" y="822006"/>
                  <a:pt x="65884" y="776216"/>
                  <a:pt x="35059" y="827589"/>
                </a:cubicBezTo>
                <a:cubicBezTo>
                  <a:pt x="-30671" y="1221960"/>
                  <a:pt x="13207" y="934416"/>
                  <a:pt x="29271" y="1898248"/>
                </a:cubicBezTo>
                <a:cubicBezTo>
                  <a:pt x="29888" y="1935296"/>
                  <a:pt x="41759" y="1939672"/>
                  <a:pt x="63995" y="1961908"/>
                </a:cubicBezTo>
                <a:cubicBezTo>
                  <a:pt x="96786" y="2060282"/>
                  <a:pt x="51053" y="1940337"/>
                  <a:pt x="98720" y="2019782"/>
                </a:cubicBezTo>
                <a:cubicBezTo>
                  <a:pt x="104997" y="2030244"/>
                  <a:pt x="104017" y="2044044"/>
                  <a:pt x="110294" y="2054506"/>
                </a:cubicBezTo>
                <a:cubicBezTo>
                  <a:pt x="125499" y="2079847"/>
                  <a:pt x="140475" y="2077979"/>
                  <a:pt x="162380" y="2095017"/>
                </a:cubicBezTo>
                <a:cubicBezTo>
                  <a:pt x="170994" y="2101717"/>
                  <a:pt x="176172" y="2112552"/>
                  <a:pt x="185530" y="2118167"/>
                </a:cubicBezTo>
                <a:cubicBezTo>
                  <a:pt x="195992" y="2124444"/>
                  <a:pt x="208788" y="2125572"/>
                  <a:pt x="220254" y="2129741"/>
                </a:cubicBezTo>
                <a:cubicBezTo>
                  <a:pt x="230017" y="2133291"/>
                  <a:pt x="239407" y="2137822"/>
                  <a:pt x="249190" y="2141316"/>
                </a:cubicBezTo>
                <a:cubicBezTo>
                  <a:pt x="299442" y="2159263"/>
                  <a:pt x="290920" y="2153413"/>
                  <a:pt x="330213" y="2170253"/>
                </a:cubicBezTo>
                <a:cubicBezTo>
                  <a:pt x="347676" y="2177737"/>
                  <a:pt x="364658" y="2186346"/>
                  <a:pt x="382299" y="2193402"/>
                </a:cubicBezTo>
                <a:cubicBezTo>
                  <a:pt x="450971" y="2220871"/>
                  <a:pt x="380862" y="2186263"/>
                  <a:pt x="463322" y="2222339"/>
                </a:cubicBezTo>
                <a:cubicBezTo>
                  <a:pt x="497891" y="2237463"/>
                  <a:pt x="514938" y="2251118"/>
                  <a:pt x="550132" y="2262850"/>
                </a:cubicBezTo>
                <a:cubicBezTo>
                  <a:pt x="565224" y="2267881"/>
                  <a:pt x="581135" y="2270055"/>
                  <a:pt x="596431" y="2274425"/>
                </a:cubicBezTo>
                <a:cubicBezTo>
                  <a:pt x="608162" y="2277777"/>
                  <a:pt x="620048" y="2280951"/>
                  <a:pt x="631155" y="2286000"/>
                </a:cubicBezTo>
                <a:cubicBezTo>
                  <a:pt x="641395" y="2290655"/>
                  <a:pt x="649214" y="2300499"/>
                  <a:pt x="660092" y="2303362"/>
                </a:cubicBezTo>
                <a:cubicBezTo>
                  <a:pt x="686475" y="2310305"/>
                  <a:pt x="714362" y="2309586"/>
                  <a:pt x="741114" y="2314936"/>
                </a:cubicBezTo>
                <a:cubicBezTo>
                  <a:pt x="762682" y="2319250"/>
                  <a:pt x="783207" y="2327984"/>
                  <a:pt x="804775" y="2332298"/>
                </a:cubicBezTo>
                <a:cubicBezTo>
                  <a:pt x="831527" y="2337648"/>
                  <a:pt x="858864" y="2339529"/>
                  <a:pt x="885798" y="2343873"/>
                </a:cubicBezTo>
                <a:cubicBezTo>
                  <a:pt x="918675" y="2349176"/>
                  <a:pt x="951388" y="2355448"/>
                  <a:pt x="984183" y="2361235"/>
                </a:cubicBezTo>
                <a:cubicBezTo>
                  <a:pt x="993829" y="2365093"/>
                  <a:pt x="1003131" y="2369956"/>
                  <a:pt x="1013120" y="2372810"/>
                </a:cubicBezTo>
                <a:cubicBezTo>
                  <a:pt x="1042363" y="2381165"/>
                  <a:pt x="1142188" y="2398818"/>
                  <a:pt x="1157803" y="2401746"/>
                </a:cubicBezTo>
                <a:cubicBezTo>
                  <a:pt x="1304416" y="2397888"/>
                  <a:pt x="1451148" y="2397232"/>
                  <a:pt x="1597641" y="2390172"/>
                </a:cubicBezTo>
                <a:cubicBezTo>
                  <a:pt x="1607101" y="2389716"/>
                  <a:pt x="1655471" y="2373477"/>
                  <a:pt x="1667089" y="2367022"/>
                </a:cubicBezTo>
                <a:cubicBezTo>
                  <a:pt x="1802280" y="2291917"/>
                  <a:pt x="1587576" y="2400989"/>
                  <a:pt x="1713388" y="2338086"/>
                </a:cubicBezTo>
                <a:cubicBezTo>
                  <a:pt x="1791758" y="2259712"/>
                  <a:pt x="1667757" y="2376223"/>
                  <a:pt x="1777049" y="2303362"/>
                </a:cubicBezTo>
                <a:cubicBezTo>
                  <a:pt x="1784227" y="2298576"/>
                  <a:pt x="1785895" y="2288397"/>
                  <a:pt x="1788623" y="2280212"/>
                </a:cubicBezTo>
                <a:cubicBezTo>
                  <a:pt x="1815955" y="2198216"/>
                  <a:pt x="1785673" y="2262964"/>
                  <a:pt x="1811773" y="2210764"/>
                </a:cubicBezTo>
                <a:cubicBezTo>
                  <a:pt x="1811257" y="2193225"/>
                  <a:pt x="1863949" y="2018643"/>
                  <a:pt x="1782836" y="2002420"/>
                </a:cubicBezTo>
                <a:cubicBezTo>
                  <a:pt x="1752334" y="1996319"/>
                  <a:pt x="1721105" y="1994703"/>
                  <a:pt x="1690239" y="1990845"/>
                </a:cubicBezTo>
                <a:cubicBezTo>
                  <a:pt x="1635944" y="1963698"/>
                  <a:pt x="1703885" y="1996304"/>
                  <a:pt x="1632365" y="1967696"/>
                </a:cubicBezTo>
                <a:cubicBezTo>
                  <a:pt x="1624355" y="1964492"/>
                  <a:pt x="1617756" y="1957341"/>
                  <a:pt x="1609216" y="1956121"/>
                </a:cubicBezTo>
                <a:cubicBezTo>
                  <a:pt x="1563224" y="1949550"/>
                  <a:pt x="1516619" y="1948404"/>
                  <a:pt x="1470320" y="1944546"/>
                </a:cubicBezTo>
                <a:cubicBezTo>
                  <a:pt x="1466462" y="1936830"/>
                  <a:pt x="1465647" y="1926573"/>
                  <a:pt x="1458745" y="1921397"/>
                </a:cubicBezTo>
                <a:cubicBezTo>
                  <a:pt x="1442461" y="1909184"/>
                  <a:pt x="1357760" y="1898779"/>
                  <a:pt x="1354573" y="1898248"/>
                </a:cubicBezTo>
                <a:cubicBezTo>
                  <a:pt x="1350715" y="1890531"/>
                  <a:pt x="1349735" y="1880488"/>
                  <a:pt x="1342998" y="1875098"/>
                </a:cubicBezTo>
                <a:cubicBezTo>
                  <a:pt x="1329524" y="1864319"/>
                  <a:pt x="1296699" y="1851949"/>
                  <a:pt x="1296699" y="1851949"/>
                </a:cubicBezTo>
                <a:cubicBezTo>
                  <a:pt x="1279337" y="1817224"/>
                  <a:pt x="1284161" y="1803721"/>
                  <a:pt x="1250401" y="1794076"/>
                </a:cubicBezTo>
                <a:cubicBezTo>
                  <a:pt x="1231485" y="1788671"/>
                  <a:pt x="1211818" y="1786359"/>
                  <a:pt x="1192527" y="1782501"/>
                </a:cubicBezTo>
                <a:cubicBezTo>
                  <a:pt x="1184811" y="1767068"/>
                  <a:pt x="1184811" y="1743918"/>
                  <a:pt x="1169378" y="1736202"/>
                </a:cubicBezTo>
                <a:lnTo>
                  <a:pt x="1123079" y="1713053"/>
                </a:lnTo>
                <a:cubicBezTo>
                  <a:pt x="1095050" y="1656993"/>
                  <a:pt x="1112131" y="1678955"/>
                  <a:pt x="1076780" y="1643605"/>
                </a:cubicBezTo>
                <a:cubicBezTo>
                  <a:pt x="1072922" y="1635888"/>
                  <a:pt x="1070382" y="1627357"/>
                  <a:pt x="1065206" y="1620455"/>
                </a:cubicBezTo>
                <a:cubicBezTo>
                  <a:pt x="1058658" y="1611725"/>
                  <a:pt x="1046936" y="1607067"/>
                  <a:pt x="1042056" y="1597306"/>
                </a:cubicBezTo>
                <a:cubicBezTo>
                  <a:pt x="1034942" y="1583078"/>
                  <a:pt x="1041731" y="1562256"/>
                  <a:pt x="1030482" y="1551007"/>
                </a:cubicBezTo>
                <a:cubicBezTo>
                  <a:pt x="1019233" y="1539758"/>
                  <a:pt x="999616" y="1543291"/>
                  <a:pt x="984183" y="1539433"/>
                </a:cubicBezTo>
                <a:cubicBezTo>
                  <a:pt x="976466" y="1535575"/>
                  <a:pt x="966556" y="1534486"/>
                  <a:pt x="961033" y="1527858"/>
                </a:cubicBezTo>
                <a:cubicBezTo>
                  <a:pt x="955941" y="1521747"/>
                  <a:pt x="955246" y="1512662"/>
                  <a:pt x="955246" y="1504708"/>
                </a:cubicBezTo>
                <a:cubicBezTo>
                  <a:pt x="955246" y="1477632"/>
                  <a:pt x="957016" y="1450463"/>
                  <a:pt x="961033" y="1423686"/>
                </a:cubicBezTo>
                <a:cubicBezTo>
                  <a:pt x="962816" y="1411799"/>
                  <a:pt x="979212" y="1372453"/>
                  <a:pt x="984183" y="1360025"/>
                </a:cubicBezTo>
                <a:cubicBezTo>
                  <a:pt x="982254" y="1344592"/>
                  <a:pt x="987314" y="1326468"/>
                  <a:pt x="978395" y="1313726"/>
                </a:cubicBezTo>
                <a:cubicBezTo>
                  <a:pt x="971398" y="1303731"/>
                  <a:pt x="953432" y="1309472"/>
                  <a:pt x="943671" y="1302152"/>
                </a:cubicBezTo>
                <a:cubicBezTo>
                  <a:pt x="936769" y="1296976"/>
                  <a:pt x="935955" y="1286719"/>
                  <a:pt x="932097" y="1279002"/>
                </a:cubicBezTo>
                <a:cubicBezTo>
                  <a:pt x="934026" y="1178688"/>
                  <a:pt x="928961" y="1077995"/>
                  <a:pt x="937884" y="978060"/>
                </a:cubicBezTo>
                <a:cubicBezTo>
                  <a:pt x="938854" y="967191"/>
                  <a:pt x="955419" y="964268"/>
                  <a:pt x="961033" y="954911"/>
                </a:cubicBezTo>
                <a:cubicBezTo>
                  <a:pt x="967310" y="944449"/>
                  <a:pt x="968077" y="931515"/>
                  <a:pt x="972608" y="920187"/>
                </a:cubicBezTo>
                <a:cubicBezTo>
                  <a:pt x="975812" y="912177"/>
                  <a:pt x="980325" y="904754"/>
                  <a:pt x="984183" y="897038"/>
                </a:cubicBezTo>
                <a:cubicBezTo>
                  <a:pt x="988041" y="866172"/>
                  <a:pt x="985921" y="833950"/>
                  <a:pt x="995758" y="804440"/>
                </a:cubicBezTo>
                <a:cubicBezTo>
                  <a:pt x="998486" y="796256"/>
                  <a:pt x="1012807" y="798965"/>
                  <a:pt x="1018907" y="792865"/>
                </a:cubicBezTo>
                <a:cubicBezTo>
                  <a:pt x="1028743" y="783028"/>
                  <a:pt x="1034588" y="769877"/>
                  <a:pt x="1042056" y="758141"/>
                </a:cubicBezTo>
                <a:cubicBezTo>
                  <a:pt x="1047249" y="749980"/>
                  <a:pt x="1067125" y="717657"/>
                  <a:pt x="1070993" y="706055"/>
                </a:cubicBezTo>
                <a:cubicBezTo>
                  <a:pt x="1076024" y="690964"/>
                  <a:pt x="1076302" y="674378"/>
                  <a:pt x="1082568" y="659757"/>
                </a:cubicBezTo>
                <a:cubicBezTo>
                  <a:pt x="1101450" y="615698"/>
                  <a:pt x="1103976" y="635069"/>
                  <a:pt x="1128866" y="601883"/>
                </a:cubicBezTo>
                <a:cubicBezTo>
                  <a:pt x="1134042" y="594981"/>
                  <a:pt x="1134918" y="585362"/>
                  <a:pt x="1140441" y="578734"/>
                </a:cubicBezTo>
                <a:cubicBezTo>
                  <a:pt x="1154413" y="561967"/>
                  <a:pt x="1186740" y="532435"/>
                  <a:pt x="1186740" y="532435"/>
                </a:cubicBezTo>
                <a:cubicBezTo>
                  <a:pt x="1196588" y="512738"/>
                  <a:pt x="1200571" y="498672"/>
                  <a:pt x="1221464" y="486136"/>
                </a:cubicBezTo>
                <a:cubicBezTo>
                  <a:pt x="1231926" y="479859"/>
                  <a:pt x="1244613" y="478420"/>
                  <a:pt x="1256188" y="474562"/>
                </a:cubicBezTo>
                <a:cubicBezTo>
                  <a:pt x="1263904" y="462987"/>
                  <a:pt x="1268650" y="448744"/>
                  <a:pt x="1279337" y="439838"/>
                </a:cubicBezTo>
                <a:cubicBezTo>
                  <a:pt x="1292592" y="428792"/>
                  <a:pt x="1309480" y="422746"/>
                  <a:pt x="1325636" y="416688"/>
                </a:cubicBezTo>
                <a:cubicBezTo>
                  <a:pt x="1341069" y="410901"/>
                  <a:pt x="1355829" y="402827"/>
                  <a:pt x="1371935" y="399326"/>
                </a:cubicBezTo>
                <a:cubicBezTo>
                  <a:pt x="1400461" y="393125"/>
                  <a:pt x="1429867" y="392030"/>
                  <a:pt x="1458745" y="387752"/>
                </a:cubicBezTo>
                <a:cubicBezTo>
                  <a:pt x="1481960" y="384313"/>
                  <a:pt x="1505044" y="380035"/>
                  <a:pt x="1528193" y="376177"/>
                </a:cubicBezTo>
                <a:cubicBezTo>
                  <a:pt x="1537839" y="372319"/>
                  <a:pt x="1549784" y="371948"/>
                  <a:pt x="1557130" y="364602"/>
                </a:cubicBezTo>
                <a:cubicBezTo>
                  <a:pt x="1580503" y="341228"/>
                  <a:pt x="1552274" y="329038"/>
                  <a:pt x="1591854" y="324091"/>
                </a:cubicBezTo>
                <a:cubicBezTo>
                  <a:pt x="1761596" y="302874"/>
                  <a:pt x="1737502" y="310587"/>
                  <a:pt x="1765474" y="300941"/>
                </a:cubicBezTo>
                <a:close/>
              </a:path>
            </a:pathLst>
          </a:cu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 name="Google Shape;91;p1"/>
          <p:cNvSpPr/>
          <p:nvPr/>
        </p:nvSpPr>
        <p:spPr>
          <a:xfrm>
            <a:off x="5723681" y="3956679"/>
            <a:ext cx="2476982" cy="2288149"/>
          </a:xfrm>
          <a:custGeom>
            <a:rect b="b" l="l" r="r" t="t"/>
            <a:pathLst>
              <a:path extrusionOk="0" h="2288149" w="2476982">
                <a:moveTo>
                  <a:pt x="63661" y="198632"/>
                </a:moveTo>
                <a:cubicBezTo>
                  <a:pt x="79094" y="207313"/>
                  <a:pt x="80541" y="221187"/>
                  <a:pt x="92597" y="227569"/>
                </a:cubicBezTo>
                <a:cubicBezTo>
                  <a:pt x="114163" y="238986"/>
                  <a:pt x="140221" y="239805"/>
                  <a:pt x="162046" y="250718"/>
                </a:cubicBezTo>
                <a:cubicBezTo>
                  <a:pt x="169762" y="254576"/>
                  <a:pt x="176678" y="260919"/>
                  <a:pt x="185195" y="262293"/>
                </a:cubicBezTo>
                <a:cubicBezTo>
                  <a:pt x="236933" y="270638"/>
                  <a:pt x="289367" y="273868"/>
                  <a:pt x="341453" y="279655"/>
                </a:cubicBezTo>
                <a:cubicBezTo>
                  <a:pt x="356886" y="283513"/>
                  <a:pt x="372185" y="287953"/>
                  <a:pt x="387752" y="291230"/>
                </a:cubicBezTo>
                <a:cubicBezTo>
                  <a:pt x="408858" y="295673"/>
                  <a:pt x="430418" y="297864"/>
                  <a:pt x="451413" y="302804"/>
                </a:cubicBezTo>
                <a:cubicBezTo>
                  <a:pt x="463289" y="305598"/>
                  <a:pt x="474562" y="310521"/>
                  <a:pt x="486137" y="314379"/>
                </a:cubicBezTo>
                <a:cubicBezTo>
                  <a:pt x="493853" y="322096"/>
                  <a:pt x="499928" y="331914"/>
                  <a:pt x="509286" y="337529"/>
                </a:cubicBezTo>
                <a:cubicBezTo>
                  <a:pt x="519748" y="343806"/>
                  <a:pt x="532544" y="344934"/>
                  <a:pt x="544010" y="349103"/>
                </a:cubicBezTo>
                <a:cubicBezTo>
                  <a:pt x="553773" y="352653"/>
                  <a:pt x="563301" y="356820"/>
                  <a:pt x="572947" y="360678"/>
                </a:cubicBezTo>
                <a:cubicBezTo>
                  <a:pt x="580663" y="368394"/>
                  <a:pt x="587366" y="377280"/>
                  <a:pt x="596096" y="383827"/>
                </a:cubicBezTo>
                <a:cubicBezTo>
                  <a:pt x="614785" y="397844"/>
                  <a:pt x="645336" y="401925"/>
                  <a:pt x="665544" y="406977"/>
                </a:cubicBezTo>
                <a:cubicBezTo>
                  <a:pt x="680977" y="422410"/>
                  <a:pt x="692322" y="443514"/>
                  <a:pt x="711843" y="453275"/>
                </a:cubicBezTo>
                <a:cubicBezTo>
                  <a:pt x="727276" y="460992"/>
                  <a:pt x="745941" y="464224"/>
                  <a:pt x="758142" y="476425"/>
                </a:cubicBezTo>
                <a:cubicBezTo>
                  <a:pt x="810541" y="528823"/>
                  <a:pt x="784920" y="512962"/>
                  <a:pt x="827590" y="534298"/>
                </a:cubicBezTo>
                <a:cubicBezTo>
                  <a:pt x="855343" y="617554"/>
                  <a:pt x="821672" y="513584"/>
                  <a:pt x="850739" y="615321"/>
                </a:cubicBezTo>
                <a:cubicBezTo>
                  <a:pt x="854091" y="627052"/>
                  <a:pt x="855222" y="640117"/>
                  <a:pt x="862314" y="650045"/>
                </a:cubicBezTo>
                <a:cubicBezTo>
                  <a:pt x="875000" y="667805"/>
                  <a:pt x="908613" y="696344"/>
                  <a:pt x="908613" y="696344"/>
                </a:cubicBezTo>
                <a:cubicBezTo>
                  <a:pt x="912471" y="704060"/>
                  <a:pt x="914664" y="712866"/>
                  <a:pt x="920187" y="719493"/>
                </a:cubicBezTo>
                <a:cubicBezTo>
                  <a:pt x="934159" y="736260"/>
                  <a:pt x="966486" y="765792"/>
                  <a:pt x="966486" y="765792"/>
                </a:cubicBezTo>
                <a:cubicBezTo>
                  <a:pt x="970344" y="788941"/>
                  <a:pt x="975539" y="811907"/>
                  <a:pt x="978061" y="835240"/>
                </a:cubicBezTo>
                <a:cubicBezTo>
                  <a:pt x="983261" y="883341"/>
                  <a:pt x="980980" y="932322"/>
                  <a:pt x="989635" y="979923"/>
                </a:cubicBezTo>
                <a:cubicBezTo>
                  <a:pt x="992722" y="996899"/>
                  <a:pt x="1012785" y="1026222"/>
                  <a:pt x="1012785" y="1026222"/>
                </a:cubicBezTo>
                <a:cubicBezTo>
                  <a:pt x="1010856" y="1047442"/>
                  <a:pt x="1010120" y="1068805"/>
                  <a:pt x="1006997" y="1089883"/>
                </a:cubicBezTo>
                <a:cubicBezTo>
                  <a:pt x="1002395" y="1120947"/>
                  <a:pt x="992760" y="1151232"/>
                  <a:pt x="989635" y="1182480"/>
                </a:cubicBezTo>
                <a:cubicBezTo>
                  <a:pt x="983097" y="1247857"/>
                  <a:pt x="991946" y="1315031"/>
                  <a:pt x="978061" y="1379250"/>
                </a:cubicBezTo>
                <a:cubicBezTo>
                  <a:pt x="975326" y="1391899"/>
                  <a:pt x="953939" y="1389191"/>
                  <a:pt x="943337" y="1396612"/>
                </a:cubicBezTo>
                <a:cubicBezTo>
                  <a:pt x="934397" y="1402870"/>
                  <a:pt x="927904" y="1412045"/>
                  <a:pt x="920187" y="1419761"/>
                </a:cubicBezTo>
                <a:cubicBezTo>
                  <a:pt x="916329" y="1427478"/>
                  <a:pt x="913789" y="1436009"/>
                  <a:pt x="908613" y="1442911"/>
                </a:cubicBezTo>
                <a:cubicBezTo>
                  <a:pt x="902065" y="1451641"/>
                  <a:pt x="889762" y="1456030"/>
                  <a:pt x="885463" y="1466060"/>
                </a:cubicBezTo>
                <a:cubicBezTo>
                  <a:pt x="869938" y="1502285"/>
                  <a:pt x="882438" y="1532777"/>
                  <a:pt x="856527" y="1564445"/>
                </a:cubicBezTo>
                <a:cubicBezTo>
                  <a:pt x="847718" y="1575211"/>
                  <a:pt x="833378" y="1579878"/>
                  <a:pt x="821803" y="1587594"/>
                </a:cubicBezTo>
                <a:cubicBezTo>
                  <a:pt x="791697" y="1647804"/>
                  <a:pt x="813634" y="1625332"/>
                  <a:pt x="758142" y="1657042"/>
                </a:cubicBezTo>
                <a:cubicBezTo>
                  <a:pt x="754284" y="1666688"/>
                  <a:pt x="752330" y="1677335"/>
                  <a:pt x="746567" y="1685979"/>
                </a:cubicBezTo>
                <a:cubicBezTo>
                  <a:pt x="731941" y="1707919"/>
                  <a:pt x="721618" y="1710029"/>
                  <a:pt x="700268" y="1720703"/>
                </a:cubicBezTo>
                <a:cubicBezTo>
                  <a:pt x="691032" y="1736097"/>
                  <a:pt x="677530" y="1763902"/>
                  <a:pt x="659757" y="1772789"/>
                </a:cubicBezTo>
                <a:cubicBezTo>
                  <a:pt x="645528" y="1779903"/>
                  <a:pt x="628891" y="1780506"/>
                  <a:pt x="613458" y="1784364"/>
                </a:cubicBezTo>
                <a:cubicBezTo>
                  <a:pt x="591704" y="1838752"/>
                  <a:pt x="618584" y="1793669"/>
                  <a:pt x="561372" y="1824875"/>
                </a:cubicBezTo>
                <a:cubicBezTo>
                  <a:pt x="551792" y="1830101"/>
                  <a:pt x="547303" y="1841972"/>
                  <a:pt x="538223" y="1848025"/>
                </a:cubicBezTo>
                <a:cubicBezTo>
                  <a:pt x="481063" y="1886132"/>
                  <a:pt x="455564" y="1874810"/>
                  <a:pt x="376177" y="1882749"/>
                </a:cubicBezTo>
                <a:cubicBezTo>
                  <a:pt x="364602" y="1888536"/>
                  <a:pt x="350158" y="1890535"/>
                  <a:pt x="341453" y="1900111"/>
                </a:cubicBezTo>
                <a:cubicBezTo>
                  <a:pt x="329846" y="1912878"/>
                  <a:pt x="318304" y="1946410"/>
                  <a:pt x="318304" y="1946410"/>
                </a:cubicBezTo>
                <a:cubicBezTo>
                  <a:pt x="320868" y="2015630"/>
                  <a:pt x="287994" y="2086320"/>
                  <a:pt x="347241" y="2125817"/>
                </a:cubicBezTo>
                <a:cubicBezTo>
                  <a:pt x="361597" y="2135388"/>
                  <a:pt x="379736" y="2138613"/>
                  <a:pt x="393539" y="2148966"/>
                </a:cubicBezTo>
                <a:cubicBezTo>
                  <a:pt x="401256" y="2154754"/>
                  <a:pt x="407585" y="2163142"/>
                  <a:pt x="416689" y="2166329"/>
                </a:cubicBezTo>
                <a:cubicBezTo>
                  <a:pt x="446718" y="2176839"/>
                  <a:pt x="509286" y="2189478"/>
                  <a:pt x="509286" y="2189478"/>
                </a:cubicBezTo>
                <a:cubicBezTo>
                  <a:pt x="634199" y="2264425"/>
                  <a:pt x="465258" y="2156018"/>
                  <a:pt x="549797" y="2229989"/>
                </a:cubicBezTo>
                <a:cubicBezTo>
                  <a:pt x="559536" y="2238511"/>
                  <a:pt x="572245" y="2243259"/>
                  <a:pt x="584522" y="2247351"/>
                </a:cubicBezTo>
                <a:cubicBezTo>
                  <a:pt x="636989" y="2264840"/>
                  <a:pt x="726803" y="2266769"/>
                  <a:pt x="769716" y="2270501"/>
                </a:cubicBezTo>
                <a:cubicBezTo>
                  <a:pt x="777433" y="2276288"/>
                  <a:pt x="783223" y="2287653"/>
                  <a:pt x="792866" y="2287863"/>
                </a:cubicBezTo>
                <a:cubicBezTo>
                  <a:pt x="869597" y="2289531"/>
                  <a:pt x="1075171" y="2284897"/>
                  <a:pt x="1169043" y="2247351"/>
                </a:cubicBezTo>
                <a:cubicBezTo>
                  <a:pt x="1341007" y="2178570"/>
                  <a:pt x="1065189" y="2291799"/>
                  <a:pt x="1221129" y="2218415"/>
                </a:cubicBezTo>
                <a:cubicBezTo>
                  <a:pt x="1245441" y="2206974"/>
                  <a:pt x="1271322" y="2199217"/>
                  <a:pt x="1296365" y="2189478"/>
                </a:cubicBezTo>
                <a:cubicBezTo>
                  <a:pt x="1306047" y="2185713"/>
                  <a:pt x="1315312" y="2180757"/>
                  <a:pt x="1325301" y="2177903"/>
                </a:cubicBezTo>
                <a:cubicBezTo>
                  <a:pt x="1364861" y="2166601"/>
                  <a:pt x="1372380" y="2165628"/>
                  <a:pt x="1412111" y="2148966"/>
                </a:cubicBezTo>
                <a:cubicBezTo>
                  <a:pt x="1456728" y="2130255"/>
                  <a:pt x="1501175" y="2111113"/>
                  <a:pt x="1545220" y="2091093"/>
                </a:cubicBezTo>
                <a:cubicBezTo>
                  <a:pt x="1564855" y="2082168"/>
                  <a:pt x="1583459" y="2071081"/>
                  <a:pt x="1603094" y="2062156"/>
                </a:cubicBezTo>
                <a:cubicBezTo>
                  <a:pt x="1637688" y="2046432"/>
                  <a:pt x="1697209" y="2025939"/>
                  <a:pt x="1730415" y="2004283"/>
                </a:cubicBezTo>
                <a:cubicBezTo>
                  <a:pt x="1756917" y="1986999"/>
                  <a:pt x="1779509" y="1964234"/>
                  <a:pt x="1805651" y="1946410"/>
                </a:cubicBezTo>
                <a:cubicBezTo>
                  <a:pt x="1822061" y="1935221"/>
                  <a:pt x="1842148" y="1929780"/>
                  <a:pt x="1857737" y="1917473"/>
                </a:cubicBezTo>
                <a:cubicBezTo>
                  <a:pt x="1879150" y="1900568"/>
                  <a:pt x="1894823" y="1877268"/>
                  <a:pt x="1915610" y="1859599"/>
                </a:cubicBezTo>
                <a:cubicBezTo>
                  <a:pt x="1958774" y="1822910"/>
                  <a:pt x="1982079" y="1814790"/>
                  <a:pt x="2031357" y="1790151"/>
                </a:cubicBezTo>
                <a:cubicBezTo>
                  <a:pt x="2097786" y="1712651"/>
                  <a:pt x="2032447" y="1784700"/>
                  <a:pt x="2106592" y="1714916"/>
                </a:cubicBezTo>
                <a:cubicBezTo>
                  <a:pt x="2126459" y="1696218"/>
                  <a:pt x="2144355" y="1675477"/>
                  <a:pt x="2164466" y="1657042"/>
                </a:cubicBezTo>
                <a:cubicBezTo>
                  <a:pt x="2190687" y="1633006"/>
                  <a:pt x="2223345" y="1615432"/>
                  <a:pt x="2245489" y="1587594"/>
                </a:cubicBezTo>
                <a:cubicBezTo>
                  <a:pt x="2384876" y="1412364"/>
                  <a:pt x="2340506" y="1447174"/>
                  <a:pt x="2413322" y="1292440"/>
                </a:cubicBezTo>
                <a:cubicBezTo>
                  <a:pt x="2480636" y="1149397"/>
                  <a:pt x="2443110" y="1260663"/>
                  <a:pt x="2476982" y="1147756"/>
                </a:cubicBezTo>
                <a:cubicBezTo>
                  <a:pt x="2463478" y="1049371"/>
                  <a:pt x="2451202" y="950810"/>
                  <a:pt x="2436471" y="852602"/>
                </a:cubicBezTo>
                <a:cubicBezTo>
                  <a:pt x="2427115" y="790227"/>
                  <a:pt x="2417962" y="783849"/>
                  <a:pt x="2384385" y="719493"/>
                </a:cubicBezTo>
                <a:cubicBezTo>
                  <a:pt x="2359236" y="671290"/>
                  <a:pt x="2348789" y="654670"/>
                  <a:pt x="2314937" y="609534"/>
                </a:cubicBezTo>
                <a:cubicBezTo>
                  <a:pt x="2300114" y="589770"/>
                  <a:pt x="2285332" y="569871"/>
                  <a:pt x="2268638" y="551660"/>
                </a:cubicBezTo>
                <a:cubicBezTo>
                  <a:pt x="2242829" y="523505"/>
                  <a:pt x="2221777" y="487718"/>
                  <a:pt x="2187615" y="470637"/>
                </a:cubicBezTo>
                <a:cubicBezTo>
                  <a:pt x="2075476" y="414568"/>
                  <a:pt x="2174728" y="460784"/>
                  <a:pt x="2095018" y="430126"/>
                </a:cubicBezTo>
                <a:cubicBezTo>
                  <a:pt x="2081305" y="424852"/>
                  <a:pt x="2069100" y="414461"/>
                  <a:pt x="2054506" y="412764"/>
                </a:cubicBezTo>
                <a:cubicBezTo>
                  <a:pt x="1985416" y="404730"/>
                  <a:pt x="1915610" y="405047"/>
                  <a:pt x="1846162" y="401189"/>
                </a:cubicBezTo>
                <a:cubicBezTo>
                  <a:pt x="1821084" y="391544"/>
                  <a:pt x="1796518" y="380442"/>
                  <a:pt x="1770927" y="372253"/>
                </a:cubicBezTo>
                <a:cubicBezTo>
                  <a:pt x="1748200" y="364981"/>
                  <a:pt x="1723718" y="363540"/>
                  <a:pt x="1701478" y="354891"/>
                </a:cubicBezTo>
                <a:cubicBezTo>
                  <a:pt x="1688513" y="349849"/>
                  <a:pt x="1678730" y="338818"/>
                  <a:pt x="1666754" y="331741"/>
                </a:cubicBezTo>
                <a:cubicBezTo>
                  <a:pt x="1636266" y="313725"/>
                  <a:pt x="1604987" y="297081"/>
                  <a:pt x="1574157" y="279655"/>
                </a:cubicBezTo>
                <a:cubicBezTo>
                  <a:pt x="1560617" y="272002"/>
                  <a:pt x="1545594" y="266463"/>
                  <a:pt x="1533646" y="256506"/>
                </a:cubicBezTo>
                <a:cubicBezTo>
                  <a:pt x="1522071" y="246860"/>
                  <a:pt x="1511633" y="235658"/>
                  <a:pt x="1498922" y="227569"/>
                </a:cubicBezTo>
                <a:cubicBezTo>
                  <a:pt x="1473721" y="211532"/>
                  <a:pt x="1422567" y="208092"/>
                  <a:pt x="1400537" y="204420"/>
                </a:cubicBezTo>
                <a:cubicBezTo>
                  <a:pt x="1392820" y="196703"/>
                  <a:pt x="1385909" y="188087"/>
                  <a:pt x="1377387" y="181270"/>
                </a:cubicBezTo>
                <a:cubicBezTo>
                  <a:pt x="1352769" y="161575"/>
                  <a:pt x="1305896" y="136424"/>
                  <a:pt x="1279003" y="129184"/>
                </a:cubicBezTo>
                <a:cubicBezTo>
                  <a:pt x="1250814" y="121595"/>
                  <a:pt x="1221018" y="122222"/>
                  <a:pt x="1192192" y="117610"/>
                </a:cubicBezTo>
                <a:cubicBezTo>
                  <a:pt x="1172766" y="114502"/>
                  <a:pt x="1153610" y="109893"/>
                  <a:pt x="1134319" y="106035"/>
                </a:cubicBezTo>
                <a:cubicBezTo>
                  <a:pt x="1082122" y="79935"/>
                  <a:pt x="1146866" y="110216"/>
                  <a:pt x="1064871" y="82885"/>
                </a:cubicBezTo>
                <a:cubicBezTo>
                  <a:pt x="1056687" y="80157"/>
                  <a:pt x="1050128" y="73251"/>
                  <a:pt x="1041722" y="71311"/>
                </a:cubicBezTo>
                <a:cubicBezTo>
                  <a:pt x="917763" y="42705"/>
                  <a:pt x="938000" y="54625"/>
                  <a:pt x="833377" y="36587"/>
                </a:cubicBezTo>
                <a:cubicBezTo>
                  <a:pt x="804296" y="31573"/>
                  <a:pt x="775504" y="25012"/>
                  <a:pt x="746567" y="19225"/>
                </a:cubicBezTo>
                <a:cubicBezTo>
                  <a:pt x="738851" y="15367"/>
                  <a:pt x="732045" y="7650"/>
                  <a:pt x="723418" y="7650"/>
                </a:cubicBezTo>
                <a:cubicBezTo>
                  <a:pt x="251781" y="7650"/>
                  <a:pt x="378258" y="-20357"/>
                  <a:pt x="173620" y="30799"/>
                </a:cubicBezTo>
                <a:cubicBezTo>
                  <a:pt x="165904" y="38516"/>
                  <a:pt x="159551" y="47896"/>
                  <a:pt x="150471" y="53949"/>
                </a:cubicBezTo>
                <a:cubicBezTo>
                  <a:pt x="141827" y="59712"/>
                  <a:pt x="131297" y="61973"/>
                  <a:pt x="121534" y="65523"/>
                </a:cubicBezTo>
                <a:cubicBezTo>
                  <a:pt x="92166" y="76202"/>
                  <a:pt x="77040" y="79889"/>
                  <a:pt x="46299" y="88673"/>
                </a:cubicBezTo>
                <a:cubicBezTo>
                  <a:pt x="38582" y="102177"/>
                  <a:pt x="30468" y="115461"/>
                  <a:pt x="23149" y="129184"/>
                </a:cubicBezTo>
                <a:cubicBezTo>
                  <a:pt x="15029" y="144409"/>
                  <a:pt x="0" y="175483"/>
                  <a:pt x="0" y="175483"/>
                </a:cubicBezTo>
                <a:cubicBezTo>
                  <a:pt x="7658" y="206118"/>
                  <a:pt x="48228" y="189951"/>
                  <a:pt x="63661" y="198632"/>
                </a:cubicBezTo>
                <a:close/>
              </a:path>
            </a:pathLst>
          </a:cu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2" name="Google Shape;92;p1"/>
          <p:cNvSpPr/>
          <p:nvPr/>
        </p:nvSpPr>
        <p:spPr>
          <a:xfrm>
            <a:off x="4948177" y="5370653"/>
            <a:ext cx="225707" cy="196770"/>
          </a:xfrm>
          <a:prstGeom prst="ellipse">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99" name="Google Shape;99;p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pt-BR" sz="3500" u="none" cap="none" strike="noStrike">
                <a:solidFill>
                  <a:schemeClr val="lt1"/>
                </a:solidFill>
                <a:latin typeface="Palatino Linotype"/>
                <a:ea typeface="Palatino Linotype"/>
                <a:cs typeface="Palatino Linotype"/>
                <a:sym typeface="Palatino Linotype"/>
              </a:rPr>
              <a:t>Revisão da aula anterior:</a:t>
            </a:r>
            <a:endParaRPr/>
          </a:p>
        </p:txBody>
      </p:sp>
      <p:sp>
        <p:nvSpPr>
          <p:cNvPr id="100" name="Google Shape;100;p2"/>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101" name="Google Shape;101;p2"/>
          <p:cNvSpPr txBox="1"/>
          <p:nvPr/>
        </p:nvSpPr>
        <p:spPr>
          <a:xfrm>
            <a:off x="1018572" y="2031359"/>
            <a:ext cx="1002367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1"/>
                </a:solidFill>
                <a:latin typeface="Palatino Linotype"/>
                <a:ea typeface="Palatino Linotype"/>
                <a:cs typeface="Palatino Linotype"/>
                <a:sym typeface="Palatino Linotype"/>
              </a:rPr>
              <a:t>O </a:t>
            </a:r>
            <a:r>
              <a:rPr b="1" lang="pt-BR" sz="1800">
                <a:solidFill>
                  <a:srgbClr val="0070C0"/>
                </a:solidFill>
                <a:latin typeface="Palatino Linotype"/>
                <a:ea typeface="Palatino Linotype"/>
                <a:cs typeface="Palatino Linotype"/>
                <a:sym typeface="Palatino Linotype"/>
              </a:rPr>
              <a:t>contrapoder</a:t>
            </a:r>
            <a:r>
              <a:rPr lang="pt-BR" sz="1800">
                <a:solidFill>
                  <a:schemeClr val="dk1"/>
                </a:solidFill>
                <a:latin typeface="Palatino Linotype"/>
                <a:ea typeface="Palatino Linotype"/>
                <a:cs typeface="Palatino Linotype"/>
                <a:sym typeface="Palatino Linotype"/>
              </a:rPr>
              <a:t> significa mais do que a rebeldia e não precisa ser necessariamente violento para ser efetivo.</a:t>
            </a:r>
            <a:endParaRPr/>
          </a:p>
        </p:txBody>
      </p:sp>
      <p:sp>
        <p:nvSpPr>
          <p:cNvPr id="102" name="Google Shape;102;p2"/>
          <p:cNvSpPr txBox="1"/>
          <p:nvPr/>
        </p:nvSpPr>
        <p:spPr>
          <a:xfrm>
            <a:off x="1018572" y="2826154"/>
            <a:ext cx="1002367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1"/>
                </a:solidFill>
                <a:latin typeface="Palatino Linotype"/>
                <a:ea typeface="Palatino Linotype"/>
                <a:cs typeface="Palatino Linotype"/>
                <a:sym typeface="Palatino Linotype"/>
              </a:rPr>
              <a:t>As pessoas podem usar o contrapoder de três formas:</a:t>
            </a:r>
            <a:endParaRPr/>
          </a:p>
          <a:p>
            <a:pPr indent="-285750" lvl="0" marL="285750" marR="0" rtl="0" algn="just">
              <a:spcBef>
                <a:spcPts val="0"/>
              </a:spcBef>
              <a:spcAft>
                <a:spcPts val="0"/>
              </a:spcAft>
              <a:buClr>
                <a:schemeClr val="dk1"/>
              </a:buClr>
              <a:buSzPts val="1800"/>
              <a:buFont typeface="Noto Sans Symbols"/>
              <a:buChar char="▪"/>
            </a:pPr>
            <a:r>
              <a:rPr b="1" lang="pt-BR" sz="1800">
                <a:solidFill>
                  <a:schemeClr val="dk1"/>
                </a:solidFill>
                <a:latin typeface="Palatino Linotype"/>
                <a:ea typeface="Palatino Linotype"/>
                <a:cs typeface="Palatino Linotype"/>
                <a:sym typeface="Palatino Linotype"/>
              </a:rPr>
              <a:t>Contrapoder da Ideia</a:t>
            </a:r>
            <a:r>
              <a:rPr lang="pt-BR" sz="1800">
                <a:solidFill>
                  <a:schemeClr val="dk1"/>
                </a:solidFill>
                <a:latin typeface="Palatino Linotype"/>
                <a:ea typeface="Palatino Linotype"/>
                <a:cs typeface="Palatino Linotype"/>
                <a:sym typeface="Palatino Linotype"/>
              </a:rPr>
              <a:t>: consiste em questionar/desafiar verdades aceitas, recusando-se a obedecer e buscando formas de comunicar a ideia questionadora.</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285750" lvl="0" marL="285750" marR="0" rtl="0" algn="just">
              <a:spcBef>
                <a:spcPts val="0"/>
              </a:spcBef>
              <a:spcAft>
                <a:spcPts val="0"/>
              </a:spcAft>
              <a:buClr>
                <a:schemeClr val="dk1"/>
              </a:buClr>
              <a:buSzPts val="1800"/>
              <a:buFont typeface="Noto Sans Symbols"/>
              <a:buChar char="▪"/>
            </a:pPr>
            <a:r>
              <a:rPr b="1" lang="pt-BR" sz="1800">
                <a:solidFill>
                  <a:schemeClr val="dk1"/>
                </a:solidFill>
                <a:latin typeface="Palatino Linotype"/>
                <a:ea typeface="Palatino Linotype"/>
                <a:cs typeface="Palatino Linotype"/>
                <a:sym typeface="Palatino Linotype"/>
              </a:rPr>
              <a:t>Contrapoder Econômico</a:t>
            </a:r>
            <a:r>
              <a:rPr lang="pt-BR" sz="1800">
                <a:solidFill>
                  <a:schemeClr val="dk1"/>
                </a:solidFill>
                <a:latin typeface="Palatino Linotype"/>
                <a:ea typeface="Palatino Linotype"/>
                <a:cs typeface="Palatino Linotype"/>
                <a:sym typeface="Palatino Linotype"/>
              </a:rPr>
              <a:t>: consiste em greves, boicotes, consumo ético e criação de regulamentos democráticos.</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285750" lvl="0" marL="285750" marR="0" rtl="0" algn="just">
              <a:spcBef>
                <a:spcPts val="0"/>
              </a:spcBef>
              <a:spcAft>
                <a:spcPts val="0"/>
              </a:spcAft>
              <a:buClr>
                <a:schemeClr val="dk1"/>
              </a:buClr>
              <a:buSzPts val="1800"/>
              <a:buFont typeface="Noto Sans Symbols"/>
              <a:buChar char="▪"/>
            </a:pPr>
            <a:r>
              <a:rPr b="1" lang="pt-BR" sz="1800">
                <a:solidFill>
                  <a:schemeClr val="dk1"/>
                </a:solidFill>
                <a:latin typeface="Palatino Linotype"/>
                <a:ea typeface="Palatino Linotype"/>
                <a:cs typeface="Palatino Linotype"/>
                <a:sym typeface="Palatino Linotype"/>
              </a:rPr>
              <a:t>Contrapoder Físico</a:t>
            </a:r>
            <a:r>
              <a:rPr lang="pt-BR" sz="1800">
                <a:solidFill>
                  <a:schemeClr val="dk1"/>
                </a:solidFill>
                <a:latin typeface="Palatino Linotype"/>
                <a:ea typeface="Palatino Linotype"/>
                <a:cs typeface="Palatino Linotype"/>
                <a:sym typeface="Palatino Linotype"/>
              </a:rPr>
              <a:t>: consiste em lutar (às vezes fisicamente, mas também pode ser por formas alternativas e não violentas como se colocar no caminho de injustiças).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109" name="Google Shape;109;p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Jogos de </a:t>
            </a:r>
            <a:r>
              <a:rPr lang="pt-BR" sz="3500">
                <a:solidFill>
                  <a:srgbClr val="FFC000"/>
                </a:solidFill>
                <a:latin typeface="Palatino Linotype"/>
                <a:ea typeface="Palatino Linotype"/>
                <a:cs typeface="Palatino Linotype"/>
                <a:sym typeface="Palatino Linotype"/>
              </a:rPr>
              <a:t>poder</a:t>
            </a:r>
            <a:r>
              <a:rPr lang="pt-BR" sz="3500">
                <a:solidFill>
                  <a:schemeClr val="lt1"/>
                </a:solidFill>
                <a:latin typeface="Palatino Linotype"/>
                <a:ea typeface="Palatino Linotype"/>
                <a:cs typeface="Palatino Linotype"/>
                <a:sym typeface="Palatino Linotype"/>
              </a:rPr>
              <a:t> nas organizações</a:t>
            </a:r>
            <a:endParaRPr/>
          </a:p>
        </p:txBody>
      </p:sp>
      <p:sp>
        <p:nvSpPr>
          <p:cNvPr id="110" name="Google Shape;110;p3"/>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pic>
        <p:nvPicPr>
          <p:cNvPr id="111" name="Google Shape;111;p3"/>
          <p:cNvPicPr preferRelativeResize="0"/>
          <p:nvPr/>
        </p:nvPicPr>
        <p:blipFill rotWithShape="1">
          <a:blip r:embed="rId3">
            <a:alphaModFix/>
          </a:blip>
          <a:srcRect b="0" l="0" r="0" t="0"/>
          <a:stretch/>
        </p:blipFill>
        <p:spPr>
          <a:xfrm>
            <a:off x="1018572" y="2161094"/>
            <a:ext cx="1901355" cy="2686283"/>
          </a:xfrm>
          <a:prstGeom prst="rect">
            <a:avLst/>
          </a:prstGeom>
          <a:noFill/>
          <a:ln>
            <a:noFill/>
          </a:ln>
        </p:spPr>
      </p:pic>
      <p:sp>
        <p:nvSpPr>
          <p:cNvPr id="112" name="Google Shape;112;p3"/>
          <p:cNvSpPr/>
          <p:nvPr/>
        </p:nvSpPr>
        <p:spPr>
          <a:xfrm>
            <a:off x="2752611" y="2633411"/>
            <a:ext cx="1120000" cy="554727"/>
          </a:xfrm>
          <a:prstGeom prst="triangle">
            <a:avLst>
              <a:gd fmla="val 50000"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 name="Google Shape;113;p3"/>
          <p:cNvSpPr/>
          <p:nvPr/>
        </p:nvSpPr>
        <p:spPr>
          <a:xfrm>
            <a:off x="3112640" y="2218980"/>
            <a:ext cx="4925978" cy="2848557"/>
          </a:xfrm>
          <a:prstGeom prst="roundRect">
            <a:avLst>
              <a:gd fmla="val 16667"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b="1" lang="pt-BR" sz="2000">
                <a:solidFill>
                  <a:schemeClr val="dk1"/>
                </a:solidFill>
                <a:latin typeface="Palatino Linotype"/>
                <a:ea typeface="Palatino Linotype"/>
                <a:cs typeface="Palatino Linotype"/>
                <a:sym typeface="Palatino Linotype"/>
              </a:rPr>
              <a:t>“[...] o comportamento organizacional é um jogo de poder no qual vários jogadores, chamados influenciadores, tentam controlar as ações e as decisões da organização [...]”</a:t>
            </a:r>
            <a:endParaRPr/>
          </a:p>
          <a:p>
            <a:pPr indent="0" lvl="0" marL="0" marR="0" rtl="0" algn="l">
              <a:spcBef>
                <a:spcPts val="0"/>
              </a:spcBef>
              <a:spcAft>
                <a:spcPts val="0"/>
              </a:spcAft>
              <a:buNone/>
            </a:pPr>
            <a:r>
              <a:t/>
            </a:r>
            <a:endParaRPr b="1" sz="2000">
              <a:solidFill>
                <a:schemeClr val="dk1"/>
              </a:solidFill>
              <a:latin typeface="Palatino Linotype"/>
              <a:ea typeface="Palatino Linotype"/>
              <a:cs typeface="Palatino Linotype"/>
              <a:sym typeface="Palatino Linotype"/>
            </a:endParaRPr>
          </a:p>
          <a:p>
            <a:pPr indent="0" lvl="0" marL="0" marR="0" rtl="0" algn="r">
              <a:spcBef>
                <a:spcPts val="0"/>
              </a:spcBef>
              <a:spcAft>
                <a:spcPts val="0"/>
              </a:spcAft>
              <a:buNone/>
            </a:pPr>
            <a:r>
              <a:rPr b="1" lang="pt-BR" sz="2000">
                <a:solidFill>
                  <a:srgbClr val="BF9000"/>
                </a:solidFill>
                <a:latin typeface="Palatino Linotype"/>
                <a:ea typeface="Palatino Linotype"/>
                <a:cs typeface="Palatino Linotype"/>
                <a:sym typeface="Palatino Linotype"/>
              </a:rPr>
              <a:t>(Mintzberg, 1983, p. 22).</a:t>
            </a:r>
            <a:endParaRPr/>
          </a:p>
        </p:txBody>
      </p:sp>
      <p:sp>
        <p:nvSpPr>
          <p:cNvPr id="114" name="Google Shape;114;p3"/>
          <p:cNvSpPr txBox="1"/>
          <p:nvPr/>
        </p:nvSpPr>
        <p:spPr>
          <a:xfrm>
            <a:off x="1018572" y="5390844"/>
            <a:ext cx="10023676"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pt-BR" sz="1800">
                <a:solidFill>
                  <a:schemeClr val="dk1"/>
                </a:solidFill>
                <a:latin typeface="Palatino Linotype"/>
                <a:ea typeface="Palatino Linotype"/>
                <a:cs typeface="Palatino Linotype"/>
                <a:sym typeface="Palatino Linotype"/>
              </a:rPr>
              <a:t>Esses influenciadores procuram dominar as bases de poder para utilizá-las em jogos cujo objetivo é satisfazer suas próprias necessidades ou assegurar o alcance dos interesses organizacionais. </a:t>
            </a:r>
            <a:endParaRPr/>
          </a:p>
        </p:txBody>
      </p:sp>
      <p:sp>
        <p:nvSpPr>
          <p:cNvPr id="115" name="Google Shape;115;p3"/>
          <p:cNvSpPr txBox="1"/>
          <p:nvPr/>
        </p:nvSpPr>
        <p:spPr>
          <a:xfrm>
            <a:off x="1018572" y="4847377"/>
            <a:ext cx="1901355"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pt-BR" sz="1300">
                <a:solidFill>
                  <a:schemeClr val="dk1"/>
                </a:solidFill>
                <a:latin typeface="Palatino Linotype"/>
                <a:ea typeface="Palatino Linotype"/>
                <a:cs typeface="Palatino Linotype"/>
                <a:sym typeface="Palatino Linotype"/>
              </a:rPr>
              <a:t>Henry Mintzberg</a:t>
            </a:r>
            <a:endParaRPr sz="1300">
              <a:solidFill>
                <a:schemeClr val="dk1"/>
              </a:solidFill>
              <a:latin typeface="Palatino Linotype"/>
              <a:ea typeface="Palatino Linotype"/>
              <a:cs typeface="Palatino Linotype"/>
              <a:sym typeface="Palatino Linotype"/>
            </a:endParaRPr>
          </a:p>
          <a:p>
            <a:pPr indent="0" lvl="0" marL="0" marR="0" rtl="0" algn="ctr">
              <a:spcBef>
                <a:spcPts val="0"/>
              </a:spcBef>
              <a:spcAft>
                <a:spcPts val="0"/>
              </a:spcAft>
              <a:buNone/>
            </a:pPr>
            <a:r>
              <a:rPr lang="pt-BR" sz="1300">
                <a:solidFill>
                  <a:schemeClr val="dk1"/>
                </a:solidFill>
                <a:latin typeface="Palatino Linotype"/>
                <a:ea typeface="Palatino Linotype"/>
                <a:cs typeface="Palatino Linotype"/>
                <a:sym typeface="Palatino Linotype"/>
              </a:rPr>
              <a:t>Canadá</a:t>
            </a:r>
            <a:endParaRPr/>
          </a:p>
        </p:txBody>
      </p:sp>
      <p:pic>
        <p:nvPicPr>
          <p:cNvPr id="116" name="Google Shape;116;p3"/>
          <p:cNvPicPr preferRelativeResize="0"/>
          <p:nvPr/>
        </p:nvPicPr>
        <p:blipFill rotWithShape="1">
          <a:blip r:embed="rId4">
            <a:alphaModFix/>
          </a:blip>
          <a:srcRect b="0" l="0" r="0" t="0"/>
          <a:stretch/>
        </p:blipFill>
        <p:spPr>
          <a:xfrm>
            <a:off x="9001437" y="2154750"/>
            <a:ext cx="2040811" cy="2848558"/>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123" name="Google Shape;123;p4"/>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Jogos de rebeldia ou insurgência</a:t>
            </a:r>
            <a:endParaRPr/>
          </a:p>
        </p:txBody>
      </p:sp>
      <p:sp>
        <p:nvSpPr>
          <p:cNvPr id="124" name="Google Shape;124;p4"/>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125" name="Google Shape;125;p4"/>
          <p:cNvSpPr txBox="1"/>
          <p:nvPr/>
        </p:nvSpPr>
        <p:spPr>
          <a:xfrm>
            <a:off x="1018572" y="2026499"/>
            <a:ext cx="10023676" cy="397031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pt-BR" sz="1800">
                <a:solidFill>
                  <a:schemeClr val="dk1"/>
                </a:solidFill>
                <a:latin typeface="Palatino Linotype"/>
                <a:ea typeface="Palatino Linotype"/>
                <a:cs typeface="Palatino Linotype"/>
                <a:sym typeface="Palatino Linotype"/>
              </a:rPr>
              <a:t> Jogos de rebeldia ou resistência fazem parte do movimento de </a:t>
            </a:r>
            <a:r>
              <a:rPr b="1" lang="pt-BR" sz="1800">
                <a:solidFill>
                  <a:srgbClr val="0070C0"/>
                </a:solidFill>
                <a:latin typeface="Palatino Linotype"/>
                <a:ea typeface="Palatino Linotype"/>
                <a:cs typeface="Palatino Linotype"/>
                <a:sym typeface="Palatino Linotype"/>
              </a:rPr>
              <a:t>resistência à autoridade </a:t>
            </a:r>
            <a:r>
              <a:rPr lang="pt-BR" sz="1800">
                <a:solidFill>
                  <a:schemeClr val="dk1"/>
                </a:solidFill>
                <a:latin typeface="Palatino Linotype"/>
                <a:ea typeface="Palatino Linotype"/>
                <a:cs typeface="Palatino Linotype"/>
                <a:sym typeface="Palatino Linotype"/>
              </a:rPr>
              <a:t>ou como forma de efetuar mudanças na organização.</a:t>
            </a:r>
            <a:endParaRPr/>
          </a:p>
          <a:p>
            <a:pPr indent="0" lvl="0" marL="0" marR="0" rtl="0" algn="just">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Os “jogadores” podem agir para tornar a ação pendente (atrasá-la) ou para distorcê-la, voltando-a para a realização de seus objetivos pessoais. </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Podem ser jogados de dois modos:</a:t>
            </a:r>
            <a:endParaRPr/>
          </a:p>
          <a:p>
            <a:pPr indent="-342900" lvl="0" marL="342900" marR="0" rtl="0" algn="just">
              <a:spcBef>
                <a:spcPts val="0"/>
              </a:spcBef>
              <a:spcAft>
                <a:spcPts val="0"/>
              </a:spcAft>
              <a:buClr>
                <a:schemeClr val="dk1"/>
              </a:buClr>
              <a:buSzPts val="1800"/>
              <a:buFont typeface="Palatino Linotype"/>
              <a:buAutoNum type="arabicParenR"/>
            </a:pPr>
            <a:r>
              <a:rPr lang="pt-BR" sz="1800">
                <a:solidFill>
                  <a:schemeClr val="dk1"/>
                </a:solidFill>
                <a:latin typeface="Palatino Linotype"/>
                <a:ea typeface="Palatino Linotype"/>
                <a:cs typeface="Palatino Linotype"/>
                <a:sym typeface="Palatino Linotype"/>
              </a:rPr>
              <a:t>Sutilmente: por indivíduos ou pequenos grupos (que sozinhos detêm pouco poder, mas reunidos passam a deter maior poder político)</a:t>
            </a:r>
            <a:endParaRPr/>
          </a:p>
          <a:p>
            <a:pPr indent="-342900" lvl="0" marL="342900" marR="0" rtl="0" algn="just">
              <a:spcBef>
                <a:spcPts val="0"/>
              </a:spcBef>
              <a:spcAft>
                <a:spcPts val="0"/>
              </a:spcAft>
              <a:buClr>
                <a:schemeClr val="dk1"/>
              </a:buClr>
              <a:buSzPts val="1800"/>
              <a:buFont typeface="Palatino Linotype"/>
              <a:buAutoNum type="arabicParenR"/>
            </a:pPr>
            <a:r>
              <a:rPr lang="pt-BR" sz="1800">
                <a:solidFill>
                  <a:schemeClr val="dk1"/>
                </a:solidFill>
                <a:latin typeface="Palatino Linotype"/>
                <a:ea typeface="Palatino Linotype"/>
                <a:cs typeface="Palatino Linotype"/>
                <a:sym typeface="Palatino Linotype"/>
              </a:rPr>
              <a:t>Agressivamente: por grandes grupos, caracterizando movimentos de massa, que podem provocar sérios danos para a organização. </a:t>
            </a:r>
            <a:endParaRPr/>
          </a:p>
          <a:p>
            <a:pPr indent="-228600" lvl="0" marL="342900" marR="0" rtl="0" algn="just">
              <a:spcBef>
                <a:spcPts val="0"/>
              </a:spcBef>
              <a:spcAft>
                <a:spcPts val="0"/>
              </a:spcAft>
              <a:buClr>
                <a:schemeClr val="dk1"/>
              </a:buClr>
              <a:buSzPts val="1800"/>
              <a:buFont typeface="Calibri"/>
              <a:buNone/>
            </a:pPr>
            <a:r>
              <a:t/>
            </a:r>
            <a:endParaRPr sz="1800">
              <a:solidFill>
                <a:schemeClr val="dk1"/>
              </a:solidFill>
              <a:latin typeface="Palatino Linotype"/>
              <a:ea typeface="Palatino Linotype"/>
              <a:cs typeface="Palatino Linotype"/>
              <a:sym typeface="Palatino Linotype"/>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Efeitos colaterais: os poderosos podem jogar a </a:t>
            </a:r>
            <a:r>
              <a:rPr b="1" lang="pt-BR" sz="1800">
                <a:solidFill>
                  <a:srgbClr val="0070C0"/>
                </a:solidFill>
                <a:latin typeface="Palatino Linotype"/>
                <a:ea typeface="Palatino Linotype"/>
                <a:cs typeface="Palatino Linotype"/>
                <a:sym typeface="Palatino Linotype"/>
              </a:rPr>
              <a:t>contra-insurgência</a:t>
            </a:r>
            <a:r>
              <a:rPr lang="pt-BR" sz="1800">
                <a:solidFill>
                  <a:schemeClr val="dk1"/>
                </a:solidFill>
                <a:latin typeface="Palatino Linotype"/>
                <a:ea typeface="Palatino Linotype"/>
                <a:cs typeface="Palatino Linotype"/>
                <a:sym typeface="Palatino Linotype"/>
              </a:rPr>
              <a:t> (uso de poder político, informações, persuasões e trocas com os subordinados para controlar a resistência)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132" name="Google Shape;132;p5"/>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Jogos de rebeldia ou insurgência: </a:t>
            </a:r>
            <a:r>
              <a:rPr i="1" lang="pt-BR" sz="3500">
                <a:solidFill>
                  <a:srgbClr val="FFC000"/>
                </a:solidFill>
                <a:latin typeface="Palatino Linotype"/>
                <a:ea typeface="Palatino Linotype"/>
                <a:cs typeface="Palatino Linotype"/>
                <a:sym typeface="Palatino Linotype"/>
              </a:rPr>
              <a:t>sabots</a:t>
            </a:r>
            <a:endParaRPr i="1" sz="3500">
              <a:solidFill>
                <a:srgbClr val="FFC000"/>
              </a:solidFill>
              <a:latin typeface="Palatino Linotype"/>
              <a:ea typeface="Palatino Linotype"/>
              <a:cs typeface="Palatino Linotype"/>
              <a:sym typeface="Palatino Linotype"/>
            </a:endParaRPr>
          </a:p>
        </p:txBody>
      </p:sp>
      <p:sp>
        <p:nvSpPr>
          <p:cNvPr id="133" name="Google Shape;133;p5"/>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pic>
        <p:nvPicPr>
          <p:cNvPr id="134" name="Google Shape;134;p5"/>
          <p:cNvPicPr preferRelativeResize="0"/>
          <p:nvPr/>
        </p:nvPicPr>
        <p:blipFill rotWithShape="1">
          <a:blip r:embed="rId3">
            <a:alphaModFix/>
          </a:blip>
          <a:srcRect b="0" l="0" r="0" t="0"/>
          <a:stretch/>
        </p:blipFill>
        <p:spPr>
          <a:xfrm>
            <a:off x="3555932" y="2592334"/>
            <a:ext cx="4782754" cy="29377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141" name="Google Shape;141;p6"/>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Jogos do patrocínio</a:t>
            </a:r>
            <a:endParaRPr/>
          </a:p>
        </p:txBody>
      </p:sp>
      <p:sp>
        <p:nvSpPr>
          <p:cNvPr id="142" name="Google Shape;142;p6"/>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143" name="Google Shape;143;p6"/>
          <p:cNvSpPr txBox="1"/>
          <p:nvPr/>
        </p:nvSpPr>
        <p:spPr>
          <a:xfrm>
            <a:off x="1018572" y="2026499"/>
            <a:ext cx="10023676"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pt-BR" sz="1800">
                <a:solidFill>
                  <a:schemeClr val="dk1"/>
                </a:solidFill>
                <a:latin typeface="Palatino Linotype"/>
                <a:ea typeface="Palatino Linotype"/>
                <a:cs typeface="Palatino Linotype"/>
                <a:sym typeface="Palatino Linotype"/>
              </a:rPr>
              <a:t>Jogado para construir base de poder. Neste caso, se aliando a superiores. O indivíduo se liga com alguém em posição superior, prometendo lealdade em troca de poder. </a:t>
            </a:r>
            <a:endParaRPr/>
          </a:p>
        </p:txBody>
      </p:sp>
      <p:pic>
        <p:nvPicPr>
          <p:cNvPr id="144" name="Google Shape;144;p6"/>
          <p:cNvPicPr preferRelativeResize="0"/>
          <p:nvPr/>
        </p:nvPicPr>
        <p:blipFill rotWithShape="1">
          <a:blip r:embed="rId3">
            <a:alphaModFix/>
          </a:blip>
          <a:srcRect b="0" l="0" r="0" t="0"/>
          <a:stretch/>
        </p:blipFill>
        <p:spPr>
          <a:xfrm>
            <a:off x="4301712" y="3429000"/>
            <a:ext cx="3457395" cy="2629517"/>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151" name="Google Shape;151;p7"/>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Jogos de aliança</a:t>
            </a:r>
            <a:endParaRPr/>
          </a:p>
        </p:txBody>
      </p:sp>
      <p:sp>
        <p:nvSpPr>
          <p:cNvPr id="152" name="Google Shape;152;p7"/>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153" name="Google Shape;153;p7"/>
          <p:cNvSpPr txBox="1"/>
          <p:nvPr/>
        </p:nvSpPr>
        <p:spPr>
          <a:xfrm>
            <a:off x="1018572" y="2026499"/>
            <a:ext cx="10023676"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pt-BR" sz="1800">
                <a:solidFill>
                  <a:schemeClr val="dk1"/>
                </a:solidFill>
                <a:latin typeface="Palatino Linotype"/>
                <a:ea typeface="Palatino Linotype"/>
                <a:cs typeface="Palatino Linotype"/>
                <a:sym typeface="Palatino Linotype"/>
              </a:rPr>
              <a:t>A </a:t>
            </a:r>
            <a:r>
              <a:rPr b="1" lang="pt-BR" sz="1800">
                <a:solidFill>
                  <a:srgbClr val="0070C0"/>
                </a:solidFill>
                <a:latin typeface="Palatino Linotype"/>
                <a:ea typeface="Palatino Linotype"/>
                <a:cs typeface="Palatino Linotype"/>
                <a:sym typeface="Palatino Linotype"/>
              </a:rPr>
              <a:t>aliança</a:t>
            </a:r>
            <a:r>
              <a:rPr lang="pt-BR" sz="1800">
                <a:solidFill>
                  <a:schemeClr val="dk1"/>
                </a:solidFill>
                <a:latin typeface="Palatino Linotype"/>
                <a:ea typeface="Palatino Linotype"/>
                <a:cs typeface="Palatino Linotype"/>
                <a:sym typeface="Palatino Linotype"/>
              </a:rPr>
              <a:t> acontece entre pares que negociam entre si um suporte mútuo para aumentar o poder de todos. </a:t>
            </a:r>
            <a:endParaRPr/>
          </a:p>
          <a:p>
            <a:pPr indent="0" lvl="0" marL="0" marR="0" rtl="0" algn="just">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Requer bastante habilidade política e muito esforço dos jogadores, que exploram meios legítimos de influência. </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Os jogadores reúnem-se em grupos de interesses e tentam buscar a adesão de mais indivíduos e grupos para ampliar sua base de poder por meio da aliança construída.</a:t>
            </a:r>
            <a:endParaRPr/>
          </a:p>
        </p:txBody>
      </p:sp>
      <p:pic>
        <p:nvPicPr>
          <p:cNvPr id="154" name="Google Shape;154;p7"/>
          <p:cNvPicPr preferRelativeResize="0"/>
          <p:nvPr/>
        </p:nvPicPr>
        <p:blipFill rotWithShape="1">
          <a:blip r:embed="rId3">
            <a:alphaModFix/>
          </a:blip>
          <a:srcRect b="0" l="0" r="0" t="0"/>
          <a:stretch/>
        </p:blipFill>
        <p:spPr>
          <a:xfrm>
            <a:off x="6413179" y="4466113"/>
            <a:ext cx="2583404" cy="1722269"/>
          </a:xfrm>
          <a:prstGeom prst="rect">
            <a:avLst/>
          </a:prstGeom>
          <a:noFill/>
          <a:ln>
            <a:noFill/>
          </a:ln>
        </p:spPr>
      </p:pic>
      <p:pic>
        <p:nvPicPr>
          <p:cNvPr id="155" name="Google Shape;155;p7"/>
          <p:cNvPicPr preferRelativeResize="0"/>
          <p:nvPr/>
        </p:nvPicPr>
        <p:blipFill rotWithShape="1">
          <a:blip r:embed="rId4">
            <a:alphaModFix/>
          </a:blip>
          <a:srcRect b="0" l="0" r="0" t="0"/>
          <a:stretch/>
        </p:blipFill>
        <p:spPr>
          <a:xfrm>
            <a:off x="3020072" y="4469426"/>
            <a:ext cx="1656100" cy="17189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162" name="Google Shape;162;p8"/>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Jogos de aliança</a:t>
            </a:r>
            <a:endParaRPr/>
          </a:p>
        </p:txBody>
      </p:sp>
      <p:sp>
        <p:nvSpPr>
          <p:cNvPr id="163" name="Google Shape;163;p8"/>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pic>
        <p:nvPicPr>
          <p:cNvPr descr="WAR - Como jogar? - YouTube" id="164" name="Google Shape;164;p8"/>
          <p:cNvPicPr preferRelativeResize="0"/>
          <p:nvPr/>
        </p:nvPicPr>
        <p:blipFill rotWithShape="1">
          <a:blip r:embed="rId3">
            <a:alphaModFix/>
          </a:blip>
          <a:srcRect b="0" l="0" r="0" t="0"/>
          <a:stretch/>
        </p:blipFill>
        <p:spPr>
          <a:xfrm>
            <a:off x="2637034" y="2269028"/>
            <a:ext cx="6786752" cy="381754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171" name="Google Shape;171;p9"/>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Jogo do candidato estratégico</a:t>
            </a:r>
            <a:endParaRPr/>
          </a:p>
        </p:txBody>
      </p:sp>
      <p:sp>
        <p:nvSpPr>
          <p:cNvPr id="172" name="Google Shape;172;p9"/>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173" name="Google Shape;173;p9"/>
          <p:cNvSpPr txBox="1"/>
          <p:nvPr/>
        </p:nvSpPr>
        <p:spPr>
          <a:xfrm>
            <a:off x="1018572" y="2026499"/>
            <a:ext cx="10023676"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pt-BR" sz="1800">
                <a:solidFill>
                  <a:schemeClr val="dk1"/>
                </a:solidFill>
                <a:latin typeface="Palatino Linotype"/>
                <a:ea typeface="Palatino Linotype"/>
                <a:cs typeface="Palatino Linotype"/>
                <a:sym typeface="Palatino Linotype"/>
              </a:rPr>
              <a:t>Os jogadores escolhem um “</a:t>
            </a:r>
            <a:r>
              <a:rPr b="1" lang="pt-BR" sz="1800">
                <a:solidFill>
                  <a:srgbClr val="0070C0"/>
                </a:solidFill>
                <a:latin typeface="Palatino Linotype"/>
                <a:ea typeface="Palatino Linotype"/>
                <a:cs typeface="Palatino Linotype"/>
                <a:sym typeface="Palatino Linotype"/>
              </a:rPr>
              <a:t>candidato estratégico</a:t>
            </a:r>
            <a:r>
              <a:rPr lang="pt-BR" sz="1800">
                <a:solidFill>
                  <a:schemeClr val="dk1"/>
                </a:solidFill>
                <a:latin typeface="Palatino Linotype"/>
                <a:ea typeface="Palatino Linotype"/>
                <a:cs typeface="Palatino Linotype"/>
                <a:sym typeface="Palatino Linotype"/>
              </a:rPr>
              <a:t>” para ser empoderado e lutar pelas ações do coletivo.</a:t>
            </a:r>
            <a:endParaRPr/>
          </a:p>
          <a:p>
            <a:pPr indent="0" lvl="0" marL="0" marR="0" rtl="0" algn="just">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Diferentes pessoas ou grupos devem apoiar o candidato a líder</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O candidato deve assumir os valores de todos que o apoiam e lutar por eles (ou os apoiadores podem abandoná-lo)</a:t>
            </a:r>
            <a:endParaRPr/>
          </a:p>
        </p:txBody>
      </p:sp>
      <p:pic>
        <p:nvPicPr>
          <p:cNvPr id="174" name="Google Shape;174;p9"/>
          <p:cNvPicPr preferRelativeResize="0"/>
          <p:nvPr/>
        </p:nvPicPr>
        <p:blipFill rotWithShape="1">
          <a:blip r:embed="rId3">
            <a:alphaModFix/>
          </a:blip>
          <a:srcRect b="0" l="0" r="0" t="0"/>
          <a:stretch/>
        </p:blipFill>
        <p:spPr>
          <a:xfrm>
            <a:off x="4553263" y="4104120"/>
            <a:ext cx="3085474" cy="215772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181" name="Google Shape;181;p10"/>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Jogo da denúncia</a:t>
            </a:r>
            <a:endParaRPr/>
          </a:p>
        </p:txBody>
      </p:sp>
      <p:sp>
        <p:nvSpPr>
          <p:cNvPr id="182" name="Google Shape;182;p10"/>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183" name="Google Shape;183;p10"/>
          <p:cNvSpPr txBox="1"/>
          <p:nvPr/>
        </p:nvSpPr>
        <p:spPr>
          <a:xfrm>
            <a:off x="1018572" y="2026499"/>
            <a:ext cx="10023676"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pt-BR" sz="1800">
                <a:solidFill>
                  <a:schemeClr val="dk1"/>
                </a:solidFill>
                <a:latin typeface="Palatino Linotype"/>
                <a:ea typeface="Palatino Linotype"/>
                <a:cs typeface="Palatino Linotype"/>
                <a:sym typeface="Palatino Linotype"/>
              </a:rPr>
              <a:t>O jogador, geralmente um membro que ocupa um cargo baixo na hierarquia organizacional, acredita que um comportamento que está tomando espaço na organização viola alguma norma social e, por isso, aciona a um influenciador externo que pode intervir na situação. </a:t>
            </a:r>
            <a:endParaRPr/>
          </a:p>
          <a:p>
            <a:pPr indent="0" lvl="0" marL="0" marR="0" rtl="0" algn="just">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Normalmente, é um jogo secreto e anônimo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190" name="Google Shape;190;p11"/>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Jogo da denúncia</a:t>
            </a:r>
            <a:endParaRPr/>
          </a:p>
        </p:txBody>
      </p:sp>
      <p:sp>
        <p:nvSpPr>
          <p:cNvPr id="191" name="Google Shape;191;p11"/>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192" name="Google Shape;192;p11"/>
          <p:cNvSpPr txBox="1"/>
          <p:nvPr/>
        </p:nvSpPr>
        <p:spPr>
          <a:xfrm>
            <a:off x="1018572" y="2026499"/>
            <a:ext cx="10023676"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pt-BR" sz="1800">
                <a:solidFill>
                  <a:schemeClr val="dk1"/>
                </a:solidFill>
                <a:latin typeface="Palatino Linotype"/>
                <a:ea typeface="Palatino Linotype"/>
                <a:cs typeface="Palatino Linotype"/>
                <a:sym typeface="Palatino Linotype"/>
              </a:rPr>
              <a:t>O jogador, geralmente um membro que ocupa um cargo baixo na hierarquia organizacional, acredita que um comportamento que está tomando espaço na organização viola alguma norma social e, por isso, aciona a um influenciador externo que pode intervir na situação. </a:t>
            </a:r>
            <a:endParaRPr/>
          </a:p>
          <a:p>
            <a:pPr indent="0" lvl="0" marL="0" marR="0" rtl="0" algn="just">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Normalmente, é um jogo secreto e anônimo</a:t>
            </a:r>
            <a:endParaRPr/>
          </a:p>
        </p:txBody>
      </p:sp>
      <p:pic>
        <p:nvPicPr>
          <p:cNvPr id="193" name="Google Shape;193;p11"/>
          <p:cNvPicPr preferRelativeResize="0"/>
          <p:nvPr/>
        </p:nvPicPr>
        <p:blipFill rotWithShape="1">
          <a:blip r:embed="rId3">
            <a:alphaModFix/>
          </a:blip>
          <a:srcRect b="0" l="0" r="0" t="0"/>
          <a:stretch/>
        </p:blipFill>
        <p:spPr>
          <a:xfrm>
            <a:off x="1456579" y="4172666"/>
            <a:ext cx="2999918" cy="1811679"/>
          </a:xfrm>
          <a:prstGeom prst="rect">
            <a:avLst/>
          </a:prstGeom>
          <a:noFill/>
          <a:ln>
            <a:noFill/>
          </a:ln>
        </p:spPr>
      </p:pic>
      <p:sp>
        <p:nvSpPr>
          <p:cNvPr id="194" name="Google Shape;194;p11"/>
          <p:cNvSpPr txBox="1"/>
          <p:nvPr/>
        </p:nvSpPr>
        <p:spPr>
          <a:xfrm>
            <a:off x="4456497" y="5522680"/>
            <a:ext cx="609760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A5A5A5"/>
                </a:solidFill>
                <a:latin typeface="Calibri"/>
                <a:ea typeface="Calibri"/>
                <a:cs typeface="Calibri"/>
                <a:sym typeface="Calibri"/>
              </a:rPr>
              <a:t>Fonte: https://globoesporte.globo.com/futebol/noticia/as-gravacoes-que-derrubaram-rogerio-caboclo-da-cbf-voce-se-masturba.ghtml</a:t>
            </a:r>
            <a:endParaRPr/>
          </a:p>
        </p:txBody>
      </p:sp>
      <p:sp>
        <p:nvSpPr>
          <p:cNvPr id="195" name="Google Shape;195;p11"/>
          <p:cNvSpPr txBox="1"/>
          <p:nvPr/>
        </p:nvSpPr>
        <p:spPr>
          <a:xfrm>
            <a:off x="4556566" y="4172666"/>
            <a:ext cx="6357877"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pt-BR" sz="1800">
                <a:solidFill>
                  <a:schemeClr val="dk1"/>
                </a:solidFill>
                <a:latin typeface="Palatino Linotype"/>
                <a:ea typeface="Palatino Linotype"/>
                <a:cs typeface="Palatino Linotype"/>
                <a:sym typeface="Palatino Linotype"/>
              </a:rPr>
              <a:t>Ex: denúncia de funcionária contra presidente da CBF por assédio moral e sexual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202" name="Google Shape;202;p1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Jogos de poder</a:t>
            </a:r>
            <a:endParaRPr/>
          </a:p>
        </p:txBody>
      </p:sp>
      <p:sp>
        <p:nvSpPr>
          <p:cNvPr id="203" name="Google Shape;203;p12"/>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204" name="Google Shape;204;p12"/>
          <p:cNvSpPr txBox="1"/>
          <p:nvPr/>
        </p:nvSpPr>
        <p:spPr>
          <a:xfrm>
            <a:off x="1018572" y="2026499"/>
            <a:ext cx="10023676"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pt-BR" sz="1800">
                <a:solidFill>
                  <a:schemeClr val="dk1"/>
                </a:solidFill>
                <a:latin typeface="Palatino Linotype"/>
                <a:ea typeface="Palatino Linotype"/>
                <a:cs typeface="Palatino Linotype"/>
                <a:sym typeface="Palatino Linotype"/>
              </a:rPr>
              <a:t>Os jogos de poder constituem ferramentas de ação que são utilizadas para fazer o poder fluir na organização, tornando-o dinâmico.</a:t>
            </a:r>
            <a:endParaRPr/>
          </a:p>
        </p:txBody>
      </p:sp>
      <p:sp>
        <p:nvSpPr>
          <p:cNvPr id="205" name="Google Shape;205;p12"/>
          <p:cNvSpPr txBox="1"/>
          <p:nvPr/>
        </p:nvSpPr>
        <p:spPr>
          <a:xfrm>
            <a:off x="1018572" y="2888813"/>
            <a:ext cx="10023676"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pt-BR" sz="1800">
                <a:solidFill>
                  <a:schemeClr val="dk1"/>
                </a:solidFill>
                <a:latin typeface="Palatino Linotype"/>
                <a:ea typeface="Palatino Linotype"/>
                <a:cs typeface="Palatino Linotype"/>
                <a:sym typeface="Palatino Linotype"/>
              </a:rPr>
              <a:t>Para exercer ou </a:t>
            </a:r>
            <a:r>
              <a:rPr b="1" lang="pt-BR" sz="1800">
                <a:solidFill>
                  <a:srgbClr val="0070C0"/>
                </a:solidFill>
                <a:latin typeface="Palatino Linotype"/>
                <a:ea typeface="Palatino Linotype"/>
                <a:cs typeface="Palatino Linotype"/>
                <a:sym typeface="Palatino Linotype"/>
              </a:rPr>
              <a:t>resistir</a:t>
            </a:r>
            <a:r>
              <a:rPr lang="pt-BR" sz="1800">
                <a:solidFill>
                  <a:schemeClr val="dk1"/>
                </a:solidFill>
                <a:latin typeface="Palatino Linotype"/>
                <a:ea typeface="Palatino Linotype"/>
                <a:cs typeface="Palatino Linotype"/>
                <a:sym typeface="Palatino Linotype"/>
              </a:rPr>
              <a:t> ao poder, um influenciador precisa:</a:t>
            </a:r>
            <a:endParaRPr/>
          </a:p>
          <a:p>
            <a:pPr indent="0" lvl="0" marL="0" marR="0" rtl="0" algn="just">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1800"/>
              <a:buFont typeface="Palatino Linotype"/>
              <a:buAutoNum type="arabicPeriod"/>
            </a:pPr>
            <a:r>
              <a:rPr lang="pt-BR" sz="1800">
                <a:solidFill>
                  <a:schemeClr val="dk1"/>
                </a:solidFill>
                <a:latin typeface="Palatino Linotype"/>
                <a:ea typeface="Palatino Linotype"/>
                <a:cs typeface="Palatino Linotype"/>
                <a:sym typeface="Palatino Linotype"/>
              </a:rPr>
              <a:t>Controlar ao menos uma base de poder </a:t>
            </a:r>
            <a:r>
              <a:rPr lang="pt-BR" sz="1800">
                <a:solidFill>
                  <a:srgbClr val="7F7F7F"/>
                </a:solidFill>
                <a:latin typeface="Palatino Linotype"/>
                <a:ea typeface="Palatino Linotype"/>
                <a:cs typeface="Palatino Linotype"/>
                <a:sym typeface="Palatino Linotype"/>
              </a:rPr>
              <a:t>(Recordando as bases de poder: Coerção, Recompensa, Competência, Legitimidade, Referência e Informação) </a:t>
            </a:r>
            <a:endParaRPr/>
          </a:p>
          <a:p>
            <a:pPr indent="-228600" lvl="0" marL="342900" marR="0" rtl="0" algn="just">
              <a:spcBef>
                <a:spcPts val="0"/>
              </a:spcBef>
              <a:spcAft>
                <a:spcPts val="0"/>
              </a:spcAft>
              <a:buClr>
                <a:schemeClr val="dk1"/>
              </a:buClr>
              <a:buSzPts val="1800"/>
              <a:buFont typeface="Calibri"/>
              <a:buNone/>
            </a:pPr>
            <a:r>
              <a:t/>
            </a:r>
            <a:endParaRPr sz="1800">
              <a:solidFill>
                <a:srgbClr val="7F7F7F"/>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1800"/>
              <a:buFont typeface="Palatino Linotype"/>
              <a:buAutoNum type="arabicPeriod"/>
            </a:pPr>
            <a:r>
              <a:rPr lang="pt-BR" sz="1800">
                <a:solidFill>
                  <a:schemeClr val="dk1"/>
                </a:solidFill>
                <a:latin typeface="Palatino Linotype"/>
                <a:ea typeface="Palatino Linotype"/>
                <a:cs typeface="Palatino Linotype"/>
                <a:sym typeface="Palatino Linotype"/>
              </a:rPr>
              <a:t>Investir energia pessoal; </a:t>
            </a:r>
            <a:endParaRPr/>
          </a:p>
          <a:p>
            <a:pPr indent="-228600" lvl="0" marL="342900" marR="0" rtl="0" algn="just">
              <a:spcBef>
                <a:spcPts val="0"/>
              </a:spcBef>
              <a:spcAft>
                <a:spcPts val="0"/>
              </a:spcAft>
              <a:buClr>
                <a:schemeClr val="dk1"/>
              </a:buClr>
              <a:buSzPts val="1800"/>
              <a:buFont typeface="Calibri"/>
              <a:buNone/>
            </a:pPr>
            <a:r>
              <a:t/>
            </a:r>
            <a:endParaRPr sz="18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1800"/>
              <a:buFont typeface="Palatino Linotype"/>
              <a:buAutoNum type="arabicPeriod"/>
            </a:pPr>
            <a:r>
              <a:rPr lang="pt-BR" sz="1800">
                <a:solidFill>
                  <a:schemeClr val="dk1"/>
                </a:solidFill>
                <a:latin typeface="Palatino Linotype"/>
                <a:ea typeface="Palatino Linotype"/>
                <a:cs typeface="Palatino Linotype"/>
                <a:sym typeface="Palatino Linotype"/>
              </a:rPr>
              <a:t>Agir de maneira politicamente hábil, quando necessário.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212" name="Google Shape;212;p1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Como ser mais hábil?</a:t>
            </a:r>
            <a:endParaRPr/>
          </a:p>
        </p:txBody>
      </p:sp>
      <p:sp>
        <p:nvSpPr>
          <p:cNvPr id="213" name="Google Shape;213;p13"/>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214" name="Google Shape;214;p13"/>
          <p:cNvSpPr txBox="1"/>
          <p:nvPr/>
        </p:nvSpPr>
        <p:spPr>
          <a:xfrm>
            <a:off x="1018572" y="2026499"/>
            <a:ext cx="10023676"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pt-BR" sz="1800">
                <a:solidFill>
                  <a:schemeClr val="dk1"/>
                </a:solidFill>
                <a:latin typeface="Palatino Linotype"/>
                <a:ea typeface="Palatino Linotype"/>
                <a:cs typeface="Palatino Linotype"/>
                <a:sym typeface="Palatino Linotype"/>
              </a:rPr>
              <a:t>Entre as competências relacionais que podem ajudar na influência social, a Inteligência Emocional é uma das que mais se destaca. </a:t>
            </a:r>
            <a:endParaRPr/>
          </a:p>
          <a:p>
            <a:pPr indent="0" lvl="0" marL="0" marR="0" rtl="0" algn="just">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pt-BR" sz="1800">
                <a:solidFill>
                  <a:schemeClr val="dk1"/>
                </a:solidFill>
                <a:latin typeface="Palatino Linotype"/>
                <a:ea typeface="Palatino Linotype"/>
                <a:cs typeface="Palatino Linotype"/>
                <a:sym typeface="Palatino Linotype"/>
              </a:rPr>
              <a:t>A </a:t>
            </a:r>
            <a:r>
              <a:rPr b="1" lang="pt-BR" sz="1800">
                <a:solidFill>
                  <a:srgbClr val="0070C0"/>
                </a:solidFill>
                <a:latin typeface="Palatino Linotype"/>
                <a:ea typeface="Palatino Linotype"/>
                <a:cs typeface="Palatino Linotype"/>
                <a:sym typeface="Palatino Linotype"/>
              </a:rPr>
              <a:t>inteligência emocional </a:t>
            </a:r>
            <a:r>
              <a:rPr lang="pt-BR" sz="1800">
                <a:solidFill>
                  <a:schemeClr val="dk1"/>
                </a:solidFill>
                <a:latin typeface="Palatino Linotype"/>
                <a:ea typeface="Palatino Linotype"/>
                <a:cs typeface="Palatino Linotype"/>
                <a:sym typeface="Palatino Linotype"/>
              </a:rPr>
              <a:t>é uma importante habilidade para exercer influência. Sobretudo, para exercer </a:t>
            </a:r>
            <a:r>
              <a:rPr b="1" lang="pt-BR" sz="1800">
                <a:solidFill>
                  <a:schemeClr val="dk1"/>
                </a:solidFill>
                <a:latin typeface="Palatino Linotype"/>
                <a:ea typeface="Palatino Linotype"/>
                <a:cs typeface="Palatino Linotype"/>
                <a:sym typeface="Palatino Linotype"/>
              </a:rPr>
              <a:t>influência sobre si mesmo</a:t>
            </a:r>
            <a:r>
              <a:rPr lang="pt-BR" sz="1800">
                <a:solidFill>
                  <a:schemeClr val="dk1"/>
                </a:solidFill>
                <a:latin typeface="Palatino Linotype"/>
                <a:ea typeface="Palatino Linotype"/>
                <a:cs typeface="Palatino Linotype"/>
                <a:sym typeface="Palatino Linotype"/>
              </a:rPr>
              <a:t>.</a:t>
            </a:r>
            <a:endParaRPr/>
          </a:p>
        </p:txBody>
      </p:sp>
      <p:pic>
        <p:nvPicPr>
          <p:cNvPr id="215" name="Google Shape;215;p13"/>
          <p:cNvPicPr preferRelativeResize="0"/>
          <p:nvPr/>
        </p:nvPicPr>
        <p:blipFill rotWithShape="1">
          <a:blip r:embed="rId3">
            <a:alphaModFix/>
          </a:blip>
          <a:srcRect b="0" l="0" r="0" t="0"/>
          <a:stretch/>
        </p:blipFill>
        <p:spPr>
          <a:xfrm>
            <a:off x="3303289" y="3596106"/>
            <a:ext cx="5454242" cy="272712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222" name="Google Shape;222;p14"/>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definições</a:t>
            </a:r>
            <a:endParaRPr/>
          </a:p>
        </p:txBody>
      </p:sp>
      <p:sp>
        <p:nvSpPr>
          <p:cNvPr id="223" name="Google Shape;223;p14"/>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224" name="Google Shape;224;p14"/>
          <p:cNvSpPr txBox="1"/>
          <p:nvPr/>
        </p:nvSpPr>
        <p:spPr>
          <a:xfrm>
            <a:off x="1018572" y="2026499"/>
            <a:ext cx="10023676"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Inteligência</a:t>
            </a:r>
            <a:endParaRPr/>
          </a:p>
        </p:txBody>
      </p:sp>
      <p:sp>
        <p:nvSpPr>
          <p:cNvPr id="225" name="Google Shape;225;p14"/>
          <p:cNvSpPr txBox="1"/>
          <p:nvPr/>
        </p:nvSpPr>
        <p:spPr>
          <a:xfrm>
            <a:off x="1018572" y="3278499"/>
            <a:ext cx="10023676"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Emoção</a:t>
            </a:r>
            <a:endParaRPr/>
          </a:p>
        </p:txBody>
      </p:sp>
      <p:sp>
        <p:nvSpPr>
          <p:cNvPr id="226" name="Google Shape;226;p14"/>
          <p:cNvSpPr txBox="1"/>
          <p:nvPr/>
        </p:nvSpPr>
        <p:spPr>
          <a:xfrm>
            <a:off x="1018572" y="4784762"/>
            <a:ext cx="10023676"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Inteligência Emocional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233" name="Google Shape;233;p15"/>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definições</a:t>
            </a:r>
            <a:endParaRPr/>
          </a:p>
        </p:txBody>
      </p:sp>
      <p:sp>
        <p:nvSpPr>
          <p:cNvPr id="234" name="Google Shape;234;p15"/>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235" name="Google Shape;235;p15"/>
          <p:cNvSpPr txBox="1"/>
          <p:nvPr/>
        </p:nvSpPr>
        <p:spPr>
          <a:xfrm>
            <a:off x="1018572" y="2026499"/>
            <a:ext cx="10023676"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Inteligência</a:t>
            </a:r>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"Capacidade de entender ideias complexas, de se adaptar satisfatoriamente ao ambiente, de aprender com a experiência e de superar dificuldades por meio do raciocínio" </a:t>
            </a:r>
            <a:endParaRPr/>
          </a:p>
          <a:p>
            <a:pPr indent="0" lvl="0" marL="0" marR="0" rtl="0" algn="r">
              <a:spcBef>
                <a:spcPts val="0"/>
              </a:spcBef>
              <a:spcAft>
                <a:spcPts val="0"/>
              </a:spcAft>
              <a:buNone/>
            </a:pPr>
            <a:r>
              <a:rPr lang="pt-BR" sz="1800">
                <a:solidFill>
                  <a:srgbClr val="A5A5A5"/>
                </a:solidFill>
                <a:latin typeface="Palatino Linotype"/>
                <a:ea typeface="Palatino Linotype"/>
                <a:cs typeface="Palatino Linotype"/>
                <a:sym typeface="Palatino Linotype"/>
              </a:rPr>
              <a:t>(American Psychological Association)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242" name="Google Shape;242;p16"/>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definições</a:t>
            </a:r>
            <a:endParaRPr/>
          </a:p>
        </p:txBody>
      </p:sp>
      <p:sp>
        <p:nvSpPr>
          <p:cNvPr id="243" name="Google Shape;243;p16"/>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244" name="Google Shape;244;p16"/>
          <p:cNvSpPr txBox="1"/>
          <p:nvPr/>
        </p:nvSpPr>
        <p:spPr>
          <a:xfrm>
            <a:off x="1018572" y="2026499"/>
            <a:ext cx="10023676"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Inteligência</a:t>
            </a:r>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"Capacidade de entender ideias complexas, de se adaptar satisfatoriamente ao ambiente, de aprender com a experiência e de superar dificuldades por meio do raciocínio" </a:t>
            </a:r>
            <a:endParaRPr/>
          </a:p>
          <a:p>
            <a:pPr indent="0" lvl="0" marL="0" marR="0" rtl="0" algn="r">
              <a:spcBef>
                <a:spcPts val="0"/>
              </a:spcBef>
              <a:spcAft>
                <a:spcPts val="0"/>
              </a:spcAft>
              <a:buNone/>
            </a:pPr>
            <a:r>
              <a:rPr lang="pt-BR" sz="1800">
                <a:solidFill>
                  <a:srgbClr val="A5A5A5"/>
                </a:solidFill>
                <a:latin typeface="Palatino Linotype"/>
                <a:ea typeface="Palatino Linotype"/>
                <a:cs typeface="Palatino Linotype"/>
                <a:sym typeface="Palatino Linotype"/>
              </a:rPr>
              <a:t>(American Psychological Association)</a:t>
            </a:r>
            <a:endParaRPr/>
          </a:p>
        </p:txBody>
      </p:sp>
      <p:pic>
        <p:nvPicPr>
          <p:cNvPr id="245" name="Google Shape;245;p16"/>
          <p:cNvPicPr preferRelativeResize="0"/>
          <p:nvPr/>
        </p:nvPicPr>
        <p:blipFill rotWithShape="1">
          <a:blip r:embed="rId3">
            <a:alphaModFix/>
          </a:blip>
          <a:srcRect b="0" l="0" r="0" t="0"/>
          <a:stretch/>
        </p:blipFill>
        <p:spPr>
          <a:xfrm>
            <a:off x="4855083" y="3829997"/>
            <a:ext cx="2481834" cy="1598530"/>
          </a:xfrm>
          <a:prstGeom prst="rect">
            <a:avLst/>
          </a:prstGeom>
          <a:noFill/>
          <a:ln cap="flat" cmpd="sng" w="9525">
            <a:solidFill>
              <a:schemeClr val="dk1"/>
            </a:solidFill>
            <a:prstDash val="solid"/>
            <a:round/>
            <a:headEnd len="sm" w="sm" type="none"/>
            <a:tailEnd len="sm" w="sm" type="none"/>
          </a:ln>
        </p:spPr>
      </p:pic>
      <p:pic>
        <p:nvPicPr>
          <p:cNvPr id="246" name="Google Shape;246;p16"/>
          <p:cNvPicPr preferRelativeResize="0"/>
          <p:nvPr/>
        </p:nvPicPr>
        <p:blipFill rotWithShape="1">
          <a:blip r:embed="rId4">
            <a:alphaModFix/>
          </a:blip>
          <a:srcRect b="0" l="0" r="0" t="0"/>
          <a:stretch/>
        </p:blipFill>
        <p:spPr>
          <a:xfrm>
            <a:off x="1447626" y="3829996"/>
            <a:ext cx="2464402" cy="1598531"/>
          </a:xfrm>
          <a:prstGeom prst="rect">
            <a:avLst/>
          </a:prstGeom>
          <a:noFill/>
          <a:ln cap="flat" cmpd="sng" w="9525">
            <a:solidFill>
              <a:schemeClr val="dk1"/>
            </a:solidFill>
            <a:prstDash val="solid"/>
            <a:round/>
            <a:headEnd len="sm" w="sm" type="none"/>
            <a:tailEnd len="sm" w="sm" type="none"/>
          </a:ln>
        </p:spPr>
      </p:pic>
      <p:pic>
        <p:nvPicPr>
          <p:cNvPr id="247" name="Google Shape;247;p16"/>
          <p:cNvPicPr preferRelativeResize="0"/>
          <p:nvPr/>
        </p:nvPicPr>
        <p:blipFill rotWithShape="1">
          <a:blip r:embed="rId5">
            <a:alphaModFix/>
          </a:blip>
          <a:srcRect b="0" l="0" r="0" t="0"/>
          <a:stretch/>
        </p:blipFill>
        <p:spPr>
          <a:xfrm>
            <a:off x="8279972" y="3828736"/>
            <a:ext cx="1241533" cy="1595082"/>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254" name="Google Shape;254;p17"/>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definições</a:t>
            </a:r>
            <a:endParaRPr/>
          </a:p>
        </p:txBody>
      </p:sp>
      <p:sp>
        <p:nvSpPr>
          <p:cNvPr id="255" name="Google Shape;255;p17"/>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256" name="Google Shape;256;p17"/>
          <p:cNvSpPr txBox="1"/>
          <p:nvPr/>
        </p:nvSpPr>
        <p:spPr>
          <a:xfrm>
            <a:off x="1018572" y="2026499"/>
            <a:ext cx="10023676"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Emoção</a:t>
            </a:r>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"Um conjunto complexo de reações (fisiológicas, comportamentais e experiências subjetivas) desencadeadas por um evento". A qualidade (o tipo/categoria do que é sentido) da emoção é determinada pelo significado específico do evento. Ex: se o significado consiste em ameaça, a emoção pode ser de tensão ou ansiedade.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263" name="Google Shape;263;p18"/>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definições</a:t>
            </a:r>
            <a:endParaRPr/>
          </a:p>
        </p:txBody>
      </p:sp>
      <p:sp>
        <p:nvSpPr>
          <p:cNvPr id="264" name="Google Shape;264;p18"/>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265" name="Google Shape;265;p18"/>
          <p:cNvSpPr txBox="1"/>
          <p:nvPr/>
        </p:nvSpPr>
        <p:spPr>
          <a:xfrm>
            <a:off x="1018572" y="2026499"/>
            <a:ext cx="10023676"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Emoção</a:t>
            </a:r>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"Um conjunto complexo de reações (fisiológicas, comportamentais e experiências subjetivas) desencadeadas por um evento". A qualidade (o tipo/categoria do que é sentido) da emoção é determinada pelo significado específico do evento. Ex: se o significado consiste em ameaça, a emoção pode ser de tensão ou ansiedade.</a:t>
            </a:r>
            <a:endParaRPr/>
          </a:p>
        </p:txBody>
      </p:sp>
      <p:pic>
        <p:nvPicPr>
          <p:cNvPr id="266" name="Google Shape;266;p18"/>
          <p:cNvPicPr preferRelativeResize="0"/>
          <p:nvPr/>
        </p:nvPicPr>
        <p:blipFill rotWithShape="1">
          <a:blip r:embed="rId3">
            <a:alphaModFix/>
          </a:blip>
          <a:srcRect b="0" l="0" r="0" t="0"/>
          <a:stretch/>
        </p:blipFill>
        <p:spPr>
          <a:xfrm>
            <a:off x="5045982" y="3669688"/>
            <a:ext cx="1968855" cy="2204808"/>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273" name="Google Shape;273;p19"/>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definições</a:t>
            </a:r>
            <a:endParaRPr/>
          </a:p>
        </p:txBody>
      </p:sp>
      <p:sp>
        <p:nvSpPr>
          <p:cNvPr id="274" name="Google Shape;274;p19"/>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275" name="Google Shape;275;p19"/>
          <p:cNvSpPr txBox="1"/>
          <p:nvPr/>
        </p:nvSpPr>
        <p:spPr>
          <a:xfrm>
            <a:off x="1018572" y="2026499"/>
            <a:ext cx="10023676"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Emoção</a:t>
            </a:r>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"Um conjunto complexo de reações (fisiológicas, comportamentais e experiências subjetivas) desencadeadas por um evento". A qualidade (o tipo/categoria do que é sentido) da emoção é determinada pelo significado específico do evento. Ex: se o significado consiste em ameaça, a emoção pode ser de tensão ou ansiedade.</a:t>
            </a:r>
            <a:endParaRPr/>
          </a:p>
        </p:txBody>
      </p:sp>
      <p:pic>
        <p:nvPicPr>
          <p:cNvPr id="276" name="Google Shape;276;p19"/>
          <p:cNvPicPr preferRelativeResize="0"/>
          <p:nvPr/>
        </p:nvPicPr>
        <p:blipFill rotWithShape="1">
          <a:blip r:embed="rId3">
            <a:alphaModFix/>
          </a:blip>
          <a:srcRect b="0" l="0" r="0" t="0"/>
          <a:stretch/>
        </p:blipFill>
        <p:spPr>
          <a:xfrm>
            <a:off x="5045982" y="3669688"/>
            <a:ext cx="1968855" cy="2204808"/>
          </a:xfrm>
          <a:prstGeom prst="rect">
            <a:avLst/>
          </a:prstGeom>
          <a:noFill/>
          <a:ln cap="flat" cmpd="sng" w="9525">
            <a:solidFill>
              <a:schemeClr val="dk1"/>
            </a:solidFill>
            <a:prstDash val="solid"/>
            <a:round/>
            <a:headEnd len="sm" w="sm" type="none"/>
            <a:tailEnd len="sm" w="sm" type="none"/>
          </a:ln>
        </p:spPr>
      </p:pic>
      <p:pic>
        <p:nvPicPr>
          <p:cNvPr id="277" name="Google Shape;277;p19"/>
          <p:cNvPicPr preferRelativeResize="0"/>
          <p:nvPr/>
        </p:nvPicPr>
        <p:blipFill rotWithShape="1">
          <a:blip r:embed="rId4">
            <a:alphaModFix/>
          </a:blip>
          <a:srcRect b="0" l="0" r="0" t="0"/>
          <a:stretch/>
        </p:blipFill>
        <p:spPr>
          <a:xfrm>
            <a:off x="8530201" y="3669687"/>
            <a:ext cx="2039703" cy="2207271"/>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284" name="Google Shape;284;p20"/>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definições</a:t>
            </a:r>
            <a:endParaRPr/>
          </a:p>
        </p:txBody>
      </p:sp>
      <p:sp>
        <p:nvSpPr>
          <p:cNvPr id="285" name="Google Shape;285;p20"/>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286" name="Google Shape;286;p20"/>
          <p:cNvSpPr txBox="1"/>
          <p:nvPr/>
        </p:nvSpPr>
        <p:spPr>
          <a:xfrm>
            <a:off x="1018572" y="2026499"/>
            <a:ext cx="10023676"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Emoção</a:t>
            </a:r>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"Um conjunto complexo de reações (fisiológicas, comportamentais e experiências subjetivas) desencadeadas por um evento". A qualidade (o tipo/categoria do que é sentido) da emoção é determinada pelo significado específico do evento. Ex: se o significado consiste em ameaça, a emoção pode ser de tensão ou ansiedade.</a:t>
            </a:r>
            <a:endParaRPr/>
          </a:p>
        </p:txBody>
      </p:sp>
      <p:pic>
        <p:nvPicPr>
          <p:cNvPr id="287" name="Google Shape;287;p20"/>
          <p:cNvPicPr preferRelativeResize="0"/>
          <p:nvPr/>
        </p:nvPicPr>
        <p:blipFill rotWithShape="1">
          <a:blip r:embed="rId3">
            <a:alphaModFix/>
          </a:blip>
          <a:srcRect b="0" l="0" r="0" t="0"/>
          <a:stretch/>
        </p:blipFill>
        <p:spPr>
          <a:xfrm>
            <a:off x="5045982" y="3669688"/>
            <a:ext cx="1968855" cy="2204808"/>
          </a:xfrm>
          <a:prstGeom prst="rect">
            <a:avLst/>
          </a:prstGeom>
          <a:noFill/>
          <a:ln cap="flat" cmpd="sng" w="9525">
            <a:solidFill>
              <a:schemeClr val="dk1"/>
            </a:solidFill>
            <a:prstDash val="solid"/>
            <a:round/>
            <a:headEnd len="sm" w="sm" type="none"/>
            <a:tailEnd len="sm" w="sm" type="none"/>
          </a:ln>
        </p:spPr>
      </p:pic>
      <p:pic>
        <p:nvPicPr>
          <p:cNvPr id="288" name="Google Shape;288;p20"/>
          <p:cNvPicPr preferRelativeResize="0"/>
          <p:nvPr/>
        </p:nvPicPr>
        <p:blipFill rotWithShape="1">
          <a:blip r:embed="rId4">
            <a:alphaModFix/>
          </a:blip>
          <a:srcRect b="0" l="0" r="0" t="0"/>
          <a:stretch/>
        </p:blipFill>
        <p:spPr>
          <a:xfrm>
            <a:off x="1453400" y="3669688"/>
            <a:ext cx="2012276" cy="2204808"/>
          </a:xfrm>
          <a:prstGeom prst="rect">
            <a:avLst/>
          </a:prstGeom>
          <a:noFill/>
          <a:ln cap="flat" cmpd="sng" w="9525">
            <a:solidFill>
              <a:schemeClr val="dk1"/>
            </a:solidFill>
            <a:prstDash val="solid"/>
            <a:round/>
            <a:headEnd len="sm" w="sm" type="none"/>
            <a:tailEnd len="sm" w="sm" type="none"/>
          </a:ln>
        </p:spPr>
      </p:pic>
      <p:pic>
        <p:nvPicPr>
          <p:cNvPr id="289" name="Google Shape;289;p20"/>
          <p:cNvPicPr preferRelativeResize="0"/>
          <p:nvPr/>
        </p:nvPicPr>
        <p:blipFill rotWithShape="1">
          <a:blip r:embed="rId5">
            <a:alphaModFix/>
          </a:blip>
          <a:srcRect b="0" l="0" r="0" t="0"/>
          <a:stretch/>
        </p:blipFill>
        <p:spPr>
          <a:xfrm>
            <a:off x="8530201" y="3669687"/>
            <a:ext cx="2039703" cy="2207271"/>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296" name="Google Shape;296;p21"/>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definições</a:t>
            </a:r>
            <a:endParaRPr/>
          </a:p>
        </p:txBody>
      </p:sp>
      <p:sp>
        <p:nvSpPr>
          <p:cNvPr id="297" name="Google Shape;297;p21"/>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298" name="Google Shape;298;p21"/>
          <p:cNvSpPr txBox="1"/>
          <p:nvPr/>
        </p:nvSpPr>
        <p:spPr>
          <a:xfrm>
            <a:off x="1018572" y="2026499"/>
            <a:ext cx="10023676"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Inteligência Emocional</a:t>
            </a:r>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Um subtipo de inteligência que envolve a habilidade de perceber e entender as emoções e sentimentos (nossos e dos outros); e saber utilizar essas informações para melhorar o próprio estado interno e as relações sociais.</a:t>
            </a:r>
            <a:endParaRPr/>
          </a:p>
          <a:p>
            <a:pPr indent="-285750" lvl="1" marL="742950" marR="0" rtl="0" algn="just">
              <a:spcBef>
                <a:spcPts val="0"/>
              </a:spcBef>
              <a:spcAft>
                <a:spcPts val="0"/>
              </a:spcAft>
              <a:buClr>
                <a:schemeClr val="dk1"/>
              </a:buClr>
              <a:buSzPts val="1800"/>
              <a:buFont typeface="Noto Sans Symbols"/>
              <a:buChar char="▪"/>
            </a:pPr>
            <a:r>
              <a:rPr b="0" i="0" lang="pt-BR" sz="1800" u="none" cap="none" strike="noStrike">
                <a:solidFill>
                  <a:schemeClr val="dk1"/>
                </a:solidFill>
                <a:latin typeface="Palatino Linotype"/>
                <a:ea typeface="Palatino Linotype"/>
                <a:cs typeface="Palatino Linotype"/>
                <a:sym typeface="Palatino Linotype"/>
              </a:rPr>
              <a:t>Perceber e compreender sentimentos complexos;</a:t>
            </a:r>
            <a:endParaRPr/>
          </a:p>
          <a:p>
            <a:pPr indent="-285750" lvl="1" marL="742950" marR="0" rtl="0" algn="just">
              <a:spcBef>
                <a:spcPts val="0"/>
              </a:spcBef>
              <a:spcAft>
                <a:spcPts val="0"/>
              </a:spcAft>
              <a:buClr>
                <a:schemeClr val="dk1"/>
              </a:buClr>
              <a:buSzPts val="1800"/>
              <a:buFont typeface="Noto Sans Symbols"/>
              <a:buChar char="▪"/>
            </a:pPr>
            <a:r>
              <a:rPr b="0" i="0" lang="pt-BR" sz="1800" u="none" cap="none" strike="noStrike">
                <a:solidFill>
                  <a:schemeClr val="dk1"/>
                </a:solidFill>
                <a:latin typeface="Palatino Linotype"/>
                <a:ea typeface="Palatino Linotype"/>
                <a:cs typeface="Palatino Linotype"/>
                <a:sym typeface="Palatino Linotype"/>
              </a:rPr>
              <a:t>Autorregulação;</a:t>
            </a:r>
            <a:endParaRPr/>
          </a:p>
          <a:p>
            <a:pPr indent="-285750" lvl="1" marL="742950" marR="0" rtl="0" algn="just">
              <a:spcBef>
                <a:spcPts val="0"/>
              </a:spcBef>
              <a:spcAft>
                <a:spcPts val="0"/>
              </a:spcAft>
              <a:buClr>
                <a:schemeClr val="dk1"/>
              </a:buClr>
              <a:buSzPts val="1800"/>
              <a:buFont typeface="Noto Sans Symbols"/>
              <a:buChar char="▪"/>
            </a:pPr>
            <a:r>
              <a:rPr b="0" i="0" lang="pt-BR" sz="1800" u="none" cap="none" strike="noStrike">
                <a:solidFill>
                  <a:schemeClr val="dk1"/>
                </a:solidFill>
                <a:latin typeface="Palatino Linotype"/>
                <a:ea typeface="Palatino Linotype"/>
                <a:cs typeface="Palatino Linotype"/>
                <a:sym typeface="Palatino Linotype"/>
              </a:rPr>
              <a:t>Sucesso nas relações interpessoais;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05" name="Google Shape;305;p2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Autocontrole x Autorregulação</a:t>
            </a:r>
            <a:endParaRPr/>
          </a:p>
        </p:txBody>
      </p:sp>
      <p:sp>
        <p:nvSpPr>
          <p:cNvPr id="306" name="Google Shape;306;p22"/>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307" name="Google Shape;307;p22"/>
          <p:cNvSpPr/>
          <p:nvPr/>
        </p:nvSpPr>
        <p:spPr>
          <a:xfrm>
            <a:off x="3660621" y="3842728"/>
            <a:ext cx="53335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1"/>
                </a:solidFill>
                <a:latin typeface="Palatino Linotype"/>
                <a:ea typeface="Palatino Linotype"/>
                <a:cs typeface="Palatino Linotype"/>
                <a:sym typeface="Palatino Linotype"/>
              </a:rPr>
              <a:t>https://www.youtube.com/watch?v=u0PeLvmzglY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14" name="Google Shape;314;p2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Autocontrole x Autorregulação</a:t>
            </a:r>
            <a:endParaRPr/>
          </a:p>
        </p:txBody>
      </p:sp>
      <p:sp>
        <p:nvSpPr>
          <p:cNvPr id="315" name="Google Shape;315;p23"/>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pic>
        <p:nvPicPr>
          <p:cNvPr id="316" name="Google Shape;316;p23"/>
          <p:cNvPicPr preferRelativeResize="0"/>
          <p:nvPr/>
        </p:nvPicPr>
        <p:blipFill rotWithShape="1">
          <a:blip r:embed="rId3">
            <a:alphaModFix/>
          </a:blip>
          <a:srcRect b="0" l="0" r="0" t="0"/>
          <a:stretch/>
        </p:blipFill>
        <p:spPr>
          <a:xfrm>
            <a:off x="841192" y="2980055"/>
            <a:ext cx="4073845" cy="2343332"/>
          </a:xfrm>
          <a:prstGeom prst="rect">
            <a:avLst/>
          </a:prstGeom>
          <a:noFill/>
          <a:ln>
            <a:noFill/>
          </a:ln>
        </p:spPr>
      </p:pic>
      <p:pic>
        <p:nvPicPr>
          <p:cNvPr id="317" name="Google Shape;317;p23"/>
          <p:cNvPicPr preferRelativeResize="0"/>
          <p:nvPr/>
        </p:nvPicPr>
        <p:blipFill rotWithShape="1">
          <a:blip r:embed="rId4">
            <a:alphaModFix/>
          </a:blip>
          <a:srcRect b="0" l="0" r="0" t="0"/>
          <a:stretch/>
        </p:blipFill>
        <p:spPr>
          <a:xfrm>
            <a:off x="5178062" y="2978524"/>
            <a:ext cx="2997630" cy="2321744"/>
          </a:xfrm>
          <a:prstGeom prst="rect">
            <a:avLst/>
          </a:prstGeom>
          <a:noFill/>
          <a:ln>
            <a:noFill/>
          </a:ln>
        </p:spPr>
      </p:pic>
      <p:pic>
        <p:nvPicPr>
          <p:cNvPr id="318" name="Google Shape;318;p23"/>
          <p:cNvPicPr preferRelativeResize="0"/>
          <p:nvPr/>
        </p:nvPicPr>
        <p:blipFill rotWithShape="1">
          <a:blip r:embed="rId5">
            <a:alphaModFix/>
          </a:blip>
          <a:srcRect b="0" l="0" r="0" t="0"/>
          <a:stretch/>
        </p:blipFill>
        <p:spPr>
          <a:xfrm>
            <a:off x="8438718" y="2978524"/>
            <a:ext cx="2828792" cy="231711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25" name="Google Shape;325;p24"/>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4 dimensões</a:t>
            </a:r>
            <a:endParaRPr/>
          </a:p>
        </p:txBody>
      </p:sp>
      <p:sp>
        <p:nvSpPr>
          <p:cNvPr id="326" name="Google Shape;326;p24"/>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327" name="Google Shape;327;p24"/>
          <p:cNvSpPr txBox="1"/>
          <p:nvPr/>
        </p:nvSpPr>
        <p:spPr>
          <a:xfrm>
            <a:off x="1018572" y="2026499"/>
            <a:ext cx="10023676" cy="13542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1. </a:t>
            </a:r>
            <a:r>
              <a:rPr b="1" lang="pt-BR" sz="1800">
                <a:solidFill>
                  <a:srgbClr val="0070C0"/>
                </a:solidFill>
                <a:latin typeface="Palatino Linotype"/>
                <a:ea typeface="Palatino Linotype"/>
                <a:cs typeface="Palatino Linotype"/>
                <a:sym typeface="Palatino Linotype"/>
              </a:rPr>
              <a:t>Perceber e reconhecer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emoções que os outros sentem</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 autenticidade da emoção</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próprias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Expressar as próprias emoções</a:t>
            </a:r>
            <a:endParaRPr/>
          </a:p>
        </p:txBody>
      </p:sp>
      <p:sp>
        <p:nvSpPr>
          <p:cNvPr id="328" name="Google Shape;328;p24"/>
          <p:cNvSpPr txBox="1"/>
          <p:nvPr/>
        </p:nvSpPr>
        <p:spPr>
          <a:xfrm>
            <a:off x="1018572" y="3342168"/>
            <a:ext cx="10023676" cy="86177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2. </a:t>
            </a:r>
            <a:r>
              <a:rPr b="1" lang="pt-BR" sz="1800">
                <a:solidFill>
                  <a:srgbClr val="0070C0"/>
                </a:solidFill>
                <a:latin typeface="Palatino Linotype"/>
                <a:ea typeface="Palatino Linotype"/>
                <a:cs typeface="Palatino Linotype"/>
                <a:sym typeface="Palatino Linotype"/>
              </a:rPr>
              <a:t>Usar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tomar melhores decisões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aumentar a performance</a:t>
            </a:r>
            <a:endParaRPr/>
          </a:p>
        </p:txBody>
      </p:sp>
      <p:sp>
        <p:nvSpPr>
          <p:cNvPr id="329" name="Google Shape;329;p24"/>
          <p:cNvSpPr txBox="1"/>
          <p:nvPr/>
        </p:nvSpPr>
        <p:spPr>
          <a:xfrm>
            <a:off x="1018572" y="4165522"/>
            <a:ext cx="10023676" cy="110799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3. </a:t>
            </a:r>
            <a:r>
              <a:rPr b="1" lang="pt-BR" sz="1800">
                <a:solidFill>
                  <a:srgbClr val="0070C0"/>
                </a:solidFill>
                <a:latin typeface="Palatino Linotype"/>
                <a:ea typeface="Palatino Linotype"/>
                <a:cs typeface="Palatino Linotype"/>
                <a:sym typeface="Palatino Linotype"/>
              </a:rPr>
              <a:t>Entender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Compreender a linguagem das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Reconhecer a relação de causa-efeito entre eventos e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Entender como emoções básicas se combinam</a:t>
            </a:r>
            <a:endParaRPr/>
          </a:p>
        </p:txBody>
      </p:sp>
      <p:sp>
        <p:nvSpPr>
          <p:cNvPr id="330" name="Google Shape;330;p24"/>
          <p:cNvSpPr txBox="1"/>
          <p:nvPr/>
        </p:nvSpPr>
        <p:spPr>
          <a:xfrm>
            <a:off x="1018572" y="5238110"/>
            <a:ext cx="10023676"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4. </a:t>
            </a:r>
            <a:r>
              <a:rPr b="1" lang="pt-BR" sz="1800">
                <a:solidFill>
                  <a:srgbClr val="0070C0"/>
                </a:solidFill>
                <a:latin typeface="Palatino Linotype"/>
                <a:ea typeface="Palatino Linotype"/>
                <a:cs typeface="Palatino Linotype"/>
                <a:sym typeface="Palatino Linotype"/>
              </a:rPr>
              <a:t>Regular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Definir objetivos/metas emocionais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Escolher as melhores estratégias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Implementar as estratégias</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37" name="Google Shape;337;p25"/>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4 dimensões</a:t>
            </a:r>
            <a:endParaRPr/>
          </a:p>
        </p:txBody>
      </p:sp>
      <p:sp>
        <p:nvSpPr>
          <p:cNvPr id="338" name="Google Shape;338;p25"/>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339" name="Google Shape;339;p25"/>
          <p:cNvSpPr txBox="1"/>
          <p:nvPr/>
        </p:nvSpPr>
        <p:spPr>
          <a:xfrm>
            <a:off x="1018572" y="2026499"/>
            <a:ext cx="10023676" cy="13542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1. </a:t>
            </a:r>
            <a:r>
              <a:rPr b="1" lang="pt-BR" sz="1800">
                <a:solidFill>
                  <a:srgbClr val="0070C0"/>
                </a:solidFill>
                <a:latin typeface="Palatino Linotype"/>
                <a:ea typeface="Palatino Linotype"/>
                <a:cs typeface="Palatino Linotype"/>
                <a:sym typeface="Palatino Linotype"/>
              </a:rPr>
              <a:t>Perceber e reconhecer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emoções que os outros sentem</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 autenticidade da emoção</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próprias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Expressar as próprias emoções</a:t>
            </a:r>
            <a:endParaRPr/>
          </a:p>
        </p:txBody>
      </p:sp>
      <p:sp>
        <p:nvSpPr>
          <p:cNvPr id="340" name="Google Shape;340;p25"/>
          <p:cNvSpPr txBox="1"/>
          <p:nvPr/>
        </p:nvSpPr>
        <p:spPr>
          <a:xfrm>
            <a:off x="1018572" y="3342168"/>
            <a:ext cx="10023676" cy="86177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2. </a:t>
            </a:r>
            <a:r>
              <a:rPr b="1" lang="pt-BR" sz="1800">
                <a:solidFill>
                  <a:srgbClr val="0070C0"/>
                </a:solidFill>
                <a:latin typeface="Palatino Linotype"/>
                <a:ea typeface="Palatino Linotype"/>
                <a:cs typeface="Palatino Linotype"/>
                <a:sym typeface="Palatino Linotype"/>
              </a:rPr>
              <a:t>Usar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tomar melhores decisões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aumentar a performance</a:t>
            </a:r>
            <a:endParaRPr/>
          </a:p>
        </p:txBody>
      </p:sp>
      <p:sp>
        <p:nvSpPr>
          <p:cNvPr id="341" name="Google Shape;341;p25"/>
          <p:cNvSpPr txBox="1"/>
          <p:nvPr/>
        </p:nvSpPr>
        <p:spPr>
          <a:xfrm>
            <a:off x="1018572" y="4165522"/>
            <a:ext cx="10023676" cy="110799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3. </a:t>
            </a:r>
            <a:r>
              <a:rPr b="1" lang="pt-BR" sz="1800">
                <a:solidFill>
                  <a:srgbClr val="0070C0"/>
                </a:solidFill>
                <a:latin typeface="Palatino Linotype"/>
                <a:ea typeface="Palatino Linotype"/>
                <a:cs typeface="Palatino Linotype"/>
                <a:sym typeface="Palatino Linotype"/>
              </a:rPr>
              <a:t>Entender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Compreender a linguagem das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Reconhecer a relação de causa-efeito entre eventos e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Entender como emoções básicas se combinam</a:t>
            </a:r>
            <a:endParaRPr/>
          </a:p>
        </p:txBody>
      </p:sp>
      <p:sp>
        <p:nvSpPr>
          <p:cNvPr id="342" name="Google Shape;342;p25"/>
          <p:cNvSpPr txBox="1"/>
          <p:nvPr/>
        </p:nvSpPr>
        <p:spPr>
          <a:xfrm>
            <a:off x="1018572" y="5238110"/>
            <a:ext cx="10023676"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4. </a:t>
            </a:r>
            <a:r>
              <a:rPr b="1" lang="pt-BR" sz="1800">
                <a:solidFill>
                  <a:srgbClr val="0070C0"/>
                </a:solidFill>
                <a:latin typeface="Palatino Linotype"/>
                <a:ea typeface="Palatino Linotype"/>
                <a:cs typeface="Palatino Linotype"/>
                <a:sym typeface="Palatino Linotype"/>
              </a:rPr>
              <a:t>Regular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Definir objetivos/metas emocionais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Escolher as melhores estratégias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Implementar as estratégias</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p:txBody>
      </p:sp>
      <p:sp>
        <p:nvSpPr>
          <p:cNvPr id="343" name="Google Shape;343;p25"/>
          <p:cNvSpPr/>
          <p:nvPr/>
        </p:nvSpPr>
        <p:spPr>
          <a:xfrm>
            <a:off x="7089494" y="2112380"/>
            <a:ext cx="3952754" cy="1770926"/>
          </a:xfrm>
          <a:prstGeom prst="rect">
            <a:avLst/>
          </a:prstGeom>
          <a:solidFill>
            <a:srgbClr val="FC7C88"/>
          </a:solidFill>
          <a:ln cap="flat" cmpd="sng" w="12700">
            <a:solidFill>
              <a:srgbClr val="2A170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Refere-se à habilidade de identificar corretamente como os outros se sentem.</a:t>
            </a:r>
            <a:endParaRPr/>
          </a:p>
          <a:p>
            <a:pPr indent="0" lvl="0" marL="0" marR="0" rtl="0" algn="just">
              <a:spcBef>
                <a:spcPts val="0"/>
              </a:spcBef>
              <a:spcAft>
                <a:spcPts val="0"/>
              </a:spcAft>
              <a:buNone/>
            </a:pPr>
            <a:r>
              <a:t/>
            </a:r>
            <a:endParaRPr sz="1600">
              <a:solidFill>
                <a:srgbClr val="171616"/>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Geralmente isso envolve identificar por meio de informações não verbais, como expressões faciais, tonalidade na voz, postura, etc.</a:t>
            </a:r>
            <a:endParaRPr/>
          </a:p>
        </p:txBody>
      </p:sp>
      <p:cxnSp>
        <p:nvCxnSpPr>
          <p:cNvPr id="344" name="Google Shape;344;p25"/>
          <p:cNvCxnSpPr/>
          <p:nvPr/>
        </p:nvCxnSpPr>
        <p:spPr>
          <a:xfrm>
            <a:off x="5440101" y="2494344"/>
            <a:ext cx="1608881" cy="0"/>
          </a:xfrm>
          <a:prstGeom prst="straightConnector1">
            <a:avLst/>
          </a:prstGeom>
          <a:noFill/>
          <a:ln cap="flat" cmpd="sng" w="9525">
            <a:solidFill>
              <a:srgbClr val="2A1709"/>
            </a:solidFill>
            <a:prstDash val="solid"/>
            <a:miter lim="800000"/>
            <a:headEnd len="sm" w="sm" type="none"/>
            <a:tailEnd len="med" w="med" type="triangle"/>
          </a:ln>
        </p:spPr>
      </p:cxnSp>
      <p:pic>
        <p:nvPicPr>
          <p:cNvPr descr="Por que &amp;#39;Mona Lisa&amp;#39; é considerada a maior obra de arte de todos os tempos?  | Super" id="345" name="Google Shape;345;p25"/>
          <p:cNvPicPr preferRelativeResize="0"/>
          <p:nvPr/>
        </p:nvPicPr>
        <p:blipFill rotWithShape="1">
          <a:blip r:embed="rId3">
            <a:alphaModFix/>
          </a:blip>
          <a:srcRect b="0" l="0" r="0" t="0"/>
          <a:stretch/>
        </p:blipFill>
        <p:spPr>
          <a:xfrm>
            <a:off x="7465996" y="4130545"/>
            <a:ext cx="3208421" cy="213685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52" name="Google Shape;352;p26"/>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Você sabe reconhecer as emoções corretamente?</a:t>
            </a:r>
            <a:endParaRPr/>
          </a:p>
        </p:txBody>
      </p:sp>
      <p:sp>
        <p:nvSpPr>
          <p:cNvPr id="353" name="Google Shape;353;p26"/>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354" name="Google Shape;354;p26"/>
          <p:cNvSpPr txBox="1"/>
          <p:nvPr/>
        </p:nvSpPr>
        <p:spPr>
          <a:xfrm>
            <a:off x="1018572" y="3959462"/>
            <a:ext cx="1002367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dk1"/>
                </a:solidFill>
                <a:latin typeface="Palatino Linotype"/>
                <a:ea typeface="Palatino Linotype"/>
                <a:cs typeface="Palatino Linotype"/>
                <a:sym typeface="Palatino Linotype"/>
              </a:rPr>
              <a:t>TESTE</a:t>
            </a:r>
            <a:endParaRPr sz="16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61" name="Google Shape;361;p27"/>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Emoção 1</a:t>
            </a:r>
            <a:endParaRPr/>
          </a:p>
        </p:txBody>
      </p:sp>
      <p:sp>
        <p:nvSpPr>
          <p:cNvPr id="362" name="Google Shape;362;p27"/>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pic>
        <p:nvPicPr>
          <p:cNvPr id="363" name="Google Shape;363;p27"/>
          <p:cNvPicPr preferRelativeResize="0"/>
          <p:nvPr/>
        </p:nvPicPr>
        <p:blipFill rotWithShape="1">
          <a:blip r:embed="rId3">
            <a:alphaModFix/>
          </a:blip>
          <a:srcRect b="0" l="0" r="0" t="0"/>
          <a:stretch/>
        </p:blipFill>
        <p:spPr>
          <a:xfrm>
            <a:off x="4553893" y="2111850"/>
            <a:ext cx="2953034" cy="41243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70" name="Google Shape;370;p28"/>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Emoção 2</a:t>
            </a:r>
            <a:endParaRPr/>
          </a:p>
        </p:txBody>
      </p:sp>
      <p:sp>
        <p:nvSpPr>
          <p:cNvPr id="371" name="Google Shape;371;p28"/>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pic>
        <p:nvPicPr>
          <p:cNvPr id="372" name="Google Shape;372;p28"/>
          <p:cNvPicPr preferRelativeResize="0"/>
          <p:nvPr/>
        </p:nvPicPr>
        <p:blipFill rotWithShape="1">
          <a:blip r:embed="rId3">
            <a:alphaModFix/>
          </a:blip>
          <a:srcRect b="0" l="0" r="0" t="0"/>
          <a:stretch/>
        </p:blipFill>
        <p:spPr>
          <a:xfrm>
            <a:off x="4586888" y="2093764"/>
            <a:ext cx="2887044" cy="41243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79" name="Google Shape;379;p29"/>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Emoção 3</a:t>
            </a:r>
            <a:endParaRPr/>
          </a:p>
        </p:txBody>
      </p:sp>
      <p:sp>
        <p:nvSpPr>
          <p:cNvPr id="380" name="Google Shape;380;p29"/>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pic>
        <p:nvPicPr>
          <p:cNvPr id="381" name="Google Shape;381;p29"/>
          <p:cNvPicPr preferRelativeResize="0"/>
          <p:nvPr/>
        </p:nvPicPr>
        <p:blipFill rotWithShape="1">
          <a:blip r:embed="rId3">
            <a:alphaModFix/>
          </a:blip>
          <a:srcRect b="0" l="0" r="0" t="0"/>
          <a:stretch/>
        </p:blipFill>
        <p:spPr>
          <a:xfrm>
            <a:off x="4564527" y="2116552"/>
            <a:ext cx="2931766" cy="412434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88" name="Google Shape;388;p30"/>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Emoção 4</a:t>
            </a:r>
            <a:endParaRPr/>
          </a:p>
        </p:txBody>
      </p:sp>
      <p:sp>
        <p:nvSpPr>
          <p:cNvPr id="389" name="Google Shape;389;p30"/>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pic>
        <p:nvPicPr>
          <p:cNvPr id="390" name="Google Shape;390;p30"/>
          <p:cNvPicPr preferRelativeResize="0"/>
          <p:nvPr/>
        </p:nvPicPr>
        <p:blipFill rotWithShape="1">
          <a:blip r:embed="rId3">
            <a:alphaModFix/>
          </a:blip>
          <a:srcRect b="0" l="0" r="0" t="0"/>
          <a:stretch/>
        </p:blipFill>
        <p:spPr>
          <a:xfrm>
            <a:off x="4540594" y="2145489"/>
            <a:ext cx="2979632" cy="412434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97" name="Google Shape;397;p31"/>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Emoção 5</a:t>
            </a:r>
            <a:endParaRPr/>
          </a:p>
        </p:txBody>
      </p:sp>
      <p:sp>
        <p:nvSpPr>
          <p:cNvPr id="398" name="Google Shape;398;p31"/>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pic>
        <p:nvPicPr>
          <p:cNvPr id="399" name="Google Shape;399;p31"/>
          <p:cNvPicPr preferRelativeResize="0"/>
          <p:nvPr/>
        </p:nvPicPr>
        <p:blipFill rotWithShape="1">
          <a:blip r:embed="rId3">
            <a:alphaModFix/>
          </a:blip>
          <a:srcRect b="0" l="0" r="0" t="0"/>
          <a:stretch/>
        </p:blipFill>
        <p:spPr>
          <a:xfrm>
            <a:off x="4619003" y="2100877"/>
            <a:ext cx="2822813" cy="412434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406" name="Google Shape;406;p3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Emoção 6</a:t>
            </a:r>
            <a:endParaRPr/>
          </a:p>
        </p:txBody>
      </p:sp>
      <p:sp>
        <p:nvSpPr>
          <p:cNvPr id="407" name="Google Shape;407;p32"/>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pic>
        <p:nvPicPr>
          <p:cNvPr id="408" name="Google Shape;408;p32"/>
          <p:cNvPicPr preferRelativeResize="0"/>
          <p:nvPr/>
        </p:nvPicPr>
        <p:blipFill rotWithShape="1">
          <a:blip r:embed="rId3">
            <a:alphaModFix/>
          </a:blip>
          <a:srcRect b="0" l="0" r="0" t="0"/>
          <a:stretch/>
        </p:blipFill>
        <p:spPr>
          <a:xfrm>
            <a:off x="4612240" y="2123182"/>
            <a:ext cx="2967519" cy="412434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415" name="Google Shape;415;p3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Emoção 7</a:t>
            </a:r>
            <a:endParaRPr/>
          </a:p>
        </p:txBody>
      </p:sp>
      <p:sp>
        <p:nvSpPr>
          <p:cNvPr id="416" name="Google Shape;416;p33"/>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pic>
        <p:nvPicPr>
          <p:cNvPr id="417" name="Google Shape;417;p33"/>
          <p:cNvPicPr preferRelativeResize="0"/>
          <p:nvPr/>
        </p:nvPicPr>
        <p:blipFill rotWithShape="1">
          <a:blip r:embed="rId3">
            <a:alphaModFix/>
          </a:blip>
          <a:srcRect b="0" l="0" r="0" t="0"/>
          <a:stretch/>
        </p:blipFill>
        <p:spPr>
          <a:xfrm>
            <a:off x="4530647" y="2114020"/>
            <a:ext cx="2999526" cy="412434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424" name="Google Shape;424;p34"/>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Emoções</a:t>
            </a:r>
            <a:endParaRPr/>
          </a:p>
        </p:txBody>
      </p:sp>
      <p:sp>
        <p:nvSpPr>
          <p:cNvPr id="425" name="Google Shape;425;p34"/>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pic>
        <p:nvPicPr>
          <p:cNvPr id="426" name="Google Shape;426;p34"/>
          <p:cNvPicPr preferRelativeResize="0"/>
          <p:nvPr/>
        </p:nvPicPr>
        <p:blipFill rotWithShape="1">
          <a:blip r:embed="rId3">
            <a:alphaModFix/>
          </a:blip>
          <a:srcRect b="0" l="0" r="0" t="0"/>
          <a:stretch/>
        </p:blipFill>
        <p:spPr>
          <a:xfrm>
            <a:off x="3008048" y="2135530"/>
            <a:ext cx="6044723" cy="4162340"/>
          </a:xfrm>
          <a:prstGeom prst="rect">
            <a:avLst/>
          </a:prstGeom>
          <a:noFill/>
          <a:ln>
            <a:noFill/>
          </a:ln>
        </p:spPr>
      </p:pic>
      <p:sp>
        <p:nvSpPr>
          <p:cNvPr id="427" name="Google Shape;427;p34"/>
          <p:cNvSpPr txBox="1"/>
          <p:nvPr/>
        </p:nvSpPr>
        <p:spPr>
          <a:xfrm>
            <a:off x="5794314" y="2148019"/>
            <a:ext cx="268022" cy="292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300">
                <a:solidFill>
                  <a:schemeClr val="dk1"/>
                </a:solidFill>
                <a:latin typeface="Palatino Linotype"/>
                <a:ea typeface="Palatino Linotype"/>
                <a:cs typeface="Palatino Linotype"/>
                <a:sym typeface="Palatino Linotype"/>
              </a:rPr>
              <a:t>1</a:t>
            </a:r>
            <a:endParaRPr/>
          </a:p>
        </p:txBody>
      </p:sp>
      <p:sp>
        <p:nvSpPr>
          <p:cNvPr id="428" name="Google Shape;428;p34"/>
          <p:cNvSpPr txBox="1"/>
          <p:nvPr/>
        </p:nvSpPr>
        <p:spPr>
          <a:xfrm>
            <a:off x="7324101" y="2148019"/>
            <a:ext cx="268022" cy="292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300">
                <a:solidFill>
                  <a:schemeClr val="dk1"/>
                </a:solidFill>
                <a:latin typeface="Palatino Linotype"/>
                <a:ea typeface="Palatino Linotype"/>
                <a:cs typeface="Palatino Linotype"/>
                <a:sym typeface="Palatino Linotype"/>
              </a:rPr>
              <a:t>2</a:t>
            </a:r>
            <a:endParaRPr/>
          </a:p>
        </p:txBody>
      </p:sp>
      <p:sp>
        <p:nvSpPr>
          <p:cNvPr id="429" name="Google Shape;429;p34"/>
          <p:cNvSpPr txBox="1"/>
          <p:nvPr/>
        </p:nvSpPr>
        <p:spPr>
          <a:xfrm>
            <a:off x="8821093" y="2148019"/>
            <a:ext cx="268022" cy="292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300">
                <a:solidFill>
                  <a:schemeClr val="dk1"/>
                </a:solidFill>
                <a:latin typeface="Palatino Linotype"/>
                <a:ea typeface="Palatino Linotype"/>
                <a:cs typeface="Palatino Linotype"/>
                <a:sym typeface="Palatino Linotype"/>
              </a:rPr>
              <a:t>3</a:t>
            </a:r>
            <a:endParaRPr/>
          </a:p>
        </p:txBody>
      </p:sp>
      <p:sp>
        <p:nvSpPr>
          <p:cNvPr id="430" name="Google Shape;430;p34"/>
          <p:cNvSpPr txBox="1"/>
          <p:nvPr/>
        </p:nvSpPr>
        <p:spPr>
          <a:xfrm>
            <a:off x="4251023" y="4233237"/>
            <a:ext cx="268022" cy="292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300">
                <a:solidFill>
                  <a:schemeClr val="dk1"/>
                </a:solidFill>
                <a:latin typeface="Palatino Linotype"/>
                <a:ea typeface="Palatino Linotype"/>
                <a:cs typeface="Palatino Linotype"/>
                <a:sym typeface="Palatino Linotype"/>
              </a:rPr>
              <a:t>4</a:t>
            </a:r>
            <a:endParaRPr/>
          </a:p>
        </p:txBody>
      </p:sp>
      <p:sp>
        <p:nvSpPr>
          <p:cNvPr id="431" name="Google Shape;431;p34"/>
          <p:cNvSpPr txBox="1"/>
          <p:nvPr/>
        </p:nvSpPr>
        <p:spPr>
          <a:xfrm>
            <a:off x="5780810" y="4233237"/>
            <a:ext cx="268022" cy="292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300">
                <a:solidFill>
                  <a:schemeClr val="dk1"/>
                </a:solidFill>
                <a:latin typeface="Palatino Linotype"/>
                <a:ea typeface="Palatino Linotype"/>
                <a:cs typeface="Palatino Linotype"/>
                <a:sym typeface="Palatino Linotype"/>
              </a:rPr>
              <a:t>5</a:t>
            </a:r>
            <a:endParaRPr/>
          </a:p>
        </p:txBody>
      </p:sp>
      <p:sp>
        <p:nvSpPr>
          <p:cNvPr id="432" name="Google Shape;432;p34"/>
          <p:cNvSpPr txBox="1"/>
          <p:nvPr/>
        </p:nvSpPr>
        <p:spPr>
          <a:xfrm>
            <a:off x="7277802" y="4233237"/>
            <a:ext cx="268022" cy="292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300">
                <a:solidFill>
                  <a:schemeClr val="dk1"/>
                </a:solidFill>
                <a:latin typeface="Palatino Linotype"/>
                <a:ea typeface="Palatino Linotype"/>
                <a:cs typeface="Palatino Linotype"/>
                <a:sym typeface="Palatino Linotype"/>
              </a:rPr>
              <a:t>6</a:t>
            </a:r>
            <a:endParaRPr/>
          </a:p>
        </p:txBody>
      </p:sp>
      <p:sp>
        <p:nvSpPr>
          <p:cNvPr id="433" name="Google Shape;433;p34"/>
          <p:cNvSpPr txBox="1"/>
          <p:nvPr/>
        </p:nvSpPr>
        <p:spPr>
          <a:xfrm>
            <a:off x="8813376" y="4233237"/>
            <a:ext cx="268022" cy="292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300">
                <a:solidFill>
                  <a:schemeClr val="dk1"/>
                </a:solidFill>
                <a:latin typeface="Palatino Linotype"/>
                <a:ea typeface="Palatino Linotype"/>
                <a:cs typeface="Palatino Linotype"/>
                <a:sym typeface="Palatino Linotype"/>
              </a:rPr>
              <a:t>7</a:t>
            </a:r>
            <a:endParaRPr/>
          </a:p>
        </p:txBody>
      </p:sp>
      <p:sp>
        <p:nvSpPr>
          <p:cNvPr id="434" name="Google Shape;434;p34"/>
          <p:cNvSpPr txBox="1"/>
          <p:nvPr/>
        </p:nvSpPr>
        <p:spPr>
          <a:xfrm>
            <a:off x="3277725" y="3894683"/>
            <a:ext cx="83708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600">
                <a:solidFill>
                  <a:schemeClr val="dk1"/>
                </a:solidFill>
                <a:latin typeface="Palatino Linotype"/>
                <a:ea typeface="Palatino Linotype"/>
                <a:cs typeface="Palatino Linotype"/>
                <a:sym typeface="Palatino Linotype"/>
              </a:rPr>
              <a:t>Neutro</a:t>
            </a:r>
            <a:endParaRPr/>
          </a:p>
        </p:txBody>
      </p:sp>
      <p:sp>
        <p:nvSpPr>
          <p:cNvPr id="435" name="Google Shape;435;p34"/>
          <p:cNvSpPr txBox="1"/>
          <p:nvPr/>
        </p:nvSpPr>
        <p:spPr>
          <a:xfrm>
            <a:off x="4936218" y="3894683"/>
            <a:ext cx="69692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600">
                <a:solidFill>
                  <a:schemeClr val="dk1"/>
                </a:solidFill>
                <a:latin typeface="Palatino Linotype"/>
                <a:ea typeface="Palatino Linotype"/>
                <a:cs typeface="Palatino Linotype"/>
                <a:sym typeface="Palatino Linotype"/>
              </a:rPr>
              <a:t>Raiva</a:t>
            </a:r>
            <a:endParaRPr/>
          </a:p>
        </p:txBody>
      </p:sp>
      <p:sp>
        <p:nvSpPr>
          <p:cNvPr id="436" name="Google Shape;436;p34"/>
          <p:cNvSpPr txBox="1"/>
          <p:nvPr/>
        </p:nvSpPr>
        <p:spPr>
          <a:xfrm>
            <a:off x="6443565" y="3894683"/>
            <a:ext cx="70403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600">
                <a:solidFill>
                  <a:schemeClr val="dk1"/>
                </a:solidFill>
                <a:latin typeface="Palatino Linotype"/>
                <a:ea typeface="Palatino Linotype"/>
                <a:cs typeface="Palatino Linotype"/>
                <a:sym typeface="Palatino Linotype"/>
              </a:rPr>
              <a:t>Tédio</a:t>
            </a:r>
            <a:endParaRPr/>
          </a:p>
        </p:txBody>
      </p:sp>
      <p:sp>
        <p:nvSpPr>
          <p:cNvPr id="437" name="Google Shape;437;p34"/>
          <p:cNvSpPr txBox="1"/>
          <p:nvPr/>
        </p:nvSpPr>
        <p:spPr>
          <a:xfrm>
            <a:off x="7984004" y="3894683"/>
            <a:ext cx="62709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600">
                <a:solidFill>
                  <a:schemeClr val="dk1"/>
                </a:solidFill>
                <a:latin typeface="Palatino Linotype"/>
                <a:ea typeface="Palatino Linotype"/>
                <a:cs typeface="Palatino Linotype"/>
                <a:sym typeface="Palatino Linotype"/>
              </a:rPr>
              <a:t>Nojo</a:t>
            </a:r>
            <a:endParaRPr/>
          </a:p>
        </p:txBody>
      </p:sp>
      <p:sp>
        <p:nvSpPr>
          <p:cNvPr id="438" name="Google Shape;438;p34"/>
          <p:cNvSpPr txBox="1"/>
          <p:nvPr/>
        </p:nvSpPr>
        <p:spPr>
          <a:xfrm>
            <a:off x="7846172" y="5979901"/>
            <a:ext cx="98937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600">
                <a:solidFill>
                  <a:schemeClr val="dk1"/>
                </a:solidFill>
                <a:latin typeface="Palatino Linotype"/>
                <a:ea typeface="Palatino Linotype"/>
                <a:cs typeface="Palatino Linotype"/>
                <a:sym typeface="Palatino Linotype"/>
              </a:rPr>
              <a:t>Surpresa</a:t>
            </a:r>
            <a:endParaRPr/>
          </a:p>
        </p:txBody>
      </p:sp>
      <p:sp>
        <p:nvSpPr>
          <p:cNvPr id="439" name="Google Shape;439;p34"/>
          <p:cNvSpPr txBox="1"/>
          <p:nvPr/>
        </p:nvSpPr>
        <p:spPr>
          <a:xfrm>
            <a:off x="3360861" y="5992326"/>
            <a:ext cx="71365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600">
                <a:solidFill>
                  <a:schemeClr val="dk1"/>
                </a:solidFill>
                <a:latin typeface="Palatino Linotype"/>
                <a:ea typeface="Palatino Linotype"/>
                <a:cs typeface="Palatino Linotype"/>
                <a:sym typeface="Palatino Linotype"/>
              </a:rPr>
              <a:t>Medo</a:t>
            </a:r>
            <a:endParaRPr/>
          </a:p>
        </p:txBody>
      </p:sp>
      <p:sp>
        <p:nvSpPr>
          <p:cNvPr id="440" name="Google Shape;440;p34"/>
          <p:cNvSpPr txBox="1"/>
          <p:nvPr/>
        </p:nvSpPr>
        <p:spPr>
          <a:xfrm>
            <a:off x="4952759" y="5992326"/>
            <a:ext cx="61747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600">
                <a:solidFill>
                  <a:schemeClr val="dk1"/>
                </a:solidFill>
                <a:latin typeface="Palatino Linotype"/>
                <a:ea typeface="Palatino Linotype"/>
                <a:cs typeface="Palatino Linotype"/>
                <a:sym typeface="Palatino Linotype"/>
              </a:rPr>
              <a:t>Feliz</a:t>
            </a:r>
            <a:endParaRPr/>
          </a:p>
        </p:txBody>
      </p:sp>
      <p:sp>
        <p:nvSpPr>
          <p:cNvPr id="441" name="Google Shape;441;p34"/>
          <p:cNvSpPr txBox="1"/>
          <p:nvPr/>
        </p:nvSpPr>
        <p:spPr>
          <a:xfrm>
            <a:off x="6440713" y="5992326"/>
            <a:ext cx="68788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600">
                <a:solidFill>
                  <a:schemeClr val="dk1"/>
                </a:solidFill>
                <a:latin typeface="Palatino Linotype"/>
                <a:ea typeface="Palatino Linotype"/>
                <a:cs typeface="Palatino Linotype"/>
                <a:sym typeface="Palatino Linotype"/>
              </a:rPr>
              <a:t>Triste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448" name="Google Shape;448;p35"/>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4 dimensões</a:t>
            </a:r>
            <a:endParaRPr/>
          </a:p>
        </p:txBody>
      </p:sp>
      <p:sp>
        <p:nvSpPr>
          <p:cNvPr id="449" name="Google Shape;449;p35"/>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450" name="Google Shape;450;p35"/>
          <p:cNvSpPr txBox="1"/>
          <p:nvPr/>
        </p:nvSpPr>
        <p:spPr>
          <a:xfrm>
            <a:off x="1018572" y="2026499"/>
            <a:ext cx="10023676" cy="13542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1. </a:t>
            </a:r>
            <a:r>
              <a:rPr b="1" lang="pt-BR" sz="1800">
                <a:solidFill>
                  <a:srgbClr val="0070C0"/>
                </a:solidFill>
                <a:latin typeface="Palatino Linotype"/>
                <a:ea typeface="Palatino Linotype"/>
                <a:cs typeface="Palatino Linotype"/>
                <a:sym typeface="Palatino Linotype"/>
              </a:rPr>
              <a:t>Perceber e reconhecer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emoções que os outros sentem</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 autenticidade da emoção</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próprias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Expressar as próprias emoções</a:t>
            </a:r>
            <a:endParaRPr/>
          </a:p>
        </p:txBody>
      </p:sp>
      <p:sp>
        <p:nvSpPr>
          <p:cNvPr id="451" name="Google Shape;451;p35"/>
          <p:cNvSpPr txBox="1"/>
          <p:nvPr/>
        </p:nvSpPr>
        <p:spPr>
          <a:xfrm>
            <a:off x="1018572" y="3342168"/>
            <a:ext cx="10023676" cy="86177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2. </a:t>
            </a:r>
            <a:r>
              <a:rPr b="1" lang="pt-BR" sz="1800">
                <a:solidFill>
                  <a:srgbClr val="0070C0"/>
                </a:solidFill>
                <a:latin typeface="Palatino Linotype"/>
                <a:ea typeface="Palatino Linotype"/>
                <a:cs typeface="Palatino Linotype"/>
                <a:sym typeface="Palatino Linotype"/>
              </a:rPr>
              <a:t>Usar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tomar melhores decisões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aumentar a performance</a:t>
            </a:r>
            <a:endParaRPr/>
          </a:p>
        </p:txBody>
      </p:sp>
      <p:sp>
        <p:nvSpPr>
          <p:cNvPr id="452" name="Google Shape;452;p35"/>
          <p:cNvSpPr txBox="1"/>
          <p:nvPr/>
        </p:nvSpPr>
        <p:spPr>
          <a:xfrm>
            <a:off x="1018572" y="4165522"/>
            <a:ext cx="10023676" cy="110799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3. </a:t>
            </a:r>
            <a:r>
              <a:rPr b="1" lang="pt-BR" sz="1800">
                <a:solidFill>
                  <a:srgbClr val="0070C0"/>
                </a:solidFill>
                <a:latin typeface="Palatino Linotype"/>
                <a:ea typeface="Palatino Linotype"/>
                <a:cs typeface="Palatino Linotype"/>
                <a:sym typeface="Palatino Linotype"/>
              </a:rPr>
              <a:t>Entender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Compreender a linguagem das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Reconhecer a relação de causa-efeito entre eventos e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Entender como emoções básicas se combinam</a:t>
            </a:r>
            <a:endParaRPr/>
          </a:p>
        </p:txBody>
      </p:sp>
      <p:sp>
        <p:nvSpPr>
          <p:cNvPr id="453" name="Google Shape;453;p35"/>
          <p:cNvSpPr txBox="1"/>
          <p:nvPr/>
        </p:nvSpPr>
        <p:spPr>
          <a:xfrm>
            <a:off x="1018572" y="5238110"/>
            <a:ext cx="10023676"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4. </a:t>
            </a:r>
            <a:r>
              <a:rPr b="1" lang="pt-BR" sz="1800">
                <a:solidFill>
                  <a:srgbClr val="0070C0"/>
                </a:solidFill>
                <a:latin typeface="Palatino Linotype"/>
                <a:ea typeface="Palatino Linotype"/>
                <a:cs typeface="Palatino Linotype"/>
                <a:sym typeface="Palatino Linotype"/>
              </a:rPr>
              <a:t>Regular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Definir objetivos/metas emocionais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Escolher as melhores estratégias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Implementar as estratégias</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p:txBody>
      </p:sp>
      <p:sp>
        <p:nvSpPr>
          <p:cNvPr id="454" name="Google Shape;454;p35"/>
          <p:cNvSpPr/>
          <p:nvPr/>
        </p:nvSpPr>
        <p:spPr>
          <a:xfrm>
            <a:off x="7089494" y="2112380"/>
            <a:ext cx="3952754" cy="2053142"/>
          </a:xfrm>
          <a:prstGeom prst="rect">
            <a:avLst/>
          </a:prstGeom>
          <a:solidFill>
            <a:srgbClr val="FC7C88"/>
          </a:solidFill>
          <a:ln cap="flat" cmpd="sng" w="12700">
            <a:solidFill>
              <a:srgbClr val="2A170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Refere-se à habilidade de distinguir corretamente expressões emocionais que são autênticas de expressões emocionais que são falsas.</a:t>
            </a:r>
            <a:endParaRPr/>
          </a:p>
          <a:p>
            <a:pPr indent="0" lvl="0" marL="0" marR="0" rtl="0" algn="just">
              <a:spcBef>
                <a:spcPts val="0"/>
              </a:spcBef>
              <a:spcAft>
                <a:spcPts val="0"/>
              </a:spcAft>
              <a:buNone/>
            </a:pPr>
            <a:r>
              <a:t/>
            </a:r>
            <a:endParaRPr sz="1600">
              <a:solidFill>
                <a:srgbClr val="171616"/>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Em muitos momentos, as pessoas (incluindo nós) desejam omitir a verdadeira emoção que estão sentindo.</a:t>
            </a:r>
            <a:endParaRPr/>
          </a:p>
        </p:txBody>
      </p:sp>
      <p:cxnSp>
        <p:nvCxnSpPr>
          <p:cNvPr id="455" name="Google Shape;455;p35"/>
          <p:cNvCxnSpPr/>
          <p:nvPr/>
        </p:nvCxnSpPr>
        <p:spPr>
          <a:xfrm>
            <a:off x="4855580" y="2731626"/>
            <a:ext cx="2193402" cy="0"/>
          </a:xfrm>
          <a:prstGeom prst="straightConnector1">
            <a:avLst/>
          </a:prstGeom>
          <a:noFill/>
          <a:ln cap="flat" cmpd="sng" w="9525">
            <a:solidFill>
              <a:srgbClr val="2A1709"/>
            </a:solidFill>
            <a:prstDash val="solid"/>
            <a:miter lim="800000"/>
            <a:headEnd len="sm" w="sm" type="none"/>
            <a:tailEnd len="med" w="med" type="triangle"/>
          </a:ln>
        </p:spPr>
      </p:cxnSp>
      <p:pic>
        <p:nvPicPr>
          <p:cNvPr descr="human-emotions ~ GoSouth" id="456" name="Google Shape;456;p35"/>
          <p:cNvPicPr preferRelativeResize="0"/>
          <p:nvPr/>
        </p:nvPicPr>
        <p:blipFill rotWithShape="1">
          <a:blip r:embed="rId3">
            <a:alphaModFix/>
          </a:blip>
          <a:srcRect b="0" l="0" r="0" t="0"/>
          <a:stretch/>
        </p:blipFill>
        <p:spPr>
          <a:xfrm>
            <a:off x="7744602" y="4396374"/>
            <a:ext cx="2631431" cy="175428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463" name="Google Shape;463;p36"/>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4 dimensões</a:t>
            </a:r>
            <a:endParaRPr/>
          </a:p>
        </p:txBody>
      </p:sp>
      <p:sp>
        <p:nvSpPr>
          <p:cNvPr id="464" name="Google Shape;464;p36"/>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465" name="Google Shape;465;p36"/>
          <p:cNvSpPr txBox="1"/>
          <p:nvPr/>
        </p:nvSpPr>
        <p:spPr>
          <a:xfrm>
            <a:off x="1018572" y="2026499"/>
            <a:ext cx="10023676" cy="13542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1. </a:t>
            </a:r>
            <a:r>
              <a:rPr b="1" lang="pt-BR" sz="1800">
                <a:solidFill>
                  <a:srgbClr val="0070C0"/>
                </a:solidFill>
                <a:latin typeface="Palatino Linotype"/>
                <a:ea typeface="Palatino Linotype"/>
                <a:cs typeface="Palatino Linotype"/>
                <a:sym typeface="Palatino Linotype"/>
              </a:rPr>
              <a:t>Perceber e reconhecer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emoções que os outros sentem</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 autenticidade da emoção</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próprias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Expressar as próprias emoções</a:t>
            </a:r>
            <a:endParaRPr/>
          </a:p>
        </p:txBody>
      </p:sp>
      <p:sp>
        <p:nvSpPr>
          <p:cNvPr id="466" name="Google Shape;466;p36"/>
          <p:cNvSpPr txBox="1"/>
          <p:nvPr/>
        </p:nvSpPr>
        <p:spPr>
          <a:xfrm>
            <a:off x="1018572" y="3342168"/>
            <a:ext cx="10023676" cy="86177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2. </a:t>
            </a:r>
            <a:r>
              <a:rPr b="1" lang="pt-BR" sz="1800">
                <a:solidFill>
                  <a:srgbClr val="0070C0"/>
                </a:solidFill>
                <a:latin typeface="Palatino Linotype"/>
                <a:ea typeface="Palatino Linotype"/>
                <a:cs typeface="Palatino Linotype"/>
                <a:sym typeface="Palatino Linotype"/>
              </a:rPr>
              <a:t>Usar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tomar melhores decisões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aumentar a performance</a:t>
            </a:r>
            <a:endParaRPr/>
          </a:p>
        </p:txBody>
      </p:sp>
      <p:sp>
        <p:nvSpPr>
          <p:cNvPr id="467" name="Google Shape;467;p36"/>
          <p:cNvSpPr txBox="1"/>
          <p:nvPr/>
        </p:nvSpPr>
        <p:spPr>
          <a:xfrm>
            <a:off x="1018572" y="4165522"/>
            <a:ext cx="10023676" cy="110799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3. </a:t>
            </a:r>
            <a:r>
              <a:rPr b="1" lang="pt-BR" sz="1800">
                <a:solidFill>
                  <a:srgbClr val="0070C0"/>
                </a:solidFill>
                <a:latin typeface="Palatino Linotype"/>
                <a:ea typeface="Palatino Linotype"/>
                <a:cs typeface="Palatino Linotype"/>
                <a:sym typeface="Palatino Linotype"/>
              </a:rPr>
              <a:t>Entender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Compreender a linguagem das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Reconhecer a relação de causa-efeito entre eventos e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Entender como emoções básicas se combinam</a:t>
            </a:r>
            <a:endParaRPr/>
          </a:p>
        </p:txBody>
      </p:sp>
      <p:sp>
        <p:nvSpPr>
          <p:cNvPr id="468" name="Google Shape;468;p36"/>
          <p:cNvSpPr txBox="1"/>
          <p:nvPr/>
        </p:nvSpPr>
        <p:spPr>
          <a:xfrm>
            <a:off x="1018572" y="5238110"/>
            <a:ext cx="10023676"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4. </a:t>
            </a:r>
            <a:r>
              <a:rPr b="1" lang="pt-BR" sz="1800">
                <a:solidFill>
                  <a:srgbClr val="0070C0"/>
                </a:solidFill>
                <a:latin typeface="Palatino Linotype"/>
                <a:ea typeface="Palatino Linotype"/>
                <a:cs typeface="Palatino Linotype"/>
                <a:sym typeface="Palatino Linotype"/>
              </a:rPr>
              <a:t>Regular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Definir objetivos/metas emocionais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Escolher as melhores estratégias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Implementar as estratégias</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p:txBody>
      </p:sp>
      <p:sp>
        <p:nvSpPr>
          <p:cNvPr id="469" name="Google Shape;469;p36"/>
          <p:cNvSpPr/>
          <p:nvPr/>
        </p:nvSpPr>
        <p:spPr>
          <a:xfrm>
            <a:off x="7089494" y="2112380"/>
            <a:ext cx="3952754" cy="2053142"/>
          </a:xfrm>
          <a:prstGeom prst="rect">
            <a:avLst/>
          </a:prstGeom>
          <a:solidFill>
            <a:srgbClr val="FC7C88"/>
          </a:solidFill>
          <a:ln cap="flat" cmpd="sng" w="12700">
            <a:solidFill>
              <a:srgbClr val="2A170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Refere-se à capacidade de decifrar as próprias emoções e as mudanças fisiológicas vinculadas a essas emoções.</a:t>
            </a:r>
            <a:endParaRPr/>
          </a:p>
          <a:p>
            <a:pPr indent="0" lvl="0" marL="0" marR="0" rtl="0" algn="just">
              <a:spcBef>
                <a:spcPts val="0"/>
              </a:spcBef>
              <a:spcAft>
                <a:spcPts val="0"/>
              </a:spcAft>
              <a:buNone/>
            </a:pPr>
            <a:r>
              <a:t/>
            </a:r>
            <a:endParaRPr sz="1600">
              <a:solidFill>
                <a:srgbClr val="171616"/>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Ex: muitas vezes não percebemos que estamos ansiosos. Ou não percebemos que a causa da nossa insônia é a ansiedade.</a:t>
            </a:r>
            <a:endParaRPr/>
          </a:p>
        </p:txBody>
      </p:sp>
      <p:cxnSp>
        <p:nvCxnSpPr>
          <p:cNvPr id="470" name="Google Shape;470;p36"/>
          <p:cNvCxnSpPr/>
          <p:nvPr/>
        </p:nvCxnSpPr>
        <p:spPr>
          <a:xfrm>
            <a:off x="4271058" y="2968905"/>
            <a:ext cx="2777924" cy="0"/>
          </a:xfrm>
          <a:prstGeom prst="straightConnector1">
            <a:avLst/>
          </a:prstGeom>
          <a:noFill/>
          <a:ln cap="flat" cmpd="sng" w="9525">
            <a:solidFill>
              <a:srgbClr val="2A1709"/>
            </a:solidFill>
            <a:prstDash val="solid"/>
            <a:miter lim="800000"/>
            <a:headEnd len="sm" w="sm" type="none"/>
            <a:tailEnd len="med" w="med" type="triangle"/>
          </a:ln>
        </p:spPr>
      </p:cxnSp>
      <p:pic>
        <p:nvPicPr>
          <p:cNvPr descr="9 Emotional Regulation Tips for Anyone Who&amp;#39;s Struggling Right Now | SELF" id="471" name="Google Shape;471;p36"/>
          <p:cNvPicPr preferRelativeResize="0"/>
          <p:nvPr/>
        </p:nvPicPr>
        <p:blipFill rotWithShape="1">
          <a:blip r:embed="rId3">
            <a:alphaModFix/>
          </a:blip>
          <a:srcRect b="0" l="0" r="0" t="0"/>
          <a:stretch/>
        </p:blipFill>
        <p:spPr>
          <a:xfrm>
            <a:off x="7857424" y="4398495"/>
            <a:ext cx="2422357" cy="181676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478" name="Google Shape;478;p37"/>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4 dimensões</a:t>
            </a:r>
            <a:endParaRPr/>
          </a:p>
        </p:txBody>
      </p:sp>
      <p:sp>
        <p:nvSpPr>
          <p:cNvPr id="479" name="Google Shape;479;p37"/>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480" name="Google Shape;480;p37"/>
          <p:cNvSpPr txBox="1"/>
          <p:nvPr/>
        </p:nvSpPr>
        <p:spPr>
          <a:xfrm>
            <a:off x="1018572" y="2026499"/>
            <a:ext cx="10023676" cy="13542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1. </a:t>
            </a:r>
            <a:r>
              <a:rPr b="1" lang="pt-BR" sz="1800">
                <a:solidFill>
                  <a:srgbClr val="0070C0"/>
                </a:solidFill>
                <a:latin typeface="Palatino Linotype"/>
                <a:ea typeface="Palatino Linotype"/>
                <a:cs typeface="Palatino Linotype"/>
                <a:sym typeface="Palatino Linotype"/>
              </a:rPr>
              <a:t>Perceber e reconhecer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emoções que os outros sentem</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 autenticidade da emoção</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próprias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Expressar as próprias emoções</a:t>
            </a:r>
            <a:endParaRPr/>
          </a:p>
        </p:txBody>
      </p:sp>
      <p:sp>
        <p:nvSpPr>
          <p:cNvPr id="481" name="Google Shape;481;p37"/>
          <p:cNvSpPr txBox="1"/>
          <p:nvPr/>
        </p:nvSpPr>
        <p:spPr>
          <a:xfrm>
            <a:off x="1018572" y="3342168"/>
            <a:ext cx="10023676" cy="86177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2. </a:t>
            </a:r>
            <a:r>
              <a:rPr b="1" lang="pt-BR" sz="1800">
                <a:solidFill>
                  <a:srgbClr val="0070C0"/>
                </a:solidFill>
                <a:latin typeface="Palatino Linotype"/>
                <a:ea typeface="Palatino Linotype"/>
                <a:cs typeface="Palatino Linotype"/>
                <a:sym typeface="Palatino Linotype"/>
              </a:rPr>
              <a:t>Usar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tomar melhores decisões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aumentar a performance</a:t>
            </a:r>
            <a:endParaRPr/>
          </a:p>
        </p:txBody>
      </p:sp>
      <p:sp>
        <p:nvSpPr>
          <p:cNvPr id="482" name="Google Shape;482;p37"/>
          <p:cNvSpPr txBox="1"/>
          <p:nvPr/>
        </p:nvSpPr>
        <p:spPr>
          <a:xfrm>
            <a:off x="1018572" y="4165522"/>
            <a:ext cx="10023676" cy="110799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3. </a:t>
            </a:r>
            <a:r>
              <a:rPr b="1" lang="pt-BR" sz="1800">
                <a:solidFill>
                  <a:srgbClr val="0070C0"/>
                </a:solidFill>
                <a:latin typeface="Palatino Linotype"/>
                <a:ea typeface="Palatino Linotype"/>
                <a:cs typeface="Palatino Linotype"/>
                <a:sym typeface="Palatino Linotype"/>
              </a:rPr>
              <a:t>Entender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Compreender a linguagem das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Reconhecer a relação de causa-efeito entre eventos e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Entender como emoções básicas se combinam</a:t>
            </a:r>
            <a:endParaRPr/>
          </a:p>
        </p:txBody>
      </p:sp>
      <p:sp>
        <p:nvSpPr>
          <p:cNvPr id="483" name="Google Shape;483;p37"/>
          <p:cNvSpPr txBox="1"/>
          <p:nvPr/>
        </p:nvSpPr>
        <p:spPr>
          <a:xfrm>
            <a:off x="1018572" y="5238110"/>
            <a:ext cx="10023676"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4. </a:t>
            </a:r>
            <a:r>
              <a:rPr b="1" lang="pt-BR" sz="1800">
                <a:solidFill>
                  <a:srgbClr val="0070C0"/>
                </a:solidFill>
                <a:latin typeface="Palatino Linotype"/>
                <a:ea typeface="Palatino Linotype"/>
                <a:cs typeface="Palatino Linotype"/>
                <a:sym typeface="Palatino Linotype"/>
              </a:rPr>
              <a:t>Regular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Definir objetivos/metas emocionais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Escolher as melhores estratégias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Implementar as estratégias</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p:txBody>
      </p:sp>
      <p:sp>
        <p:nvSpPr>
          <p:cNvPr id="484" name="Google Shape;484;p37"/>
          <p:cNvSpPr/>
          <p:nvPr/>
        </p:nvSpPr>
        <p:spPr>
          <a:xfrm>
            <a:off x="7089494" y="2095774"/>
            <a:ext cx="3952754" cy="2145856"/>
          </a:xfrm>
          <a:prstGeom prst="rect">
            <a:avLst/>
          </a:prstGeom>
          <a:solidFill>
            <a:srgbClr val="FC7C88"/>
          </a:solidFill>
          <a:ln cap="flat" cmpd="sng" w="12700">
            <a:solidFill>
              <a:srgbClr val="2A170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Refere-se à habilidade de demonstrar apropriadamente aos outros suas próprias emoções.</a:t>
            </a:r>
            <a:endParaRPr/>
          </a:p>
          <a:p>
            <a:pPr indent="0" lvl="0" marL="0" marR="0" rtl="0" algn="just">
              <a:spcBef>
                <a:spcPts val="0"/>
              </a:spcBef>
              <a:spcAft>
                <a:spcPts val="0"/>
              </a:spcAft>
              <a:buNone/>
            </a:pPr>
            <a:r>
              <a:t/>
            </a:r>
            <a:endParaRPr sz="1600">
              <a:solidFill>
                <a:srgbClr val="171616"/>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Quando uma pessoa sabe expressar as próprias emoções, os outros conseguem identificar claramente o que ela está sentindo.</a:t>
            </a:r>
            <a:endParaRPr/>
          </a:p>
        </p:txBody>
      </p:sp>
      <p:cxnSp>
        <p:nvCxnSpPr>
          <p:cNvPr id="485" name="Google Shape;485;p37"/>
          <p:cNvCxnSpPr/>
          <p:nvPr/>
        </p:nvCxnSpPr>
        <p:spPr>
          <a:xfrm>
            <a:off x="4271058" y="3211970"/>
            <a:ext cx="2777924" cy="0"/>
          </a:xfrm>
          <a:prstGeom prst="straightConnector1">
            <a:avLst/>
          </a:prstGeom>
          <a:noFill/>
          <a:ln cap="flat" cmpd="sng" w="9525">
            <a:solidFill>
              <a:srgbClr val="2A1709"/>
            </a:solidFill>
            <a:prstDash val="solid"/>
            <a:miter lim="800000"/>
            <a:headEnd len="sm" w="sm" type="none"/>
            <a:tailEnd len="med" w="med" type="triangle"/>
          </a:ln>
        </p:spPr>
      </p:cxnSp>
      <p:pic>
        <p:nvPicPr>
          <p:cNvPr descr="A List of Emotions to Help You Express Yourself: Verbalize Your Feelings" id="486" name="Google Shape;486;p37"/>
          <p:cNvPicPr preferRelativeResize="0"/>
          <p:nvPr/>
        </p:nvPicPr>
        <p:blipFill rotWithShape="1">
          <a:blip r:embed="rId3">
            <a:alphaModFix/>
          </a:blip>
          <a:srcRect b="0" l="0" r="0" t="0"/>
          <a:stretch/>
        </p:blipFill>
        <p:spPr>
          <a:xfrm>
            <a:off x="7463315" y="4367423"/>
            <a:ext cx="3205112" cy="178986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493" name="Google Shape;493;p38"/>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4 dimensões</a:t>
            </a:r>
            <a:endParaRPr/>
          </a:p>
        </p:txBody>
      </p:sp>
      <p:sp>
        <p:nvSpPr>
          <p:cNvPr id="494" name="Google Shape;494;p38"/>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495" name="Google Shape;495;p38"/>
          <p:cNvSpPr txBox="1"/>
          <p:nvPr/>
        </p:nvSpPr>
        <p:spPr>
          <a:xfrm>
            <a:off x="1018572" y="2026499"/>
            <a:ext cx="10023676" cy="13542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1. </a:t>
            </a:r>
            <a:r>
              <a:rPr b="1" lang="pt-BR" sz="1800">
                <a:solidFill>
                  <a:srgbClr val="0070C0"/>
                </a:solidFill>
                <a:latin typeface="Palatino Linotype"/>
                <a:ea typeface="Palatino Linotype"/>
                <a:cs typeface="Palatino Linotype"/>
                <a:sym typeface="Palatino Linotype"/>
              </a:rPr>
              <a:t>Perceber e reconhecer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emoções que os outros sentem</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 autenticidade da emoção</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próprias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Expressar as próprias emoções</a:t>
            </a:r>
            <a:endParaRPr/>
          </a:p>
        </p:txBody>
      </p:sp>
      <p:sp>
        <p:nvSpPr>
          <p:cNvPr id="496" name="Google Shape;496;p38"/>
          <p:cNvSpPr txBox="1"/>
          <p:nvPr/>
        </p:nvSpPr>
        <p:spPr>
          <a:xfrm>
            <a:off x="1018572" y="3342168"/>
            <a:ext cx="10023676" cy="86177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2. </a:t>
            </a:r>
            <a:r>
              <a:rPr b="1" lang="pt-BR" sz="1800">
                <a:solidFill>
                  <a:srgbClr val="0070C0"/>
                </a:solidFill>
                <a:latin typeface="Palatino Linotype"/>
                <a:ea typeface="Palatino Linotype"/>
                <a:cs typeface="Palatino Linotype"/>
                <a:sym typeface="Palatino Linotype"/>
              </a:rPr>
              <a:t>Usar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tomar melhores decisões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aumentar a performance</a:t>
            </a:r>
            <a:endParaRPr/>
          </a:p>
        </p:txBody>
      </p:sp>
      <p:sp>
        <p:nvSpPr>
          <p:cNvPr id="497" name="Google Shape;497;p38"/>
          <p:cNvSpPr txBox="1"/>
          <p:nvPr/>
        </p:nvSpPr>
        <p:spPr>
          <a:xfrm>
            <a:off x="1018572" y="4165522"/>
            <a:ext cx="10023676" cy="110799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3. </a:t>
            </a:r>
            <a:r>
              <a:rPr b="1" lang="pt-BR" sz="1800">
                <a:solidFill>
                  <a:srgbClr val="0070C0"/>
                </a:solidFill>
                <a:latin typeface="Palatino Linotype"/>
                <a:ea typeface="Palatino Linotype"/>
                <a:cs typeface="Palatino Linotype"/>
                <a:sym typeface="Palatino Linotype"/>
              </a:rPr>
              <a:t>Entender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Compreender a linguagem das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Reconhecer a relação de causa-efeito entre eventos e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Entender como emoções básicas se combinam</a:t>
            </a:r>
            <a:endParaRPr/>
          </a:p>
        </p:txBody>
      </p:sp>
      <p:sp>
        <p:nvSpPr>
          <p:cNvPr id="498" name="Google Shape;498;p38"/>
          <p:cNvSpPr txBox="1"/>
          <p:nvPr/>
        </p:nvSpPr>
        <p:spPr>
          <a:xfrm>
            <a:off x="1018572" y="5238110"/>
            <a:ext cx="10023676"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4. </a:t>
            </a:r>
            <a:r>
              <a:rPr b="1" lang="pt-BR" sz="1800">
                <a:solidFill>
                  <a:srgbClr val="0070C0"/>
                </a:solidFill>
                <a:latin typeface="Palatino Linotype"/>
                <a:ea typeface="Palatino Linotype"/>
                <a:cs typeface="Palatino Linotype"/>
                <a:sym typeface="Palatino Linotype"/>
              </a:rPr>
              <a:t>Regular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Definir objetivos/metas emocionais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Escolher as melhores estratégias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Implementar as estratégias</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p:txBody>
      </p:sp>
      <p:sp>
        <p:nvSpPr>
          <p:cNvPr id="499" name="Google Shape;499;p38"/>
          <p:cNvSpPr/>
          <p:nvPr/>
        </p:nvSpPr>
        <p:spPr>
          <a:xfrm>
            <a:off x="7089494" y="2112379"/>
            <a:ext cx="3952754" cy="2558005"/>
          </a:xfrm>
          <a:prstGeom prst="rect">
            <a:avLst/>
          </a:prstGeom>
          <a:solidFill>
            <a:srgbClr val="D0FC9A"/>
          </a:solidFill>
          <a:ln cap="flat" cmpd="sng" w="12700">
            <a:solidFill>
              <a:srgbClr val="2A170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Refere-se à capacidade de reconhecer o quanto as emoções afetam as percepções e o pensamento, e </a:t>
            </a:r>
            <a:r>
              <a:rPr b="1" lang="pt-BR" sz="1600">
                <a:solidFill>
                  <a:srgbClr val="171616"/>
                </a:solidFill>
                <a:latin typeface="Palatino Linotype"/>
                <a:ea typeface="Palatino Linotype"/>
                <a:cs typeface="Palatino Linotype"/>
                <a:sym typeface="Palatino Linotype"/>
              </a:rPr>
              <a:t>usar esse conhecimento para tomar melhores decisões</a:t>
            </a:r>
            <a:r>
              <a:rPr lang="pt-BR" sz="1600">
                <a:solidFill>
                  <a:srgbClr val="171616"/>
                </a:solidFill>
                <a:latin typeface="Palatino Linotype"/>
                <a:ea typeface="Palatino Linotype"/>
                <a:cs typeface="Palatino Linotype"/>
                <a:sym typeface="Palatino Linotype"/>
              </a:rPr>
              <a:t>.</a:t>
            </a:r>
            <a:endParaRPr/>
          </a:p>
          <a:p>
            <a:pPr indent="0" lvl="0" marL="0" marR="0" rtl="0" algn="just">
              <a:spcBef>
                <a:spcPts val="0"/>
              </a:spcBef>
              <a:spcAft>
                <a:spcPts val="0"/>
              </a:spcAft>
              <a:buNone/>
            </a:pPr>
            <a:r>
              <a:t/>
            </a:r>
            <a:endParaRPr sz="1600">
              <a:solidFill>
                <a:srgbClr val="171616"/>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Ex: dar uma resposta importante em um momento que estamos muito felizes ou muito tristes não parece ser uma boa ideia.</a:t>
            </a:r>
            <a:endParaRPr/>
          </a:p>
        </p:txBody>
      </p:sp>
      <p:cxnSp>
        <p:nvCxnSpPr>
          <p:cNvPr id="500" name="Google Shape;500;p38"/>
          <p:cNvCxnSpPr/>
          <p:nvPr/>
        </p:nvCxnSpPr>
        <p:spPr>
          <a:xfrm>
            <a:off x="4271058" y="3790703"/>
            <a:ext cx="2777924" cy="0"/>
          </a:xfrm>
          <a:prstGeom prst="straightConnector1">
            <a:avLst/>
          </a:prstGeom>
          <a:noFill/>
          <a:ln cap="flat" cmpd="sng" w="9525">
            <a:solidFill>
              <a:srgbClr val="2A1709"/>
            </a:solidFill>
            <a:prstDash val="solid"/>
            <a:miter lim="800000"/>
            <a:headEnd len="sm" w="sm" type="none"/>
            <a:tailEnd len="med" w="med" type="triangle"/>
          </a:ln>
        </p:spPr>
      </p:cxnSp>
      <p:pic>
        <p:nvPicPr>
          <p:cNvPr id="501" name="Google Shape;501;p38"/>
          <p:cNvPicPr preferRelativeResize="0"/>
          <p:nvPr/>
        </p:nvPicPr>
        <p:blipFill rotWithShape="1">
          <a:blip r:embed="rId3">
            <a:alphaModFix/>
          </a:blip>
          <a:srcRect b="0" l="0" r="0" t="0"/>
          <a:stretch/>
        </p:blipFill>
        <p:spPr>
          <a:xfrm>
            <a:off x="8110524" y="4814474"/>
            <a:ext cx="1910693" cy="141027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508" name="Google Shape;508;p39"/>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4 dimensões</a:t>
            </a:r>
            <a:endParaRPr/>
          </a:p>
        </p:txBody>
      </p:sp>
      <p:sp>
        <p:nvSpPr>
          <p:cNvPr id="509" name="Google Shape;509;p39"/>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510" name="Google Shape;510;p39"/>
          <p:cNvSpPr txBox="1"/>
          <p:nvPr/>
        </p:nvSpPr>
        <p:spPr>
          <a:xfrm>
            <a:off x="1018572" y="2026499"/>
            <a:ext cx="10023676" cy="13542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1. </a:t>
            </a:r>
            <a:r>
              <a:rPr b="1" lang="pt-BR" sz="1800">
                <a:solidFill>
                  <a:srgbClr val="0070C0"/>
                </a:solidFill>
                <a:latin typeface="Palatino Linotype"/>
                <a:ea typeface="Palatino Linotype"/>
                <a:cs typeface="Palatino Linotype"/>
                <a:sym typeface="Palatino Linotype"/>
              </a:rPr>
              <a:t>Perceber e reconhecer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emoções que os outros sentem</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 autenticidade da emoção</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próprias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Expressar as próprias emoções</a:t>
            </a:r>
            <a:endParaRPr/>
          </a:p>
        </p:txBody>
      </p:sp>
      <p:sp>
        <p:nvSpPr>
          <p:cNvPr id="511" name="Google Shape;511;p39"/>
          <p:cNvSpPr txBox="1"/>
          <p:nvPr/>
        </p:nvSpPr>
        <p:spPr>
          <a:xfrm>
            <a:off x="1018572" y="3342168"/>
            <a:ext cx="10023676" cy="86177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2. </a:t>
            </a:r>
            <a:r>
              <a:rPr b="1" lang="pt-BR" sz="1800">
                <a:solidFill>
                  <a:srgbClr val="0070C0"/>
                </a:solidFill>
                <a:latin typeface="Palatino Linotype"/>
                <a:ea typeface="Palatino Linotype"/>
                <a:cs typeface="Palatino Linotype"/>
                <a:sym typeface="Palatino Linotype"/>
              </a:rPr>
              <a:t>Usar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tomar melhores decisões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aumentar a performance</a:t>
            </a:r>
            <a:endParaRPr/>
          </a:p>
        </p:txBody>
      </p:sp>
      <p:sp>
        <p:nvSpPr>
          <p:cNvPr id="512" name="Google Shape;512;p39"/>
          <p:cNvSpPr txBox="1"/>
          <p:nvPr/>
        </p:nvSpPr>
        <p:spPr>
          <a:xfrm>
            <a:off x="1018572" y="4165522"/>
            <a:ext cx="10023676" cy="110799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3. </a:t>
            </a:r>
            <a:r>
              <a:rPr b="1" lang="pt-BR" sz="1800">
                <a:solidFill>
                  <a:srgbClr val="0070C0"/>
                </a:solidFill>
                <a:latin typeface="Palatino Linotype"/>
                <a:ea typeface="Palatino Linotype"/>
                <a:cs typeface="Palatino Linotype"/>
                <a:sym typeface="Palatino Linotype"/>
              </a:rPr>
              <a:t>Entender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Compreender a linguagem das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Reconhecer a relação de causa-efeito entre eventos e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Entender como emoções básicas se combinam</a:t>
            </a:r>
            <a:endParaRPr/>
          </a:p>
        </p:txBody>
      </p:sp>
      <p:sp>
        <p:nvSpPr>
          <p:cNvPr id="513" name="Google Shape;513;p39"/>
          <p:cNvSpPr txBox="1"/>
          <p:nvPr/>
        </p:nvSpPr>
        <p:spPr>
          <a:xfrm>
            <a:off x="1018572" y="5238110"/>
            <a:ext cx="10023676"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4. </a:t>
            </a:r>
            <a:r>
              <a:rPr b="1" lang="pt-BR" sz="1800">
                <a:solidFill>
                  <a:srgbClr val="0070C0"/>
                </a:solidFill>
                <a:latin typeface="Palatino Linotype"/>
                <a:ea typeface="Palatino Linotype"/>
                <a:cs typeface="Palatino Linotype"/>
                <a:sym typeface="Palatino Linotype"/>
              </a:rPr>
              <a:t>Regular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Definir objetivos/metas emocionais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Escolher as melhores estratégias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Implementar as estratégias</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p:txBody>
      </p:sp>
      <p:sp>
        <p:nvSpPr>
          <p:cNvPr id="514" name="Google Shape;514;p39"/>
          <p:cNvSpPr/>
          <p:nvPr/>
        </p:nvSpPr>
        <p:spPr>
          <a:xfrm>
            <a:off x="7089494" y="2291720"/>
            <a:ext cx="3952754" cy="1945528"/>
          </a:xfrm>
          <a:prstGeom prst="rect">
            <a:avLst/>
          </a:prstGeom>
          <a:solidFill>
            <a:srgbClr val="D0FC9A"/>
          </a:solidFill>
          <a:ln cap="flat" cmpd="sng" w="12700">
            <a:solidFill>
              <a:srgbClr val="2A170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Refere-se à capacidade de </a:t>
            </a:r>
            <a:r>
              <a:rPr b="1" lang="pt-BR" sz="1600">
                <a:solidFill>
                  <a:srgbClr val="171616"/>
                </a:solidFill>
                <a:latin typeface="Palatino Linotype"/>
                <a:ea typeface="Palatino Linotype"/>
                <a:cs typeface="Palatino Linotype"/>
                <a:sym typeface="Palatino Linotype"/>
              </a:rPr>
              <a:t>usar as emoções para aumentar a performance </a:t>
            </a:r>
            <a:r>
              <a:rPr lang="pt-BR" sz="1600">
                <a:solidFill>
                  <a:srgbClr val="171616"/>
                </a:solidFill>
                <a:latin typeface="Palatino Linotype"/>
                <a:ea typeface="Palatino Linotype"/>
                <a:cs typeface="Palatino Linotype"/>
                <a:sym typeface="Palatino Linotype"/>
              </a:rPr>
              <a:t>nas atividades do dia a dia.</a:t>
            </a:r>
            <a:endParaRPr/>
          </a:p>
          <a:p>
            <a:pPr indent="0" lvl="0" marL="0" marR="0" rtl="0" algn="just">
              <a:spcBef>
                <a:spcPts val="0"/>
              </a:spcBef>
              <a:spcAft>
                <a:spcPts val="0"/>
              </a:spcAft>
              <a:buNone/>
            </a:pPr>
            <a:r>
              <a:t/>
            </a:r>
            <a:endParaRPr sz="1600">
              <a:solidFill>
                <a:srgbClr val="171616"/>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Ex: reconhecer um momento de motivação para usá-lo para solucionar os problemas mais difíceis.</a:t>
            </a:r>
            <a:endParaRPr/>
          </a:p>
        </p:txBody>
      </p:sp>
      <p:cxnSp>
        <p:nvCxnSpPr>
          <p:cNvPr id="515" name="Google Shape;515;p39"/>
          <p:cNvCxnSpPr/>
          <p:nvPr/>
        </p:nvCxnSpPr>
        <p:spPr>
          <a:xfrm>
            <a:off x="4271058" y="4027983"/>
            <a:ext cx="2777924" cy="0"/>
          </a:xfrm>
          <a:prstGeom prst="straightConnector1">
            <a:avLst/>
          </a:prstGeom>
          <a:noFill/>
          <a:ln cap="flat" cmpd="sng" w="9525">
            <a:solidFill>
              <a:srgbClr val="2A1709"/>
            </a:solidFill>
            <a:prstDash val="solid"/>
            <a:miter lim="800000"/>
            <a:headEnd len="sm" w="sm" type="none"/>
            <a:tailEnd len="med" w="med" type="triangle"/>
          </a:ln>
        </p:spPr>
      </p:cxnSp>
      <p:pic>
        <p:nvPicPr>
          <p:cNvPr id="516" name="Google Shape;516;p39"/>
          <p:cNvPicPr preferRelativeResize="0"/>
          <p:nvPr/>
        </p:nvPicPr>
        <p:blipFill rotWithShape="1">
          <a:blip r:embed="rId3">
            <a:alphaModFix/>
          </a:blip>
          <a:srcRect b="0" l="0" r="0" t="0"/>
          <a:stretch/>
        </p:blipFill>
        <p:spPr>
          <a:xfrm>
            <a:off x="7724502" y="4431164"/>
            <a:ext cx="2682737" cy="175517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523" name="Google Shape;523;p40"/>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4 dimensões</a:t>
            </a:r>
            <a:endParaRPr/>
          </a:p>
        </p:txBody>
      </p:sp>
      <p:sp>
        <p:nvSpPr>
          <p:cNvPr id="524" name="Google Shape;524;p40"/>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525" name="Google Shape;525;p40"/>
          <p:cNvSpPr txBox="1"/>
          <p:nvPr/>
        </p:nvSpPr>
        <p:spPr>
          <a:xfrm>
            <a:off x="1018572" y="2026499"/>
            <a:ext cx="10023676" cy="13542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1. </a:t>
            </a:r>
            <a:r>
              <a:rPr b="1" lang="pt-BR" sz="1800">
                <a:solidFill>
                  <a:srgbClr val="0070C0"/>
                </a:solidFill>
                <a:latin typeface="Palatino Linotype"/>
                <a:ea typeface="Palatino Linotype"/>
                <a:cs typeface="Palatino Linotype"/>
                <a:sym typeface="Palatino Linotype"/>
              </a:rPr>
              <a:t>Perceber e reconhecer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emoções que os outros sentem</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 autenticidade da emoção</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próprias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Expressar as próprias emoções</a:t>
            </a:r>
            <a:endParaRPr/>
          </a:p>
        </p:txBody>
      </p:sp>
      <p:sp>
        <p:nvSpPr>
          <p:cNvPr id="526" name="Google Shape;526;p40"/>
          <p:cNvSpPr txBox="1"/>
          <p:nvPr/>
        </p:nvSpPr>
        <p:spPr>
          <a:xfrm>
            <a:off x="1018572" y="3342168"/>
            <a:ext cx="10023676" cy="86177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2. </a:t>
            </a:r>
            <a:r>
              <a:rPr b="1" lang="pt-BR" sz="1800">
                <a:solidFill>
                  <a:srgbClr val="0070C0"/>
                </a:solidFill>
                <a:latin typeface="Palatino Linotype"/>
                <a:ea typeface="Palatino Linotype"/>
                <a:cs typeface="Palatino Linotype"/>
                <a:sym typeface="Palatino Linotype"/>
              </a:rPr>
              <a:t>Usar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tomar melhores decisões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aumentar a performance</a:t>
            </a:r>
            <a:endParaRPr/>
          </a:p>
        </p:txBody>
      </p:sp>
      <p:sp>
        <p:nvSpPr>
          <p:cNvPr id="527" name="Google Shape;527;p40"/>
          <p:cNvSpPr txBox="1"/>
          <p:nvPr/>
        </p:nvSpPr>
        <p:spPr>
          <a:xfrm>
            <a:off x="1018572" y="4165522"/>
            <a:ext cx="10023676" cy="110799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3. </a:t>
            </a:r>
            <a:r>
              <a:rPr b="1" lang="pt-BR" sz="1800">
                <a:solidFill>
                  <a:srgbClr val="0070C0"/>
                </a:solidFill>
                <a:latin typeface="Palatino Linotype"/>
                <a:ea typeface="Palatino Linotype"/>
                <a:cs typeface="Palatino Linotype"/>
                <a:sym typeface="Palatino Linotype"/>
              </a:rPr>
              <a:t>Entender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Compreender a linguagem das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Reconhecer a relação de causa-efeito entre eventos e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Entender como emoções básicas se combinam</a:t>
            </a:r>
            <a:endParaRPr/>
          </a:p>
        </p:txBody>
      </p:sp>
      <p:sp>
        <p:nvSpPr>
          <p:cNvPr id="528" name="Google Shape;528;p40"/>
          <p:cNvSpPr txBox="1"/>
          <p:nvPr/>
        </p:nvSpPr>
        <p:spPr>
          <a:xfrm>
            <a:off x="1018572" y="5238110"/>
            <a:ext cx="10023676"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4. </a:t>
            </a:r>
            <a:r>
              <a:rPr b="1" lang="pt-BR" sz="1800">
                <a:solidFill>
                  <a:srgbClr val="0070C0"/>
                </a:solidFill>
                <a:latin typeface="Palatino Linotype"/>
                <a:ea typeface="Palatino Linotype"/>
                <a:cs typeface="Palatino Linotype"/>
                <a:sym typeface="Palatino Linotype"/>
              </a:rPr>
              <a:t>Regular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Definir objetivos/metas emocionais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Escolher as melhores estratégias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Implementar as estratégias</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p:txBody>
      </p:sp>
      <p:sp>
        <p:nvSpPr>
          <p:cNvPr id="529" name="Google Shape;529;p40"/>
          <p:cNvSpPr/>
          <p:nvPr/>
        </p:nvSpPr>
        <p:spPr>
          <a:xfrm>
            <a:off x="7089494" y="3676847"/>
            <a:ext cx="3952754" cy="2617585"/>
          </a:xfrm>
          <a:prstGeom prst="rect">
            <a:avLst/>
          </a:prstGeom>
          <a:solidFill>
            <a:srgbClr val="9BDBFB"/>
          </a:solidFill>
          <a:ln cap="flat" cmpd="sng" w="12700">
            <a:solidFill>
              <a:srgbClr val="2A170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Refere-se à habilidade de reconhecer uma emoção e associá-la acuradamente às palavras ou expressões que a descrevem.</a:t>
            </a:r>
            <a:endParaRPr/>
          </a:p>
          <a:p>
            <a:pPr indent="0" lvl="0" marL="0" marR="0" rtl="0" algn="just">
              <a:spcBef>
                <a:spcPts val="0"/>
              </a:spcBef>
              <a:spcAft>
                <a:spcPts val="0"/>
              </a:spcAft>
              <a:buNone/>
            </a:pPr>
            <a:r>
              <a:t/>
            </a:r>
            <a:endParaRPr sz="1600">
              <a:solidFill>
                <a:srgbClr val="171616"/>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Uma dificuldade comum é de saber expressar as próprias emoções corretamente. </a:t>
            </a:r>
            <a:endParaRPr/>
          </a:p>
          <a:p>
            <a:pPr indent="0" lvl="0" marL="0" marR="0" rtl="0" algn="just">
              <a:spcBef>
                <a:spcPts val="0"/>
              </a:spcBef>
              <a:spcAft>
                <a:spcPts val="0"/>
              </a:spcAft>
              <a:buNone/>
            </a:pPr>
            <a:r>
              <a:t/>
            </a:r>
            <a:endParaRPr sz="1600">
              <a:solidFill>
                <a:srgbClr val="171616"/>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a:t>
            </a:r>
            <a:r>
              <a:rPr i="1" lang="pt-BR" sz="1600">
                <a:solidFill>
                  <a:srgbClr val="171616"/>
                </a:solidFill>
                <a:latin typeface="Palatino Linotype"/>
                <a:ea typeface="Palatino Linotype"/>
                <a:cs typeface="Palatino Linotype"/>
                <a:sym typeface="Palatino Linotype"/>
              </a:rPr>
              <a:t>Sabe aquele sentimento estranho? Quando a gente se sente meio assim?</a:t>
            </a:r>
            <a:r>
              <a:rPr lang="pt-BR" sz="1600">
                <a:solidFill>
                  <a:srgbClr val="171616"/>
                </a:solidFill>
                <a:latin typeface="Palatino Linotype"/>
                <a:ea typeface="Palatino Linotype"/>
                <a:cs typeface="Palatino Linotype"/>
                <a:sym typeface="Palatino Linotype"/>
              </a:rPr>
              <a:t>”</a:t>
            </a:r>
            <a:endParaRPr/>
          </a:p>
        </p:txBody>
      </p:sp>
      <p:cxnSp>
        <p:nvCxnSpPr>
          <p:cNvPr id="530" name="Google Shape;530;p40"/>
          <p:cNvCxnSpPr/>
          <p:nvPr/>
        </p:nvCxnSpPr>
        <p:spPr>
          <a:xfrm>
            <a:off x="5087073" y="4635654"/>
            <a:ext cx="1961909" cy="0"/>
          </a:xfrm>
          <a:prstGeom prst="straightConnector1">
            <a:avLst/>
          </a:prstGeom>
          <a:noFill/>
          <a:ln cap="flat" cmpd="sng" w="9525">
            <a:solidFill>
              <a:srgbClr val="2A1709"/>
            </a:solidFill>
            <a:prstDash val="solid"/>
            <a:miter lim="800000"/>
            <a:headEnd len="sm" w="sm" type="none"/>
            <a:tailEnd len="med" w="med" type="triangle"/>
          </a:ln>
        </p:spPr>
      </p:cxnSp>
      <p:pic>
        <p:nvPicPr>
          <p:cNvPr id="531" name="Google Shape;531;p40"/>
          <p:cNvPicPr preferRelativeResize="0"/>
          <p:nvPr/>
        </p:nvPicPr>
        <p:blipFill rotWithShape="1">
          <a:blip r:embed="rId3">
            <a:alphaModFix/>
          </a:blip>
          <a:srcRect b="0" l="0" r="0" t="0"/>
          <a:stretch/>
        </p:blipFill>
        <p:spPr>
          <a:xfrm>
            <a:off x="8259457" y="2166802"/>
            <a:ext cx="1529436" cy="140116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538" name="Google Shape;538;p41"/>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4 dimensões</a:t>
            </a:r>
            <a:endParaRPr/>
          </a:p>
        </p:txBody>
      </p:sp>
      <p:sp>
        <p:nvSpPr>
          <p:cNvPr id="539" name="Google Shape;539;p41"/>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540" name="Google Shape;540;p41"/>
          <p:cNvSpPr txBox="1"/>
          <p:nvPr/>
        </p:nvSpPr>
        <p:spPr>
          <a:xfrm>
            <a:off x="1018572" y="2026499"/>
            <a:ext cx="10023676" cy="13542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1. </a:t>
            </a:r>
            <a:r>
              <a:rPr b="1" lang="pt-BR" sz="1800">
                <a:solidFill>
                  <a:srgbClr val="0070C0"/>
                </a:solidFill>
                <a:latin typeface="Palatino Linotype"/>
                <a:ea typeface="Palatino Linotype"/>
                <a:cs typeface="Palatino Linotype"/>
                <a:sym typeface="Palatino Linotype"/>
              </a:rPr>
              <a:t>Perceber e reconhecer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emoções que os outros sentem</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 autenticidade da emoção</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próprias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Expressar as próprias emoções</a:t>
            </a:r>
            <a:endParaRPr/>
          </a:p>
        </p:txBody>
      </p:sp>
      <p:sp>
        <p:nvSpPr>
          <p:cNvPr id="541" name="Google Shape;541;p41"/>
          <p:cNvSpPr txBox="1"/>
          <p:nvPr/>
        </p:nvSpPr>
        <p:spPr>
          <a:xfrm>
            <a:off x="1018572" y="3342168"/>
            <a:ext cx="10023676" cy="86177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2. </a:t>
            </a:r>
            <a:r>
              <a:rPr b="1" lang="pt-BR" sz="1800">
                <a:solidFill>
                  <a:srgbClr val="0070C0"/>
                </a:solidFill>
                <a:latin typeface="Palatino Linotype"/>
                <a:ea typeface="Palatino Linotype"/>
                <a:cs typeface="Palatino Linotype"/>
                <a:sym typeface="Palatino Linotype"/>
              </a:rPr>
              <a:t>Usar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tomar melhores decisões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aumentar a performance</a:t>
            </a:r>
            <a:endParaRPr/>
          </a:p>
        </p:txBody>
      </p:sp>
      <p:sp>
        <p:nvSpPr>
          <p:cNvPr id="542" name="Google Shape;542;p41"/>
          <p:cNvSpPr txBox="1"/>
          <p:nvPr/>
        </p:nvSpPr>
        <p:spPr>
          <a:xfrm>
            <a:off x="1018572" y="4165522"/>
            <a:ext cx="10023676" cy="110799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3. </a:t>
            </a:r>
            <a:r>
              <a:rPr b="1" lang="pt-BR" sz="1800">
                <a:solidFill>
                  <a:srgbClr val="0070C0"/>
                </a:solidFill>
                <a:latin typeface="Palatino Linotype"/>
                <a:ea typeface="Palatino Linotype"/>
                <a:cs typeface="Palatino Linotype"/>
                <a:sym typeface="Palatino Linotype"/>
              </a:rPr>
              <a:t>Entender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Compreender a linguagem das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Reconhecer a relação de causa-efeito entre eventos e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Entender como emoções básicas se combinam</a:t>
            </a:r>
            <a:endParaRPr/>
          </a:p>
        </p:txBody>
      </p:sp>
      <p:sp>
        <p:nvSpPr>
          <p:cNvPr id="543" name="Google Shape;543;p41"/>
          <p:cNvSpPr txBox="1"/>
          <p:nvPr/>
        </p:nvSpPr>
        <p:spPr>
          <a:xfrm>
            <a:off x="1018572" y="5238110"/>
            <a:ext cx="10023676"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4. </a:t>
            </a:r>
            <a:r>
              <a:rPr b="1" lang="pt-BR" sz="1800">
                <a:solidFill>
                  <a:srgbClr val="0070C0"/>
                </a:solidFill>
                <a:latin typeface="Palatino Linotype"/>
                <a:ea typeface="Palatino Linotype"/>
                <a:cs typeface="Palatino Linotype"/>
                <a:sym typeface="Palatino Linotype"/>
              </a:rPr>
              <a:t>Regular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Definir objetivos/metas emocionais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Escolher as melhores estratégias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Implementar as estratégias</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p:txBody>
      </p:sp>
      <p:sp>
        <p:nvSpPr>
          <p:cNvPr id="544" name="Google Shape;544;p41"/>
          <p:cNvSpPr/>
          <p:nvPr/>
        </p:nvSpPr>
        <p:spPr>
          <a:xfrm>
            <a:off x="7089494" y="4743037"/>
            <a:ext cx="3952754" cy="1401901"/>
          </a:xfrm>
          <a:prstGeom prst="rect">
            <a:avLst/>
          </a:prstGeom>
          <a:solidFill>
            <a:srgbClr val="9BDBFB"/>
          </a:solidFill>
          <a:ln cap="flat" cmpd="sng" w="12700">
            <a:solidFill>
              <a:srgbClr val="2A170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Capacidade de identificar corretamente quais acontecimentos (eventos passados) eliciaram/causaram cada emoção (em si ou nos outros) e predizer quais emoções futuras decorrerão de eventos presentes.</a:t>
            </a:r>
            <a:endParaRPr/>
          </a:p>
        </p:txBody>
      </p:sp>
      <p:cxnSp>
        <p:nvCxnSpPr>
          <p:cNvPr id="545" name="Google Shape;545;p41"/>
          <p:cNvCxnSpPr/>
          <p:nvPr/>
        </p:nvCxnSpPr>
        <p:spPr>
          <a:xfrm>
            <a:off x="6904299" y="4867145"/>
            <a:ext cx="144683" cy="0"/>
          </a:xfrm>
          <a:prstGeom prst="straightConnector1">
            <a:avLst/>
          </a:prstGeom>
          <a:noFill/>
          <a:ln cap="flat" cmpd="sng" w="9525">
            <a:solidFill>
              <a:srgbClr val="2A1709"/>
            </a:solidFill>
            <a:prstDash val="solid"/>
            <a:miter lim="800000"/>
            <a:headEnd len="sm" w="sm" type="none"/>
            <a:tailEnd len="med" w="med" type="triangle"/>
          </a:ln>
        </p:spPr>
      </p:cxnSp>
      <p:pic>
        <p:nvPicPr>
          <p:cNvPr descr="A quantum causal discovery algorithm | npj Quantum Information" id="546" name="Google Shape;546;p41"/>
          <p:cNvPicPr preferRelativeResize="0"/>
          <p:nvPr/>
        </p:nvPicPr>
        <p:blipFill rotWithShape="1">
          <a:blip r:embed="rId3">
            <a:alphaModFix/>
          </a:blip>
          <a:srcRect b="0" l="0" r="0" t="0"/>
          <a:stretch/>
        </p:blipFill>
        <p:spPr>
          <a:xfrm>
            <a:off x="7234188" y="2355838"/>
            <a:ext cx="3663365" cy="199479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553" name="Google Shape;553;p4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4 dimensões</a:t>
            </a:r>
            <a:endParaRPr/>
          </a:p>
        </p:txBody>
      </p:sp>
      <p:sp>
        <p:nvSpPr>
          <p:cNvPr id="554" name="Google Shape;554;p42"/>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555" name="Google Shape;555;p42"/>
          <p:cNvSpPr txBox="1"/>
          <p:nvPr/>
        </p:nvSpPr>
        <p:spPr>
          <a:xfrm>
            <a:off x="1018572" y="2026499"/>
            <a:ext cx="10023676" cy="13542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1. </a:t>
            </a:r>
            <a:r>
              <a:rPr b="1" lang="pt-BR" sz="1800">
                <a:solidFill>
                  <a:srgbClr val="0070C0"/>
                </a:solidFill>
                <a:latin typeface="Palatino Linotype"/>
                <a:ea typeface="Palatino Linotype"/>
                <a:cs typeface="Palatino Linotype"/>
                <a:sym typeface="Palatino Linotype"/>
              </a:rPr>
              <a:t>Perceber e reconhecer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emoções que os outros sentem</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 autenticidade da emoção</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próprias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Expressar as próprias emoções</a:t>
            </a:r>
            <a:endParaRPr/>
          </a:p>
        </p:txBody>
      </p:sp>
      <p:sp>
        <p:nvSpPr>
          <p:cNvPr id="556" name="Google Shape;556;p42"/>
          <p:cNvSpPr txBox="1"/>
          <p:nvPr/>
        </p:nvSpPr>
        <p:spPr>
          <a:xfrm>
            <a:off x="1018572" y="3342168"/>
            <a:ext cx="10023676" cy="86177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2. </a:t>
            </a:r>
            <a:r>
              <a:rPr b="1" lang="pt-BR" sz="1800">
                <a:solidFill>
                  <a:srgbClr val="0070C0"/>
                </a:solidFill>
                <a:latin typeface="Palatino Linotype"/>
                <a:ea typeface="Palatino Linotype"/>
                <a:cs typeface="Palatino Linotype"/>
                <a:sym typeface="Palatino Linotype"/>
              </a:rPr>
              <a:t>Usar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tomar melhores decisões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aumentar a performance</a:t>
            </a:r>
            <a:endParaRPr/>
          </a:p>
        </p:txBody>
      </p:sp>
      <p:sp>
        <p:nvSpPr>
          <p:cNvPr id="557" name="Google Shape;557;p42"/>
          <p:cNvSpPr txBox="1"/>
          <p:nvPr/>
        </p:nvSpPr>
        <p:spPr>
          <a:xfrm>
            <a:off x="1018572" y="4165522"/>
            <a:ext cx="10023676" cy="110799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3. </a:t>
            </a:r>
            <a:r>
              <a:rPr b="1" lang="pt-BR" sz="1800">
                <a:solidFill>
                  <a:srgbClr val="0070C0"/>
                </a:solidFill>
                <a:latin typeface="Palatino Linotype"/>
                <a:ea typeface="Palatino Linotype"/>
                <a:cs typeface="Palatino Linotype"/>
                <a:sym typeface="Palatino Linotype"/>
              </a:rPr>
              <a:t>Entender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Compreender a linguagem das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Reconhecer a relação de causa-efeito entre eventos e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Entender como emoções básicas se combinam</a:t>
            </a:r>
            <a:endParaRPr/>
          </a:p>
        </p:txBody>
      </p:sp>
      <p:sp>
        <p:nvSpPr>
          <p:cNvPr id="558" name="Google Shape;558;p42"/>
          <p:cNvSpPr txBox="1"/>
          <p:nvPr/>
        </p:nvSpPr>
        <p:spPr>
          <a:xfrm>
            <a:off x="1018572" y="5238110"/>
            <a:ext cx="10023676"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4. </a:t>
            </a:r>
            <a:r>
              <a:rPr b="1" lang="pt-BR" sz="1800">
                <a:solidFill>
                  <a:srgbClr val="0070C0"/>
                </a:solidFill>
                <a:latin typeface="Palatino Linotype"/>
                <a:ea typeface="Palatino Linotype"/>
                <a:cs typeface="Palatino Linotype"/>
                <a:sym typeface="Palatino Linotype"/>
              </a:rPr>
              <a:t>Regular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Definir objetivos/metas emocionais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Escolher as melhores estratégias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Implementar as estratégias</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p:txBody>
      </p:sp>
      <p:sp>
        <p:nvSpPr>
          <p:cNvPr id="559" name="Google Shape;559;p42"/>
          <p:cNvSpPr/>
          <p:nvPr/>
        </p:nvSpPr>
        <p:spPr>
          <a:xfrm>
            <a:off x="7089494" y="4493173"/>
            <a:ext cx="3952754" cy="1863524"/>
          </a:xfrm>
          <a:prstGeom prst="rect">
            <a:avLst/>
          </a:prstGeom>
          <a:solidFill>
            <a:srgbClr val="9BDBFB"/>
          </a:solidFill>
          <a:ln cap="flat" cmpd="sng" w="12700">
            <a:solidFill>
              <a:srgbClr val="2A170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Habilidade para reconhecer emoções complexas e/ou contraditórias. </a:t>
            </a:r>
            <a:endParaRPr/>
          </a:p>
          <a:p>
            <a:pPr indent="0" lvl="0" marL="0" marR="0" rtl="0" algn="just">
              <a:spcBef>
                <a:spcPts val="0"/>
              </a:spcBef>
              <a:spcAft>
                <a:spcPts val="0"/>
              </a:spcAft>
              <a:buNone/>
            </a:pPr>
            <a:r>
              <a:t/>
            </a:r>
            <a:endParaRPr sz="1600">
              <a:solidFill>
                <a:srgbClr val="171616"/>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Um evento pode desencadear mais de uma emoção, incluindo emoções contraditórias, e resultar em uma experiência subjetiva mais complexa.</a:t>
            </a:r>
            <a:endParaRPr/>
          </a:p>
        </p:txBody>
      </p:sp>
      <p:cxnSp>
        <p:nvCxnSpPr>
          <p:cNvPr id="560" name="Google Shape;560;p42"/>
          <p:cNvCxnSpPr/>
          <p:nvPr/>
        </p:nvCxnSpPr>
        <p:spPr>
          <a:xfrm flipH="1" rot="10800000">
            <a:off x="5550061" y="5104423"/>
            <a:ext cx="1498921" cy="11"/>
          </a:xfrm>
          <a:prstGeom prst="straightConnector1">
            <a:avLst/>
          </a:prstGeom>
          <a:noFill/>
          <a:ln cap="flat" cmpd="sng" w="9525">
            <a:solidFill>
              <a:srgbClr val="2A1709"/>
            </a:solidFill>
            <a:prstDash val="solid"/>
            <a:miter lim="800000"/>
            <a:headEnd len="sm" w="sm" type="none"/>
            <a:tailEnd len="med" w="med" type="triangle"/>
          </a:ln>
        </p:spPr>
      </p:cxnSp>
      <p:pic>
        <p:nvPicPr>
          <p:cNvPr descr="Exploring emotion combinations using word2vec - Towards Data Science" id="561" name="Google Shape;561;p42"/>
          <p:cNvPicPr preferRelativeResize="0"/>
          <p:nvPr/>
        </p:nvPicPr>
        <p:blipFill rotWithShape="1">
          <a:blip r:embed="rId3">
            <a:alphaModFix/>
          </a:blip>
          <a:srcRect b="0" l="0" r="0" t="0"/>
          <a:stretch/>
        </p:blipFill>
        <p:spPr>
          <a:xfrm>
            <a:off x="7048982" y="2742467"/>
            <a:ext cx="3993266" cy="125959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568" name="Google Shape;568;p4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4 dimensões</a:t>
            </a:r>
            <a:endParaRPr/>
          </a:p>
        </p:txBody>
      </p:sp>
      <p:sp>
        <p:nvSpPr>
          <p:cNvPr id="569" name="Google Shape;569;p43"/>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570" name="Google Shape;570;p43"/>
          <p:cNvSpPr txBox="1"/>
          <p:nvPr/>
        </p:nvSpPr>
        <p:spPr>
          <a:xfrm>
            <a:off x="1018572" y="2026499"/>
            <a:ext cx="10023676" cy="13542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1. </a:t>
            </a:r>
            <a:r>
              <a:rPr b="1" lang="pt-BR" sz="1800">
                <a:solidFill>
                  <a:srgbClr val="0070C0"/>
                </a:solidFill>
                <a:latin typeface="Palatino Linotype"/>
                <a:ea typeface="Palatino Linotype"/>
                <a:cs typeface="Palatino Linotype"/>
                <a:sym typeface="Palatino Linotype"/>
              </a:rPr>
              <a:t>Perceber e reconhecer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emoções que os outros sentem</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 autenticidade da emoção</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próprias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Expressar as próprias emoções</a:t>
            </a:r>
            <a:endParaRPr/>
          </a:p>
        </p:txBody>
      </p:sp>
      <p:sp>
        <p:nvSpPr>
          <p:cNvPr id="571" name="Google Shape;571;p43"/>
          <p:cNvSpPr txBox="1"/>
          <p:nvPr/>
        </p:nvSpPr>
        <p:spPr>
          <a:xfrm>
            <a:off x="1018572" y="3342168"/>
            <a:ext cx="10023676" cy="86177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2. </a:t>
            </a:r>
            <a:r>
              <a:rPr b="1" lang="pt-BR" sz="1800">
                <a:solidFill>
                  <a:srgbClr val="0070C0"/>
                </a:solidFill>
                <a:latin typeface="Palatino Linotype"/>
                <a:ea typeface="Palatino Linotype"/>
                <a:cs typeface="Palatino Linotype"/>
                <a:sym typeface="Palatino Linotype"/>
              </a:rPr>
              <a:t>Usar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tomar melhores decisões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aumentar a performance</a:t>
            </a:r>
            <a:endParaRPr/>
          </a:p>
        </p:txBody>
      </p:sp>
      <p:sp>
        <p:nvSpPr>
          <p:cNvPr id="572" name="Google Shape;572;p43"/>
          <p:cNvSpPr txBox="1"/>
          <p:nvPr/>
        </p:nvSpPr>
        <p:spPr>
          <a:xfrm>
            <a:off x="1018572" y="4165522"/>
            <a:ext cx="10023676" cy="110799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3. </a:t>
            </a:r>
            <a:r>
              <a:rPr b="1" lang="pt-BR" sz="1800">
                <a:solidFill>
                  <a:srgbClr val="0070C0"/>
                </a:solidFill>
                <a:latin typeface="Palatino Linotype"/>
                <a:ea typeface="Palatino Linotype"/>
                <a:cs typeface="Palatino Linotype"/>
                <a:sym typeface="Palatino Linotype"/>
              </a:rPr>
              <a:t>Entender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Compreender a linguagem das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Reconhecer a relação de causa-efeito entre eventos e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Entender como emoções básicas se combinam</a:t>
            </a:r>
            <a:endParaRPr/>
          </a:p>
        </p:txBody>
      </p:sp>
      <p:sp>
        <p:nvSpPr>
          <p:cNvPr id="573" name="Google Shape;573;p43"/>
          <p:cNvSpPr txBox="1"/>
          <p:nvPr/>
        </p:nvSpPr>
        <p:spPr>
          <a:xfrm>
            <a:off x="1018572" y="5238110"/>
            <a:ext cx="10023676"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4. </a:t>
            </a:r>
            <a:r>
              <a:rPr b="1" lang="pt-BR" sz="1800">
                <a:solidFill>
                  <a:srgbClr val="0070C0"/>
                </a:solidFill>
                <a:latin typeface="Palatino Linotype"/>
                <a:ea typeface="Palatino Linotype"/>
                <a:cs typeface="Palatino Linotype"/>
                <a:sym typeface="Palatino Linotype"/>
              </a:rPr>
              <a:t>Regular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Definir objetivos/metas emocionais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Escolher as melhores estratégias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Implementar as estratégias</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p:txBody>
      </p:sp>
      <p:sp>
        <p:nvSpPr>
          <p:cNvPr id="574" name="Google Shape;574;p43"/>
          <p:cNvSpPr/>
          <p:nvPr/>
        </p:nvSpPr>
        <p:spPr>
          <a:xfrm>
            <a:off x="7089494" y="3761772"/>
            <a:ext cx="3952754" cy="2563793"/>
          </a:xfrm>
          <a:prstGeom prst="rect">
            <a:avLst/>
          </a:prstGeom>
          <a:solidFill>
            <a:srgbClr val="D5A8FE"/>
          </a:solidFill>
          <a:ln cap="flat" cmpd="sng" w="12700">
            <a:solidFill>
              <a:srgbClr val="2A170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Refere-se a como o indivíduo percebe corretamente se seu estado emocional (ou dos outros) está em nível ótimo e como ele estabelece metas para modificá-lo caso seja necessário. </a:t>
            </a:r>
            <a:endParaRPr/>
          </a:p>
          <a:p>
            <a:pPr indent="0" lvl="0" marL="0" marR="0" rtl="0" algn="just">
              <a:spcBef>
                <a:spcPts val="0"/>
              </a:spcBef>
              <a:spcAft>
                <a:spcPts val="0"/>
              </a:spcAft>
              <a:buNone/>
            </a:pPr>
            <a:r>
              <a:t/>
            </a:r>
            <a:endParaRPr sz="1600">
              <a:solidFill>
                <a:srgbClr val="171616"/>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Ex: sabemos reconhecer quando estamos tristes? E, se sabemos, conseguimos identificar qual a emoção queremos/devemos alcançar?</a:t>
            </a:r>
            <a:endParaRPr/>
          </a:p>
        </p:txBody>
      </p:sp>
      <p:cxnSp>
        <p:nvCxnSpPr>
          <p:cNvPr id="575" name="Google Shape;575;p43"/>
          <p:cNvCxnSpPr/>
          <p:nvPr/>
        </p:nvCxnSpPr>
        <p:spPr>
          <a:xfrm>
            <a:off x="4624086" y="5688941"/>
            <a:ext cx="2424896" cy="1"/>
          </a:xfrm>
          <a:prstGeom prst="straightConnector1">
            <a:avLst/>
          </a:prstGeom>
          <a:noFill/>
          <a:ln cap="flat" cmpd="sng" w="9525">
            <a:solidFill>
              <a:srgbClr val="2A1709"/>
            </a:solidFill>
            <a:prstDash val="solid"/>
            <a:miter lim="800000"/>
            <a:headEnd len="sm" w="sm" type="none"/>
            <a:tailEnd len="med" w="med" type="triangle"/>
          </a:ln>
        </p:spPr>
      </p:cxnSp>
      <p:pic>
        <p:nvPicPr>
          <p:cNvPr id="576" name="Google Shape;576;p43"/>
          <p:cNvPicPr preferRelativeResize="0"/>
          <p:nvPr/>
        </p:nvPicPr>
        <p:blipFill rotWithShape="1">
          <a:blip r:embed="rId3">
            <a:alphaModFix/>
          </a:blip>
          <a:srcRect b="0" l="0" r="0" t="0"/>
          <a:stretch/>
        </p:blipFill>
        <p:spPr>
          <a:xfrm>
            <a:off x="7817837" y="2118677"/>
            <a:ext cx="2500445" cy="156447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583" name="Google Shape;583;p44"/>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4 dimensões</a:t>
            </a:r>
            <a:endParaRPr/>
          </a:p>
        </p:txBody>
      </p:sp>
      <p:sp>
        <p:nvSpPr>
          <p:cNvPr id="584" name="Google Shape;584;p44"/>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585" name="Google Shape;585;p44"/>
          <p:cNvSpPr txBox="1"/>
          <p:nvPr/>
        </p:nvSpPr>
        <p:spPr>
          <a:xfrm>
            <a:off x="1018572" y="2026499"/>
            <a:ext cx="10023676" cy="13542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1. </a:t>
            </a:r>
            <a:r>
              <a:rPr b="1" lang="pt-BR" sz="1800">
                <a:solidFill>
                  <a:srgbClr val="0070C0"/>
                </a:solidFill>
                <a:latin typeface="Palatino Linotype"/>
                <a:ea typeface="Palatino Linotype"/>
                <a:cs typeface="Palatino Linotype"/>
                <a:sym typeface="Palatino Linotype"/>
              </a:rPr>
              <a:t>Perceber e reconhecer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emoções que os outros sentem</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 autenticidade da emoção</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próprias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Expressar as próprias emoções</a:t>
            </a:r>
            <a:endParaRPr/>
          </a:p>
        </p:txBody>
      </p:sp>
      <p:sp>
        <p:nvSpPr>
          <p:cNvPr id="586" name="Google Shape;586;p44"/>
          <p:cNvSpPr txBox="1"/>
          <p:nvPr/>
        </p:nvSpPr>
        <p:spPr>
          <a:xfrm>
            <a:off x="1018572" y="3342168"/>
            <a:ext cx="10023676" cy="86177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2. </a:t>
            </a:r>
            <a:r>
              <a:rPr b="1" lang="pt-BR" sz="1800">
                <a:solidFill>
                  <a:srgbClr val="0070C0"/>
                </a:solidFill>
                <a:latin typeface="Palatino Linotype"/>
                <a:ea typeface="Palatino Linotype"/>
                <a:cs typeface="Palatino Linotype"/>
                <a:sym typeface="Palatino Linotype"/>
              </a:rPr>
              <a:t>Usar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tomar melhores decisões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aumentar a performance</a:t>
            </a:r>
            <a:endParaRPr/>
          </a:p>
        </p:txBody>
      </p:sp>
      <p:sp>
        <p:nvSpPr>
          <p:cNvPr id="587" name="Google Shape;587;p44"/>
          <p:cNvSpPr txBox="1"/>
          <p:nvPr/>
        </p:nvSpPr>
        <p:spPr>
          <a:xfrm>
            <a:off x="1018572" y="4165522"/>
            <a:ext cx="10023676" cy="110799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3. </a:t>
            </a:r>
            <a:r>
              <a:rPr b="1" lang="pt-BR" sz="1800">
                <a:solidFill>
                  <a:srgbClr val="0070C0"/>
                </a:solidFill>
                <a:latin typeface="Palatino Linotype"/>
                <a:ea typeface="Palatino Linotype"/>
                <a:cs typeface="Palatino Linotype"/>
                <a:sym typeface="Palatino Linotype"/>
              </a:rPr>
              <a:t>Entender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Compreender a linguagem das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Reconhecer a relação de causa-efeito entre eventos e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Entender como emoções básicas se combinam</a:t>
            </a:r>
            <a:endParaRPr/>
          </a:p>
        </p:txBody>
      </p:sp>
      <p:sp>
        <p:nvSpPr>
          <p:cNvPr id="588" name="Google Shape;588;p44"/>
          <p:cNvSpPr txBox="1"/>
          <p:nvPr/>
        </p:nvSpPr>
        <p:spPr>
          <a:xfrm>
            <a:off x="1018572" y="5238110"/>
            <a:ext cx="10023676"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4. </a:t>
            </a:r>
            <a:r>
              <a:rPr b="1" lang="pt-BR" sz="1800">
                <a:solidFill>
                  <a:srgbClr val="0070C0"/>
                </a:solidFill>
                <a:latin typeface="Palatino Linotype"/>
                <a:ea typeface="Palatino Linotype"/>
                <a:cs typeface="Palatino Linotype"/>
                <a:sym typeface="Palatino Linotype"/>
              </a:rPr>
              <a:t>Regular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Definir objetivos/metas emocionais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Escolher as melhores estratégias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Implementar as estratégias</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p:txBody>
      </p:sp>
      <p:sp>
        <p:nvSpPr>
          <p:cNvPr id="589" name="Google Shape;589;p44"/>
          <p:cNvSpPr/>
          <p:nvPr/>
        </p:nvSpPr>
        <p:spPr>
          <a:xfrm>
            <a:off x="7089494" y="4414884"/>
            <a:ext cx="3952754" cy="1910681"/>
          </a:xfrm>
          <a:prstGeom prst="rect">
            <a:avLst/>
          </a:prstGeom>
          <a:solidFill>
            <a:srgbClr val="D5A8FE"/>
          </a:solidFill>
          <a:ln cap="flat" cmpd="sng" w="12700">
            <a:solidFill>
              <a:srgbClr val="2A170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Capacidade de escolher as estratégias corretas para regular as emoções de forma apropriada.</a:t>
            </a:r>
            <a:endParaRPr/>
          </a:p>
          <a:p>
            <a:pPr indent="0" lvl="0" marL="0" marR="0" rtl="0" algn="just">
              <a:spcBef>
                <a:spcPts val="0"/>
              </a:spcBef>
              <a:spcAft>
                <a:spcPts val="0"/>
              </a:spcAft>
              <a:buNone/>
            </a:pPr>
            <a:r>
              <a:t/>
            </a:r>
            <a:endParaRPr sz="1600">
              <a:solidFill>
                <a:srgbClr val="171616"/>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Uma vez definido nossa meta emocional, sabemos escolher as melhores estratégias para alcança-la?</a:t>
            </a:r>
            <a:endParaRPr/>
          </a:p>
        </p:txBody>
      </p:sp>
      <p:cxnSp>
        <p:nvCxnSpPr>
          <p:cNvPr id="590" name="Google Shape;590;p44"/>
          <p:cNvCxnSpPr/>
          <p:nvPr/>
        </p:nvCxnSpPr>
        <p:spPr>
          <a:xfrm>
            <a:off x="4357868" y="5926220"/>
            <a:ext cx="2691114" cy="0"/>
          </a:xfrm>
          <a:prstGeom prst="straightConnector1">
            <a:avLst/>
          </a:prstGeom>
          <a:noFill/>
          <a:ln cap="flat" cmpd="sng" w="9525">
            <a:solidFill>
              <a:srgbClr val="2A1709"/>
            </a:solidFill>
            <a:prstDash val="solid"/>
            <a:miter lim="800000"/>
            <a:headEnd len="sm" w="sm" type="none"/>
            <a:tailEnd len="med" w="med" type="triangle"/>
          </a:ln>
        </p:spPr>
      </p:cxnSp>
      <p:pic>
        <p:nvPicPr>
          <p:cNvPr descr="Align Your Volunteer Strategy with Organisational Goals – Flutterbye" id="591" name="Google Shape;591;p44"/>
          <p:cNvPicPr preferRelativeResize="0"/>
          <p:nvPr/>
        </p:nvPicPr>
        <p:blipFill rotWithShape="1">
          <a:blip r:embed="rId3">
            <a:alphaModFix/>
          </a:blip>
          <a:srcRect b="0" l="0" r="0" t="0"/>
          <a:stretch/>
        </p:blipFill>
        <p:spPr>
          <a:xfrm>
            <a:off x="7089495" y="2435613"/>
            <a:ext cx="3952754" cy="182617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598" name="Google Shape;598;p45"/>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4 dimensões</a:t>
            </a:r>
            <a:endParaRPr/>
          </a:p>
        </p:txBody>
      </p:sp>
      <p:sp>
        <p:nvSpPr>
          <p:cNvPr id="599" name="Google Shape;599;p45"/>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600" name="Google Shape;600;p45"/>
          <p:cNvSpPr txBox="1"/>
          <p:nvPr/>
        </p:nvSpPr>
        <p:spPr>
          <a:xfrm>
            <a:off x="1018572" y="2026499"/>
            <a:ext cx="10023676" cy="13542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1. </a:t>
            </a:r>
            <a:r>
              <a:rPr b="1" lang="pt-BR" sz="1800">
                <a:solidFill>
                  <a:srgbClr val="0070C0"/>
                </a:solidFill>
                <a:latin typeface="Palatino Linotype"/>
                <a:ea typeface="Palatino Linotype"/>
                <a:cs typeface="Palatino Linotype"/>
                <a:sym typeface="Palatino Linotype"/>
              </a:rPr>
              <a:t>Perceber e reconhecer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emoções que os outros sentem</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 autenticidade da emoção</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Identificar as próprias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Expressar as próprias emoções</a:t>
            </a:r>
            <a:endParaRPr/>
          </a:p>
        </p:txBody>
      </p:sp>
      <p:sp>
        <p:nvSpPr>
          <p:cNvPr id="601" name="Google Shape;601;p45"/>
          <p:cNvSpPr txBox="1"/>
          <p:nvPr/>
        </p:nvSpPr>
        <p:spPr>
          <a:xfrm>
            <a:off x="1018572" y="3342168"/>
            <a:ext cx="10023676" cy="86177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2. </a:t>
            </a:r>
            <a:r>
              <a:rPr b="1" lang="pt-BR" sz="1800">
                <a:solidFill>
                  <a:srgbClr val="0070C0"/>
                </a:solidFill>
                <a:latin typeface="Palatino Linotype"/>
                <a:ea typeface="Palatino Linotype"/>
                <a:cs typeface="Palatino Linotype"/>
                <a:sym typeface="Palatino Linotype"/>
              </a:rPr>
              <a:t>Usar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tomar melhores decisões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Para aumentar a performance</a:t>
            </a:r>
            <a:endParaRPr/>
          </a:p>
        </p:txBody>
      </p:sp>
      <p:sp>
        <p:nvSpPr>
          <p:cNvPr id="602" name="Google Shape;602;p45"/>
          <p:cNvSpPr txBox="1"/>
          <p:nvPr/>
        </p:nvSpPr>
        <p:spPr>
          <a:xfrm>
            <a:off x="1018572" y="4165522"/>
            <a:ext cx="10023676" cy="110799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3. </a:t>
            </a:r>
            <a:r>
              <a:rPr b="1" lang="pt-BR" sz="1800">
                <a:solidFill>
                  <a:srgbClr val="0070C0"/>
                </a:solidFill>
                <a:latin typeface="Palatino Linotype"/>
                <a:ea typeface="Palatino Linotype"/>
                <a:cs typeface="Palatino Linotype"/>
                <a:sym typeface="Palatino Linotype"/>
              </a:rPr>
              <a:t>Entender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Compreender a linguagem das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Reconhecer a relação de causa-efeito entre eventos e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Entender como emoções básicas se combinam</a:t>
            </a:r>
            <a:endParaRPr/>
          </a:p>
        </p:txBody>
      </p:sp>
      <p:sp>
        <p:nvSpPr>
          <p:cNvPr id="603" name="Google Shape;603;p45"/>
          <p:cNvSpPr txBox="1"/>
          <p:nvPr/>
        </p:nvSpPr>
        <p:spPr>
          <a:xfrm>
            <a:off x="1018572" y="5238110"/>
            <a:ext cx="10023676"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4. </a:t>
            </a:r>
            <a:r>
              <a:rPr b="1" lang="pt-BR" sz="1800">
                <a:solidFill>
                  <a:srgbClr val="0070C0"/>
                </a:solidFill>
                <a:latin typeface="Palatino Linotype"/>
                <a:ea typeface="Palatino Linotype"/>
                <a:cs typeface="Palatino Linotype"/>
                <a:sym typeface="Palatino Linotype"/>
              </a:rPr>
              <a:t>Regular as emoções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Definir objetivos/metas emocionais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Escolher as melhores estratégias</a:t>
            </a:r>
            <a:endParaRPr/>
          </a:p>
          <a:p>
            <a:pPr indent="-285750" lvl="0" marL="285750" marR="0" rtl="0" algn="just">
              <a:spcBef>
                <a:spcPts val="0"/>
              </a:spcBef>
              <a:spcAft>
                <a:spcPts val="0"/>
              </a:spcAft>
              <a:buClr>
                <a:schemeClr val="dk1"/>
              </a:buClr>
              <a:buSzPts val="1600"/>
              <a:buFont typeface="Noto Sans Symbols"/>
              <a:buChar char="▪"/>
            </a:pPr>
            <a:r>
              <a:rPr lang="pt-BR" sz="1600">
                <a:solidFill>
                  <a:schemeClr val="dk1"/>
                </a:solidFill>
                <a:latin typeface="Palatino Linotype"/>
                <a:ea typeface="Palatino Linotype"/>
                <a:cs typeface="Palatino Linotype"/>
                <a:sym typeface="Palatino Linotype"/>
              </a:rPr>
              <a:t>Implementar as estratégias</a:t>
            </a:r>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p:txBody>
      </p:sp>
      <p:sp>
        <p:nvSpPr>
          <p:cNvPr id="604" name="Google Shape;604;p45"/>
          <p:cNvSpPr/>
          <p:nvPr/>
        </p:nvSpPr>
        <p:spPr>
          <a:xfrm>
            <a:off x="7089494" y="4282632"/>
            <a:ext cx="3952754" cy="2042933"/>
          </a:xfrm>
          <a:prstGeom prst="rect">
            <a:avLst/>
          </a:prstGeom>
          <a:solidFill>
            <a:srgbClr val="D5A8FE"/>
          </a:solidFill>
          <a:ln cap="flat" cmpd="sng" w="12700">
            <a:solidFill>
              <a:srgbClr val="2A170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Refere-se à habilidade do indivíduo em implementar de forma eficaz e eficiente a estratégia escolhida para atingir a emoção desejada. </a:t>
            </a:r>
            <a:endParaRPr/>
          </a:p>
          <a:p>
            <a:pPr indent="0" lvl="0" marL="0" marR="0" rtl="0" algn="just">
              <a:spcBef>
                <a:spcPts val="0"/>
              </a:spcBef>
              <a:spcAft>
                <a:spcPts val="0"/>
              </a:spcAft>
              <a:buNone/>
            </a:pPr>
            <a:r>
              <a:t/>
            </a:r>
            <a:endParaRPr sz="1600">
              <a:solidFill>
                <a:srgbClr val="171616"/>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pt-BR" sz="1600">
                <a:solidFill>
                  <a:srgbClr val="171616"/>
                </a:solidFill>
                <a:latin typeface="Palatino Linotype"/>
                <a:ea typeface="Palatino Linotype"/>
                <a:cs typeface="Palatino Linotype"/>
                <a:sym typeface="Palatino Linotype"/>
              </a:rPr>
              <a:t>Indivíduos podem escolher a estratégia correta, mas não saber como implementá-la.</a:t>
            </a:r>
            <a:endParaRPr/>
          </a:p>
        </p:txBody>
      </p:sp>
      <p:cxnSp>
        <p:nvCxnSpPr>
          <p:cNvPr id="605" name="Google Shape;605;p45"/>
          <p:cNvCxnSpPr/>
          <p:nvPr/>
        </p:nvCxnSpPr>
        <p:spPr>
          <a:xfrm>
            <a:off x="3871732" y="6163500"/>
            <a:ext cx="3177250" cy="0"/>
          </a:xfrm>
          <a:prstGeom prst="straightConnector1">
            <a:avLst/>
          </a:prstGeom>
          <a:noFill/>
          <a:ln cap="flat" cmpd="sng" w="9525">
            <a:solidFill>
              <a:srgbClr val="2A1709"/>
            </a:solidFill>
            <a:prstDash val="solid"/>
            <a:miter lim="800000"/>
            <a:headEnd len="sm" w="sm" type="none"/>
            <a:tailEnd len="med" w="med" type="triangle"/>
          </a:ln>
        </p:spPr>
      </p:cxnSp>
      <p:pic>
        <p:nvPicPr>
          <p:cNvPr descr="Meditation: How To Meditate And Why It&amp;#39;s Worth It | TIME" id="606" name="Google Shape;606;p45"/>
          <p:cNvPicPr preferRelativeResize="0"/>
          <p:nvPr/>
        </p:nvPicPr>
        <p:blipFill rotWithShape="1">
          <a:blip r:embed="rId3">
            <a:alphaModFix/>
          </a:blip>
          <a:srcRect b="0" l="0" r="0" t="0"/>
          <a:stretch/>
        </p:blipFill>
        <p:spPr>
          <a:xfrm>
            <a:off x="7584277" y="2192170"/>
            <a:ext cx="2963187" cy="197425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613" name="Google Shape;613;p46"/>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Inteligência Emocional e </a:t>
            </a:r>
            <a:r>
              <a:rPr lang="pt-BR" sz="3500">
                <a:solidFill>
                  <a:srgbClr val="FFC000"/>
                </a:solidFill>
                <a:latin typeface="Palatino Linotype"/>
                <a:ea typeface="Palatino Linotype"/>
                <a:cs typeface="Palatino Linotype"/>
                <a:sym typeface="Palatino Linotype"/>
              </a:rPr>
              <a:t>Poder</a:t>
            </a:r>
            <a:endParaRPr/>
          </a:p>
        </p:txBody>
      </p:sp>
      <p:sp>
        <p:nvSpPr>
          <p:cNvPr id="614" name="Google Shape;614;p46"/>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615" name="Google Shape;615;p46"/>
          <p:cNvSpPr txBox="1"/>
          <p:nvPr/>
        </p:nvSpPr>
        <p:spPr>
          <a:xfrm>
            <a:off x="1018572" y="2026499"/>
            <a:ext cx="10023676"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Reconhecendo, entendendo e utilizando as emoções (nossas e dos outros) a nosso favor</a:t>
            </a:r>
            <a:endParaRPr b="1" sz="1800">
              <a:solidFill>
                <a:srgbClr val="0070C0"/>
              </a:solidFill>
              <a:latin typeface="Palatino Linotype"/>
              <a:ea typeface="Palatino Linotype"/>
              <a:cs typeface="Palatino Linotype"/>
              <a:sym typeface="Palatino Linotype"/>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Melhoramos nossos relacionamentos</a:t>
            </a:r>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Identificamos o melhor momento para agir</a:t>
            </a:r>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Identificamos a melhor forma de agir</a:t>
            </a:r>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Aumentamos nossa influência social</a:t>
            </a:r>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Eliminamos muitas das nossas próprias necessidades de obter poder</a:t>
            </a:r>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Obtemos maior controle sobre a influência dos outros sobre nós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622" name="Google Shape;622;p47"/>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Sidarta (Hermann Hesse)</a:t>
            </a:r>
            <a:endParaRPr/>
          </a:p>
        </p:txBody>
      </p:sp>
      <p:sp>
        <p:nvSpPr>
          <p:cNvPr id="623" name="Google Shape;623;p47"/>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624" name="Google Shape;624;p47"/>
          <p:cNvSpPr txBox="1"/>
          <p:nvPr/>
        </p:nvSpPr>
        <p:spPr>
          <a:xfrm>
            <a:off x="1018572" y="2026499"/>
            <a:ext cx="7506182" cy="42473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Mercador</a:t>
            </a:r>
            <a:r>
              <a:rPr lang="pt-BR" sz="1800">
                <a:solidFill>
                  <a:schemeClr val="dk1"/>
                </a:solidFill>
                <a:latin typeface="Palatino Linotype"/>
                <a:ea typeface="Palatino Linotype"/>
                <a:cs typeface="Palatino Linotype"/>
                <a:sym typeface="Palatino Linotype"/>
              </a:rPr>
              <a:t>: – Que sabes fazer?</a:t>
            </a:r>
            <a:endParaRPr/>
          </a:p>
          <a:p>
            <a:pPr indent="0" lvl="0" marL="0" marR="0" rtl="0" algn="just">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Sidarta</a:t>
            </a:r>
            <a:r>
              <a:rPr lang="pt-BR" sz="1800">
                <a:solidFill>
                  <a:schemeClr val="dk1"/>
                </a:solidFill>
                <a:latin typeface="Palatino Linotype"/>
                <a:ea typeface="Palatino Linotype"/>
                <a:cs typeface="Palatino Linotype"/>
                <a:sym typeface="Palatino Linotype"/>
              </a:rPr>
              <a:t>: – </a:t>
            </a:r>
            <a:r>
              <a:rPr b="1" lang="pt-BR" sz="1800">
                <a:solidFill>
                  <a:schemeClr val="dk1"/>
                </a:solidFill>
                <a:latin typeface="Palatino Linotype"/>
                <a:ea typeface="Palatino Linotype"/>
                <a:cs typeface="Palatino Linotype"/>
                <a:sym typeface="Palatino Linotype"/>
              </a:rPr>
              <a:t>Sei </a:t>
            </a:r>
            <a:r>
              <a:rPr b="1" lang="pt-BR" sz="1800">
                <a:solidFill>
                  <a:srgbClr val="0070C0"/>
                </a:solidFill>
                <a:latin typeface="Palatino Linotype"/>
                <a:ea typeface="Palatino Linotype"/>
                <a:cs typeface="Palatino Linotype"/>
                <a:sym typeface="Palatino Linotype"/>
              </a:rPr>
              <a:t>pensar</a:t>
            </a:r>
            <a:r>
              <a:rPr b="1" lang="pt-BR" sz="1800">
                <a:solidFill>
                  <a:schemeClr val="dk1"/>
                </a:solidFill>
                <a:latin typeface="Palatino Linotype"/>
                <a:ea typeface="Palatino Linotype"/>
                <a:cs typeface="Palatino Linotype"/>
                <a:sym typeface="Palatino Linotype"/>
              </a:rPr>
              <a:t>, sei </a:t>
            </a:r>
            <a:r>
              <a:rPr b="1" lang="pt-BR" sz="1800">
                <a:solidFill>
                  <a:srgbClr val="0070C0"/>
                </a:solidFill>
                <a:latin typeface="Palatino Linotype"/>
                <a:ea typeface="Palatino Linotype"/>
                <a:cs typeface="Palatino Linotype"/>
                <a:sym typeface="Palatino Linotype"/>
              </a:rPr>
              <a:t>esperar</a:t>
            </a:r>
            <a:r>
              <a:rPr b="1" lang="pt-BR" sz="1800">
                <a:solidFill>
                  <a:schemeClr val="dk1"/>
                </a:solidFill>
                <a:latin typeface="Palatino Linotype"/>
                <a:ea typeface="Palatino Linotype"/>
                <a:cs typeface="Palatino Linotype"/>
                <a:sym typeface="Palatino Linotype"/>
              </a:rPr>
              <a:t>, sei </a:t>
            </a:r>
            <a:r>
              <a:rPr b="1" lang="pt-BR" sz="1800">
                <a:solidFill>
                  <a:srgbClr val="0070C0"/>
                </a:solidFill>
                <a:latin typeface="Palatino Linotype"/>
                <a:ea typeface="Palatino Linotype"/>
                <a:cs typeface="Palatino Linotype"/>
                <a:sym typeface="Palatino Linotype"/>
              </a:rPr>
              <a:t>jejuar</a:t>
            </a:r>
            <a:r>
              <a:rPr lang="pt-BR" sz="1800">
                <a:solidFill>
                  <a:schemeClr val="dk1"/>
                </a:solidFill>
                <a:latin typeface="Palatino Linotype"/>
                <a:ea typeface="Palatino Linotype"/>
                <a:cs typeface="Palatino Linotype"/>
                <a:sym typeface="Palatino Linotype"/>
              </a:rPr>
              <a:t>.</a:t>
            </a:r>
            <a:endParaRPr/>
          </a:p>
          <a:p>
            <a:pPr indent="0" lvl="0" marL="0" marR="0" rtl="0" algn="just">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Mercador</a:t>
            </a:r>
            <a:r>
              <a:rPr lang="pt-BR" sz="1800">
                <a:solidFill>
                  <a:schemeClr val="dk1"/>
                </a:solidFill>
                <a:latin typeface="Palatino Linotype"/>
                <a:ea typeface="Palatino Linotype"/>
                <a:cs typeface="Palatino Linotype"/>
                <a:sym typeface="Palatino Linotype"/>
              </a:rPr>
              <a:t>: – E que valor tem esses conhecimentos? O jejum, por exemplo. Para que serve o jejum?</a:t>
            </a:r>
            <a:endParaRPr/>
          </a:p>
          <a:p>
            <a:pPr indent="0" lvl="0" marL="0" marR="0" rtl="0" algn="just">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Sidarta</a:t>
            </a:r>
            <a:r>
              <a:rPr lang="pt-BR" sz="1800">
                <a:solidFill>
                  <a:schemeClr val="dk1"/>
                </a:solidFill>
                <a:latin typeface="Palatino Linotype"/>
                <a:ea typeface="Palatino Linotype"/>
                <a:cs typeface="Palatino Linotype"/>
                <a:sym typeface="Palatino Linotype"/>
              </a:rPr>
              <a:t>: – Para quem não tiver o que comer, o jejum será a coisa mais inteligente que se possa fazer. Se, por exemplo, Sidarta não tivesse aprendido a suportar o jejum estaria obrigado a aceitar hoje mesmo um serviço qualquer, seja na tua casa, seja em outro lugar, já que a fome o forçaria a fazê-lo. Assim, porém, Sidarta pode aguardar os acontecimentos com toda calma. Não sabe o que é impaciência. Para ele não existem situações embaraçosas. Sidarta pode aguentar por muito tempo o assédio da fome e ainda rir-se dela.</a:t>
            </a:r>
            <a:endParaRPr/>
          </a:p>
        </p:txBody>
      </p:sp>
      <p:pic>
        <p:nvPicPr>
          <p:cNvPr id="625" name="Google Shape;625;p47"/>
          <p:cNvPicPr preferRelativeResize="0"/>
          <p:nvPr/>
        </p:nvPicPr>
        <p:blipFill rotWithShape="1">
          <a:blip r:embed="rId3">
            <a:alphaModFix/>
          </a:blip>
          <a:srcRect b="0" l="0" r="0" t="0"/>
          <a:stretch/>
        </p:blipFill>
        <p:spPr>
          <a:xfrm>
            <a:off x="8760358" y="2144018"/>
            <a:ext cx="2281889" cy="345234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632" name="Google Shape;632;p48"/>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Pensar, esperar, jejuar</a:t>
            </a:r>
            <a:endParaRPr/>
          </a:p>
        </p:txBody>
      </p:sp>
      <p:sp>
        <p:nvSpPr>
          <p:cNvPr id="633" name="Google Shape;633;p48"/>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
        <p:nvSpPr>
          <p:cNvPr id="634" name="Google Shape;634;p48"/>
          <p:cNvSpPr txBox="1"/>
          <p:nvPr/>
        </p:nvSpPr>
        <p:spPr>
          <a:xfrm>
            <a:off x="1018572" y="2026499"/>
            <a:ext cx="10023676"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Saber Pensar</a:t>
            </a:r>
            <a:r>
              <a:rPr lang="pt-BR" sz="1800">
                <a:solidFill>
                  <a:schemeClr val="dk1"/>
                </a:solidFill>
                <a:latin typeface="Palatino Linotype"/>
                <a:ea typeface="Palatino Linotype"/>
                <a:cs typeface="Palatino Linotype"/>
                <a:sym typeface="Palatino Linotype"/>
              </a:rPr>
              <a:t>: analisar criticamente, refletir, escolher e implementar as melhores estratégias</a:t>
            </a:r>
            <a:endParaRPr/>
          </a:p>
          <a:p>
            <a:pPr indent="0" lvl="0" marL="0" marR="0" rtl="0" algn="just">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Saber Esperar</a:t>
            </a:r>
            <a:r>
              <a:rPr lang="pt-BR" sz="1800">
                <a:solidFill>
                  <a:schemeClr val="dk1"/>
                </a:solidFill>
                <a:latin typeface="Palatino Linotype"/>
                <a:ea typeface="Palatino Linotype"/>
                <a:cs typeface="Palatino Linotype"/>
                <a:sym typeface="Palatino Linotype"/>
              </a:rPr>
              <a:t>: aproveitar as melhores oportunidades, buscar metas de longo prazo.</a:t>
            </a:r>
            <a:endParaRPr/>
          </a:p>
          <a:p>
            <a:pPr indent="0" lvl="0" marL="0" marR="0" rtl="0" algn="just">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0" lvl="0" marL="0" marR="0" rtl="0" algn="just">
              <a:spcBef>
                <a:spcPts val="0"/>
              </a:spcBef>
              <a:spcAft>
                <a:spcPts val="0"/>
              </a:spcAft>
              <a:buNone/>
            </a:pPr>
            <a:r>
              <a:rPr b="1" lang="pt-BR" sz="1800">
                <a:solidFill>
                  <a:schemeClr val="dk1"/>
                </a:solidFill>
                <a:latin typeface="Palatino Linotype"/>
                <a:ea typeface="Palatino Linotype"/>
                <a:cs typeface="Palatino Linotype"/>
                <a:sym typeface="Palatino Linotype"/>
              </a:rPr>
              <a:t>Saber Jejuar</a:t>
            </a:r>
            <a:r>
              <a:rPr lang="pt-BR" sz="1800">
                <a:solidFill>
                  <a:schemeClr val="dk1"/>
                </a:solidFill>
                <a:latin typeface="Palatino Linotype"/>
                <a:ea typeface="Palatino Linotype"/>
                <a:cs typeface="Palatino Linotype"/>
                <a:sym typeface="Palatino Linotype"/>
              </a:rPr>
              <a:t>: Resistência!</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641" name="Google Shape;641;p49"/>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Atividade</a:t>
            </a:r>
            <a:endParaRPr/>
          </a:p>
        </p:txBody>
      </p:sp>
      <p:sp>
        <p:nvSpPr>
          <p:cNvPr id="642" name="Google Shape;642;p49"/>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Contrapoder e Resistência II. Slides da disciplina: Relações de poder nas organizações.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2019-11-26T14:32:53Z</dcterms:created>
  <dc:creator>FABRICIO ISHIGA</dc:creator>
</cp:coreProperties>
</file>
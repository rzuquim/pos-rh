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6858000" cx="12192000"/>
  <p:notesSz cx="6858000" cy="9144000"/>
  <p:embeddedFontLst>
    <p:embeddedFont>
      <p:font typeface="Palatino Linotype"/>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ggUbFLdMvMMV+3t8Cks2lduy7D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font" Target="fonts/PalatinoLinotype-regular.fntdata"/><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font" Target="fonts/PalatinoLinotype-italic.fntdata"/><Relationship Id="rId21" Type="http://schemas.openxmlformats.org/officeDocument/2006/relationships/slide" Target="slides/slide17.xml"/><Relationship Id="rId43" Type="http://schemas.openxmlformats.org/officeDocument/2006/relationships/font" Target="fonts/PalatinoLinotype-bold.fntdata"/><Relationship Id="rId24" Type="http://schemas.openxmlformats.org/officeDocument/2006/relationships/slide" Target="slides/slide20.xml"/><Relationship Id="rId46" Type="http://customschemas.google.com/relationships/presentationmetadata" Target="metadata"/><Relationship Id="rId23" Type="http://schemas.openxmlformats.org/officeDocument/2006/relationships/slide" Target="slides/slide19.xml"/><Relationship Id="rId45" Type="http://schemas.openxmlformats.org/officeDocument/2006/relationships/font" Target="fonts/PalatinoLinotype-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wwNY2c_tcuA"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105" name="Google Shape;10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130" name="Google Shape;1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158" name="Google Shape;15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5bddd9407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5bddd9407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5bddd9407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192" name="Google Shape;19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200" name="Google Shape;20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210" name="Google Shape;21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263" name="Google Shape;2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322" name="Google Shape;3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332" name="Google Shape;33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342" name="Google Shape;34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352" name="Google Shape;35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362" name="Google Shape;36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390" name="Google Shape;39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5bddd9407d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5bddd9407d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g35bddd9407d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425" name="Google Shape;42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436" name="Google Shape;43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447" name="Google Shape;44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459" name="Google Shape;45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469" name="Google Shape;46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480" name="Google Shape;48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491" name="Google Shape;49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502" name="Google Shape;50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513" name="Google Shape;51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540" name="Google Shape;54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550" name="Google Shape;55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563" name="Google Shape;56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577" name="Google Shape;57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589" name="Google Shape;58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602" name="Google Shape;60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615" name="Google Shape;61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627" name="Google Shape;62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pt-BR" sz="1200" u="sng">
                <a:solidFill>
                  <a:schemeClr val="hlink"/>
                </a:solidFill>
                <a:hlinkClick r:id="rId2"/>
              </a:rPr>
              <a:t>https://www.youtube.com/watch?v=wwNY2c_tcuA</a:t>
            </a:r>
            <a:r>
              <a:rPr lang="pt-BR" sz="1200"/>
              <a:t> </a:t>
            </a:r>
            <a:endParaRPr/>
          </a:p>
        </p:txBody>
      </p:sp>
      <p:sp>
        <p:nvSpPr>
          <p:cNvPr id="653" name="Google Shape;65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5" name="Shape 15"/>
        <p:cNvGrpSpPr/>
        <p:nvPr/>
      </p:nvGrpSpPr>
      <p:grpSpPr>
        <a:xfrm>
          <a:off x="0" y="0"/>
          <a:ext cx="0" cy="0"/>
          <a:chOff x="0" y="0"/>
          <a:chExt cx="0" cy="0"/>
        </a:xfrm>
      </p:grpSpPr>
      <p:sp>
        <p:nvSpPr>
          <p:cNvPr id="16" name="Google Shape;16;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21" name="Shape 21"/>
        <p:cNvGrpSpPr/>
        <p:nvPr/>
      </p:nvGrpSpPr>
      <p:grpSpPr>
        <a:xfrm>
          <a:off x="0" y="0"/>
          <a:ext cx="0" cy="0"/>
          <a:chOff x="0" y="0"/>
          <a:chExt cx="0" cy="0"/>
        </a:xfrm>
      </p:grpSpPr>
      <p:sp>
        <p:nvSpPr>
          <p:cNvPr id="22" name="Google Shape;22;p3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7" name="Shape 27"/>
        <p:cNvGrpSpPr/>
        <p:nvPr/>
      </p:nvGrpSpPr>
      <p:grpSpPr>
        <a:xfrm>
          <a:off x="0" y="0"/>
          <a:ext cx="0" cy="0"/>
          <a:chOff x="0" y="0"/>
          <a:chExt cx="0" cy="0"/>
        </a:xfrm>
      </p:grpSpPr>
      <p:sp>
        <p:nvSpPr>
          <p:cNvPr id="28" name="Google Shape;28;p3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3" name="Shape 33"/>
        <p:cNvGrpSpPr/>
        <p:nvPr/>
      </p:nvGrpSpPr>
      <p:grpSpPr>
        <a:xfrm>
          <a:off x="0" y="0"/>
          <a:ext cx="0" cy="0"/>
          <a:chOff x="0" y="0"/>
          <a:chExt cx="0" cy="0"/>
        </a:xfrm>
      </p:grpSpPr>
      <p:sp>
        <p:nvSpPr>
          <p:cNvPr id="34" name="Google Shape;34;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0" name="Shape 40"/>
        <p:cNvGrpSpPr/>
        <p:nvPr/>
      </p:nvGrpSpPr>
      <p:grpSpPr>
        <a:xfrm>
          <a:off x="0" y="0"/>
          <a:ext cx="0" cy="0"/>
          <a:chOff x="0" y="0"/>
          <a:chExt cx="0" cy="0"/>
        </a:xfrm>
      </p:grpSpPr>
      <p:sp>
        <p:nvSpPr>
          <p:cNvPr id="41" name="Google Shape;41;p4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9" name="Shape 49"/>
        <p:cNvGrpSpPr/>
        <p:nvPr/>
      </p:nvGrpSpPr>
      <p:grpSpPr>
        <a:xfrm>
          <a:off x="0" y="0"/>
          <a:ext cx="0" cy="0"/>
          <a:chOff x="0" y="0"/>
          <a:chExt cx="0" cy="0"/>
        </a:xfrm>
      </p:grpSpPr>
      <p:sp>
        <p:nvSpPr>
          <p:cNvPr id="50" name="Google Shape;5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4" name="Shape 54"/>
        <p:cNvGrpSpPr/>
        <p:nvPr/>
      </p:nvGrpSpPr>
      <p:grpSpPr>
        <a:xfrm>
          <a:off x="0" y="0"/>
          <a:ext cx="0" cy="0"/>
          <a:chOff x="0" y="0"/>
          <a:chExt cx="0" cy="0"/>
        </a:xfrm>
      </p:grpSpPr>
      <p:sp>
        <p:nvSpPr>
          <p:cNvPr id="55" name="Google Shape;5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5"/>
          <p:cNvSpPr/>
          <p:nvPr>
            <p:ph idx="2" type="pic"/>
          </p:nvPr>
        </p:nvSpPr>
        <p:spPr>
          <a:xfrm>
            <a:off x="5183188" y="987425"/>
            <a:ext cx="6172200" cy="4873625"/>
          </a:xfrm>
          <a:prstGeom prst="rect">
            <a:avLst/>
          </a:prstGeom>
          <a:noFill/>
          <a:ln>
            <a:noFill/>
          </a:ln>
        </p:spPr>
      </p:sp>
      <p:sp>
        <p:nvSpPr>
          <p:cNvPr id="68" name="Google Shape;68;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0.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jp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9.jp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89" name="Google Shape;89;p1"/>
          <p:cNvSpPr txBox="1"/>
          <p:nvPr/>
        </p:nvSpPr>
        <p:spPr>
          <a:xfrm>
            <a:off x="1463039" y="1628834"/>
            <a:ext cx="9064200" cy="2154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pt-BR" sz="2000" u="none" cap="none" strike="noStrike">
                <a:solidFill>
                  <a:schemeClr val="dk1"/>
                </a:solidFill>
                <a:latin typeface="Arial Rounded"/>
                <a:ea typeface="Arial Rounded"/>
                <a:cs typeface="Arial Rounded"/>
                <a:sym typeface="Arial Rounded"/>
              </a:rPr>
              <a:t>Especialização em Psicologia Organizacional e do Trabalho</a:t>
            </a:r>
            <a:endParaRPr/>
          </a:p>
          <a:p>
            <a:pPr indent="0" lvl="0" marL="0" marR="0" rtl="0" algn="ctr">
              <a:spcBef>
                <a:spcPts val="0"/>
              </a:spcBef>
              <a:spcAft>
                <a:spcPts val="0"/>
              </a:spcAft>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spcBef>
                <a:spcPts val="0"/>
              </a:spcBef>
              <a:spcAft>
                <a:spcPts val="0"/>
              </a:spcAft>
              <a:buNone/>
            </a:pPr>
            <a:r>
              <a:rPr b="1" i="0" lang="pt-BR" sz="2000" u="none" cap="none" strike="noStrike">
                <a:solidFill>
                  <a:schemeClr val="dk1"/>
                </a:solidFill>
                <a:latin typeface="Arial Rounded"/>
                <a:ea typeface="Arial Rounded"/>
                <a:cs typeface="Arial Rounded"/>
                <a:sym typeface="Arial Rounded"/>
              </a:rPr>
              <a:t>Disciplina: Relações de Poder nas Organizações</a:t>
            </a:r>
            <a:endParaRPr/>
          </a:p>
          <a:p>
            <a:pPr indent="0" lvl="0" marL="0" marR="0" rtl="0" algn="ctr">
              <a:spcBef>
                <a:spcPts val="0"/>
              </a:spcBef>
              <a:spcAft>
                <a:spcPts val="0"/>
              </a:spcAft>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spcBef>
                <a:spcPts val="0"/>
              </a:spcBef>
              <a:spcAft>
                <a:spcPts val="0"/>
              </a:spcAft>
              <a:buNone/>
            </a:pPr>
            <a:r>
              <a:rPr b="1" i="0" lang="pt-BR" sz="2000" u="none" cap="none" strike="noStrike">
                <a:solidFill>
                  <a:schemeClr val="dk1"/>
                </a:solidFill>
                <a:latin typeface="Arial Rounded"/>
                <a:ea typeface="Arial Rounded"/>
                <a:cs typeface="Arial Rounded"/>
                <a:sym typeface="Arial Rounded"/>
              </a:rPr>
              <a:t>Aula 3: Fatores associados ao poder</a:t>
            </a:r>
            <a:endParaRPr/>
          </a:p>
          <a:p>
            <a:pPr indent="0" lvl="0" marL="0" marR="0" rtl="0" algn="ctr">
              <a:spcBef>
                <a:spcPts val="0"/>
              </a:spcBef>
              <a:spcAft>
                <a:spcPts val="0"/>
              </a:spcAft>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spcBef>
                <a:spcPts val="0"/>
              </a:spcBef>
              <a:spcAft>
                <a:spcPts val="0"/>
              </a:spcAft>
              <a:buNone/>
            </a:pPr>
            <a:r>
              <a:t/>
            </a:r>
            <a:endParaRPr/>
          </a:p>
        </p:txBody>
      </p:sp>
      <p:sp>
        <p:nvSpPr>
          <p:cNvPr id="90" name="Google Shape;90;p1"/>
          <p:cNvSpPr/>
          <p:nvPr/>
        </p:nvSpPr>
        <p:spPr>
          <a:xfrm>
            <a:off x="4149190" y="3906456"/>
            <a:ext cx="1828124" cy="2401746"/>
          </a:xfrm>
          <a:custGeom>
            <a:rect b="b" l="l" r="r" t="t"/>
            <a:pathLst>
              <a:path extrusionOk="0" h="2401746" w="1828124">
                <a:moveTo>
                  <a:pt x="1765474" y="300941"/>
                </a:moveTo>
                <a:cubicBezTo>
                  <a:pt x="1793446" y="291295"/>
                  <a:pt x="1763059" y="277456"/>
                  <a:pt x="1759687" y="266217"/>
                </a:cubicBezTo>
                <a:cubicBezTo>
                  <a:pt x="1757208" y="257954"/>
                  <a:pt x="1749065" y="251642"/>
                  <a:pt x="1748112" y="243068"/>
                </a:cubicBezTo>
                <a:cubicBezTo>
                  <a:pt x="1741281" y="181594"/>
                  <a:pt x="1746705" y="118884"/>
                  <a:pt x="1736537" y="57873"/>
                </a:cubicBezTo>
                <a:cubicBezTo>
                  <a:pt x="1734743" y="47109"/>
                  <a:pt x="1722468" y="40777"/>
                  <a:pt x="1713388" y="34724"/>
                </a:cubicBezTo>
                <a:cubicBezTo>
                  <a:pt x="1677069" y="10511"/>
                  <a:pt x="1661509" y="10179"/>
                  <a:pt x="1620790" y="0"/>
                </a:cubicBezTo>
                <a:cubicBezTo>
                  <a:pt x="1485752" y="1929"/>
                  <a:pt x="1350564" y="-874"/>
                  <a:pt x="1215677" y="5787"/>
                </a:cubicBezTo>
                <a:cubicBezTo>
                  <a:pt x="1193708" y="6872"/>
                  <a:pt x="1173665" y="19263"/>
                  <a:pt x="1152016" y="23149"/>
                </a:cubicBezTo>
                <a:cubicBezTo>
                  <a:pt x="1098310" y="32788"/>
                  <a:pt x="989970" y="46298"/>
                  <a:pt x="989970" y="46298"/>
                </a:cubicBezTo>
                <a:cubicBezTo>
                  <a:pt x="982254" y="52085"/>
                  <a:pt x="975253" y="58976"/>
                  <a:pt x="966821" y="63660"/>
                </a:cubicBezTo>
                <a:cubicBezTo>
                  <a:pt x="938830" y="79211"/>
                  <a:pt x="904566" y="81753"/>
                  <a:pt x="874223" y="86810"/>
                </a:cubicBezTo>
                <a:cubicBezTo>
                  <a:pt x="702524" y="115426"/>
                  <a:pt x="904902" y="78525"/>
                  <a:pt x="706390" y="115746"/>
                </a:cubicBezTo>
                <a:cubicBezTo>
                  <a:pt x="689028" y="123463"/>
                  <a:pt x="671033" y="129888"/>
                  <a:pt x="654304" y="138896"/>
                </a:cubicBezTo>
                <a:cubicBezTo>
                  <a:pt x="645811" y="143469"/>
                  <a:pt x="639587" y="151574"/>
                  <a:pt x="631155" y="156258"/>
                </a:cubicBezTo>
                <a:cubicBezTo>
                  <a:pt x="606914" y="169726"/>
                  <a:pt x="576050" y="173648"/>
                  <a:pt x="550132" y="179407"/>
                </a:cubicBezTo>
                <a:cubicBezTo>
                  <a:pt x="534699" y="187124"/>
                  <a:pt x="518629" y="193679"/>
                  <a:pt x="503833" y="202557"/>
                </a:cubicBezTo>
                <a:cubicBezTo>
                  <a:pt x="494188" y="208344"/>
                  <a:pt x="485298" y="215636"/>
                  <a:pt x="474897" y="219919"/>
                </a:cubicBezTo>
                <a:cubicBezTo>
                  <a:pt x="452333" y="229210"/>
                  <a:pt x="427274" y="232156"/>
                  <a:pt x="405449" y="243068"/>
                </a:cubicBezTo>
                <a:cubicBezTo>
                  <a:pt x="390016" y="250784"/>
                  <a:pt x="375170" y="259809"/>
                  <a:pt x="359150" y="266217"/>
                </a:cubicBezTo>
                <a:cubicBezTo>
                  <a:pt x="318885" y="282323"/>
                  <a:pt x="340069" y="274507"/>
                  <a:pt x="295489" y="289367"/>
                </a:cubicBezTo>
                <a:cubicBezTo>
                  <a:pt x="291631" y="299012"/>
                  <a:pt x="290248" y="310069"/>
                  <a:pt x="283914" y="318303"/>
                </a:cubicBezTo>
                <a:cubicBezTo>
                  <a:pt x="270607" y="335602"/>
                  <a:pt x="251588" y="347835"/>
                  <a:pt x="237616" y="364602"/>
                </a:cubicBezTo>
                <a:lnTo>
                  <a:pt x="208679" y="399326"/>
                </a:lnTo>
                <a:cubicBezTo>
                  <a:pt x="200963" y="418617"/>
                  <a:pt x="193061" y="437835"/>
                  <a:pt x="185530" y="457200"/>
                </a:cubicBezTo>
                <a:cubicBezTo>
                  <a:pt x="179556" y="472561"/>
                  <a:pt x="179823" y="491843"/>
                  <a:pt x="168168" y="503498"/>
                </a:cubicBezTo>
                <a:lnTo>
                  <a:pt x="139231" y="532435"/>
                </a:lnTo>
                <a:cubicBezTo>
                  <a:pt x="102698" y="617677"/>
                  <a:pt x="139405" y="526091"/>
                  <a:pt x="110294" y="619245"/>
                </a:cubicBezTo>
                <a:cubicBezTo>
                  <a:pt x="105378" y="634977"/>
                  <a:pt x="98144" y="649907"/>
                  <a:pt x="92932" y="665544"/>
                </a:cubicBezTo>
                <a:cubicBezTo>
                  <a:pt x="88491" y="678867"/>
                  <a:pt x="85799" y="692732"/>
                  <a:pt x="81358" y="706055"/>
                </a:cubicBezTo>
                <a:cubicBezTo>
                  <a:pt x="76146" y="721692"/>
                  <a:pt x="68911" y="736622"/>
                  <a:pt x="63995" y="752354"/>
                </a:cubicBezTo>
                <a:cubicBezTo>
                  <a:pt x="42229" y="822006"/>
                  <a:pt x="65884" y="776216"/>
                  <a:pt x="35059" y="827589"/>
                </a:cubicBezTo>
                <a:cubicBezTo>
                  <a:pt x="-30671" y="1221960"/>
                  <a:pt x="13207" y="934416"/>
                  <a:pt x="29271" y="1898248"/>
                </a:cubicBezTo>
                <a:cubicBezTo>
                  <a:pt x="29888" y="1935296"/>
                  <a:pt x="41759" y="1939672"/>
                  <a:pt x="63995" y="1961908"/>
                </a:cubicBezTo>
                <a:cubicBezTo>
                  <a:pt x="96786" y="2060282"/>
                  <a:pt x="51053" y="1940337"/>
                  <a:pt x="98720" y="2019782"/>
                </a:cubicBezTo>
                <a:cubicBezTo>
                  <a:pt x="104997" y="2030244"/>
                  <a:pt x="104017" y="2044044"/>
                  <a:pt x="110294" y="2054506"/>
                </a:cubicBezTo>
                <a:cubicBezTo>
                  <a:pt x="125499" y="2079847"/>
                  <a:pt x="140475" y="2077979"/>
                  <a:pt x="162380" y="2095017"/>
                </a:cubicBezTo>
                <a:cubicBezTo>
                  <a:pt x="170994" y="2101717"/>
                  <a:pt x="176172" y="2112552"/>
                  <a:pt x="185530" y="2118167"/>
                </a:cubicBezTo>
                <a:cubicBezTo>
                  <a:pt x="195992" y="2124444"/>
                  <a:pt x="208788" y="2125572"/>
                  <a:pt x="220254" y="2129741"/>
                </a:cubicBezTo>
                <a:cubicBezTo>
                  <a:pt x="230017" y="2133291"/>
                  <a:pt x="239407" y="2137822"/>
                  <a:pt x="249190" y="2141316"/>
                </a:cubicBezTo>
                <a:cubicBezTo>
                  <a:pt x="299442" y="2159263"/>
                  <a:pt x="290920" y="2153413"/>
                  <a:pt x="330213" y="2170253"/>
                </a:cubicBezTo>
                <a:cubicBezTo>
                  <a:pt x="347676" y="2177737"/>
                  <a:pt x="364658" y="2186346"/>
                  <a:pt x="382299" y="2193402"/>
                </a:cubicBezTo>
                <a:cubicBezTo>
                  <a:pt x="450971" y="2220871"/>
                  <a:pt x="380862" y="2186263"/>
                  <a:pt x="463322" y="2222339"/>
                </a:cubicBezTo>
                <a:cubicBezTo>
                  <a:pt x="497891" y="2237463"/>
                  <a:pt x="514938" y="2251118"/>
                  <a:pt x="550132" y="2262850"/>
                </a:cubicBezTo>
                <a:cubicBezTo>
                  <a:pt x="565224" y="2267881"/>
                  <a:pt x="581135" y="2270055"/>
                  <a:pt x="596431" y="2274425"/>
                </a:cubicBezTo>
                <a:cubicBezTo>
                  <a:pt x="608162" y="2277777"/>
                  <a:pt x="620048" y="2280951"/>
                  <a:pt x="631155" y="2286000"/>
                </a:cubicBezTo>
                <a:cubicBezTo>
                  <a:pt x="641395" y="2290655"/>
                  <a:pt x="649214" y="2300499"/>
                  <a:pt x="660092" y="2303362"/>
                </a:cubicBezTo>
                <a:cubicBezTo>
                  <a:pt x="686475" y="2310305"/>
                  <a:pt x="714362" y="2309586"/>
                  <a:pt x="741114" y="2314936"/>
                </a:cubicBezTo>
                <a:cubicBezTo>
                  <a:pt x="762682" y="2319250"/>
                  <a:pt x="783207" y="2327984"/>
                  <a:pt x="804775" y="2332298"/>
                </a:cubicBezTo>
                <a:cubicBezTo>
                  <a:pt x="831527" y="2337648"/>
                  <a:pt x="858864" y="2339529"/>
                  <a:pt x="885798" y="2343873"/>
                </a:cubicBezTo>
                <a:cubicBezTo>
                  <a:pt x="918675" y="2349176"/>
                  <a:pt x="951388" y="2355448"/>
                  <a:pt x="984183" y="2361235"/>
                </a:cubicBezTo>
                <a:cubicBezTo>
                  <a:pt x="993829" y="2365093"/>
                  <a:pt x="1003131" y="2369956"/>
                  <a:pt x="1013120" y="2372810"/>
                </a:cubicBezTo>
                <a:cubicBezTo>
                  <a:pt x="1042363" y="2381165"/>
                  <a:pt x="1142188" y="2398818"/>
                  <a:pt x="1157803" y="2401746"/>
                </a:cubicBezTo>
                <a:cubicBezTo>
                  <a:pt x="1304416" y="2397888"/>
                  <a:pt x="1451148" y="2397232"/>
                  <a:pt x="1597641" y="2390172"/>
                </a:cubicBezTo>
                <a:cubicBezTo>
                  <a:pt x="1607101" y="2389716"/>
                  <a:pt x="1655471" y="2373477"/>
                  <a:pt x="1667089" y="2367022"/>
                </a:cubicBezTo>
                <a:cubicBezTo>
                  <a:pt x="1802280" y="2291917"/>
                  <a:pt x="1587576" y="2400989"/>
                  <a:pt x="1713388" y="2338086"/>
                </a:cubicBezTo>
                <a:cubicBezTo>
                  <a:pt x="1791758" y="2259712"/>
                  <a:pt x="1667757" y="2376223"/>
                  <a:pt x="1777049" y="2303362"/>
                </a:cubicBezTo>
                <a:cubicBezTo>
                  <a:pt x="1784227" y="2298576"/>
                  <a:pt x="1785895" y="2288397"/>
                  <a:pt x="1788623" y="2280212"/>
                </a:cubicBezTo>
                <a:cubicBezTo>
                  <a:pt x="1815955" y="2198216"/>
                  <a:pt x="1785673" y="2262964"/>
                  <a:pt x="1811773" y="2210764"/>
                </a:cubicBezTo>
                <a:cubicBezTo>
                  <a:pt x="1811257" y="2193225"/>
                  <a:pt x="1863949" y="2018643"/>
                  <a:pt x="1782836" y="2002420"/>
                </a:cubicBezTo>
                <a:cubicBezTo>
                  <a:pt x="1752334" y="1996319"/>
                  <a:pt x="1721105" y="1994703"/>
                  <a:pt x="1690239" y="1990845"/>
                </a:cubicBezTo>
                <a:cubicBezTo>
                  <a:pt x="1635944" y="1963698"/>
                  <a:pt x="1703885" y="1996304"/>
                  <a:pt x="1632365" y="1967696"/>
                </a:cubicBezTo>
                <a:cubicBezTo>
                  <a:pt x="1624355" y="1964492"/>
                  <a:pt x="1617756" y="1957341"/>
                  <a:pt x="1609216" y="1956121"/>
                </a:cubicBezTo>
                <a:cubicBezTo>
                  <a:pt x="1563224" y="1949550"/>
                  <a:pt x="1516619" y="1948404"/>
                  <a:pt x="1470320" y="1944546"/>
                </a:cubicBezTo>
                <a:cubicBezTo>
                  <a:pt x="1466462" y="1936830"/>
                  <a:pt x="1465647" y="1926573"/>
                  <a:pt x="1458745" y="1921397"/>
                </a:cubicBezTo>
                <a:cubicBezTo>
                  <a:pt x="1442461" y="1909184"/>
                  <a:pt x="1357760" y="1898779"/>
                  <a:pt x="1354573" y="1898248"/>
                </a:cubicBezTo>
                <a:cubicBezTo>
                  <a:pt x="1350715" y="1890531"/>
                  <a:pt x="1349735" y="1880488"/>
                  <a:pt x="1342998" y="1875098"/>
                </a:cubicBezTo>
                <a:cubicBezTo>
                  <a:pt x="1329524" y="1864319"/>
                  <a:pt x="1296699" y="1851949"/>
                  <a:pt x="1296699" y="1851949"/>
                </a:cubicBezTo>
                <a:cubicBezTo>
                  <a:pt x="1279337" y="1817224"/>
                  <a:pt x="1284161" y="1803721"/>
                  <a:pt x="1250401" y="1794076"/>
                </a:cubicBezTo>
                <a:cubicBezTo>
                  <a:pt x="1231485" y="1788671"/>
                  <a:pt x="1211818" y="1786359"/>
                  <a:pt x="1192527" y="1782501"/>
                </a:cubicBezTo>
                <a:cubicBezTo>
                  <a:pt x="1184811" y="1767068"/>
                  <a:pt x="1184811" y="1743918"/>
                  <a:pt x="1169378" y="1736202"/>
                </a:cubicBezTo>
                <a:lnTo>
                  <a:pt x="1123079" y="1713053"/>
                </a:lnTo>
                <a:cubicBezTo>
                  <a:pt x="1095050" y="1656993"/>
                  <a:pt x="1112131" y="1678955"/>
                  <a:pt x="1076780" y="1643605"/>
                </a:cubicBezTo>
                <a:cubicBezTo>
                  <a:pt x="1072922" y="1635888"/>
                  <a:pt x="1070382" y="1627357"/>
                  <a:pt x="1065206" y="1620455"/>
                </a:cubicBezTo>
                <a:cubicBezTo>
                  <a:pt x="1058658" y="1611725"/>
                  <a:pt x="1046936" y="1607067"/>
                  <a:pt x="1042056" y="1597306"/>
                </a:cubicBezTo>
                <a:cubicBezTo>
                  <a:pt x="1034942" y="1583078"/>
                  <a:pt x="1041731" y="1562256"/>
                  <a:pt x="1030482" y="1551007"/>
                </a:cubicBezTo>
                <a:cubicBezTo>
                  <a:pt x="1019233" y="1539758"/>
                  <a:pt x="999616" y="1543291"/>
                  <a:pt x="984183" y="1539433"/>
                </a:cubicBezTo>
                <a:cubicBezTo>
                  <a:pt x="976466" y="1535575"/>
                  <a:pt x="966556" y="1534486"/>
                  <a:pt x="961033" y="1527858"/>
                </a:cubicBezTo>
                <a:cubicBezTo>
                  <a:pt x="955941" y="1521747"/>
                  <a:pt x="955246" y="1512662"/>
                  <a:pt x="955246" y="1504708"/>
                </a:cubicBezTo>
                <a:cubicBezTo>
                  <a:pt x="955246" y="1477632"/>
                  <a:pt x="957016" y="1450463"/>
                  <a:pt x="961033" y="1423686"/>
                </a:cubicBezTo>
                <a:cubicBezTo>
                  <a:pt x="962816" y="1411799"/>
                  <a:pt x="979212" y="1372453"/>
                  <a:pt x="984183" y="1360025"/>
                </a:cubicBezTo>
                <a:cubicBezTo>
                  <a:pt x="982254" y="1344592"/>
                  <a:pt x="987314" y="1326468"/>
                  <a:pt x="978395" y="1313726"/>
                </a:cubicBezTo>
                <a:cubicBezTo>
                  <a:pt x="971398" y="1303731"/>
                  <a:pt x="953432" y="1309472"/>
                  <a:pt x="943671" y="1302152"/>
                </a:cubicBezTo>
                <a:cubicBezTo>
                  <a:pt x="936769" y="1296976"/>
                  <a:pt x="935955" y="1286719"/>
                  <a:pt x="932097" y="1279002"/>
                </a:cubicBezTo>
                <a:cubicBezTo>
                  <a:pt x="934026" y="1178688"/>
                  <a:pt x="928961" y="1077995"/>
                  <a:pt x="937884" y="978060"/>
                </a:cubicBezTo>
                <a:cubicBezTo>
                  <a:pt x="938854" y="967191"/>
                  <a:pt x="955419" y="964268"/>
                  <a:pt x="961033" y="954911"/>
                </a:cubicBezTo>
                <a:cubicBezTo>
                  <a:pt x="967310" y="944449"/>
                  <a:pt x="968077" y="931515"/>
                  <a:pt x="972608" y="920187"/>
                </a:cubicBezTo>
                <a:cubicBezTo>
                  <a:pt x="975812" y="912177"/>
                  <a:pt x="980325" y="904754"/>
                  <a:pt x="984183" y="897038"/>
                </a:cubicBezTo>
                <a:cubicBezTo>
                  <a:pt x="988041" y="866172"/>
                  <a:pt x="985921" y="833950"/>
                  <a:pt x="995758" y="804440"/>
                </a:cubicBezTo>
                <a:cubicBezTo>
                  <a:pt x="998486" y="796256"/>
                  <a:pt x="1012807" y="798965"/>
                  <a:pt x="1018907" y="792865"/>
                </a:cubicBezTo>
                <a:cubicBezTo>
                  <a:pt x="1028743" y="783028"/>
                  <a:pt x="1034588" y="769877"/>
                  <a:pt x="1042056" y="758141"/>
                </a:cubicBezTo>
                <a:cubicBezTo>
                  <a:pt x="1047249" y="749980"/>
                  <a:pt x="1067125" y="717657"/>
                  <a:pt x="1070993" y="706055"/>
                </a:cubicBezTo>
                <a:cubicBezTo>
                  <a:pt x="1076024" y="690964"/>
                  <a:pt x="1076302" y="674378"/>
                  <a:pt x="1082568" y="659757"/>
                </a:cubicBezTo>
                <a:cubicBezTo>
                  <a:pt x="1101450" y="615698"/>
                  <a:pt x="1103976" y="635069"/>
                  <a:pt x="1128866" y="601883"/>
                </a:cubicBezTo>
                <a:cubicBezTo>
                  <a:pt x="1134042" y="594981"/>
                  <a:pt x="1134918" y="585362"/>
                  <a:pt x="1140441" y="578734"/>
                </a:cubicBezTo>
                <a:cubicBezTo>
                  <a:pt x="1154413" y="561967"/>
                  <a:pt x="1186740" y="532435"/>
                  <a:pt x="1186740" y="532435"/>
                </a:cubicBezTo>
                <a:cubicBezTo>
                  <a:pt x="1196588" y="512738"/>
                  <a:pt x="1200571" y="498672"/>
                  <a:pt x="1221464" y="486136"/>
                </a:cubicBezTo>
                <a:cubicBezTo>
                  <a:pt x="1231926" y="479859"/>
                  <a:pt x="1244613" y="478420"/>
                  <a:pt x="1256188" y="474562"/>
                </a:cubicBezTo>
                <a:cubicBezTo>
                  <a:pt x="1263904" y="462987"/>
                  <a:pt x="1268650" y="448744"/>
                  <a:pt x="1279337" y="439838"/>
                </a:cubicBezTo>
                <a:cubicBezTo>
                  <a:pt x="1292592" y="428792"/>
                  <a:pt x="1309480" y="422746"/>
                  <a:pt x="1325636" y="416688"/>
                </a:cubicBezTo>
                <a:cubicBezTo>
                  <a:pt x="1341069" y="410901"/>
                  <a:pt x="1355829" y="402827"/>
                  <a:pt x="1371935" y="399326"/>
                </a:cubicBezTo>
                <a:cubicBezTo>
                  <a:pt x="1400461" y="393125"/>
                  <a:pt x="1429867" y="392030"/>
                  <a:pt x="1458745" y="387752"/>
                </a:cubicBezTo>
                <a:cubicBezTo>
                  <a:pt x="1481960" y="384313"/>
                  <a:pt x="1505044" y="380035"/>
                  <a:pt x="1528193" y="376177"/>
                </a:cubicBezTo>
                <a:cubicBezTo>
                  <a:pt x="1537839" y="372319"/>
                  <a:pt x="1549784" y="371948"/>
                  <a:pt x="1557130" y="364602"/>
                </a:cubicBezTo>
                <a:cubicBezTo>
                  <a:pt x="1580503" y="341228"/>
                  <a:pt x="1552274" y="329038"/>
                  <a:pt x="1591854" y="324091"/>
                </a:cubicBezTo>
                <a:cubicBezTo>
                  <a:pt x="1761596" y="302874"/>
                  <a:pt x="1737502" y="310587"/>
                  <a:pt x="1765474" y="300941"/>
                </a:cubicBez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a:off x="5723681" y="3956679"/>
            <a:ext cx="2476982" cy="2288149"/>
          </a:xfrm>
          <a:custGeom>
            <a:rect b="b" l="l" r="r" t="t"/>
            <a:pathLst>
              <a:path extrusionOk="0" h="2288149" w="2476982">
                <a:moveTo>
                  <a:pt x="63661" y="198632"/>
                </a:moveTo>
                <a:cubicBezTo>
                  <a:pt x="79094" y="207313"/>
                  <a:pt x="80541" y="221187"/>
                  <a:pt x="92597" y="227569"/>
                </a:cubicBezTo>
                <a:cubicBezTo>
                  <a:pt x="114163" y="238986"/>
                  <a:pt x="140221" y="239805"/>
                  <a:pt x="162046" y="250718"/>
                </a:cubicBezTo>
                <a:cubicBezTo>
                  <a:pt x="169762" y="254576"/>
                  <a:pt x="176678" y="260919"/>
                  <a:pt x="185195" y="262293"/>
                </a:cubicBezTo>
                <a:cubicBezTo>
                  <a:pt x="236933" y="270638"/>
                  <a:pt x="289367" y="273868"/>
                  <a:pt x="341453" y="279655"/>
                </a:cubicBezTo>
                <a:cubicBezTo>
                  <a:pt x="356886" y="283513"/>
                  <a:pt x="372185" y="287953"/>
                  <a:pt x="387752" y="291230"/>
                </a:cubicBezTo>
                <a:cubicBezTo>
                  <a:pt x="408858" y="295673"/>
                  <a:pt x="430418" y="297864"/>
                  <a:pt x="451413" y="302804"/>
                </a:cubicBezTo>
                <a:cubicBezTo>
                  <a:pt x="463289" y="305598"/>
                  <a:pt x="474562" y="310521"/>
                  <a:pt x="486137" y="314379"/>
                </a:cubicBezTo>
                <a:cubicBezTo>
                  <a:pt x="493853" y="322096"/>
                  <a:pt x="499928" y="331914"/>
                  <a:pt x="509286" y="337529"/>
                </a:cubicBezTo>
                <a:cubicBezTo>
                  <a:pt x="519748" y="343806"/>
                  <a:pt x="532544" y="344934"/>
                  <a:pt x="544010" y="349103"/>
                </a:cubicBezTo>
                <a:cubicBezTo>
                  <a:pt x="553773" y="352653"/>
                  <a:pt x="563301" y="356820"/>
                  <a:pt x="572947" y="360678"/>
                </a:cubicBezTo>
                <a:cubicBezTo>
                  <a:pt x="580663" y="368394"/>
                  <a:pt x="587366" y="377280"/>
                  <a:pt x="596096" y="383827"/>
                </a:cubicBezTo>
                <a:cubicBezTo>
                  <a:pt x="614785" y="397844"/>
                  <a:pt x="645336" y="401925"/>
                  <a:pt x="665544" y="406977"/>
                </a:cubicBezTo>
                <a:cubicBezTo>
                  <a:pt x="680977" y="422410"/>
                  <a:pt x="692322" y="443514"/>
                  <a:pt x="711843" y="453275"/>
                </a:cubicBezTo>
                <a:cubicBezTo>
                  <a:pt x="727276" y="460992"/>
                  <a:pt x="745941" y="464224"/>
                  <a:pt x="758142" y="476425"/>
                </a:cubicBezTo>
                <a:cubicBezTo>
                  <a:pt x="810541" y="528823"/>
                  <a:pt x="784920" y="512962"/>
                  <a:pt x="827590" y="534298"/>
                </a:cubicBezTo>
                <a:cubicBezTo>
                  <a:pt x="855343" y="617554"/>
                  <a:pt x="821672" y="513584"/>
                  <a:pt x="850739" y="615321"/>
                </a:cubicBezTo>
                <a:cubicBezTo>
                  <a:pt x="854091" y="627052"/>
                  <a:pt x="855222" y="640117"/>
                  <a:pt x="862314" y="650045"/>
                </a:cubicBezTo>
                <a:cubicBezTo>
                  <a:pt x="875000" y="667805"/>
                  <a:pt x="908613" y="696344"/>
                  <a:pt x="908613" y="696344"/>
                </a:cubicBezTo>
                <a:cubicBezTo>
                  <a:pt x="912471" y="704060"/>
                  <a:pt x="914664" y="712866"/>
                  <a:pt x="920187" y="719493"/>
                </a:cubicBezTo>
                <a:cubicBezTo>
                  <a:pt x="934159" y="736260"/>
                  <a:pt x="966486" y="765792"/>
                  <a:pt x="966486" y="765792"/>
                </a:cubicBezTo>
                <a:cubicBezTo>
                  <a:pt x="970344" y="788941"/>
                  <a:pt x="975539" y="811907"/>
                  <a:pt x="978061" y="835240"/>
                </a:cubicBezTo>
                <a:cubicBezTo>
                  <a:pt x="983261" y="883341"/>
                  <a:pt x="980980" y="932322"/>
                  <a:pt x="989635" y="979923"/>
                </a:cubicBezTo>
                <a:cubicBezTo>
                  <a:pt x="992722" y="996899"/>
                  <a:pt x="1012785" y="1026222"/>
                  <a:pt x="1012785" y="1026222"/>
                </a:cubicBezTo>
                <a:cubicBezTo>
                  <a:pt x="1010856" y="1047442"/>
                  <a:pt x="1010120" y="1068805"/>
                  <a:pt x="1006997" y="1089883"/>
                </a:cubicBezTo>
                <a:cubicBezTo>
                  <a:pt x="1002395" y="1120947"/>
                  <a:pt x="992760" y="1151232"/>
                  <a:pt x="989635" y="1182480"/>
                </a:cubicBezTo>
                <a:cubicBezTo>
                  <a:pt x="983097" y="1247857"/>
                  <a:pt x="991946" y="1315031"/>
                  <a:pt x="978061" y="1379250"/>
                </a:cubicBezTo>
                <a:cubicBezTo>
                  <a:pt x="975326" y="1391899"/>
                  <a:pt x="953939" y="1389191"/>
                  <a:pt x="943337" y="1396612"/>
                </a:cubicBezTo>
                <a:cubicBezTo>
                  <a:pt x="934397" y="1402870"/>
                  <a:pt x="927904" y="1412045"/>
                  <a:pt x="920187" y="1419761"/>
                </a:cubicBezTo>
                <a:cubicBezTo>
                  <a:pt x="916329" y="1427478"/>
                  <a:pt x="913789" y="1436009"/>
                  <a:pt x="908613" y="1442911"/>
                </a:cubicBezTo>
                <a:cubicBezTo>
                  <a:pt x="902065" y="1451641"/>
                  <a:pt x="889762" y="1456030"/>
                  <a:pt x="885463" y="1466060"/>
                </a:cubicBezTo>
                <a:cubicBezTo>
                  <a:pt x="869938" y="1502285"/>
                  <a:pt x="882438" y="1532777"/>
                  <a:pt x="856527" y="1564445"/>
                </a:cubicBezTo>
                <a:cubicBezTo>
                  <a:pt x="847718" y="1575211"/>
                  <a:pt x="833378" y="1579878"/>
                  <a:pt x="821803" y="1587594"/>
                </a:cubicBezTo>
                <a:cubicBezTo>
                  <a:pt x="791697" y="1647804"/>
                  <a:pt x="813634" y="1625332"/>
                  <a:pt x="758142" y="1657042"/>
                </a:cubicBezTo>
                <a:cubicBezTo>
                  <a:pt x="754284" y="1666688"/>
                  <a:pt x="752330" y="1677335"/>
                  <a:pt x="746567" y="1685979"/>
                </a:cubicBezTo>
                <a:cubicBezTo>
                  <a:pt x="731941" y="1707919"/>
                  <a:pt x="721618" y="1710029"/>
                  <a:pt x="700268" y="1720703"/>
                </a:cubicBezTo>
                <a:cubicBezTo>
                  <a:pt x="691032" y="1736097"/>
                  <a:pt x="677530" y="1763902"/>
                  <a:pt x="659757" y="1772789"/>
                </a:cubicBezTo>
                <a:cubicBezTo>
                  <a:pt x="645528" y="1779903"/>
                  <a:pt x="628891" y="1780506"/>
                  <a:pt x="613458" y="1784364"/>
                </a:cubicBezTo>
                <a:cubicBezTo>
                  <a:pt x="591704" y="1838752"/>
                  <a:pt x="618584" y="1793669"/>
                  <a:pt x="561372" y="1824875"/>
                </a:cubicBezTo>
                <a:cubicBezTo>
                  <a:pt x="551792" y="1830101"/>
                  <a:pt x="547303" y="1841972"/>
                  <a:pt x="538223" y="1848025"/>
                </a:cubicBezTo>
                <a:cubicBezTo>
                  <a:pt x="481063" y="1886132"/>
                  <a:pt x="455564" y="1874810"/>
                  <a:pt x="376177" y="1882749"/>
                </a:cubicBezTo>
                <a:cubicBezTo>
                  <a:pt x="364602" y="1888536"/>
                  <a:pt x="350158" y="1890535"/>
                  <a:pt x="341453" y="1900111"/>
                </a:cubicBezTo>
                <a:cubicBezTo>
                  <a:pt x="329846" y="1912878"/>
                  <a:pt x="318304" y="1946410"/>
                  <a:pt x="318304" y="1946410"/>
                </a:cubicBezTo>
                <a:cubicBezTo>
                  <a:pt x="320868" y="2015630"/>
                  <a:pt x="287994" y="2086320"/>
                  <a:pt x="347241" y="2125817"/>
                </a:cubicBezTo>
                <a:cubicBezTo>
                  <a:pt x="361597" y="2135388"/>
                  <a:pt x="379736" y="2138613"/>
                  <a:pt x="393539" y="2148966"/>
                </a:cubicBezTo>
                <a:cubicBezTo>
                  <a:pt x="401256" y="2154754"/>
                  <a:pt x="407585" y="2163142"/>
                  <a:pt x="416689" y="2166329"/>
                </a:cubicBezTo>
                <a:cubicBezTo>
                  <a:pt x="446718" y="2176839"/>
                  <a:pt x="509286" y="2189478"/>
                  <a:pt x="509286" y="2189478"/>
                </a:cubicBezTo>
                <a:cubicBezTo>
                  <a:pt x="634199" y="2264425"/>
                  <a:pt x="465258" y="2156018"/>
                  <a:pt x="549797" y="2229989"/>
                </a:cubicBezTo>
                <a:cubicBezTo>
                  <a:pt x="559536" y="2238511"/>
                  <a:pt x="572245" y="2243259"/>
                  <a:pt x="584522" y="2247351"/>
                </a:cubicBezTo>
                <a:cubicBezTo>
                  <a:pt x="636989" y="2264840"/>
                  <a:pt x="726803" y="2266769"/>
                  <a:pt x="769716" y="2270501"/>
                </a:cubicBezTo>
                <a:cubicBezTo>
                  <a:pt x="777433" y="2276288"/>
                  <a:pt x="783223" y="2287653"/>
                  <a:pt x="792866" y="2287863"/>
                </a:cubicBezTo>
                <a:cubicBezTo>
                  <a:pt x="869597" y="2289531"/>
                  <a:pt x="1075171" y="2284897"/>
                  <a:pt x="1169043" y="2247351"/>
                </a:cubicBezTo>
                <a:cubicBezTo>
                  <a:pt x="1341007" y="2178570"/>
                  <a:pt x="1065189" y="2291799"/>
                  <a:pt x="1221129" y="2218415"/>
                </a:cubicBezTo>
                <a:cubicBezTo>
                  <a:pt x="1245441" y="2206974"/>
                  <a:pt x="1271322" y="2199217"/>
                  <a:pt x="1296365" y="2189478"/>
                </a:cubicBezTo>
                <a:cubicBezTo>
                  <a:pt x="1306047" y="2185713"/>
                  <a:pt x="1315312" y="2180757"/>
                  <a:pt x="1325301" y="2177903"/>
                </a:cubicBezTo>
                <a:cubicBezTo>
                  <a:pt x="1364861" y="2166601"/>
                  <a:pt x="1372380" y="2165628"/>
                  <a:pt x="1412111" y="2148966"/>
                </a:cubicBezTo>
                <a:cubicBezTo>
                  <a:pt x="1456728" y="2130255"/>
                  <a:pt x="1501175" y="2111113"/>
                  <a:pt x="1545220" y="2091093"/>
                </a:cubicBezTo>
                <a:cubicBezTo>
                  <a:pt x="1564855" y="2082168"/>
                  <a:pt x="1583459" y="2071081"/>
                  <a:pt x="1603094" y="2062156"/>
                </a:cubicBezTo>
                <a:cubicBezTo>
                  <a:pt x="1637688" y="2046432"/>
                  <a:pt x="1697209" y="2025939"/>
                  <a:pt x="1730415" y="2004283"/>
                </a:cubicBezTo>
                <a:cubicBezTo>
                  <a:pt x="1756917" y="1986999"/>
                  <a:pt x="1779509" y="1964234"/>
                  <a:pt x="1805651" y="1946410"/>
                </a:cubicBezTo>
                <a:cubicBezTo>
                  <a:pt x="1822061" y="1935221"/>
                  <a:pt x="1842148" y="1929780"/>
                  <a:pt x="1857737" y="1917473"/>
                </a:cubicBezTo>
                <a:cubicBezTo>
                  <a:pt x="1879150" y="1900568"/>
                  <a:pt x="1894823" y="1877268"/>
                  <a:pt x="1915610" y="1859599"/>
                </a:cubicBezTo>
                <a:cubicBezTo>
                  <a:pt x="1958774" y="1822910"/>
                  <a:pt x="1982079" y="1814790"/>
                  <a:pt x="2031357" y="1790151"/>
                </a:cubicBezTo>
                <a:cubicBezTo>
                  <a:pt x="2097786" y="1712651"/>
                  <a:pt x="2032447" y="1784700"/>
                  <a:pt x="2106592" y="1714916"/>
                </a:cubicBezTo>
                <a:cubicBezTo>
                  <a:pt x="2126459" y="1696218"/>
                  <a:pt x="2144355" y="1675477"/>
                  <a:pt x="2164466" y="1657042"/>
                </a:cubicBezTo>
                <a:cubicBezTo>
                  <a:pt x="2190687" y="1633006"/>
                  <a:pt x="2223345" y="1615432"/>
                  <a:pt x="2245489" y="1587594"/>
                </a:cubicBezTo>
                <a:cubicBezTo>
                  <a:pt x="2384876" y="1412364"/>
                  <a:pt x="2340506" y="1447174"/>
                  <a:pt x="2413322" y="1292440"/>
                </a:cubicBezTo>
                <a:cubicBezTo>
                  <a:pt x="2480636" y="1149397"/>
                  <a:pt x="2443110" y="1260663"/>
                  <a:pt x="2476982" y="1147756"/>
                </a:cubicBezTo>
                <a:cubicBezTo>
                  <a:pt x="2463478" y="1049371"/>
                  <a:pt x="2451202" y="950810"/>
                  <a:pt x="2436471" y="852602"/>
                </a:cubicBezTo>
                <a:cubicBezTo>
                  <a:pt x="2427115" y="790227"/>
                  <a:pt x="2417962" y="783849"/>
                  <a:pt x="2384385" y="719493"/>
                </a:cubicBezTo>
                <a:cubicBezTo>
                  <a:pt x="2359236" y="671290"/>
                  <a:pt x="2348789" y="654670"/>
                  <a:pt x="2314937" y="609534"/>
                </a:cubicBezTo>
                <a:cubicBezTo>
                  <a:pt x="2300114" y="589770"/>
                  <a:pt x="2285332" y="569871"/>
                  <a:pt x="2268638" y="551660"/>
                </a:cubicBezTo>
                <a:cubicBezTo>
                  <a:pt x="2242829" y="523505"/>
                  <a:pt x="2221777" y="487718"/>
                  <a:pt x="2187615" y="470637"/>
                </a:cubicBezTo>
                <a:cubicBezTo>
                  <a:pt x="2075476" y="414568"/>
                  <a:pt x="2174728" y="460784"/>
                  <a:pt x="2095018" y="430126"/>
                </a:cubicBezTo>
                <a:cubicBezTo>
                  <a:pt x="2081305" y="424852"/>
                  <a:pt x="2069100" y="414461"/>
                  <a:pt x="2054506" y="412764"/>
                </a:cubicBezTo>
                <a:cubicBezTo>
                  <a:pt x="1985416" y="404730"/>
                  <a:pt x="1915610" y="405047"/>
                  <a:pt x="1846162" y="401189"/>
                </a:cubicBezTo>
                <a:cubicBezTo>
                  <a:pt x="1821084" y="391544"/>
                  <a:pt x="1796518" y="380442"/>
                  <a:pt x="1770927" y="372253"/>
                </a:cubicBezTo>
                <a:cubicBezTo>
                  <a:pt x="1748200" y="364981"/>
                  <a:pt x="1723718" y="363540"/>
                  <a:pt x="1701478" y="354891"/>
                </a:cubicBezTo>
                <a:cubicBezTo>
                  <a:pt x="1688513" y="349849"/>
                  <a:pt x="1678730" y="338818"/>
                  <a:pt x="1666754" y="331741"/>
                </a:cubicBezTo>
                <a:cubicBezTo>
                  <a:pt x="1636266" y="313725"/>
                  <a:pt x="1604987" y="297081"/>
                  <a:pt x="1574157" y="279655"/>
                </a:cubicBezTo>
                <a:cubicBezTo>
                  <a:pt x="1560617" y="272002"/>
                  <a:pt x="1545594" y="266463"/>
                  <a:pt x="1533646" y="256506"/>
                </a:cubicBezTo>
                <a:cubicBezTo>
                  <a:pt x="1522071" y="246860"/>
                  <a:pt x="1511633" y="235658"/>
                  <a:pt x="1498922" y="227569"/>
                </a:cubicBezTo>
                <a:cubicBezTo>
                  <a:pt x="1473721" y="211532"/>
                  <a:pt x="1422567" y="208092"/>
                  <a:pt x="1400537" y="204420"/>
                </a:cubicBezTo>
                <a:cubicBezTo>
                  <a:pt x="1392820" y="196703"/>
                  <a:pt x="1385909" y="188087"/>
                  <a:pt x="1377387" y="181270"/>
                </a:cubicBezTo>
                <a:cubicBezTo>
                  <a:pt x="1352769" y="161575"/>
                  <a:pt x="1305896" y="136424"/>
                  <a:pt x="1279003" y="129184"/>
                </a:cubicBezTo>
                <a:cubicBezTo>
                  <a:pt x="1250814" y="121595"/>
                  <a:pt x="1221018" y="122222"/>
                  <a:pt x="1192192" y="117610"/>
                </a:cubicBezTo>
                <a:cubicBezTo>
                  <a:pt x="1172766" y="114502"/>
                  <a:pt x="1153610" y="109893"/>
                  <a:pt x="1134319" y="106035"/>
                </a:cubicBezTo>
                <a:cubicBezTo>
                  <a:pt x="1082122" y="79935"/>
                  <a:pt x="1146866" y="110216"/>
                  <a:pt x="1064871" y="82885"/>
                </a:cubicBezTo>
                <a:cubicBezTo>
                  <a:pt x="1056687" y="80157"/>
                  <a:pt x="1050128" y="73251"/>
                  <a:pt x="1041722" y="71311"/>
                </a:cubicBezTo>
                <a:cubicBezTo>
                  <a:pt x="917763" y="42705"/>
                  <a:pt x="938000" y="54625"/>
                  <a:pt x="833377" y="36587"/>
                </a:cubicBezTo>
                <a:cubicBezTo>
                  <a:pt x="804296" y="31573"/>
                  <a:pt x="775504" y="25012"/>
                  <a:pt x="746567" y="19225"/>
                </a:cubicBezTo>
                <a:cubicBezTo>
                  <a:pt x="738851" y="15367"/>
                  <a:pt x="732045" y="7650"/>
                  <a:pt x="723418" y="7650"/>
                </a:cubicBezTo>
                <a:cubicBezTo>
                  <a:pt x="251781" y="7650"/>
                  <a:pt x="378258" y="-20357"/>
                  <a:pt x="173620" y="30799"/>
                </a:cubicBezTo>
                <a:cubicBezTo>
                  <a:pt x="165904" y="38516"/>
                  <a:pt x="159551" y="47896"/>
                  <a:pt x="150471" y="53949"/>
                </a:cubicBezTo>
                <a:cubicBezTo>
                  <a:pt x="141827" y="59712"/>
                  <a:pt x="131297" y="61973"/>
                  <a:pt x="121534" y="65523"/>
                </a:cubicBezTo>
                <a:cubicBezTo>
                  <a:pt x="92166" y="76202"/>
                  <a:pt x="77040" y="79889"/>
                  <a:pt x="46299" y="88673"/>
                </a:cubicBezTo>
                <a:cubicBezTo>
                  <a:pt x="38582" y="102177"/>
                  <a:pt x="30468" y="115461"/>
                  <a:pt x="23149" y="129184"/>
                </a:cubicBezTo>
                <a:cubicBezTo>
                  <a:pt x="15029" y="144409"/>
                  <a:pt x="0" y="175483"/>
                  <a:pt x="0" y="175483"/>
                </a:cubicBezTo>
                <a:cubicBezTo>
                  <a:pt x="7658" y="206118"/>
                  <a:pt x="48228" y="189951"/>
                  <a:pt x="63661" y="198632"/>
                </a:cubicBez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a:off x="4948177" y="5370653"/>
            <a:ext cx="225707" cy="196770"/>
          </a:xfrm>
          <a:prstGeom prst="ellipse">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99" name="Google Shape;99;p2"/>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pt-BR" sz="1800" u="none" cap="none" strike="noStrike">
                <a:solidFill>
                  <a:schemeClr val="dk1"/>
                </a:solidFill>
                <a:latin typeface="Palatino Linotype"/>
                <a:ea typeface="Palatino Linotype"/>
                <a:cs typeface="Palatino Linotype"/>
                <a:sym typeface="Palatino Linotype"/>
              </a:rPr>
              <a:t>Cultura</a:t>
            </a:r>
            <a:endParaRPr/>
          </a:p>
          <a:p>
            <a:pPr indent="-342900" lvl="0" marL="34290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 </a:t>
            </a:r>
            <a:r>
              <a:rPr lang="pt-BR" sz="1800">
                <a:solidFill>
                  <a:srgbClr val="0070C0"/>
                </a:solidFill>
                <a:latin typeface="Palatino Linotype"/>
                <a:ea typeface="Palatino Linotype"/>
                <a:cs typeface="Palatino Linotype"/>
                <a:sym typeface="Palatino Linotype"/>
              </a:rPr>
              <a:t>cultura</a:t>
            </a:r>
            <a:r>
              <a:rPr lang="pt-BR" sz="1800">
                <a:solidFill>
                  <a:schemeClr val="dk1"/>
                </a:solidFill>
                <a:latin typeface="Palatino Linotype"/>
                <a:ea typeface="Palatino Linotype"/>
                <a:cs typeface="Palatino Linotype"/>
                <a:sym typeface="Palatino Linotype"/>
              </a:rPr>
              <a:t> é um conjunto de </a:t>
            </a:r>
            <a:r>
              <a:rPr i="1" lang="pt-BR" sz="1800">
                <a:solidFill>
                  <a:srgbClr val="002060"/>
                </a:solidFill>
                <a:latin typeface="Palatino Linotype"/>
                <a:ea typeface="Palatino Linotype"/>
                <a:cs typeface="Palatino Linotype"/>
                <a:sym typeface="Palatino Linotype"/>
              </a:rPr>
              <a:t>normas</a:t>
            </a:r>
            <a:r>
              <a:rPr lang="pt-BR" sz="1800">
                <a:solidFill>
                  <a:schemeClr val="dk1"/>
                </a:solidFill>
                <a:latin typeface="Palatino Linotype"/>
                <a:ea typeface="Palatino Linotype"/>
                <a:cs typeface="Palatino Linotype"/>
                <a:sym typeface="Palatino Linotype"/>
              </a:rPr>
              <a:t>, </a:t>
            </a:r>
            <a:r>
              <a:rPr i="1" lang="pt-BR" sz="1800">
                <a:solidFill>
                  <a:srgbClr val="002060"/>
                </a:solidFill>
                <a:latin typeface="Palatino Linotype"/>
                <a:ea typeface="Palatino Linotype"/>
                <a:cs typeface="Palatino Linotype"/>
                <a:sym typeface="Palatino Linotype"/>
              </a:rPr>
              <a:t>crenças</a:t>
            </a:r>
            <a:r>
              <a:rPr lang="pt-BR" sz="1800">
                <a:solidFill>
                  <a:schemeClr val="dk1"/>
                </a:solidFill>
                <a:latin typeface="Palatino Linotype"/>
                <a:ea typeface="Palatino Linotype"/>
                <a:cs typeface="Palatino Linotype"/>
                <a:sym typeface="Palatino Linotype"/>
              </a:rPr>
              <a:t>, </a:t>
            </a:r>
            <a:r>
              <a:rPr i="1" lang="pt-BR" sz="1800">
                <a:solidFill>
                  <a:srgbClr val="002060"/>
                </a:solidFill>
                <a:latin typeface="Palatino Linotype"/>
                <a:ea typeface="Palatino Linotype"/>
                <a:cs typeface="Palatino Linotype"/>
                <a:sym typeface="Palatino Linotype"/>
              </a:rPr>
              <a:t>valores</a:t>
            </a:r>
            <a:r>
              <a:rPr lang="pt-BR" sz="1800">
                <a:solidFill>
                  <a:schemeClr val="dk1"/>
                </a:solidFill>
                <a:latin typeface="Palatino Linotype"/>
                <a:ea typeface="Palatino Linotype"/>
                <a:cs typeface="Palatino Linotype"/>
                <a:sym typeface="Palatino Linotype"/>
              </a:rPr>
              <a:t> e </a:t>
            </a:r>
            <a:r>
              <a:rPr i="1" lang="pt-BR" sz="1800">
                <a:solidFill>
                  <a:srgbClr val="002060"/>
                </a:solidFill>
                <a:latin typeface="Palatino Linotype"/>
                <a:ea typeface="Palatino Linotype"/>
                <a:cs typeface="Palatino Linotype"/>
                <a:sym typeface="Palatino Linotype"/>
              </a:rPr>
              <a:t>comportamentos</a:t>
            </a:r>
            <a:r>
              <a:rPr lang="pt-BR" sz="1800">
                <a:solidFill>
                  <a:schemeClr val="dk1"/>
                </a:solidFill>
                <a:latin typeface="Palatino Linotype"/>
                <a:ea typeface="Palatino Linotype"/>
                <a:cs typeface="Palatino Linotype"/>
                <a:sym typeface="Palatino Linotype"/>
              </a:rPr>
              <a:t>, </a:t>
            </a:r>
            <a:r>
              <a:rPr i="1" lang="pt-BR" sz="1800">
                <a:solidFill>
                  <a:srgbClr val="002060"/>
                </a:solidFill>
                <a:latin typeface="Palatino Linotype"/>
                <a:ea typeface="Palatino Linotype"/>
                <a:cs typeface="Palatino Linotype"/>
                <a:sym typeface="Palatino Linotype"/>
              </a:rPr>
              <a:t>hábitos</a:t>
            </a:r>
            <a:r>
              <a:rPr lang="pt-BR" sz="1800">
                <a:solidFill>
                  <a:schemeClr val="dk1"/>
                </a:solidFill>
                <a:latin typeface="Palatino Linotype"/>
                <a:ea typeface="Palatino Linotype"/>
                <a:cs typeface="Palatino Linotype"/>
                <a:sym typeface="Palatino Linotype"/>
              </a:rPr>
              <a:t>, </a:t>
            </a:r>
            <a:r>
              <a:rPr i="1" lang="pt-BR" sz="1800">
                <a:solidFill>
                  <a:srgbClr val="002060"/>
                </a:solidFill>
                <a:latin typeface="Palatino Linotype"/>
                <a:ea typeface="Palatino Linotype"/>
                <a:cs typeface="Palatino Linotype"/>
                <a:sym typeface="Palatino Linotype"/>
              </a:rPr>
              <a:t>tradições</a:t>
            </a:r>
            <a:r>
              <a:rPr lang="pt-BR" sz="1800">
                <a:solidFill>
                  <a:schemeClr val="dk1"/>
                </a:solidFill>
                <a:latin typeface="Palatino Linotype"/>
                <a:ea typeface="Palatino Linotype"/>
                <a:cs typeface="Palatino Linotype"/>
                <a:sym typeface="Palatino Linotype"/>
              </a:rPr>
              <a:t> e </a:t>
            </a:r>
            <a:r>
              <a:rPr i="1" lang="pt-BR" sz="1800">
                <a:solidFill>
                  <a:srgbClr val="002060"/>
                </a:solidFill>
                <a:latin typeface="Palatino Linotype"/>
                <a:ea typeface="Palatino Linotype"/>
                <a:cs typeface="Palatino Linotype"/>
                <a:sym typeface="Palatino Linotype"/>
              </a:rPr>
              <a:t>conhecimentos</a:t>
            </a:r>
            <a:r>
              <a:rPr lang="pt-BR" sz="1800">
                <a:solidFill>
                  <a:schemeClr val="dk1"/>
                </a:solidFill>
                <a:latin typeface="Palatino Linotype"/>
                <a:ea typeface="Palatino Linotype"/>
                <a:cs typeface="Palatino Linotype"/>
                <a:sym typeface="Palatino Linotype"/>
              </a:rPr>
              <a:t> de um </a:t>
            </a:r>
            <a:r>
              <a:rPr b="1" lang="pt-BR" sz="1800">
                <a:solidFill>
                  <a:schemeClr val="dk1"/>
                </a:solidFill>
                <a:latin typeface="Palatino Linotype"/>
                <a:ea typeface="Palatino Linotype"/>
                <a:cs typeface="Palatino Linotype"/>
                <a:sym typeface="Palatino Linotype"/>
              </a:rPr>
              <a:t>grupo social</a:t>
            </a:r>
            <a:r>
              <a:rPr lang="pt-BR" sz="1800">
                <a:solidFill>
                  <a:schemeClr val="dk1"/>
                </a:solidFill>
                <a:latin typeface="Palatino Linotype"/>
                <a:ea typeface="Palatino Linotype"/>
                <a:cs typeface="Palatino Linotype"/>
                <a:sym typeface="Palatino Linotype"/>
              </a:rPr>
              <a:t>.</a:t>
            </a:r>
            <a:endParaRPr/>
          </a:p>
        </p:txBody>
      </p:sp>
      <p:sp>
        <p:nvSpPr>
          <p:cNvPr id="100" name="Google Shape;100;p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Revisão da aula anterior:</a:t>
            </a:r>
            <a:endParaRPr/>
          </a:p>
        </p:txBody>
      </p:sp>
      <p:sp>
        <p:nvSpPr>
          <p:cNvPr id="101" name="Google Shape;101;p2"/>
          <p:cNvSpPr txBox="1"/>
          <p:nvPr/>
        </p:nvSpPr>
        <p:spPr>
          <a:xfrm>
            <a:off x="1018572" y="3078342"/>
            <a:ext cx="10023676"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Ritos da cultura organizacional</a:t>
            </a:r>
            <a:endParaRPr/>
          </a:p>
          <a:p>
            <a:pPr indent="-285750" lvl="0" marL="28575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Conjunto de atividades organizadas, no qual as pessoas se expressam por meio de gestos, símbolos, linguagem e comportamento, marcando e dando sentido a um momento ou acontecimento. São </a:t>
            </a:r>
            <a:r>
              <a:rPr i="1" lang="pt-BR" sz="1800">
                <a:solidFill>
                  <a:schemeClr val="dk1"/>
                </a:solidFill>
                <a:latin typeface="Palatino Linotype"/>
                <a:ea typeface="Palatino Linotype"/>
                <a:cs typeface="Palatino Linotype"/>
                <a:sym typeface="Palatino Linotype"/>
              </a:rPr>
              <a:t>ferramentas</a:t>
            </a:r>
            <a:r>
              <a:rPr lang="pt-BR" sz="1800">
                <a:solidFill>
                  <a:schemeClr val="dk1"/>
                </a:solidFill>
                <a:latin typeface="Palatino Linotype"/>
                <a:ea typeface="Palatino Linotype"/>
                <a:cs typeface="Palatino Linotype"/>
                <a:sym typeface="Palatino Linotype"/>
              </a:rPr>
              <a:t> para a empresa repassar/perpetuar sua cultura.</a:t>
            </a:r>
            <a:endParaRPr/>
          </a:p>
          <a:p>
            <a:pPr indent="0" lvl="0" marL="0" marR="0" rtl="0" algn="just">
              <a:spcBef>
                <a:spcPts val="0"/>
              </a:spcBef>
              <a:spcAft>
                <a:spcPts val="0"/>
              </a:spcAft>
              <a:buNone/>
            </a:pPr>
            <a:r>
              <a:t/>
            </a:r>
            <a:endParaRPr sz="1800">
              <a:solidFill>
                <a:schemeClr val="dk1"/>
              </a:solidFill>
              <a:latin typeface="Palatino Linotype"/>
              <a:ea typeface="Palatino Linotype"/>
              <a:cs typeface="Palatino Linotype"/>
              <a:sym typeface="Palatino Linotype"/>
            </a:endParaRPr>
          </a:p>
          <a:p>
            <a:pPr indent="-457200" lvl="0" marL="457200" marR="0" rtl="0" algn="just">
              <a:spcBef>
                <a:spcPts val="0"/>
              </a:spcBef>
              <a:spcAft>
                <a:spcPts val="0"/>
              </a:spcAft>
              <a:buClr>
                <a:schemeClr val="dk1"/>
              </a:buClr>
              <a:buSzPts val="1800"/>
              <a:buFont typeface="Palatino Linotype"/>
              <a:buAutoNum type="arabicPeriod"/>
            </a:pPr>
            <a:r>
              <a:rPr lang="pt-BR" sz="1800">
                <a:solidFill>
                  <a:schemeClr val="dk1"/>
                </a:solidFill>
                <a:latin typeface="Palatino Linotype"/>
                <a:ea typeface="Palatino Linotype"/>
                <a:cs typeface="Palatino Linotype"/>
                <a:sym typeface="Palatino Linotype"/>
              </a:rPr>
              <a:t>Ritos de passagem</a:t>
            </a:r>
            <a:endParaRPr/>
          </a:p>
          <a:p>
            <a:pPr indent="-457200" lvl="0" marL="457200" marR="0" rtl="0" algn="just">
              <a:spcBef>
                <a:spcPts val="0"/>
              </a:spcBef>
              <a:spcAft>
                <a:spcPts val="0"/>
              </a:spcAft>
              <a:buClr>
                <a:schemeClr val="dk1"/>
              </a:buClr>
              <a:buSzPts val="1800"/>
              <a:buFont typeface="Palatino Linotype"/>
              <a:buAutoNum type="arabicPeriod"/>
            </a:pPr>
            <a:r>
              <a:rPr lang="pt-BR" sz="1800">
                <a:solidFill>
                  <a:schemeClr val="dk1"/>
                </a:solidFill>
                <a:latin typeface="Palatino Linotype"/>
                <a:ea typeface="Palatino Linotype"/>
                <a:cs typeface="Palatino Linotype"/>
                <a:sym typeface="Palatino Linotype"/>
              </a:rPr>
              <a:t>Ritos de integração</a:t>
            </a:r>
            <a:endParaRPr/>
          </a:p>
          <a:p>
            <a:pPr indent="-457200" lvl="0" marL="457200" marR="0" rtl="0" algn="just">
              <a:spcBef>
                <a:spcPts val="0"/>
              </a:spcBef>
              <a:spcAft>
                <a:spcPts val="0"/>
              </a:spcAft>
              <a:buClr>
                <a:schemeClr val="dk1"/>
              </a:buClr>
              <a:buSzPts val="1800"/>
              <a:buFont typeface="Palatino Linotype"/>
              <a:buAutoNum type="arabicPeriod"/>
            </a:pPr>
            <a:r>
              <a:rPr lang="pt-BR" sz="1800">
                <a:solidFill>
                  <a:schemeClr val="dk1"/>
                </a:solidFill>
                <a:latin typeface="Palatino Linotype"/>
                <a:ea typeface="Palatino Linotype"/>
                <a:cs typeface="Palatino Linotype"/>
                <a:sym typeface="Palatino Linotype"/>
              </a:rPr>
              <a:t>Ritos de reprodução</a:t>
            </a:r>
            <a:endParaRPr/>
          </a:p>
          <a:p>
            <a:pPr indent="-457200" lvl="0" marL="457200" marR="0" rtl="0" algn="just">
              <a:spcBef>
                <a:spcPts val="0"/>
              </a:spcBef>
              <a:spcAft>
                <a:spcPts val="0"/>
              </a:spcAft>
              <a:buClr>
                <a:schemeClr val="dk1"/>
              </a:buClr>
              <a:buSzPts val="1800"/>
              <a:buFont typeface="Palatino Linotype"/>
              <a:buAutoNum type="arabicPeriod"/>
            </a:pPr>
            <a:r>
              <a:rPr lang="pt-BR" sz="1800">
                <a:solidFill>
                  <a:schemeClr val="dk1"/>
                </a:solidFill>
                <a:latin typeface="Palatino Linotype"/>
                <a:ea typeface="Palatino Linotype"/>
                <a:cs typeface="Palatino Linotype"/>
                <a:sym typeface="Palatino Linotype"/>
              </a:rPr>
              <a:t>Ritos de reconhecimento</a:t>
            </a:r>
            <a:endParaRPr/>
          </a:p>
          <a:p>
            <a:pPr indent="-457200" lvl="0" marL="457200" marR="0" rtl="0" algn="just">
              <a:spcBef>
                <a:spcPts val="0"/>
              </a:spcBef>
              <a:spcAft>
                <a:spcPts val="0"/>
              </a:spcAft>
              <a:buClr>
                <a:schemeClr val="dk1"/>
              </a:buClr>
              <a:buSzPts val="1800"/>
              <a:buFont typeface="Palatino Linotype"/>
              <a:buAutoNum type="arabicPeriod"/>
            </a:pPr>
            <a:r>
              <a:rPr lang="pt-BR" sz="1800">
                <a:solidFill>
                  <a:schemeClr val="dk1"/>
                </a:solidFill>
                <a:latin typeface="Palatino Linotype"/>
                <a:ea typeface="Palatino Linotype"/>
                <a:cs typeface="Palatino Linotype"/>
                <a:sym typeface="Palatino Linotype"/>
              </a:rPr>
              <a:t>Ritos de redução de conflitos</a:t>
            </a:r>
            <a:endParaRPr/>
          </a:p>
          <a:p>
            <a:pPr indent="-457200" lvl="0" marL="457200" marR="0" rtl="0" algn="just">
              <a:spcBef>
                <a:spcPts val="0"/>
              </a:spcBef>
              <a:spcAft>
                <a:spcPts val="0"/>
              </a:spcAft>
              <a:buClr>
                <a:schemeClr val="dk1"/>
              </a:buClr>
              <a:buSzPts val="1800"/>
              <a:buFont typeface="Palatino Linotype"/>
              <a:buAutoNum type="arabicPeriod"/>
            </a:pPr>
            <a:r>
              <a:rPr lang="pt-BR" sz="1800">
                <a:solidFill>
                  <a:schemeClr val="dk1"/>
                </a:solidFill>
                <a:latin typeface="Palatino Linotype"/>
                <a:ea typeface="Palatino Linotype"/>
                <a:cs typeface="Palatino Linotype"/>
                <a:sym typeface="Palatino Linotype"/>
              </a:rPr>
              <a:t>Ritos de rebaixamento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08" name="Google Shape;108;p3"/>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Para obter </a:t>
            </a:r>
            <a:r>
              <a:rPr b="1" i="1" lang="pt-BR" sz="1800">
                <a:solidFill>
                  <a:schemeClr val="dk1"/>
                </a:solidFill>
                <a:latin typeface="Palatino Linotype"/>
                <a:ea typeface="Palatino Linotype"/>
                <a:cs typeface="Palatino Linotype"/>
                <a:sym typeface="Palatino Linotype"/>
              </a:rPr>
              <a:t>coisas</a:t>
            </a:r>
            <a:r>
              <a:rPr b="1" lang="pt-BR" sz="1800">
                <a:solidFill>
                  <a:schemeClr val="dk1"/>
                </a:solidFill>
                <a:latin typeface="Palatino Linotype"/>
                <a:ea typeface="Palatino Linotype"/>
                <a:cs typeface="Palatino Linotype"/>
                <a:sym typeface="Palatino Linotype"/>
              </a:rPr>
              <a:t> positivas:</a:t>
            </a:r>
            <a:endParaRPr/>
          </a:p>
          <a:p>
            <a:pPr indent="-342900" lvl="0" marL="34290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O poder nos dá maior segurança no trabalho.</a:t>
            </a:r>
            <a:endParaRPr/>
          </a:p>
          <a:p>
            <a:pPr indent="-342900" lvl="0" marL="34290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Maiores recompensas financeiras.</a:t>
            </a:r>
            <a:endParaRPr/>
          </a:p>
          <a:p>
            <a:pPr indent="-342900" lvl="0" marL="34290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Mais facilidade em influenciar as pessoas.</a:t>
            </a:r>
            <a:endParaRPr/>
          </a:p>
        </p:txBody>
      </p:sp>
      <p:sp>
        <p:nvSpPr>
          <p:cNvPr id="109" name="Google Shape;109;p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Por que queremos e buscamos o poder?</a:t>
            </a:r>
            <a:endParaRPr/>
          </a:p>
        </p:txBody>
      </p:sp>
      <p:sp>
        <p:nvSpPr>
          <p:cNvPr id="110" name="Google Shape;110;p3"/>
          <p:cNvSpPr txBox="1"/>
          <p:nvPr/>
        </p:nvSpPr>
        <p:spPr>
          <a:xfrm>
            <a:off x="1018572" y="3723188"/>
            <a:ext cx="1002367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Para evitar </a:t>
            </a:r>
            <a:r>
              <a:rPr b="1" i="1" lang="pt-BR" sz="1800">
                <a:solidFill>
                  <a:schemeClr val="dk1"/>
                </a:solidFill>
                <a:latin typeface="Palatino Linotype"/>
                <a:ea typeface="Palatino Linotype"/>
                <a:cs typeface="Palatino Linotype"/>
                <a:sym typeface="Palatino Linotype"/>
              </a:rPr>
              <a:t>coisas</a:t>
            </a:r>
            <a:r>
              <a:rPr b="1" lang="pt-BR" sz="1800">
                <a:solidFill>
                  <a:schemeClr val="dk1"/>
                </a:solidFill>
                <a:latin typeface="Palatino Linotype"/>
                <a:ea typeface="Palatino Linotype"/>
                <a:cs typeface="Palatino Linotype"/>
                <a:sym typeface="Palatino Linotype"/>
              </a:rPr>
              <a:t> negativas:</a:t>
            </a:r>
            <a:endParaRPr/>
          </a:p>
          <a:p>
            <a:pPr indent="-342900" lvl="0" marL="34290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 ausência de poder diminui nossa autonomia.</a:t>
            </a:r>
            <a:endParaRPr/>
          </a:p>
          <a:p>
            <a:pPr indent="-342900" lvl="0" marL="34290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Nos torna suscetíveis a tratamentos injustos ou abusivos.</a:t>
            </a:r>
            <a:endParaRPr/>
          </a:p>
          <a:p>
            <a:pPr indent="-342900" lvl="0" marL="342900" marR="0" rtl="0" algn="just">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Nos deixa menos satisfeitos com o trabalho.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par>
                                <p:cTn fill="hold" nodeType="with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17" name="Google Shape;117;p4"/>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Alguns indivíduos adquirem poder e outros não?</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Alguns indivíduos mantém o poder após adquiri-lo enquanto outros perdem (caem de posição apesar de suas vantagens)?</a:t>
            </a:r>
            <a:endParaRPr sz="1800">
              <a:solidFill>
                <a:schemeClr val="dk1"/>
              </a:solidFill>
              <a:latin typeface="Palatino Linotype"/>
              <a:ea typeface="Palatino Linotype"/>
              <a:cs typeface="Palatino Linotype"/>
              <a:sym typeface="Palatino Linotype"/>
            </a:endParaRPr>
          </a:p>
        </p:txBody>
      </p:sp>
      <p:sp>
        <p:nvSpPr>
          <p:cNvPr id="118" name="Google Shape;118;p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Por que...?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25" name="Google Shape;125;p5"/>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Alguns indivíduos adquirem poder e outros não?</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Alguns indivíduos mantém o poder após adquiri-lo enquanto outros perdem (caem de posição apesar de suas vantagens)?</a:t>
            </a:r>
            <a:endParaRPr sz="1800">
              <a:solidFill>
                <a:schemeClr val="dk1"/>
              </a:solidFill>
              <a:latin typeface="Palatino Linotype"/>
              <a:ea typeface="Palatino Linotype"/>
              <a:cs typeface="Palatino Linotype"/>
              <a:sym typeface="Palatino Linotype"/>
            </a:endParaRPr>
          </a:p>
        </p:txBody>
      </p:sp>
      <p:sp>
        <p:nvSpPr>
          <p:cNvPr id="126" name="Google Shape;126;p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Por que...?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33" name="Google Shape;133;p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Aquisição, manutenção e perda do poder</a:t>
            </a:r>
            <a:endParaRPr/>
          </a:p>
        </p:txBody>
      </p:sp>
      <p:pic>
        <p:nvPicPr>
          <p:cNvPr id="134" name="Google Shape;134;p6"/>
          <p:cNvPicPr preferRelativeResize="0"/>
          <p:nvPr/>
        </p:nvPicPr>
        <p:blipFill rotWithShape="1">
          <a:blip r:embed="rId3">
            <a:alphaModFix/>
          </a:blip>
          <a:srcRect b="0" l="0" r="0" t="0"/>
          <a:stretch/>
        </p:blipFill>
        <p:spPr>
          <a:xfrm>
            <a:off x="2011326" y="2055262"/>
            <a:ext cx="8169348" cy="4263759"/>
          </a:xfrm>
          <a:prstGeom prst="rect">
            <a:avLst/>
          </a:prstGeom>
          <a:noFill/>
          <a:ln>
            <a:noFill/>
          </a:ln>
        </p:spPr>
      </p:pic>
      <p:sp>
        <p:nvSpPr>
          <p:cNvPr id="135" name="Google Shape;135;p6"/>
          <p:cNvSpPr/>
          <p:nvPr/>
        </p:nvSpPr>
        <p:spPr>
          <a:xfrm>
            <a:off x="2129742" y="2662177"/>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6"/>
          <p:cNvSpPr/>
          <p:nvPr/>
        </p:nvSpPr>
        <p:spPr>
          <a:xfrm>
            <a:off x="8038618" y="2138814"/>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6"/>
          <p:cNvSpPr/>
          <p:nvPr/>
        </p:nvSpPr>
        <p:spPr>
          <a:xfrm>
            <a:off x="8038618" y="3973009"/>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6"/>
          <p:cNvSpPr/>
          <p:nvPr/>
        </p:nvSpPr>
        <p:spPr>
          <a:xfrm>
            <a:off x="4539206" y="3804211"/>
            <a:ext cx="814085" cy="382929"/>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6"/>
          <p:cNvSpPr/>
          <p:nvPr/>
        </p:nvSpPr>
        <p:spPr>
          <a:xfrm>
            <a:off x="5719823" y="4660739"/>
            <a:ext cx="1145893" cy="214132"/>
          </a:xfrm>
          <a:prstGeom prst="rect">
            <a:avLst/>
          </a:prstGeom>
          <a:solidFill>
            <a:srgbClr val="B83122"/>
          </a:solidFill>
          <a:ln cap="flat" cmpd="sng" w="12700">
            <a:solidFill>
              <a:srgbClr val="B8312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6"/>
          <p:cNvSpPr txBox="1"/>
          <p:nvPr/>
        </p:nvSpPr>
        <p:spPr>
          <a:xfrm>
            <a:off x="1812629" y="2570370"/>
            <a:ext cx="2030166" cy="369332"/>
          </a:xfrm>
          <a:prstGeom prst="rect">
            <a:avLst/>
          </a:prstGeom>
          <a:solidFill>
            <a:srgbClr val="65A69B"/>
          </a:solidFill>
          <a:ln cap="flat" cmpd="sng" w="9525">
            <a:solidFill>
              <a:srgbClr val="65A69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Antecedentes</a:t>
            </a:r>
            <a:endParaRPr/>
          </a:p>
        </p:txBody>
      </p:sp>
      <p:sp>
        <p:nvSpPr>
          <p:cNvPr id="141" name="Google Shape;141;p6"/>
          <p:cNvSpPr txBox="1"/>
          <p:nvPr/>
        </p:nvSpPr>
        <p:spPr>
          <a:xfrm>
            <a:off x="4375230" y="3788343"/>
            <a:ext cx="110538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rgbClr val="FFD966"/>
                </a:solidFill>
                <a:latin typeface="Calibri"/>
                <a:ea typeface="Calibri"/>
                <a:cs typeface="Calibri"/>
                <a:sym typeface="Calibri"/>
              </a:rPr>
              <a:t>Poder</a:t>
            </a:r>
            <a:endParaRPr/>
          </a:p>
        </p:txBody>
      </p:sp>
      <p:sp>
        <p:nvSpPr>
          <p:cNvPr id="142" name="Google Shape;142;p6"/>
          <p:cNvSpPr txBox="1"/>
          <p:nvPr/>
        </p:nvSpPr>
        <p:spPr>
          <a:xfrm>
            <a:off x="7963382" y="2055262"/>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Manutenção</a:t>
            </a:r>
            <a:endParaRPr/>
          </a:p>
        </p:txBody>
      </p:sp>
      <p:sp>
        <p:nvSpPr>
          <p:cNvPr id="143" name="Google Shape;143;p6"/>
          <p:cNvSpPr txBox="1"/>
          <p:nvPr/>
        </p:nvSpPr>
        <p:spPr>
          <a:xfrm>
            <a:off x="7963382" y="3895409"/>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Perda</a:t>
            </a:r>
            <a:endParaRPr/>
          </a:p>
        </p:txBody>
      </p:sp>
      <p:sp>
        <p:nvSpPr>
          <p:cNvPr id="144" name="Google Shape;144;p6"/>
          <p:cNvSpPr txBox="1"/>
          <p:nvPr/>
        </p:nvSpPr>
        <p:spPr>
          <a:xfrm>
            <a:off x="5526911" y="4473186"/>
            <a:ext cx="1927186" cy="369332"/>
          </a:xfrm>
          <a:prstGeom prst="rect">
            <a:avLst/>
          </a:prstGeom>
          <a:solidFill>
            <a:srgbClr val="B83122"/>
          </a:solidFill>
          <a:ln cap="flat" cmpd="sng" w="9525">
            <a:solidFill>
              <a:srgbClr val="B8312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Moderadores</a:t>
            </a:r>
            <a:endParaRPr/>
          </a:p>
        </p:txBody>
      </p:sp>
      <p:sp>
        <p:nvSpPr>
          <p:cNvPr id="145" name="Google Shape;145;p6"/>
          <p:cNvSpPr txBox="1"/>
          <p:nvPr/>
        </p:nvSpPr>
        <p:spPr>
          <a:xfrm>
            <a:off x="1812629" y="2899735"/>
            <a:ext cx="2037953" cy="2416046"/>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Competência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relacionadas com as tarefas do trabalho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interpessoais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Posição estrutural</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Centralidade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Preenchendo buracos estruturais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Demografia e Morfologia</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Personalidade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Traços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Estilo interpessoal</a:t>
            </a:r>
            <a:endParaRPr/>
          </a:p>
        </p:txBody>
      </p:sp>
      <p:sp>
        <p:nvSpPr>
          <p:cNvPr id="146" name="Google Shape;146;p6"/>
          <p:cNvSpPr txBox="1"/>
          <p:nvPr/>
        </p:nvSpPr>
        <p:spPr>
          <a:xfrm>
            <a:off x="7963382" y="2387048"/>
            <a:ext cx="2176042" cy="1338828"/>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Justificação do sistema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Atribuições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Fisiologia e afeto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Cognição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Comportamento</a:t>
            </a:r>
            <a:endParaRPr/>
          </a:p>
        </p:txBody>
      </p:sp>
      <p:sp>
        <p:nvSpPr>
          <p:cNvPr id="147" name="Google Shape;147;p6"/>
          <p:cNvSpPr txBox="1"/>
          <p:nvPr/>
        </p:nvSpPr>
        <p:spPr>
          <a:xfrm>
            <a:off x="7951806" y="4228409"/>
            <a:ext cx="2176042" cy="1677382"/>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Competição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grupo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indivíduo</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Transgressões éticas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em tomar decisão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nas percepção interpessoal</a:t>
            </a:r>
            <a:endParaRPr/>
          </a:p>
        </p:txBody>
      </p:sp>
      <p:sp>
        <p:nvSpPr>
          <p:cNvPr id="148" name="Google Shape;148;p6"/>
          <p:cNvSpPr txBox="1"/>
          <p:nvPr/>
        </p:nvSpPr>
        <p:spPr>
          <a:xfrm>
            <a:off x="5526911" y="4815952"/>
            <a:ext cx="1927186" cy="1508105"/>
          </a:xfrm>
          <a:prstGeom prst="rect">
            <a:avLst/>
          </a:prstGeom>
          <a:solidFill>
            <a:srgbClr val="FBC9B5"/>
          </a:solidFill>
          <a:ln cap="flat" cmpd="sng" w="9525">
            <a:solidFill>
              <a:srgbClr val="FBC9B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Características pessoais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 pessoal para obter o poder</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Disposições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Respostas às ameaças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Estabilidade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Legitimidade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Status</a:t>
            </a:r>
            <a:endParaRPr/>
          </a:p>
        </p:txBody>
      </p:sp>
      <p:sp>
        <p:nvSpPr>
          <p:cNvPr id="149" name="Google Shape;149;p6"/>
          <p:cNvSpPr/>
          <p:nvPr/>
        </p:nvSpPr>
        <p:spPr>
          <a:xfrm>
            <a:off x="1554866" y="5960179"/>
            <a:ext cx="26351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000">
                <a:solidFill>
                  <a:schemeClr val="dk1"/>
                </a:solidFill>
                <a:latin typeface="Calibri"/>
                <a:ea typeface="Calibri"/>
                <a:cs typeface="Calibri"/>
                <a:sym typeface="Calibri"/>
              </a:rPr>
              <a:t>Figura: </a:t>
            </a:r>
            <a:r>
              <a:rPr i="1" lang="pt-BR" sz="1000">
                <a:solidFill>
                  <a:schemeClr val="dk1"/>
                </a:solidFill>
                <a:latin typeface="Calibri"/>
                <a:ea typeface="Calibri"/>
                <a:cs typeface="Calibri"/>
                <a:sym typeface="Calibri"/>
              </a:rPr>
              <a:t>Perspectives on Power in Organizations </a:t>
            </a:r>
            <a:r>
              <a:rPr lang="pt-BR" sz="1000">
                <a:solidFill>
                  <a:schemeClr val="dk1"/>
                </a:solidFill>
                <a:latin typeface="Calibri"/>
                <a:ea typeface="Calibri"/>
                <a:cs typeface="Calibri"/>
                <a:sym typeface="Calibri"/>
              </a:rPr>
              <a:t>(Cameron Anderson &amp; Sebastien Brion, 2014)</a:t>
            </a:r>
            <a:endParaRPr/>
          </a:p>
        </p:txBody>
      </p:sp>
      <p:sp>
        <p:nvSpPr>
          <p:cNvPr id="150" name="Google Shape;150;p6"/>
          <p:cNvSpPr/>
          <p:nvPr/>
        </p:nvSpPr>
        <p:spPr>
          <a:xfrm>
            <a:off x="5353291" y="4392592"/>
            <a:ext cx="2170253" cy="196769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6"/>
          <p:cNvSpPr/>
          <p:nvPr/>
        </p:nvSpPr>
        <p:spPr>
          <a:xfrm>
            <a:off x="5575140" y="4028018"/>
            <a:ext cx="1751636" cy="1221101"/>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6"/>
          <p:cNvSpPr/>
          <p:nvPr/>
        </p:nvSpPr>
        <p:spPr>
          <a:xfrm>
            <a:off x="1812629" y="2917577"/>
            <a:ext cx="2030166" cy="2398204"/>
          </a:xfrm>
          <a:prstGeom prst="rect">
            <a:avLst/>
          </a:prstGeom>
          <a:solidFill>
            <a:srgbClr val="65A69B"/>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lt1"/>
                </a:solidFill>
                <a:latin typeface="Calibri"/>
                <a:ea typeface="Calibri"/>
                <a:cs typeface="Calibri"/>
                <a:sym typeface="Calibri"/>
              </a:rPr>
              <a:t>???</a:t>
            </a:r>
            <a:endParaRPr/>
          </a:p>
        </p:txBody>
      </p:sp>
      <p:sp>
        <p:nvSpPr>
          <p:cNvPr id="153" name="Google Shape;153;p6"/>
          <p:cNvSpPr/>
          <p:nvPr/>
        </p:nvSpPr>
        <p:spPr>
          <a:xfrm>
            <a:off x="7963380" y="2394176"/>
            <a:ext cx="2176041" cy="1394167"/>
          </a:xfrm>
          <a:prstGeom prst="rect">
            <a:avLst/>
          </a:prstGeom>
          <a:solidFill>
            <a:srgbClr val="65A69B"/>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lt1"/>
                </a:solidFill>
                <a:latin typeface="Calibri"/>
                <a:ea typeface="Calibri"/>
                <a:cs typeface="Calibri"/>
                <a:sym typeface="Calibri"/>
              </a:rPr>
              <a:t>???</a:t>
            </a:r>
            <a:endParaRPr/>
          </a:p>
        </p:txBody>
      </p:sp>
      <p:sp>
        <p:nvSpPr>
          <p:cNvPr id="154" name="Google Shape;154;p6"/>
          <p:cNvSpPr/>
          <p:nvPr/>
        </p:nvSpPr>
        <p:spPr>
          <a:xfrm>
            <a:off x="7951807" y="4230289"/>
            <a:ext cx="2176041" cy="1668734"/>
          </a:xfrm>
          <a:prstGeom prst="rect">
            <a:avLst/>
          </a:prstGeom>
          <a:solidFill>
            <a:srgbClr val="65A69B"/>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lt1"/>
                </a:solidFill>
                <a:latin typeface="Calibri"/>
                <a:ea typeface="Calibri"/>
                <a:cs typeface="Calibri"/>
                <a:sym typeface="Calibri"/>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61" name="Google Shape;161;p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Aquisição, manutenção e perda do poder</a:t>
            </a:r>
            <a:endParaRPr/>
          </a:p>
        </p:txBody>
      </p:sp>
      <p:pic>
        <p:nvPicPr>
          <p:cNvPr id="162" name="Google Shape;162;p7"/>
          <p:cNvPicPr preferRelativeResize="0"/>
          <p:nvPr/>
        </p:nvPicPr>
        <p:blipFill rotWithShape="1">
          <a:blip r:embed="rId3">
            <a:alphaModFix/>
          </a:blip>
          <a:srcRect b="0" l="0" r="0" t="0"/>
          <a:stretch/>
        </p:blipFill>
        <p:spPr>
          <a:xfrm>
            <a:off x="2011326" y="2055262"/>
            <a:ext cx="8169348" cy="4263759"/>
          </a:xfrm>
          <a:prstGeom prst="rect">
            <a:avLst/>
          </a:prstGeom>
          <a:noFill/>
          <a:ln>
            <a:noFill/>
          </a:ln>
        </p:spPr>
      </p:pic>
      <p:sp>
        <p:nvSpPr>
          <p:cNvPr id="163" name="Google Shape;163;p7"/>
          <p:cNvSpPr/>
          <p:nvPr/>
        </p:nvSpPr>
        <p:spPr>
          <a:xfrm>
            <a:off x="2129742" y="2662177"/>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7"/>
          <p:cNvSpPr/>
          <p:nvPr/>
        </p:nvSpPr>
        <p:spPr>
          <a:xfrm>
            <a:off x="8038618" y="2138814"/>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7"/>
          <p:cNvSpPr/>
          <p:nvPr/>
        </p:nvSpPr>
        <p:spPr>
          <a:xfrm>
            <a:off x="8038618" y="3973009"/>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7"/>
          <p:cNvSpPr/>
          <p:nvPr/>
        </p:nvSpPr>
        <p:spPr>
          <a:xfrm>
            <a:off x="4539206" y="3804211"/>
            <a:ext cx="814085" cy="382929"/>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7"/>
          <p:cNvSpPr/>
          <p:nvPr/>
        </p:nvSpPr>
        <p:spPr>
          <a:xfrm>
            <a:off x="5719823" y="4660739"/>
            <a:ext cx="1145893" cy="214132"/>
          </a:xfrm>
          <a:prstGeom prst="rect">
            <a:avLst/>
          </a:prstGeom>
          <a:solidFill>
            <a:srgbClr val="B83122"/>
          </a:solidFill>
          <a:ln cap="flat" cmpd="sng" w="12700">
            <a:solidFill>
              <a:srgbClr val="B8312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7"/>
          <p:cNvSpPr txBox="1"/>
          <p:nvPr/>
        </p:nvSpPr>
        <p:spPr>
          <a:xfrm>
            <a:off x="1812629" y="2570370"/>
            <a:ext cx="2030166" cy="369332"/>
          </a:xfrm>
          <a:prstGeom prst="rect">
            <a:avLst/>
          </a:prstGeom>
          <a:solidFill>
            <a:srgbClr val="65A69B"/>
          </a:solidFill>
          <a:ln cap="flat" cmpd="sng" w="9525">
            <a:solidFill>
              <a:srgbClr val="65A69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Antecedentes</a:t>
            </a:r>
            <a:endParaRPr/>
          </a:p>
        </p:txBody>
      </p:sp>
      <p:sp>
        <p:nvSpPr>
          <p:cNvPr id="169" name="Google Shape;169;p7"/>
          <p:cNvSpPr txBox="1"/>
          <p:nvPr/>
        </p:nvSpPr>
        <p:spPr>
          <a:xfrm>
            <a:off x="4375230" y="3788343"/>
            <a:ext cx="110538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rgbClr val="FFD966"/>
                </a:solidFill>
                <a:latin typeface="Calibri"/>
                <a:ea typeface="Calibri"/>
                <a:cs typeface="Calibri"/>
                <a:sym typeface="Calibri"/>
              </a:rPr>
              <a:t>Poder</a:t>
            </a:r>
            <a:endParaRPr/>
          </a:p>
        </p:txBody>
      </p:sp>
      <p:sp>
        <p:nvSpPr>
          <p:cNvPr id="170" name="Google Shape;170;p7"/>
          <p:cNvSpPr txBox="1"/>
          <p:nvPr/>
        </p:nvSpPr>
        <p:spPr>
          <a:xfrm>
            <a:off x="7963382" y="2055262"/>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Manutenção</a:t>
            </a:r>
            <a:endParaRPr/>
          </a:p>
        </p:txBody>
      </p:sp>
      <p:sp>
        <p:nvSpPr>
          <p:cNvPr id="171" name="Google Shape;171;p7"/>
          <p:cNvSpPr txBox="1"/>
          <p:nvPr/>
        </p:nvSpPr>
        <p:spPr>
          <a:xfrm>
            <a:off x="7963382" y="3895409"/>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Perda</a:t>
            </a:r>
            <a:endParaRPr/>
          </a:p>
        </p:txBody>
      </p:sp>
      <p:sp>
        <p:nvSpPr>
          <p:cNvPr id="172" name="Google Shape;172;p7"/>
          <p:cNvSpPr txBox="1"/>
          <p:nvPr/>
        </p:nvSpPr>
        <p:spPr>
          <a:xfrm>
            <a:off x="5526911" y="4473186"/>
            <a:ext cx="1927186" cy="369332"/>
          </a:xfrm>
          <a:prstGeom prst="rect">
            <a:avLst/>
          </a:prstGeom>
          <a:solidFill>
            <a:srgbClr val="B83122"/>
          </a:solidFill>
          <a:ln cap="flat" cmpd="sng" w="9525">
            <a:solidFill>
              <a:srgbClr val="B8312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Moderadores</a:t>
            </a:r>
            <a:endParaRPr/>
          </a:p>
        </p:txBody>
      </p:sp>
      <p:sp>
        <p:nvSpPr>
          <p:cNvPr id="173" name="Google Shape;173;p7"/>
          <p:cNvSpPr txBox="1"/>
          <p:nvPr/>
        </p:nvSpPr>
        <p:spPr>
          <a:xfrm>
            <a:off x="1812629" y="2899735"/>
            <a:ext cx="2037953" cy="2416046"/>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Competência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relacionadas com as tarefas do trabalho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interpessoais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Posição estrutural</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Centralidade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Preenchendo buracos estruturais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Demografia e Morfologia</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Personalidade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Traços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Estilo interpessoal</a:t>
            </a:r>
            <a:endParaRPr/>
          </a:p>
        </p:txBody>
      </p:sp>
      <p:sp>
        <p:nvSpPr>
          <p:cNvPr id="174" name="Google Shape;174;p7"/>
          <p:cNvSpPr txBox="1"/>
          <p:nvPr/>
        </p:nvSpPr>
        <p:spPr>
          <a:xfrm>
            <a:off x="7963382" y="2387048"/>
            <a:ext cx="2176042" cy="1338828"/>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Justificação do sistema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Atribuições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Fisiologia e afeto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Cognição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Comportamento</a:t>
            </a:r>
            <a:endParaRPr/>
          </a:p>
        </p:txBody>
      </p:sp>
      <p:sp>
        <p:nvSpPr>
          <p:cNvPr id="175" name="Google Shape;175;p7"/>
          <p:cNvSpPr txBox="1"/>
          <p:nvPr/>
        </p:nvSpPr>
        <p:spPr>
          <a:xfrm>
            <a:off x="7951806" y="4228409"/>
            <a:ext cx="2176042" cy="1677382"/>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Competição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grupo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indivíduo</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Transgressões éticas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em tomar decisão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nas percepção interpessoal</a:t>
            </a:r>
            <a:endParaRPr/>
          </a:p>
        </p:txBody>
      </p:sp>
      <p:sp>
        <p:nvSpPr>
          <p:cNvPr id="176" name="Google Shape;176;p7"/>
          <p:cNvSpPr txBox="1"/>
          <p:nvPr/>
        </p:nvSpPr>
        <p:spPr>
          <a:xfrm>
            <a:off x="5526911" y="4815952"/>
            <a:ext cx="1927186" cy="1508105"/>
          </a:xfrm>
          <a:prstGeom prst="rect">
            <a:avLst/>
          </a:prstGeom>
          <a:solidFill>
            <a:srgbClr val="FBC9B5"/>
          </a:solidFill>
          <a:ln cap="flat" cmpd="sng" w="9525">
            <a:solidFill>
              <a:srgbClr val="FBC9B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Características pessoais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 pessoal para obter o poder</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Disposições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Respostas às ameaças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Estabilidade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Legitimidade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Status</a:t>
            </a:r>
            <a:endParaRPr/>
          </a:p>
        </p:txBody>
      </p:sp>
      <p:sp>
        <p:nvSpPr>
          <p:cNvPr id="177" name="Google Shape;177;p7"/>
          <p:cNvSpPr/>
          <p:nvPr/>
        </p:nvSpPr>
        <p:spPr>
          <a:xfrm>
            <a:off x="1554866" y="5960179"/>
            <a:ext cx="26351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000">
                <a:solidFill>
                  <a:schemeClr val="dk1"/>
                </a:solidFill>
                <a:latin typeface="Calibri"/>
                <a:ea typeface="Calibri"/>
                <a:cs typeface="Calibri"/>
                <a:sym typeface="Calibri"/>
              </a:rPr>
              <a:t>Figura: </a:t>
            </a:r>
            <a:r>
              <a:rPr i="1" lang="pt-BR" sz="1000">
                <a:solidFill>
                  <a:schemeClr val="dk1"/>
                </a:solidFill>
                <a:latin typeface="Calibri"/>
                <a:ea typeface="Calibri"/>
                <a:cs typeface="Calibri"/>
                <a:sym typeface="Calibri"/>
              </a:rPr>
              <a:t>Perspectives on Power in Organizations </a:t>
            </a:r>
            <a:r>
              <a:rPr lang="pt-BR" sz="1000">
                <a:solidFill>
                  <a:schemeClr val="dk1"/>
                </a:solidFill>
                <a:latin typeface="Calibri"/>
                <a:ea typeface="Calibri"/>
                <a:cs typeface="Calibri"/>
                <a:sym typeface="Calibri"/>
              </a:rPr>
              <a:t>(Cameron Anderson &amp; Sebastien Brion, 2014)</a:t>
            </a:r>
            <a:endParaRPr/>
          </a:p>
        </p:txBody>
      </p:sp>
      <p:sp>
        <p:nvSpPr>
          <p:cNvPr id="178" name="Google Shape;178;p7"/>
          <p:cNvSpPr/>
          <p:nvPr/>
        </p:nvSpPr>
        <p:spPr>
          <a:xfrm>
            <a:off x="5353291" y="4392592"/>
            <a:ext cx="2170253" cy="196769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7"/>
          <p:cNvSpPr/>
          <p:nvPr/>
        </p:nvSpPr>
        <p:spPr>
          <a:xfrm>
            <a:off x="5575140" y="4028018"/>
            <a:ext cx="1751636" cy="1221101"/>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7"/>
          <p:cNvSpPr/>
          <p:nvPr/>
        </p:nvSpPr>
        <p:spPr>
          <a:xfrm>
            <a:off x="7963380" y="2394176"/>
            <a:ext cx="2176041" cy="1394167"/>
          </a:xfrm>
          <a:prstGeom prst="rect">
            <a:avLst/>
          </a:prstGeom>
          <a:solidFill>
            <a:srgbClr val="65A69B"/>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lt1"/>
                </a:solidFill>
                <a:latin typeface="Calibri"/>
                <a:ea typeface="Calibri"/>
                <a:cs typeface="Calibri"/>
                <a:sym typeface="Calibri"/>
              </a:rPr>
              <a:t>???</a:t>
            </a:r>
            <a:endParaRPr/>
          </a:p>
        </p:txBody>
      </p:sp>
      <p:sp>
        <p:nvSpPr>
          <p:cNvPr id="181" name="Google Shape;181;p7"/>
          <p:cNvSpPr/>
          <p:nvPr/>
        </p:nvSpPr>
        <p:spPr>
          <a:xfrm>
            <a:off x="7951807" y="4230289"/>
            <a:ext cx="2176041" cy="1668734"/>
          </a:xfrm>
          <a:prstGeom prst="rect">
            <a:avLst/>
          </a:prstGeom>
          <a:solidFill>
            <a:srgbClr val="65A69B"/>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lt1"/>
                </a:solidFill>
                <a:latin typeface="Calibri"/>
                <a:ea typeface="Calibri"/>
                <a:cs typeface="Calibri"/>
                <a:sym typeface="Calibri"/>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5bddd9407d_0_0"/>
          <p:cNvSpPr txBox="1"/>
          <p:nvPr>
            <p:ph idx="1" type="body"/>
          </p:nvPr>
        </p:nvSpPr>
        <p:spPr>
          <a:xfrm>
            <a:off x="838200" y="1841875"/>
            <a:ext cx="10515600" cy="4351200"/>
          </a:xfrm>
          <a:prstGeom prst="rect">
            <a:avLst/>
          </a:prstGeom>
        </p:spPr>
        <p:txBody>
          <a:bodyPr anchorCtr="0" anchor="t" bIns="45700" lIns="91425" spcFirstLastPara="1" rIns="91425" wrap="square" tIns="45700">
            <a:normAutofit/>
          </a:bodyPr>
          <a:lstStyle/>
          <a:p>
            <a:pPr indent="0" lvl="0" marL="0" rtl="0" algn="l">
              <a:lnSpc>
                <a:spcPct val="150000"/>
              </a:lnSpc>
              <a:spcBef>
                <a:spcPts val="1000"/>
              </a:spcBef>
              <a:spcAft>
                <a:spcPts val="0"/>
              </a:spcAft>
              <a:buNone/>
            </a:pPr>
            <a:r>
              <a:rPr lang="pt-BR">
                <a:latin typeface="Palatino Linotype"/>
                <a:ea typeface="Palatino Linotype"/>
                <a:cs typeface="Palatino Linotype"/>
                <a:sym typeface="Palatino Linotype"/>
              </a:rPr>
              <a:t>“Leadership involves persuading other people to set aside for a period of time their individual concerns and to pursue a common goal that is important for the responsibilities and welfare of a group” (Hogan et al. 1994, p. 493).</a:t>
            </a:r>
            <a:endParaRPr>
              <a:latin typeface="Palatino Linotype"/>
              <a:ea typeface="Palatino Linotype"/>
              <a:cs typeface="Palatino Linotype"/>
              <a:sym typeface="Palatino Linotype"/>
            </a:endParaRPr>
          </a:p>
        </p:txBody>
      </p:sp>
      <p:sp>
        <p:nvSpPr>
          <p:cNvPr id="188" name="Google Shape;188;g35bddd9407d_0_0"/>
          <p:cNvSpPr/>
          <p:nvPr/>
        </p:nvSpPr>
        <p:spPr>
          <a:xfrm>
            <a:off x="838197" y="1106423"/>
            <a:ext cx="10023600" cy="5844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Liderança</a:t>
            </a:r>
            <a:r>
              <a:rPr lang="pt-BR" sz="3500">
                <a:solidFill>
                  <a:schemeClr val="lt1"/>
                </a:solidFill>
                <a:latin typeface="Palatino Linotype"/>
                <a:ea typeface="Palatino Linotype"/>
                <a:cs typeface="Palatino Linotype"/>
                <a:sym typeface="Palatino Linotype"/>
              </a:rPr>
              <a:t> x Poder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195" name="Google Shape;195;p8"/>
          <p:cNvSpPr txBox="1"/>
          <p:nvPr/>
        </p:nvSpPr>
        <p:spPr>
          <a:xfrm>
            <a:off x="1018572" y="2013994"/>
            <a:ext cx="10023676"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Competência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relacionadas com as tarefas do trabalho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interpessoais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Posição estrutural</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Centralidade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Conectando buracos estruturais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Demografia e Morfologia</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Personalidade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Motivação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Traços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Estilo interpessoal</a:t>
            </a:r>
            <a:endParaRPr/>
          </a:p>
        </p:txBody>
      </p:sp>
      <p:sp>
        <p:nvSpPr>
          <p:cNvPr id="196" name="Google Shape;196;p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Antecedentes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03" name="Google Shape;203;p9"/>
          <p:cNvSpPr txBox="1"/>
          <p:nvPr/>
        </p:nvSpPr>
        <p:spPr>
          <a:xfrm>
            <a:off x="1018572" y="2013994"/>
            <a:ext cx="10023676"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Competência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relacionadas com as tarefas do trabalho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interpessoais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Posição estrutural</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Centralidade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Conectando buracos estruturais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Demografia e Morfologia</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Personalidade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Motivação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Traços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Estilo interpessoal</a:t>
            </a:r>
            <a:endParaRPr/>
          </a:p>
        </p:txBody>
      </p:sp>
      <p:sp>
        <p:nvSpPr>
          <p:cNvPr id="204" name="Google Shape;204;p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Antecedentes</a:t>
            </a:r>
            <a:endParaRPr/>
          </a:p>
        </p:txBody>
      </p:sp>
      <p:sp>
        <p:nvSpPr>
          <p:cNvPr id="205" name="Google Shape;205;p9"/>
          <p:cNvSpPr/>
          <p:nvPr/>
        </p:nvSpPr>
        <p:spPr>
          <a:xfrm>
            <a:off x="4762975" y="2694675"/>
            <a:ext cx="6986700" cy="4163400"/>
          </a:xfrm>
          <a:prstGeom prst="rect">
            <a:avLst/>
          </a:prstGeom>
          <a:solidFill>
            <a:srgbClr val="8FFBBD"/>
          </a:solidFill>
          <a:ln>
            <a:noFill/>
          </a:ln>
        </p:spPr>
        <p:txBody>
          <a:bodyPr anchorCtr="0" anchor="t" bIns="45700" lIns="91425" spcFirstLastPara="1" rIns="91425" wrap="square" tIns="45700">
            <a:spAutoFit/>
          </a:bodyPr>
          <a:lstStyle/>
          <a:p>
            <a:pPr indent="0" lvl="0" marL="0" marR="0" rtl="0" algn="l">
              <a:lnSpc>
                <a:spcPct val="173307"/>
              </a:lnSpc>
              <a:spcBef>
                <a:spcPts val="0"/>
              </a:spcBef>
              <a:spcAft>
                <a:spcPts val="0"/>
              </a:spcAft>
              <a:buNone/>
            </a:pPr>
            <a:r>
              <a:rPr b="1" lang="pt-BR" sz="1300">
                <a:solidFill>
                  <a:srgbClr val="000000"/>
                </a:solidFill>
                <a:latin typeface="Palatino Linotype"/>
                <a:ea typeface="Palatino Linotype"/>
                <a:cs typeface="Palatino Linotype"/>
                <a:sym typeface="Palatino Linotype"/>
              </a:rPr>
              <a:t>Facilita o acesso ao </a:t>
            </a:r>
            <a:r>
              <a:rPr b="1" lang="pt-BR" sz="1300">
                <a:solidFill>
                  <a:srgbClr val="0070C0"/>
                </a:solidFill>
                <a:latin typeface="Palatino Linotype"/>
                <a:ea typeface="Palatino Linotype"/>
                <a:cs typeface="Palatino Linotype"/>
                <a:sym typeface="Palatino Linotype"/>
              </a:rPr>
              <a:t>poder de legitimidade</a:t>
            </a:r>
            <a:r>
              <a:rPr b="1" lang="pt-BR" sz="1300">
                <a:solidFill>
                  <a:srgbClr val="000000"/>
                </a:solidFill>
                <a:latin typeface="Palatino Linotype"/>
                <a:ea typeface="Palatino Linotype"/>
                <a:cs typeface="Palatino Linotype"/>
                <a:sym typeface="Palatino Linotype"/>
              </a:rPr>
              <a:t>:</a:t>
            </a:r>
            <a:endParaRPr/>
          </a:p>
          <a:p>
            <a:pPr indent="-374650" lvl="0" marL="342900" marR="0" rtl="0" algn="l">
              <a:lnSpc>
                <a:spcPct val="100000"/>
              </a:lnSpc>
              <a:spcBef>
                <a:spcPts val="0"/>
              </a:spcBef>
              <a:spcAft>
                <a:spcPts val="0"/>
              </a:spcAft>
              <a:buClr>
                <a:srgbClr val="000000"/>
              </a:buClr>
              <a:buSzPts val="1800"/>
              <a:buFont typeface="Palatino Linotype"/>
              <a:buAutoNum type="arabicPeriod"/>
            </a:pPr>
            <a:r>
              <a:rPr lang="pt-BR" sz="1800">
                <a:solidFill>
                  <a:srgbClr val="000000"/>
                </a:solidFill>
                <a:latin typeface="Palatino Linotype"/>
                <a:ea typeface="Palatino Linotype"/>
                <a:cs typeface="Palatino Linotype"/>
                <a:sym typeface="Palatino Linotype"/>
              </a:rPr>
              <a:t>Uma pessoa que é percebida pelo grupo como mais competente tende a ser eleita pelo próprio grupo como o líder.</a:t>
            </a:r>
            <a:endParaRPr sz="1900"/>
          </a:p>
          <a:p>
            <a:pPr indent="-374650" lvl="0" marL="342900" marR="0" rtl="0" algn="l">
              <a:lnSpc>
                <a:spcPct val="100000"/>
              </a:lnSpc>
              <a:spcBef>
                <a:spcPts val="0"/>
              </a:spcBef>
              <a:spcAft>
                <a:spcPts val="0"/>
              </a:spcAft>
              <a:buClr>
                <a:srgbClr val="000000"/>
              </a:buClr>
              <a:buSzPts val="1800"/>
              <a:buFont typeface="Palatino Linotype"/>
              <a:buAutoNum type="arabicPeriod"/>
            </a:pPr>
            <a:r>
              <a:rPr lang="pt-BR" sz="1800">
                <a:solidFill>
                  <a:srgbClr val="000000"/>
                </a:solidFill>
                <a:latin typeface="Palatino Linotype"/>
                <a:ea typeface="Palatino Linotype"/>
                <a:cs typeface="Palatino Linotype"/>
                <a:sym typeface="Palatino Linotype"/>
              </a:rPr>
              <a:t>Uma pessoa competente tende a ser escolhida, pelos indivíduos ou conselhos superiores de uma organização, para ocupar cargos de responsabilidade</a:t>
            </a:r>
            <a:endParaRPr sz="1900"/>
          </a:p>
          <a:p>
            <a:pPr indent="0" lvl="0" marL="0" marR="0" rtl="0" algn="l">
              <a:lnSpc>
                <a:spcPct val="100000"/>
              </a:lnSpc>
              <a:spcBef>
                <a:spcPts val="0"/>
              </a:spcBef>
              <a:spcAft>
                <a:spcPts val="0"/>
              </a:spcAft>
              <a:buNone/>
            </a:pPr>
            <a:r>
              <a:rPr b="1" lang="pt-BR" sz="1800">
                <a:solidFill>
                  <a:srgbClr val="000000"/>
                </a:solidFill>
                <a:latin typeface="Palatino Linotype"/>
                <a:ea typeface="Palatino Linotype"/>
                <a:cs typeface="Palatino Linotype"/>
                <a:sym typeface="Palatino Linotype"/>
              </a:rPr>
              <a:t>Uma pessoa pode apresentar competências de duas naturezas diferentes:</a:t>
            </a:r>
            <a:endParaRPr sz="1900"/>
          </a:p>
          <a:p>
            <a:pPr indent="-374650" lvl="0" marL="342900" marR="0" rtl="0" algn="l">
              <a:lnSpc>
                <a:spcPct val="100000"/>
              </a:lnSpc>
              <a:spcBef>
                <a:spcPts val="0"/>
              </a:spcBef>
              <a:spcAft>
                <a:spcPts val="0"/>
              </a:spcAft>
              <a:buClr>
                <a:srgbClr val="000000"/>
              </a:buClr>
              <a:buSzPts val="1800"/>
              <a:buFont typeface="Palatino Linotype"/>
              <a:buAutoNum type="arabicPeriod"/>
            </a:pPr>
            <a:r>
              <a:rPr lang="pt-BR" sz="1800">
                <a:solidFill>
                  <a:srgbClr val="000000"/>
                </a:solidFill>
                <a:latin typeface="Palatino Linotype"/>
                <a:ea typeface="Palatino Linotype"/>
                <a:cs typeface="Palatino Linotype"/>
                <a:sym typeface="Palatino Linotype"/>
              </a:rPr>
              <a:t>Ser muito boa em executar tarefas relacionadas com as atividades de trabalho (problemas técnicos e operacionais)</a:t>
            </a:r>
            <a:endParaRPr sz="1900"/>
          </a:p>
          <a:p>
            <a:pPr indent="-374650" lvl="0" marL="342900" marR="0" rtl="0" algn="l">
              <a:lnSpc>
                <a:spcPct val="100000"/>
              </a:lnSpc>
              <a:spcBef>
                <a:spcPts val="0"/>
              </a:spcBef>
              <a:spcAft>
                <a:spcPts val="0"/>
              </a:spcAft>
              <a:buClr>
                <a:srgbClr val="000000"/>
              </a:buClr>
              <a:buSzPts val="1800"/>
              <a:buFont typeface="Palatino Linotype"/>
              <a:buAutoNum type="arabicPeriod"/>
            </a:pPr>
            <a:r>
              <a:rPr lang="pt-BR" sz="1800">
                <a:solidFill>
                  <a:srgbClr val="000000"/>
                </a:solidFill>
                <a:latin typeface="Palatino Linotype"/>
                <a:ea typeface="Palatino Linotype"/>
                <a:cs typeface="Palatino Linotype"/>
                <a:sym typeface="Palatino Linotype"/>
              </a:rPr>
              <a:t>Ser muito boa em lidar com as pessoas (colegas de trabalho, clientes, parceiros, etc). Liderança, empatia, comunicação, inteligência emocional.</a:t>
            </a:r>
            <a:endParaRPr sz="1900"/>
          </a:p>
        </p:txBody>
      </p:sp>
      <p:cxnSp>
        <p:nvCxnSpPr>
          <p:cNvPr id="206" name="Google Shape;206;p9"/>
          <p:cNvCxnSpPr/>
          <p:nvPr/>
        </p:nvCxnSpPr>
        <p:spPr>
          <a:xfrm>
            <a:off x="2586942" y="2228127"/>
            <a:ext cx="2176041" cy="466536"/>
          </a:xfrm>
          <a:prstGeom prst="straightConnector1">
            <a:avLst/>
          </a:prstGeom>
          <a:noFill/>
          <a:ln cap="flat" cmpd="sng" w="19050">
            <a:solidFill>
              <a:srgbClr val="65A69B"/>
            </a:solidFill>
            <a:prstDash val="solid"/>
            <a:miter lim="8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13" name="Google Shape;213;p10"/>
          <p:cNvSpPr txBox="1"/>
          <p:nvPr/>
        </p:nvSpPr>
        <p:spPr>
          <a:xfrm>
            <a:off x="1018572" y="2013994"/>
            <a:ext cx="10023676"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Competência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relacionadas com as tarefas do trabalho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interpessoais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Posição estrutural</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Centralidade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Conectando buracos estruturais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Demografia e Morfologia</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Personalidade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Motivação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Traços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Estilo interpessoal</a:t>
            </a:r>
            <a:endParaRPr/>
          </a:p>
        </p:txBody>
      </p:sp>
      <p:sp>
        <p:nvSpPr>
          <p:cNvPr id="214" name="Google Shape;214;p1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Antecedentes</a:t>
            </a:r>
            <a:endParaRPr/>
          </a:p>
        </p:txBody>
      </p:sp>
      <p:cxnSp>
        <p:nvCxnSpPr>
          <p:cNvPr id="215" name="Google Shape;215;p10"/>
          <p:cNvCxnSpPr/>
          <p:nvPr/>
        </p:nvCxnSpPr>
        <p:spPr>
          <a:xfrm flipH="1" rot="10800000">
            <a:off x="2974694" y="3304572"/>
            <a:ext cx="2332298" cy="5788"/>
          </a:xfrm>
          <a:prstGeom prst="straightConnector1">
            <a:avLst/>
          </a:prstGeom>
          <a:noFill/>
          <a:ln cap="flat" cmpd="sng" w="19050">
            <a:solidFill>
              <a:srgbClr val="65A69B"/>
            </a:solidFill>
            <a:prstDash val="solid"/>
            <a:miter lim="800000"/>
            <a:headEnd len="sm" w="sm" type="none"/>
            <a:tailEnd len="med" w="med" type="triangle"/>
          </a:ln>
        </p:spPr>
      </p:cxnSp>
      <p:sp>
        <p:nvSpPr>
          <p:cNvPr id="216" name="Google Shape;216;p10"/>
          <p:cNvSpPr/>
          <p:nvPr/>
        </p:nvSpPr>
        <p:spPr>
          <a:xfrm>
            <a:off x="5374511" y="2755036"/>
            <a:ext cx="5667737" cy="3552581"/>
          </a:xfrm>
          <a:prstGeom prst="rect">
            <a:avLst/>
          </a:prstGeom>
          <a:solidFill>
            <a:srgbClr val="8FFBBD"/>
          </a:solidFill>
          <a:ln cap="flat" cmpd="sng" w="12700">
            <a:solidFill>
              <a:srgbClr val="8FFBB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 name="Google Shape;217;p10"/>
          <p:cNvSpPr/>
          <p:nvPr/>
        </p:nvSpPr>
        <p:spPr>
          <a:xfrm>
            <a:off x="5955175" y="3258273"/>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 name="Google Shape;218;p10"/>
          <p:cNvSpPr/>
          <p:nvPr/>
        </p:nvSpPr>
        <p:spPr>
          <a:xfrm>
            <a:off x="5755512" y="3856298"/>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p10"/>
          <p:cNvSpPr/>
          <p:nvPr/>
        </p:nvSpPr>
        <p:spPr>
          <a:xfrm>
            <a:off x="6735502" y="3400164"/>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 name="Google Shape;220;p10"/>
          <p:cNvSpPr/>
          <p:nvPr/>
        </p:nvSpPr>
        <p:spPr>
          <a:xfrm>
            <a:off x="6373312" y="4141206"/>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 name="Google Shape;221;p10"/>
          <p:cNvSpPr/>
          <p:nvPr/>
        </p:nvSpPr>
        <p:spPr>
          <a:xfrm>
            <a:off x="6373312" y="5337858"/>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10"/>
          <p:cNvSpPr/>
          <p:nvPr/>
        </p:nvSpPr>
        <p:spPr>
          <a:xfrm>
            <a:off x="6840157" y="5081911"/>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0"/>
          <p:cNvSpPr/>
          <p:nvPr/>
        </p:nvSpPr>
        <p:spPr>
          <a:xfrm>
            <a:off x="7347034" y="5422333"/>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0"/>
          <p:cNvSpPr/>
          <p:nvPr/>
        </p:nvSpPr>
        <p:spPr>
          <a:xfrm>
            <a:off x="6824966" y="5755844"/>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10"/>
          <p:cNvSpPr/>
          <p:nvPr/>
        </p:nvSpPr>
        <p:spPr>
          <a:xfrm>
            <a:off x="8572982" y="3657599"/>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0"/>
          <p:cNvSpPr/>
          <p:nvPr/>
        </p:nvSpPr>
        <p:spPr>
          <a:xfrm>
            <a:off x="8572982" y="4389567"/>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10"/>
          <p:cNvSpPr/>
          <p:nvPr/>
        </p:nvSpPr>
        <p:spPr>
          <a:xfrm>
            <a:off x="9408289" y="3727018"/>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 name="Google Shape;228;p10"/>
          <p:cNvSpPr/>
          <p:nvPr/>
        </p:nvSpPr>
        <p:spPr>
          <a:xfrm>
            <a:off x="9208626" y="4189904"/>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 name="Google Shape;229;p10"/>
          <p:cNvSpPr/>
          <p:nvPr/>
        </p:nvSpPr>
        <p:spPr>
          <a:xfrm>
            <a:off x="9039827" y="4712873"/>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10"/>
          <p:cNvSpPr/>
          <p:nvPr/>
        </p:nvSpPr>
        <p:spPr>
          <a:xfrm>
            <a:off x="10199226" y="5337858"/>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10"/>
          <p:cNvSpPr/>
          <p:nvPr/>
        </p:nvSpPr>
        <p:spPr>
          <a:xfrm>
            <a:off x="9696209" y="5546976"/>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10"/>
          <p:cNvSpPr/>
          <p:nvPr/>
        </p:nvSpPr>
        <p:spPr>
          <a:xfrm>
            <a:off x="10203085" y="5908213"/>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 name="Google Shape;233;p10"/>
          <p:cNvSpPr/>
          <p:nvPr/>
        </p:nvSpPr>
        <p:spPr>
          <a:xfrm>
            <a:off x="9239490" y="5908213"/>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4" name="Google Shape;234;p10"/>
          <p:cNvCxnSpPr/>
          <p:nvPr/>
        </p:nvCxnSpPr>
        <p:spPr>
          <a:xfrm>
            <a:off x="6154838" y="3457936"/>
            <a:ext cx="780327" cy="141891"/>
          </a:xfrm>
          <a:prstGeom prst="straightConnector1">
            <a:avLst/>
          </a:prstGeom>
          <a:noFill/>
          <a:ln cap="flat" cmpd="sng" w="28575">
            <a:solidFill>
              <a:schemeClr val="dk1"/>
            </a:solidFill>
            <a:prstDash val="solid"/>
            <a:miter lim="800000"/>
            <a:headEnd len="sm" w="sm" type="none"/>
            <a:tailEnd len="sm" w="sm" type="none"/>
          </a:ln>
        </p:spPr>
      </p:cxnSp>
      <p:cxnSp>
        <p:nvCxnSpPr>
          <p:cNvPr id="235" name="Google Shape;235;p10"/>
          <p:cNvCxnSpPr/>
          <p:nvPr/>
        </p:nvCxnSpPr>
        <p:spPr>
          <a:xfrm flipH="1">
            <a:off x="5942394" y="3457936"/>
            <a:ext cx="239934" cy="616161"/>
          </a:xfrm>
          <a:prstGeom prst="straightConnector1">
            <a:avLst/>
          </a:prstGeom>
          <a:noFill/>
          <a:ln cap="flat" cmpd="sng" w="28575">
            <a:solidFill>
              <a:schemeClr val="dk1"/>
            </a:solidFill>
            <a:prstDash val="solid"/>
            <a:miter lim="800000"/>
            <a:headEnd len="sm" w="sm" type="none"/>
            <a:tailEnd len="sm" w="sm" type="none"/>
          </a:ln>
        </p:spPr>
      </p:cxnSp>
      <p:cxnSp>
        <p:nvCxnSpPr>
          <p:cNvPr id="236" name="Google Shape;236;p10"/>
          <p:cNvCxnSpPr/>
          <p:nvPr/>
        </p:nvCxnSpPr>
        <p:spPr>
          <a:xfrm>
            <a:off x="6195109" y="3528881"/>
            <a:ext cx="432241" cy="811988"/>
          </a:xfrm>
          <a:prstGeom prst="straightConnector1">
            <a:avLst/>
          </a:prstGeom>
          <a:noFill/>
          <a:ln cap="flat" cmpd="sng" w="28575">
            <a:solidFill>
              <a:schemeClr val="dk1"/>
            </a:solidFill>
            <a:prstDash val="solid"/>
            <a:miter lim="800000"/>
            <a:headEnd len="sm" w="sm" type="none"/>
            <a:tailEnd len="sm" w="sm" type="none"/>
          </a:ln>
        </p:spPr>
      </p:cxnSp>
      <p:cxnSp>
        <p:nvCxnSpPr>
          <p:cNvPr id="237" name="Google Shape;237;p10"/>
          <p:cNvCxnSpPr/>
          <p:nvPr/>
        </p:nvCxnSpPr>
        <p:spPr>
          <a:xfrm>
            <a:off x="5942394" y="4055961"/>
            <a:ext cx="648425" cy="304538"/>
          </a:xfrm>
          <a:prstGeom prst="straightConnector1">
            <a:avLst/>
          </a:prstGeom>
          <a:noFill/>
          <a:ln cap="flat" cmpd="sng" w="28575">
            <a:solidFill>
              <a:schemeClr val="dk1"/>
            </a:solidFill>
            <a:prstDash val="solid"/>
            <a:miter lim="800000"/>
            <a:headEnd len="sm" w="sm" type="none"/>
            <a:tailEnd len="sm" w="sm" type="none"/>
          </a:ln>
        </p:spPr>
      </p:cxnSp>
      <p:cxnSp>
        <p:nvCxnSpPr>
          <p:cNvPr id="238" name="Google Shape;238;p10"/>
          <p:cNvCxnSpPr/>
          <p:nvPr/>
        </p:nvCxnSpPr>
        <p:spPr>
          <a:xfrm flipH="1" rot="10800000">
            <a:off x="6590819" y="3614310"/>
            <a:ext cx="365444" cy="726559"/>
          </a:xfrm>
          <a:prstGeom prst="straightConnector1">
            <a:avLst/>
          </a:prstGeom>
          <a:noFill/>
          <a:ln cap="flat" cmpd="sng" w="28575">
            <a:solidFill>
              <a:schemeClr val="dk1"/>
            </a:solidFill>
            <a:prstDash val="solid"/>
            <a:miter lim="800000"/>
            <a:headEnd len="sm" w="sm" type="none"/>
            <a:tailEnd len="sm" w="sm" type="none"/>
          </a:ln>
        </p:spPr>
      </p:cxnSp>
      <p:cxnSp>
        <p:nvCxnSpPr>
          <p:cNvPr id="239" name="Google Shape;239;p10"/>
          <p:cNvCxnSpPr/>
          <p:nvPr/>
        </p:nvCxnSpPr>
        <p:spPr>
          <a:xfrm flipH="1" rot="10800000">
            <a:off x="6521369" y="5014553"/>
            <a:ext cx="985296" cy="494926"/>
          </a:xfrm>
          <a:prstGeom prst="straightConnector1">
            <a:avLst/>
          </a:prstGeom>
          <a:noFill/>
          <a:ln cap="flat" cmpd="sng" w="28575">
            <a:solidFill>
              <a:schemeClr val="dk1"/>
            </a:solidFill>
            <a:prstDash val="solid"/>
            <a:miter lim="800000"/>
            <a:headEnd len="sm" w="sm" type="none"/>
            <a:tailEnd len="sm" w="sm" type="none"/>
          </a:ln>
        </p:spPr>
      </p:cxnSp>
      <p:cxnSp>
        <p:nvCxnSpPr>
          <p:cNvPr id="240" name="Google Shape;240;p10"/>
          <p:cNvCxnSpPr/>
          <p:nvPr/>
        </p:nvCxnSpPr>
        <p:spPr>
          <a:xfrm flipH="1">
            <a:off x="7476282" y="5080219"/>
            <a:ext cx="29902" cy="536905"/>
          </a:xfrm>
          <a:prstGeom prst="straightConnector1">
            <a:avLst/>
          </a:prstGeom>
          <a:noFill/>
          <a:ln cap="flat" cmpd="sng" w="28575">
            <a:solidFill>
              <a:schemeClr val="dk1"/>
            </a:solidFill>
            <a:prstDash val="solid"/>
            <a:miter lim="800000"/>
            <a:headEnd len="sm" w="sm" type="none"/>
            <a:tailEnd len="sm" w="sm" type="none"/>
          </a:ln>
        </p:spPr>
      </p:cxnSp>
      <p:cxnSp>
        <p:nvCxnSpPr>
          <p:cNvPr id="241" name="Google Shape;241;p10"/>
          <p:cNvCxnSpPr/>
          <p:nvPr/>
        </p:nvCxnSpPr>
        <p:spPr>
          <a:xfrm flipH="1" rot="10800000">
            <a:off x="7063331" y="5603397"/>
            <a:ext cx="431458" cy="304816"/>
          </a:xfrm>
          <a:prstGeom prst="straightConnector1">
            <a:avLst/>
          </a:prstGeom>
          <a:noFill/>
          <a:ln cap="flat" cmpd="sng" w="28575">
            <a:solidFill>
              <a:schemeClr val="dk1"/>
            </a:solidFill>
            <a:prstDash val="solid"/>
            <a:miter lim="800000"/>
            <a:headEnd len="sm" w="sm" type="none"/>
            <a:tailEnd len="sm" w="sm" type="none"/>
          </a:ln>
        </p:spPr>
      </p:cxnSp>
      <p:cxnSp>
        <p:nvCxnSpPr>
          <p:cNvPr id="242" name="Google Shape;242;p10"/>
          <p:cNvCxnSpPr/>
          <p:nvPr/>
        </p:nvCxnSpPr>
        <p:spPr>
          <a:xfrm>
            <a:off x="6572975" y="5476583"/>
            <a:ext cx="466845" cy="431630"/>
          </a:xfrm>
          <a:prstGeom prst="straightConnector1">
            <a:avLst/>
          </a:prstGeom>
          <a:noFill/>
          <a:ln cap="flat" cmpd="sng" w="28575">
            <a:solidFill>
              <a:schemeClr val="dk1"/>
            </a:solidFill>
            <a:prstDash val="solid"/>
            <a:miter lim="800000"/>
            <a:headEnd len="sm" w="sm" type="none"/>
            <a:tailEnd len="sm" w="sm" type="none"/>
          </a:ln>
        </p:spPr>
      </p:cxnSp>
      <p:cxnSp>
        <p:nvCxnSpPr>
          <p:cNvPr id="243" name="Google Shape;243;p10"/>
          <p:cNvCxnSpPr/>
          <p:nvPr/>
        </p:nvCxnSpPr>
        <p:spPr>
          <a:xfrm>
            <a:off x="7039820" y="5305725"/>
            <a:ext cx="393781" cy="338996"/>
          </a:xfrm>
          <a:prstGeom prst="straightConnector1">
            <a:avLst/>
          </a:prstGeom>
          <a:noFill/>
          <a:ln cap="flat" cmpd="sng" w="28575">
            <a:solidFill>
              <a:schemeClr val="dk1"/>
            </a:solidFill>
            <a:prstDash val="solid"/>
            <a:miter lim="800000"/>
            <a:headEnd len="sm" w="sm" type="none"/>
            <a:tailEnd len="sm" w="sm" type="none"/>
          </a:ln>
        </p:spPr>
      </p:cxnSp>
      <p:cxnSp>
        <p:nvCxnSpPr>
          <p:cNvPr id="244" name="Google Shape;244;p10"/>
          <p:cNvCxnSpPr/>
          <p:nvPr/>
        </p:nvCxnSpPr>
        <p:spPr>
          <a:xfrm flipH="1" rot="10800000">
            <a:off x="7039820" y="5080219"/>
            <a:ext cx="423683" cy="855674"/>
          </a:xfrm>
          <a:prstGeom prst="straightConnector1">
            <a:avLst/>
          </a:prstGeom>
          <a:noFill/>
          <a:ln cap="flat" cmpd="sng" w="28575">
            <a:solidFill>
              <a:schemeClr val="dk1"/>
            </a:solidFill>
            <a:prstDash val="solid"/>
            <a:miter lim="800000"/>
            <a:headEnd len="sm" w="sm" type="none"/>
            <a:tailEnd len="sm" w="sm" type="none"/>
          </a:ln>
        </p:spPr>
      </p:cxnSp>
      <p:cxnSp>
        <p:nvCxnSpPr>
          <p:cNvPr id="245" name="Google Shape;245;p10"/>
          <p:cNvCxnSpPr/>
          <p:nvPr/>
        </p:nvCxnSpPr>
        <p:spPr>
          <a:xfrm>
            <a:off x="8698375" y="3865157"/>
            <a:ext cx="53172" cy="711262"/>
          </a:xfrm>
          <a:prstGeom prst="straightConnector1">
            <a:avLst/>
          </a:prstGeom>
          <a:noFill/>
          <a:ln cap="flat" cmpd="sng" w="28575">
            <a:solidFill>
              <a:schemeClr val="dk1"/>
            </a:solidFill>
            <a:prstDash val="solid"/>
            <a:miter lim="800000"/>
            <a:headEnd len="sm" w="sm" type="none"/>
            <a:tailEnd len="sm" w="sm" type="none"/>
          </a:ln>
        </p:spPr>
      </p:cxnSp>
      <p:cxnSp>
        <p:nvCxnSpPr>
          <p:cNvPr id="246" name="Google Shape;246;p10"/>
          <p:cNvCxnSpPr/>
          <p:nvPr/>
        </p:nvCxnSpPr>
        <p:spPr>
          <a:xfrm flipH="1">
            <a:off x="9239490" y="3928830"/>
            <a:ext cx="308660" cy="993528"/>
          </a:xfrm>
          <a:prstGeom prst="straightConnector1">
            <a:avLst/>
          </a:prstGeom>
          <a:noFill/>
          <a:ln cap="flat" cmpd="sng" w="28575">
            <a:solidFill>
              <a:schemeClr val="dk1"/>
            </a:solidFill>
            <a:prstDash val="solid"/>
            <a:miter lim="800000"/>
            <a:headEnd len="sm" w="sm" type="none"/>
            <a:tailEnd len="sm" w="sm" type="none"/>
          </a:ln>
        </p:spPr>
      </p:cxnSp>
      <p:cxnSp>
        <p:nvCxnSpPr>
          <p:cNvPr id="247" name="Google Shape;247;p10"/>
          <p:cNvCxnSpPr/>
          <p:nvPr/>
        </p:nvCxnSpPr>
        <p:spPr>
          <a:xfrm>
            <a:off x="8819066" y="3872283"/>
            <a:ext cx="574754" cy="507948"/>
          </a:xfrm>
          <a:prstGeom prst="straightConnector1">
            <a:avLst/>
          </a:prstGeom>
          <a:noFill/>
          <a:ln cap="flat" cmpd="sng" w="28575">
            <a:solidFill>
              <a:schemeClr val="dk1"/>
            </a:solidFill>
            <a:prstDash val="solid"/>
            <a:miter lim="800000"/>
            <a:headEnd len="sm" w="sm" type="none"/>
            <a:tailEnd len="sm" w="sm" type="none"/>
          </a:ln>
        </p:spPr>
      </p:cxnSp>
      <p:cxnSp>
        <p:nvCxnSpPr>
          <p:cNvPr id="248" name="Google Shape;248;p10"/>
          <p:cNvCxnSpPr/>
          <p:nvPr/>
        </p:nvCxnSpPr>
        <p:spPr>
          <a:xfrm rot="10800000">
            <a:off x="8838296" y="4598566"/>
            <a:ext cx="401195" cy="313971"/>
          </a:xfrm>
          <a:prstGeom prst="straightConnector1">
            <a:avLst/>
          </a:prstGeom>
          <a:noFill/>
          <a:ln cap="flat" cmpd="sng" w="28575">
            <a:solidFill>
              <a:schemeClr val="dk1"/>
            </a:solidFill>
            <a:prstDash val="solid"/>
            <a:miter lim="800000"/>
            <a:headEnd len="sm" w="sm" type="none"/>
            <a:tailEnd len="sm" w="sm" type="none"/>
          </a:ln>
        </p:spPr>
      </p:cxnSp>
      <p:cxnSp>
        <p:nvCxnSpPr>
          <p:cNvPr id="249" name="Google Shape;249;p10"/>
          <p:cNvCxnSpPr/>
          <p:nvPr/>
        </p:nvCxnSpPr>
        <p:spPr>
          <a:xfrm>
            <a:off x="8795251" y="3856298"/>
            <a:ext cx="820418" cy="92341"/>
          </a:xfrm>
          <a:prstGeom prst="straightConnector1">
            <a:avLst/>
          </a:prstGeom>
          <a:noFill/>
          <a:ln cap="flat" cmpd="sng" w="28575">
            <a:solidFill>
              <a:schemeClr val="dk1"/>
            </a:solidFill>
            <a:prstDash val="solid"/>
            <a:miter lim="800000"/>
            <a:headEnd len="sm" w="sm" type="none"/>
            <a:tailEnd len="sm" w="sm" type="none"/>
          </a:ln>
        </p:spPr>
      </p:cxnSp>
      <p:cxnSp>
        <p:nvCxnSpPr>
          <p:cNvPr id="250" name="Google Shape;250;p10"/>
          <p:cNvCxnSpPr/>
          <p:nvPr/>
        </p:nvCxnSpPr>
        <p:spPr>
          <a:xfrm flipH="1">
            <a:off x="9440661" y="5682824"/>
            <a:ext cx="491383" cy="474612"/>
          </a:xfrm>
          <a:prstGeom prst="straightConnector1">
            <a:avLst/>
          </a:prstGeom>
          <a:noFill/>
          <a:ln cap="flat" cmpd="sng" w="28575">
            <a:solidFill>
              <a:schemeClr val="dk1"/>
            </a:solidFill>
            <a:prstDash val="solid"/>
            <a:miter lim="800000"/>
            <a:headEnd len="sm" w="sm" type="none"/>
            <a:tailEnd len="sm" w="sm" type="none"/>
          </a:ln>
        </p:spPr>
      </p:cxnSp>
      <p:cxnSp>
        <p:nvCxnSpPr>
          <p:cNvPr id="251" name="Google Shape;251;p10"/>
          <p:cNvCxnSpPr/>
          <p:nvPr/>
        </p:nvCxnSpPr>
        <p:spPr>
          <a:xfrm>
            <a:off x="10368267" y="5529935"/>
            <a:ext cx="34481" cy="546746"/>
          </a:xfrm>
          <a:prstGeom prst="straightConnector1">
            <a:avLst/>
          </a:prstGeom>
          <a:noFill/>
          <a:ln cap="flat" cmpd="sng" w="28575">
            <a:solidFill>
              <a:schemeClr val="dk1"/>
            </a:solidFill>
            <a:prstDash val="solid"/>
            <a:miter lim="800000"/>
            <a:headEnd len="sm" w="sm" type="none"/>
            <a:tailEnd len="sm" w="sm" type="none"/>
          </a:ln>
        </p:spPr>
      </p:cxnSp>
      <p:cxnSp>
        <p:nvCxnSpPr>
          <p:cNvPr id="252" name="Google Shape;252;p10"/>
          <p:cNvCxnSpPr/>
          <p:nvPr/>
        </p:nvCxnSpPr>
        <p:spPr>
          <a:xfrm flipH="1">
            <a:off x="9883816" y="5546977"/>
            <a:ext cx="501691" cy="208828"/>
          </a:xfrm>
          <a:prstGeom prst="straightConnector1">
            <a:avLst/>
          </a:prstGeom>
          <a:noFill/>
          <a:ln cap="flat" cmpd="sng" w="28575">
            <a:solidFill>
              <a:schemeClr val="dk1"/>
            </a:solidFill>
            <a:prstDash val="solid"/>
            <a:miter lim="800000"/>
            <a:headEnd len="sm" w="sm" type="none"/>
            <a:tailEnd len="sm" w="sm" type="none"/>
          </a:ln>
        </p:spPr>
      </p:cxnSp>
      <p:cxnSp>
        <p:nvCxnSpPr>
          <p:cNvPr id="253" name="Google Shape;253;p10"/>
          <p:cNvCxnSpPr/>
          <p:nvPr/>
        </p:nvCxnSpPr>
        <p:spPr>
          <a:xfrm rot="10800000">
            <a:off x="9404671" y="6107876"/>
            <a:ext cx="980836" cy="1"/>
          </a:xfrm>
          <a:prstGeom prst="straightConnector1">
            <a:avLst/>
          </a:prstGeom>
          <a:noFill/>
          <a:ln cap="flat" cmpd="sng" w="28575">
            <a:solidFill>
              <a:schemeClr val="dk1"/>
            </a:solidFill>
            <a:prstDash val="solid"/>
            <a:miter lim="800000"/>
            <a:headEnd len="sm" w="sm" type="none"/>
            <a:tailEnd len="sm" w="sm" type="none"/>
          </a:ln>
        </p:spPr>
      </p:cxnSp>
      <p:cxnSp>
        <p:nvCxnSpPr>
          <p:cNvPr id="254" name="Google Shape;254;p10"/>
          <p:cNvCxnSpPr/>
          <p:nvPr/>
        </p:nvCxnSpPr>
        <p:spPr>
          <a:xfrm>
            <a:off x="6585756" y="4379746"/>
            <a:ext cx="928655" cy="622816"/>
          </a:xfrm>
          <a:prstGeom prst="straightConnector1">
            <a:avLst/>
          </a:prstGeom>
          <a:noFill/>
          <a:ln cap="flat" cmpd="sng" w="28575">
            <a:solidFill>
              <a:schemeClr val="dk1"/>
            </a:solidFill>
            <a:prstDash val="solid"/>
            <a:miter lim="800000"/>
            <a:headEnd len="sm" w="sm" type="none"/>
            <a:tailEnd len="sm" w="sm" type="none"/>
          </a:ln>
        </p:spPr>
      </p:cxnSp>
      <p:cxnSp>
        <p:nvCxnSpPr>
          <p:cNvPr id="255" name="Google Shape;255;p10"/>
          <p:cNvCxnSpPr/>
          <p:nvPr/>
        </p:nvCxnSpPr>
        <p:spPr>
          <a:xfrm flipH="1">
            <a:off x="7528881" y="4598566"/>
            <a:ext cx="1243764" cy="370583"/>
          </a:xfrm>
          <a:prstGeom prst="straightConnector1">
            <a:avLst/>
          </a:prstGeom>
          <a:noFill/>
          <a:ln cap="flat" cmpd="sng" w="28575">
            <a:solidFill>
              <a:schemeClr val="dk1"/>
            </a:solidFill>
            <a:prstDash val="solid"/>
            <a:miter lim="800000"/>
            <a:headEnd len="sm" w="sm" type="none"/>
            <a:tailEnd len="sm" w="sm" type="none"/>
          </a:ln>
        </p:spPr>
      </p:cxnSp>
      <p:sp>
        <p:nvSpPr>
          <p:cNvPr id="256" name="Google Shape;256;p10"/>
          <p:cNvSpPr/>
          <p:nvPr/>
        </p:nvSpPr>
        <p:spPr>
          <a:xfrm>
            <a:off x="7307002" y="4822784"/>
            <a:ext cx="399326" cy="399326"/>
          </a:xfrm>
          <a:prstGeom prst="ellipse">
            <a:avLst/>
          </a:prstGeom>
          <a:solidFill>
            <a:srgbClr val="B83122"/>
          </a:solidFill>
          <a:ln cap="flat" cmpd="sng" w="12700">
            <a:solidFill>
              <a:srgbClr val="B8312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10"/>
          <p:cNvSpPr txBox="1"/>
          <p:nvPr/>
        </p:nvSpPr>
        <p:spPr>
          <a:xfrm>
            <a:off x="7530754" y="5135380"/>
            <a:ext cx="19143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100">
                <a:solidFill>
                  <a:schemeClr val="dk1"/>
                </a:solidFill>
                <a:latin typeface="Palatino Linotype"/>
                <a:ea typeface="Palatino Linotype"/>
                <a:cs typeface="Palatino Linotype"/>
                <a:sym typeface="Palatino Linotype"/>
              </a:rPr>
              <a:t>Posição central na estrutura</a:t>
            </a:r>
            <a:endParaRPr/>
          </a:p>
        </p:txBody>
      </p:sp>
      <p:sp>
        <p:nvSpPr>
          <p:cNvPr id="258" name="Google Shape;258;p10"/>
          <p:cNvSpPr txBox="1"/>
          <p:nvPr/>
        </p:nvSpPr>
        <p:spPr>
          <a:xfrm>
            <a:off x="5374510" y="2750966"/>
            <a:ext cx="5667737"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300">
                <a:solidFill>
                  <a:schemeClr val="dk1"/>
                </a:solidFill>
                <a:latin typeface="Palatino Linotype"/>
                <a:ea typeface="Palatino Linotype"/>
                <a:cs typeface="Palatino Linotype"/>
                <a:sym typeface="Palatino Linotype"/>
              </a:rPr>
              <a:t>A posição estrutural favorece o </a:t>
            </a:r>
            <a:r>
              <a:rPr b="1" lang="pt-BR" sz="1300">
                <a:solidFill>
                  <a:srgbClr val="0070C0"/>
                </a:solidFill>
                <a:latin typeface="Palatino Linotype"/>
                <a:ea typeface="Palatino Linotype"/>
                <a:cs typeface="Palatino Linotype"/>
                <a:sym typeface="Palatino Linotype"/>
              </a:rPr>
              <a:t>poder de informação </a:t>
            </a:r>
            <a:r>
              <a:rPr lang="pt-BR" sz="1300">
                <a:solidFill>
                  <a:schemeClr val="dk1"/>
                </a:solidFill>
                <a:latin typeface="Palatino Linotype"/>
                <a:ea typeface="Palatino Linotype"/>
                <a:cs typeface="Palatino Linotype"/>
                <a:sym typeface="Palatino Linotype"/>
              </a:rPr>
              <a:t>(e vice-versa)</a:t>
            </a:r>
            <a:endParaRPr/>
          </a:p>
        </p:txBody>
      </p:sp>
      <p:sp>
        <p:nvSpPr>
          <p:cNvPr id="259" name="Google Shape;259;p10"/>
          <p:cNvSpPr txBox="1"/>
          <p:nvPr/>
        </p:nvSpPr>
        <p:spPr>
          <a:xfrm>
            <a:off x="8399415" y="2458161"/>
            <a:ext cx="264283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100">
                <a:solidFill>
                  <a:schemeClr val="dk1"/>
                </a:solidFill>
                <a:latin typeface="Palatino Linotype"/>
                <a:ea typeface="Palatino Linotype"/>
                <a:cs typeface="Palatino Linotype"/>
                <a:sym typeface="Palatino Linotype"/>
              </a:rPr>
              <a:t>Estrutura organizacional e redes sociais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266" name="Google Shape;266;p11"/>
          <p:cNvSpPr txBox="1"/>
          <p:nvPr/>
        </p:nvSpPr>
        <p:spPr>
          <a:xfrm>
            <a:off x="1018572" y="2013994"/>
            <a:ext cx="10023676"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Competência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relacionadas com as tarefas do trabalho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interpessoais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Posição estrutural</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Centralidade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Conectando buracos estruturais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Demografia e Morfologia</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Personalidade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Motivação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Traços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Estilo interpessoal</a:t>
            </a:r>
            <a:endParaRPr/>
          </a:p>
        </p:txBody>
      </p:sp>
      <p:sp>
        <p:nvSpPr>
          <p:cNvPr id="267" name="Google Shape;267;p1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Antecedentes</a:t>
            </a:r>
            <a:endParaRPr/>
          </a:p>
        </p:txBody>
      </p:sp>
      <p:cxnSp>
        <p:nvCxnSpPr>
          <p:cNvPr id="268" name="Google Shape;268;p11"/>
          <p:cNvCxnSpPr/>
          <p:nvPr/>
        </p:nvCxnSpPr>
        <p:spPr>
          <a:xfrm flipH="1" rot="10800000">
            <a:off x="2974694" y="3304572"/>
            <a:ext cx="2332298" cy="5788"/>
          </a:xfrm>
          <a:prstGeom prst="straightConnector1">
            <a:avLst/>
          </a:prstGeom>
          <a:noFill/>
          <a:ln cap="flat" cmpd="sng" w="19050">
            <a:solidFill>
              <a:srgbClr val="65A69B"/>
            </a:solidFill>
            <a:prstDash val="solid"/>
            <a:miter lim="800000"/>
            <a:headEnd len="sm" w="sm" type="none"/>
            <a:tailEnd len="med" w="med" type="triangle"/>
          </a:ln>
        </p:spPr>
      </p:cxnSp>
      <p:sp>
        <p:nvSpPr>
          <p:cNvPr id="269" name="Google Shape;269;p11"/>
          <p:cNvSpPr/>
          <p:nvPr/>
        </p:nvSpPr>
        <p:spPr>
          <a:xfrm>
            <a:off x="5374511" y="2755036"/>
            <a:ext cx="5667737" cy="3552581"/>
          </a:xfrm>
          <a:prstGeom prst="rect">
            <a:avLst/>
          </a:prstGeom>
          <a:solidFill>
            <a:srgbClr val="8FFBBD"/>
          </a:solidFill>
          <a:ln cap="flat" cmpd="sng" w="12700">
            <a:solidFill>
              <a:srgbClr val="8FFBB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11"/>
          <p:cNvSpPr/>
          <p:nvPr/>
        </p:nvSpPr>
        <p:spPr>
          <a:xfrm>
            <a:off x="5955175" y="3258273"/>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1" name="Google Shape;271;p11"/>
          <p:cNvSpPr/>
          <p:nvPr/>
        </p:nvSpPr>
        <p:spPr>
          <a:xfrm>
            <a:off x="5755512" y="3856298"/>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 name="Google Shape;272;p11"/>
          <p:cNvSpPr/>
          <p:nvPr/>
        </p:nvSpPr>
        <p:spPr>
          <a:xfrm>
            <a:off x="6373312" y="4141206"/>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11"/>
          <p:cNvSpPr/>
          <p:nvPr/>
        </p:nvSpPr>
        <p:spPr>
          <a:xfrm>
            <a:off x="6373312" y="5337858"/>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11"/>
          <p:cNvSpPr/>
          <p:nvPr/>
        </p:nvSpPr>
        <p:spPr>
          <a:xfrm>
            <a:off x="6840157" y="5081911"/>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11"/>
          <p:cNvSpPr/>
          <p:nvPr/>
        </p:nvSpPr>
        <p:spPr>
          <a:xfrm>
            <a:off x="7347034" y="5422333"/>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 name="Google Shape;276;p11"/>
          <p:cNvSpPr/>
          <p:nvPr/>
        </p:nvSpPr>
        <p:spPr>
          <a:xfrm>
            <a:off x="6824966" y="5755844"/>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 name="Google Shape;277;p11"/>
          <p:cNvSpPr/>
          <p:nvPr/>
        </p:nvSpPr>
        <p:spPr>
          <a:xfrm>
            <a:off x="8572982" y="4389567"/>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p11"/>
          <p:cNvSpPr/>
          <p:nvPr/>
        </p:nvSpPr>
        <p:spPr>
          <a:xfrm>
            <a:off x="9408289" y="3727018"/>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 name="Google Shape;279;p11"/>
          <p:cNvSpPr/>
          <p:nvPr/>
        </p:nvSpPr>
        <p:spPr>
          <a:xfrm>
            <a:off x="9208626" y="4189904"/>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11"/>
          <p:cNvSpPr/>
          <p:nvPr/>
        </p:nvSpPr>
        <p:spPr>
          <a:xfrm>
            <a:off x="9696209" y="5546976"/>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11"/>
          <p:cNvSpPr/>
          <p:nvPr/>
        </p:nvSpPr>
        <p:spPr>
          <a:xfrm>
            <a:off x="10203085" y="5908213"/>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11"/>
          <p:cNvSpPr/>
          <p:nvPr/>
        </p:nvSpPr>
        <p:spPr>
          <a:xfrm>
            <a:off x="9239490" y="5908213"/>
            <a:ext cx="399326" cy="39932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83" name="Google Shape;283;p11"/>
          <p:cNvCxnSpPr/>
          <p:nvPr/>
        </p:nvCxnSpPr>
        <p:spPr>
          <a:xfrm>
            <a:off x="6154838" y="3457936"/>
            <a:ext cx="780327" cy="141891"/>
          </a:xfrm>
          <a:prstGeom prst="straightConnector1">
            <a:avLst/>
          </a:prstGeom>
          <a:noFill/>
          <a:ln cap="flat" cmpd="sng" w="28575">
            <a:solidFill>
              <a:schemeClr val="dk1"/>
            </a:solidFill>
            <a:prstDash val="solid"/>
            <a:miter lim="800000"/>
            <a:headEnd len="sm" w="sm" type="none"/>
            <a:tailEnd len="sm" w="sm" type="none"/>
          </a:ln>
        </p:spPr>
      </p:cxnSp>
      <p:cxnSp>
        <p:nvCxnSpPr>
          <p:cNvPr id="284" name="Google Shape;284;p11"/>
          <p:cNvCxnSpPr/>
          <p:nvPr/>
        </p:nvCxnSpPr>
        <p:spPr>
          <a:xfrm flipH="1">
            <a:off x="5942394" y="3457936"/>
            <a:ext cx="239934" cy="616161"/>
          </a:xfrm>
          <a:prstGeom prst="straightConnector1">
            <a:avLst/>
          </a:prstGeom>
          <a:noFill/>
          <a:ln cap="flat" cmpd="sng" w="28575">
            <a:solidFill>
              <a:schemeClr val="dk1"/>
            </a:solidFill>
            <a:prstDash val="solid"/>
            <a:miter lim="800000"/>
            <a:headEnd len="sm" w="sm" type="none"/>
            <a:tailEnd len="sm" w="sm" type="none"/>
          </a:ln>
        </p:spPr>
      </p:cxnSp>
      <p:cxnSp>
        <p:nvCxnSpPr>
          <p:cNvPr id="285" name="Google Shape;285;p11"/>
          <p:cNvCxnSpPr/>
          <p:nvPr/>
        </p:nvCxnSpPr>
        <p:spPr>
          <a:xfrm>
            <a:off x="6195109" y="3528881"/>
            <a:ext cx="432241" cy="811988"/>
          </a:xfrm>
          <a:prstGeom prst="straightConnector1">
            <a:avLst/>
          </a:prstGeom>
          <a:noFill/>
          <a:ln cap="flat" cmpd="sng" w="28575">
            <a:solidFill>
              <a:schemeClr val="dk1"/>
            </a:solidFill>
            <a:prstDash val="solid"/>
            <a:miter lim="800000"/>
            <a:headEnd len="sm" w="sm" type="none"/>
            <a:tailEnd len="sm" w="sm" type="none"/>
          </a:ln>
        </p:spPr>
      </p:cxnSp>
      <p:cxnSp>
        <p:nvCxnSpPr>
          <p:cNvPr id="286" name="Google Shape;286;p11"/>
          <p:cNvCxnSpPr/>
          <p:nvPr/>
        </p:nvCxnSpPr>
        <p:spPr>
          <a:xfrm>
            <a:off x="5942394" y="4055961"/>
            <a:ext cx="648425" cy="304538"/>
          </a:xfrm>
          <a:prstGeom prst="straightConnector1">
            <a:avLst/>
          </a:prstGeom>
          <a:noFill/>
          <a:ln cap="flat" cmpd="sng" w="28575">
            <a:solidFill>
              <a:schemeClr val="dk1"/>
            </a:solidFill>
            <a:prstDash val="solid"/>
            <a:miter lim="800000"/>
            <a:headEnd len="sm" w="sm" type="none"/>
            <a:tailEnd len="sm" w="sm" type="none"/>
          </a:ln>
        </p:spPr>
      </p:cxnSp>
      <p:cxnSp>
        <p:nvCxnSpPr>
          <p:cNvPr id="287" name="Google Shape;287;p11"/>
          <p:cNvCxnSpPr/>
          <p:nvPr/>
        </p:nvCxnSpPr>
        <p:spPr>
          <a:xfrm flipH="1" rot="10800000">
            <a:off x="6590819" y="3614310"/>
            <a:ext cx="365444" cy="726559"/>
          </a:xfrm>
          <a:prstGeom prst="straightConnector1">
            <a:avLst/>
          </a:prstGeom>
          <a:noFill/>
          <a:ln cap="flat" cmpd="sng" w="28575">
            <a:solidFill>
              <a:schemeClr val="dk1"/>
            </a:solidFill>
            <a:prstDash val="solid"/>
            <a:miter lim="800000"/>
            <a:headEnd len="sm" w="sm" type="none"/>
            <a:tailEnd len="sm" w="sm" type="none"/>
          </a:ln>
        </p:spPr>
      </p:cxnSp>
      <p:cxnSp>
        <p:nvCxnSpPr>
          <p:cNvPr id="288" name="Google Shape;288;p11"/>
          <p:cNvCxnSpPr/>
          <p:nvPr/>
        </p:nvCxnSpPr>
        <p:spPr>
          <a:xfrm flipH="1" rot="10800000">
            <a:off x="6521369" y="5014553"/>
            <a:ext cx="985296" cy="494926"/>
          </a:xfrm>
          <a:prstGeom prst="straightConnector1">
            <a:avLst/>
          </a:prstGeom>
          <a:noFill/>
          <a:ln cap="flat" cmpd="sng" w="28575">
            <a:solidFill>
              <a:schemeClr val="dk1"/>
            </a:solidFill>
            <a:prstDash val="solid"/>
            <a:miter lim="800000"/>
            <a:headEnd len="sm" w="sm" type="none"/>
            <a:tailEnd len="sm" w="sm" type="none"/>
          </a:ln>
        </p:spPr>
      </p:cxnSp>
      <p:cxnSp>
        <p:nvCxnSpPr>
          <p:cNvPr id="289" name="Google Shape;289;p11"/>
          <p:cNvCxnSpPr/>
          <p:nvPr/>
        </p:nvCxnSpPr>
        <p:spPr>
          <a:xfrm flipH="1">
            <a:off x="7476282" y="5080219"/>
            <a:ext cx="29902" cy="536905"/>
          </a:xfrm>
          <a:prstGeom prst="straightConnector1">
            <a:avLst/>
          </a:prstGeom>
          <a:noFill/>
          <a:ln cap="flat" cmpd="sng" w="28575">
            <a:solidFill>
              <a:schemeClr val="dk1"/>
            </a:solidFill>
            <a:prstDash val="solid"/>
            <a:miter lim="800000"/>
            <a:headEnd len="sm" w="sm" type="none"/>
            <a:tailEnd len="sm" w="sm" type="none"/>
          </a:ln>
        </p:spPr>
      </p:cxnSp>
      <p:cxnSp>
        <p:nvCxnSpPr>
          <p:cNvPr id="290" name="Google Shape;290;p11"/>
          <p:cNvCxnSpPr/>
          <p:nvPr/>
        </p:nvCxnSpPr>
        <p:spPr>
          <a:xfrm flipH="1" rot="10800000">
            <a:off x="7063331" y="5603397"/>
            <a:ext cx="431458" cy="304816"/>
          </a:xfrm>
          <a:prstGeom prst="straightConnector1">
            <a:avLst/>
          </a:prstGeom>
          <a:noFill/>
          <a:ln cap="flat" cmpd="sng" w="28575">
            <a:solidFill>
              <a:schemeClr val="dk1"/>
            </a:solidFill>
            <a:prstDash val="solid"/>
            <a:miter lim="800000"/>
            <a:headEnd len="sm" w="sm" type="none"/>
            <a:tailEnd len="sm" w="sm" type="none"/>
          </a:ln>
        </p:spPr>
      </p:cxnSp>
      <p:cxnSp>
        <p:nvCxnSpPr>
          <p:cNvPr id="291" name="Google Shape;291;p11"/>
          <p:cNvCxnSpPr/>
          <p:nvPr/>
        </p:nvCxnSpPr>
        <p:spPr>
          <a:xfrm>
            <a:off x="6572975" y="5476583"/>
            <a:ext cx="466845" cy="431630"/>
          </a:xfrm>
          <a:prstGeom prst="straightConnector1">
            <a:avLst/>
          </a:prstGeom>
          <a:noFill/>
          <a:ln cap="flat" cmpd="sng" w="28575">
            <a:solidFill>
              <a:schemeClr val="dk1"/>
            </a:solidFill>
            <a:prstDash val="solid"/>
            <a:miter lim="800000"/>
            <a:headEnd len="sm" w="sm" type="none"/>
            <a:tailEnd len="sm" w="sm" type="none"/>
          </a:ln>
        </p:spPr>
      </p:cxnSp>
      <p:cxnSp>
        <p:nvCxnSpPr>
          <p:cNvPr id="292" name="Google Shape;292;p11"/>
          <p:cNvCxnSpPr/>
          <p:nvPr/>
        </p:nvCxnSpPr>
        <p:spPr>
          <a:xfrm>
            <a:off x="7039820" y="5305725"/>
            <a:ext cx="393781" cy="338996"/>
          </a:xfrm>
          <a:prstGeom prst="straightConnector1">
            <a:avLst/>
          </a:prstGeom>
          <a:noFill/>
          <a:ln cap="flat" cmpd="sng" w="28575">
            <a:solidFill>
              <a:schemeClr val="dk1"/>
            </a:solidFill>
            <a:prstDash val="solid"/>
            <a:miter lim="800000"/>
            <a:headEnd len="sm" w="sm" type="none"/>
            <a:tailEnd len="sm" w="sm" type="none"/>
          </a:ln>
        </p:spPr>
      </p:cxnSp>
      <p:cxnSp>
        <p:nvCxnSpPr>
          <p:cNvPr id="293" name="Google Shape;293;p11"/>
          <p:cNvCxnSpPr/>
          <p:nvPr/>
        </p:nvCxnSpPr>
        <p:spPr>
          <a:xfrm flipH="1" rot="10800000">
            <a:off x="7039820" y="5080219"/>
            <a:ext cx="423683" cy="855674"/>
          </a:xfrm>
          <a:prstGeom prst="straightConnector1">
            <a:avLst/>
          </a:prstGeom>
          <a:noFill/>
          <a:ln cap="flat" cmpd="sng" w="28575">
            <a:solidFill>
              <a:schemeClr val="dk1"/>
            </a:solidFill>
            <a:prstDash val="solid"/>
            <a:miter lim="800000"/>
            <a:headEnd len="sm" w="sm" type="none"/>
            <a:tailEnd len="sm" w="sm" type="none"/>
          </a:ln>
        </p:spPr>
      </p:cxnSp>
      <p:cxnSp>
        <p:nvCxnSpPr>
          <p:cNvPr id="294" name="Google Shape;294;p11"/>
          <p:cNvCxnSpPr/>
          <p:nvPr/>
        </p:nvCxnSpPr>
        <p:spPr>
          <a:xfrm>
            <a:off x="8698375" y="3865157"/>
            <a:ext cx="53172" cy="711262"/>
          </a:xfrm>
          <a:prstGeom prst="straightConnector1">
            <a:avLst/>
          </a:prstGeom>
          <a:noFill/>
          <a:ln cap="flat" cmpd="sng" w="28575">
            <a:solidFill>
              <a:schemeClr val="dk1"/>
            </a:solidFill>
            <a:prstDash val="solid"/>
            <a:miter lim="800000"/>
            <a:headEnd len="sm" w="sm" type="none"/>
            <a:tailEnd len="sm" w="sm" type="none"/>
          </a:ln>
        </p:spPr>
      </p:cxnSp>
      <p:cxnSp>
        <p:nvCxnSpPr>
          <p:cNvPr id="295" name="Google Shape;295;p11"/>
          <p:cNvCxnSpPr/>
          <p:nvPr/>
        </p:nvCxnSpPr>
        <p:spPr>
          <a:xfrm flipH="1">
            <a:off x="9239490" y="3928830"/>
            <a:ext cx="308660" cy="993528"/>
          </a:xfrm>
          <a:prstGeom prst="straightConnector1">
            <a:avLst/>
          </a:prstGeom>
          <a:noFill/>
          <a:ln cap="flat" cmpd="sng" w="28575">
            <a:solidFill>
              <a:schemeClr val="dk1"/>
            </a:solidFill>
            <a:prstDash val="solid"/>
            <a:miter lim="800000"/>
            <a:headEnd len="sm" w="sm" type="none"/>
            <a:tailEnd len="sm" w="sm" type="none"/>
          </a:ln>
        </p:spPr>
      </p:cxnSp>
      <p:cxnSp>
        <p:nvCxnSpPr>
          <p:cNvPr id="296" name="Google Shape;296;p11"/>
          <p:cNvCxnSpPr/>
          <p:nvPr/>
        </p:nvCxnSpPr>
        <p:spPr>
          <a:xfrm>
            <a:off x="8819066" y="3872283"/>
            <a:ext cx="574754" cy="507948"/>
          </a:xfrm>
          <a:prstGeom prst="straightConnector1">
            <a:avLst/>
          </a:prstGeom>
          <a:noFill/>
          <a:ln cap="flat" cmpd="sng" w="28575">
            <a:solidFill>
              <a:schemeClr val="dk1"/>
            </a:solidFill>
            <a:prstDash val="solid"/>
            <a:miter lim="800000"/>
            <a:headEnd len="sm" w="sm" type="none"/>
            <a:tailEnd len="sm" w="sm" type="none"/>
          </a:ln>
        </p:spPr>
      </p:cxnSp>
      <p:cxnSp>
        <p:nvCxnSpPr>
          <p:cNvPr id="297" name="Google Shape;297;p11"/>
          <p:cNvCxnSpPr/>
          <p:nvPr/>
        </p:nvCxnSpPr>
        <p:spPr>
          <a:xfrm rot="10800000">
            <a:off x="8838296" y="4598566"/>
            <a:ext cx="401195" cy="313971"/>
          </a:xfrm>
          <a:prstGeom prst="straightConnector1">
            <a:avLst/>
          </a:prstGeom>
          <a:noFill/>
          <a:ln cap="flat" cmpd="sng" w="28575">
            <a:solidFill>
              <a:schemeClr val="dk1"/>
            </a:solidFill>
            <a:prstDash val="solid"/>
            <a:miter lim="800000"/>
            <a:headEnd len="sm" w="sm" type="none"/>
            <a:tailEnd len="sm" w="sm" type="none"/>
          </a:ln>
        </p:spPr>
      </p:cxnSp>
      <p:cxnSp>
        <p:nvCxnSpPr>
          <p:cNvPr id="298" name="Google Shape;298;p11"/>
          <p:cNvCxnSpPr/>
          <p:nvPr/>
        </p:nvCxnSpPr>
        <p:spPr>
          <a:xfrm>
            <a:off x="8795251" y="3856298"/>
            <a:ext cx="820418" cy="92341"/>
          </a:xfrm>
          <a:prstGeom prst="straightConnector1">
            <a:avLst/>
          </a:prstGeom>
          <a:noFill/>
          <a:ln cap="flat" cmpd="sng" w="28575">
            <a:solidFill>
              <a:schemeClr val="dk1"/>
            </a:solidFill>
            <a:prstDash val="solid"/>
            <a:miter lim="800000"/>
            <a:headEnd len="sm" w="sm" type="none"/>
            <a:tailEnd len="sm" w="sm" type="none"/>
          </a:ln>
        </p:spPr>
      </p:cxnSp>
      <p:cxnSp>
        <p:nvCxnSpPr>
          <p:cNvPr id="299" name="Google Shape;299;p11"/>
          <p:cNvCxnSpPr/>
          <p:nvPr/>
        </p:nvCxnSpPr>
        <p:spPr>
          <a:xfrm flipH="1">
            <a:off x="9440661" y="5682824"/>
            <a:ext cx="491383" cy="474612"/>
          </a:xfrm>
          <a:prstGeom prst="straightConnector1">
            <a:avLst/>
          </a:prstGeom>
          <a:noFill/>
          <a:ln cap="flat" cmpd="sng" w="28575">
            <a:solidFill>
              <a:schemeClr val="dk1"/>
            </a:solidFill>
            <a:prstDash val="solid"/>
            <a:miter lim="800000"/>
            <a:headEnd len="sm" w="sm" type="none"/>
            <a:tailEnd len="sm" w="sm" type="none"/>
          </a:ln>
        </p:spPr>
      </p:cxnSp>
      <p:cxnSp>
        <p:nvCxnSpPr>
          <p:cNvPr id="300" name="Google Shape;300;p11"/>
          <p:cNvCxnSpPr/>
          <p:nvPr/>
        </p:nvCxnSpPr>
        <p:spPr>
          <a:xfrm>
            <a:off x="10368267" y="5529935"/>
            <a:ext cx="34481" cy="546746"/>
          </a:xfrm>
          <a:prstGeom prst="straightConnector1">
            <a:avLst/>
          </a:prstGeom>
          <a:noFill/>
          <a:ln cap="flat" cmpd="sng" w="28575">
            <a:solidFill>
              <a:schemeClr val="dk1"/>
            </a:solidFill>
            <a:prstDash val="solid"/>
            <a:miter lim="800000"/>
            <a:headEnd len="sm" w="sm" type="none"/>
            <a:tailEnd len="sm" w="sm" type="none"/>
          </a:ln>
        </p:spPr>
      </p:cxnSp>
      <p:cxnSp>
        <p:nvCxnSpPr>
          <p:cNvPr id="301" name="Google Shape;301;p11"/>
          <p:cNvCxnSpPr/>
          <p:nvPr/>
        </p:nvCxnSpPr>
        <p:spPr>
          <a:xfrm flipH="1">
            <a:off x="9883816" y="5546977"/>
            <a:ext cx="501691" cy="208828"/>
          </a:xfrm>
          <a:prstGeom prst="straightConnector1">
            <a:avLst/>
          </a:prstGeom>
          <a:noFill/>
          <a:ln cap="flat" cmpd="sng" w="28575">
            <a:solidFill>
              <a:schemeClr val="dk1"/>
            </a:solidFill>
            <a:prstDash val="solid"/>
            <a:miter lim="800000"/>
            <a:headEnd len="sm" w="sm" type="none"/>
            <a:tailEnd len="sm" w="sm" type="none"/>
          </a:ln>
        </p:spPr>
      </p:cxnSp>
      <p:cxnSp>
        <p:nvCxnSpPr>
          <p:cNvPr id="302" name="Google Shape;302;p11"/>
          <p:cNvCxnSpPr/>
          <p:nvPr/>
        </p:nvCxnSpPr>
        <p:spPr>
          <a:xfrm rot="10800000">
            <a:off x="9404671" y="6107876"/>
            <a:ext cx="980836" cy="1"/>
          </a:xfrm>
          <a:prstGeom prst="straightConnector1">
            <a:avLst/>
          </a:prstGeom>
          <a:noFill/>
          <a:ln cap="flat" cmpd="sng" w="28575">
            <a:solidFill>
              <a:schemeClr val="dk1"/>
            </a:solidFill>
            <a:prstDash val="solid"/>
            <a:miter lim="800000"/>
            <a:headEnd len="sm" w="sm" type="none"/>
            <a:tailEnd len="sm" w="sm" type="none"/>
          </a:ln>
        </p:spPr>
      </p:cxnSp>
      <p:cxnSp>
        <p:nvCxnSpPr>
          <p:cNvPr id="303" name="Google Shape;303;p11"/>
          <p:cNvCxnSpPr/>
          <p:nvPr/>
        </p:nvCxnSpPr>
        <p:spPr>
          <a:xfrm>
            <a:off x="6585756" y="4379746"/>
            <a:ext cx="928655" cy="622816"/>
          </a:xfrm>
          <a:prstGeom prst="straightConnector1">
            <a:avLst/>
          </a:prstGeom>
          <a:noFill/>
          <a:ln cap="flat" cmpd="sng" w="28575">
            <a:solidFill>
              <a:schemeClr val="dk1"/>
            </a:solidFill>
            <a:prstDash val="solid"/>
            <a:miter lim="800000"/>
            <a:headEnd len="sm" w="sm" type="none"/>
            <a:tailEnd len="sm" w="sm" type="none"/>
          </a:ln>
        </p:spPr>
      </p:cxnSp>
      <p:cxnSp>
        <p:nvCxnSpPr>
          <p:cNvPr id="304" name="Google Shape;304;p11"/>
          <p:cNvCxnSpPr/>
          <p:nvPr/>
        </p:nvCxnSpPr>
        <p:spPr>
          <a:xfrm flipH="1">
            <a:off x="7528881" y="4598566"/>
            <a:ext cx="1243764" cy="370583"/>
          </a:xfrm>
          <a:prstGeom prst="straightConnector1">
            <a:avLst/>
          </a:prstGeom>
          <a:noFill/>
          <a:ln cap="flat" cmpd="sng" w="28575">
            <a:solidFill>
              <a:schemeClr val="dk1"/>
            </a:solidFill>
            <a:prstDash val="solid"/>
            <a:miter lim="800000"/>
            <a:headEnd len="sm" w="sm" type="none"/>
            <a:tailEnd len="sm" w="sm" type="none"/>
          </a:ln>
        </p:spPr>
      </p:cxnSp>
      <p:sp>
        <p:nvSpPr>
          <p:cNvPr id="305" name="Google Shape;305;p11"/>
          <p:cNvSpPr/>
          <p:nvPr/>
        </p:nvSpPr>
        <p:spPr>
          <a:xfrm>
            <a:off x="7307002" y="4822784"/>
            <a:ext cx="399326" cy="399326"/>
          </a:xfrm>
          <a:prstGeom prst="ellipse">
            <a:avLst/>
          </a:prstGeom>
          <a:solidFill>
            <a:srgbClr val="B83122"/>
          </a:solidFill>
          <a:ln cap="flat" cmpd="sng" w="12700">
            <a:solidFill>
              <a:srgbClr val="B8312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 name="Google Shape;306;p11"/>
          <p:cNvSpPr txBox="1"/>
          <p:nvPr/>
        </p:nvSpPr>
        <p:spPr>
          <a:xfrm>
            <a:off x="7530754" y="5135380"/>
            <a:ext cx="19143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100">
                <a:solidFill>
                  <a:schemeClr val="dk1"/>
                </a:solidFill>
                <a:latin typeface="Palatino Linotype"/>
                <a:ea typeface="Palatino Linotype"/>
                <a:cs typeface="Palatino Linotype"/>
                <a:sym typeface="Palatino Linotype"/>
              </a:rPr>
              <a:t>Posição central na estrutura</a:t>
            </a:r>
            <a:endParaRPr/>
          </a:p>
        </p:txBody>
      </p:sp>
      <p:sp>
        <p:nvSpPr>
          <p:cNvPr id="307" name="Google Shape;307;p11"/>
          <p:cNvSpPr txBox="1"/>
          <p:nvPr/>
        </p:nvSpPr>
        <p:spPr>
          <a:xfrm>
            <a:off x="7471219" y="2993527"/>
            <a:ext cx="13901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100">
                <a:solidFill>
                  <a:schemeClr val="dk1"/>
                </a:solidFill>
                <a:latin typeface="Palatino Linotype"/>
                <a:ea typeface="Palatino Linotype"/>
                <a:cs typeface="Palatino Linotype"/>
                <a:sym typeface="Palatino Linotype"/>
              </a:rPr>
              <a:t>Buracos estruturais</a:t>
            </a:r>
            <a:endParaRPr/>
          </a:p>
        </p:txBody>
      </p:sp>
      <p:sp>
        <p:nvSpPr>
          <p:cNvPr id="308" name="Google Shape;308;p11"/>
          <p:cNvSpPr txBox="1"/>
          <p:nvPr/>
        </p:nvSpPr>
        <p:spPr>
          <a:xfrm>
            <a:off x="9722963" y="4568057"/>
            <a:ext cx="139012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100">
                <a:solidFill>
                  <a:schemeClr val="dk1"/>
                </a:solidFill>
                <a:latin typeface="Palatino Linotype"/>
                <a:ea typeface="Palatino Linotype"/>
                <a:cs typeface="Palatino Linotype"/>
                <a:sym typeface="Palatino Linotype"/>
              </a:rPr>
              <a:t>Buracos estruturais</a:t>
            </a:r>
            <a:endParaRPr/>
          </a:p>
        </p:txBody>
      </p:sp>
      <p:sp>
        <p:nvSpPr>
          <p:cNvPr id="309" name="Google Shape;309;p11"/>
          <p:cNvSpPr/>
          <p:nvPr/>
        </p:nvSpPr>
        <p:spPr>
          <a:xfrm rot="-4874548">
            <a:off x="7773138" y="2591219"/>
            <a:ext cx="234782" cy="1565519"/>
          </a:xfrm>
          <a:prstGeom prst="rightBrace">
            <a:avLst>
              <a:gd fmla="val 8333"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1"/>
          <p:cNvSpPr/>
          <p:nvPr/>
        </p:nvSpPr>
        <p:spPr>
          <a:xfrm rot="-3561296">
            <a:off x="10023960" y="4329493"/>
            <a:ext cx="108498" cy="1273900"/>
          </a:xfrm>
          <a:prstGeom prst="rightBrace">
            <a:avLst>
              <a:gd fmla="val 8333"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1"/>
          <p:cNvSpPr txBox="1"/>
          <p:nvPr/>
        </p:nvSpPr>
        <p:spPr>
          <a:xfrm>
            <a:off x="5374510" y="2750966"/>
            <a:ext cx="5667737"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300">
                <a:solidFill>
                  <a:schemeClr val="dk1"/>
                </a:solidFill>
                <a:latin typeface="Palatino Linotype"/>
                <a:ea typeface="Palatino Linotype"/>
                <a:cs typeface="Palatino Linotype"/>
                <a:sym typeface="Palatino Linotype"/>
              </a:rPr>
              <a:t>A posição estrutural favorece o </a:t>
            </a:r>
            <a:r>
              <a:rPr b="1" lang="pt-BR" sz="1300">
                <a:solidFill>
                  <a:srgbClr val="0070C0"/>
                </a:solidFill>
                <a:latin typeface="Palatino Linotype"/>
                <a:ea typeface="Palatino Linotype"/>
                <a:cs typeface="Palatino Linotype"/>
                <a:sym typeface="Palatino Linotype"/>
              </a:rPr>
              <a:t>poder de informação </a:t>
            </a:r>
            <a:r>
              <a:rPr lang="pt-BR" sz="1300">
                <a:solidFill>
                  <a:schemeClr val="dk1"/>
                </a:solidFill>
                <a:latin typeface="Palatino Linotype"/>
                <a:ea typeface="Palatino Linotype"/>
                <a:cs typeface="Palatino Linotype"/>
                <a:sym typeface="Palatino Linotype"/>
              </a:rPr>
              <a:t>(e vice-versa)</a:t>
            </a:r>
            <a:endParaRPr/>
          </a:p>
        </p:txBody>
      </p:sp>
      <p:sp>
        <p:nvSpPr>
          <p:cNvPr id="312" name="Google Shape;312;p11"/>
          <p:cNvSpPr/>
          <p:nvPr/>
        </p:nvSpPr>
        <p:spPr>
          <a:xfrm>
            <a:off x="6735502" y="3400164"/>
            <a:ext cx="399326" cy="399326"/>
          </a:xfrm>
          <a:prstGeom prst="ellipse">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11"/>
          <p:cNvSpPr/>
          <p:nvPr/>
        </p:nvSpPr>
        <p:spPr>
          <a:xfrm>
            <a:off x="8572982" y="3657599"/>
            <a:ext cx="399326" cy="399326"/>
          </a:xfrm>
          <a:prstGeom prst="ellipse">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11"/>
          <p:cNvSpPr/>
          <p:nvPr/>
        </p:nvSpPr>
        <p:spPr>
          <a:xfrm>
            <a:off x="9039827" y="4712873"/>
            <a:ext cx="399326" cy="399326"/>
          </a:xfrm>
          <a:prstGeom prst="ellipse">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 name="Google Shape;315;p11"/>
          <p:cNvSpPr/>
          <p:nvPr/>
        </p:nvSpPr>
        <p:spPr>
          <a:xfrm>
            <a:off x="10199226" y="5337858"/>
            <a:ext cx="399326" cy="399326"/>
          </a:xfrm>
          <a:prstGeom prst="ellipse">
            <a:avLst/>
          </a:prstGeom>
          <a:solidFill>
            <a:srgbClr val="0070C0"/>
          </a:solidFill>
          <a:ln cap="flat" cmpd="sng" w="127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16" name="Google Shape;316;p11"/>
          <p:cNvCxnSpPr/>
          <p:nvPr/>
        </p:nvCxnSpPr>
        <p:spPr>
          <a:xfrm>
            <a:off x="7134828" y="3657599"/>
            <a:ext cx="1438154" cy="198699"/>
          </a:xfrm>
          <a:prstGeom prst="straightConnector1">
            <a:avLst/>
          </a:prstGeom>
          <a:noFill/>
          <a:ln cap="flat" cmpd="sng" w="9525">
            <a:solidFill>
              <a:schemeClr val="accent1"/>
            </a:solidFill>
            <a:prstDash val="solid"/>
            <a:miter lim="800000"/>
            <a:headEnd len="med" w="med" type="triangle"/>
            <a:tailEnd len="med" w="med" type="triangle"/>
          </a:ln>
        </p:spPr>
      </p:cxnSp>
      <p:cxnSp>
        <p:nvCxnSpPr>
          <p:cNvPr id="317" name="Google Shape;317;p11"/>
          <p:cNvCxnSpPr>
            <a:stCxn id="314" idx="6"/>
            <a:endCxn id="315" idx="1"/>
          </p:cNvCxnSpPr>
          <p:nvPr/>
        </p:nvCxnSpPr>
        <p:spPr>
          <a:xfrm>
            <a:off x="9439153" y="4912536"/>
            <a:ext cx="818700" cy="483900"/>
          </a:xfrm>
          <a:prstGeom prst="straightConnector1">
            <a:avLst/>
          </a:prstGeom>
          <a:noFill/>
          <a:ln cap="flat" cmpd="sng" w="9525">
            <a:solidFill>
              <a:schemeClr val="accent1"/>
            </a:solidFill>
            <a:prstDash val="solid"/>
            <a:miter lim="800000"/>
            <a:headEnd len="med" w="med" type="triangle"/>
            <a:tailEnd len="med" w="med" type="triangle"/>
          </a:ln>
        </p:spPr>
      </p:cxnSp>
      <p:sp>
        <p:nvSpPr>
          <p:cNvPr id="318" name="Google Shape;318;p11"/>
          <p:cNvSpPr txBox="1"/>
          <p:nvPr/>
        </p:nvSpPr>
        <p:spPr>
          <a:xfrm>
            <a:off x="8399415" y="2458161"/>
            <a:ext cx="264283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100">
                <a:solidFill>
                  <a:schemeClr val="dk1"/>
                </a:solidFill>
                <a:latin typeface="Palatino Linotype"/>
                <a:ea typeface="Palatino Linotype"/>
                <a:cs typeface="Palatino Linotype"/>
                <a:sym typeface="Palatino Linotype"/>
              </a:rPr>
              <a:t>Estrutura organizacional e redes sociais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25" name="Google Shape;325;p12"/>
          <p:cNvSpPr txBox="1"/>
          <p:nvPr/>
        </p:nvSpPr>
        <p:spPr>
          <a:xfrm>
            <a:off x="1018572" y="2013994"/>
            <a:ext cx="10023676"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Competência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relacionadas com as tarefas do trabalho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interpessoais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Posição estrutural</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Centralidade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Conectando buracos estruturais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Demografia e Morfologia</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Personalidade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Motivação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Traços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Estilo interpessoal</a:t>
            </a:r>
            <a:endParaRPr/>
          </a:p>
        </p:txBody>
      </p:sp>
      <p:sp>
        <p:nvSpPr>
          <p:cNvPr id="326" name="Google Shape;326;p1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Antecedentes</a:t>
            </a:r>
            <a:endParaRPr/>
          </a:p>
        </p:txBody>
      </p:sp>
      <p:sp>
        <p:nvSpPr>
          <p:cNvPr id="327" name="Google Shape;327;p12"/>
          <p:cNvSpPr/>
          <p:nvPr/>
        </p:nvSpPr>
        <p:spPr>
          <a:xfrm>
            <a:off x="4762975" y="2762700"/>
            <a:ext cx="6856500" cy="3461400"/>
          </a:xfrm>
          <a:prstGeom prst="rect">
            <a:avLst/>
          </a:prstGeom>
          <a:solidFill>
            <a:srgbClr val="FFFFA7"/>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100">
                <a:solidFill>
                  <a:srgbClr val="000000"/>
                </a:solidFill>
                <a:latin typeface="Palatino Linotype"/>
                <a:ea typeface="Palatino Linotype"/>
                <a:cs typeface="Palatino Linotype"/>
                <a:sym typeface="Palatino Linotype"/>
              </a:rPr>
              <a:t>Como é possível?</a:t>
            </a:r>
            <a:endParaRPr sz="2200"/>
          </a:p>
          <a:p>
            <a:pPr indent="0" lvl="0" marL="0" marR="0" rtl="0" algn="l">
              <a:lnSpc>
                <a:spcPct val="100000"/>
              </a:lnSpc>
              <a:spcBef>
                <a:spcPts val="0"/>
              </a:spcBef>
              <a:spcAft>
                <a:spcPts val="0"/>
              </a:spcAft>
              <a:buNone/>
            </a:pPr>
            <a:r>
              <a:t/>
            </a:r>
            <a:endParaRPr sz="21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2100">
                <a:solidFill>
                  <a:srgbClr val="000000"/>
                </a:solidFill>
                <a:latin typeface="Palatino Linotype"/>
                <a:ea typeface="Palatino Linotype"/>
                <a:cs typeface="Palatino Linotype"/>
                <a:sym typeface="Palatino Linotype"/>
              </a:rPr>
              <a:t>“Pai e filho sofrem um acidente terrível de carro. Alguém chama a </a:t>
            </a:r>
            <a:endParaRPr sz="2200"/>
          </a:p>
          <a:p>
            <a:pPr indent="0" lvl="0" marL="0" marR="0" rtl="0" algn="l">
              <a:lnSpc>
                <a:spcPct val="100000"/>
              </a:lnSpc>
              <a:spcBef>
                <a:spcPts val="0"/>
              </a:spcBef>
              <a:spcAft>
                <a:spcPts val="0"/>
              </a:spcAft>
              <a:buNone/>
            </a:pPr>
            <a:r>
              <a:rPr lang="pt-BR" sz="2100">
                <a:solidFill>
                  <a:srgbClr val="000000"/>
                </a:solidFill>
                <a:latin typeface="Palatino Linotype"/>
                <a:ea typeface="Palatino Linotype"/>
                <a:cs typeface="Palatino Linotype"/>
                <a:sym typeface="Palatino Linotype"/>
              </a:rPr>
              <a:t>ambulância, mas o pai não resiste e morre no local. O filho é socorrido e levado ao hospital às pressas. </a:t>
            </a:r>
            <a:endParaRPr sz="2200"/>
          </a:p>
          <a:p>
            <a:pPr indent="0" lvl="0" marL="0" marR="0" rtl="0" algn="l">
              <a:lnSpc>
                <a:spcPct val="100000"/>
              </a:lnSpc>
              <a:spcBef>
                <a:spcPts val="0"/>
              </a:spcBef>
              <a:spcAft>
                <a:spcPts val="0"/>
              </a:spcAft>
              <a:buNone/>
            </a:pPr>
            <a:r>
              <a:t/>
            </a:r>
            <a:endParaRPr sz="21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2100">
                <a:solidFill>
                  <a:srgbClr val="000000"/>
                </a:solidFill>
                <a:latin typeface="Palatino Linotype"/>
                <a:ea typeface="Palatino Linotype"/>
                <a:cs typeface="Palatino Linotype"/>
                <a:sym typeface="Palatino Linotype"/>
              </a:rPr>
              <a:t>Ao chegar no hospital, a pessoa mais competente do centro cirúrgico vê o menino e diz: ‘</a:t>
            </a:r>
            <a:r>
              <a:rPr i="1" lang="pt-BR" sz="2100">
                <a:solidFill>
                  <a:srgbClr val="000000"/>
                </a:solidFill>
                <a:latin typeface="Palatino Linotype"/>
                <a:ea typeface="Palatino Linotype"/>
                <a:cs typeface="Palatino Linotype"/>
                <a:sym typeface="Palatino Linotype"/>
              </a:rPr>
              <a:t>Não posso operar esse menino! Ele é meu filho!</a:t>
            </a:r>
            <a:r>
              <a:rPr lang="pt-BR" sz="2100">
                <a:solidFill>
                  <a:srgbClr val="000000"/>
                </a:solidFill>
                <a:latin typeface="Palatino Linotype"/>
                <a:ea typeface="Palatino Linotype"/>
                <a:cs typeface="Palatino Linotype"/>
                <a:sym typeface="Palatino Linotype"/>
              </a:rPr>
              <a:t>’.”</a:t>
            </a:r>
            <a:endParaRPr sz="2200"/>
          </a:p>
        </p:txBody>
      </p:sp>
      <p:cxnSp>
        <p:nvCxnSpPr>
          <p:cNvPr id="328" name="Google Shape;328;p12"/>
          <p:cNvCxnSpPr/>
          <p:nvPr/>
        </p:nvCxnSpPr>
        <p:spPr>
          <a:xfrm flipH="1" rot="10800000">
            <a:off x="3871732" y="4386805"/>
            <a:ext cx="891251" cy="5787"/>
          </a:xfrm>
          <a:prstGeom prst="straightConnector1">
            <a:avLst/>
          </a:prstGeom>
          <a:noFill/>
          <a:ln cap="flat" cmpd="sng" w="19050">
            <a:solidFill>
              <a:srgbClr val="65A69B"/>
            </a:solidFill>
            <a:prstDash val="solid"/>
            <a:miter lim="800000"/>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35" name="Google Shape;335;p13"/>
          <p:cNvSpPr txBox="1"/>
          <p:nvPr/>
        </p:nvSpPr>
        <p:spPr>
          <a:xfrm>
            <a:off x="1018572" y="2013994"/>
            <a:ext cx="10023676"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Competência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relacionadas com as tarefas do trabalho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interpessoais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Posição estrutural</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Centralidade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Conectando buracos estruturais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Demografia e Morfologia</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Personalidade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Motivação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Traços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Estilo interpessoal</a:t>
            </a:r>
            <a:endParaRPr/>
          </a:p>
        </p:txBody>
      </p:sp>
      <p:sp>
        <p:nvSpPr>
          <p:cNvPr id="336" name="Google Shape;336;p1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Antecedentes</a:t>
            </a:r>
            <a:endParaRPr/>
          </a:p>
        </p:txBody>
      </p:sp>
      <p:sp>
        <p:nvSpPr>
          <p:cNvPr id="337" name="Google Shape;337;p13"/>
          <p:cNvSpPr/>
          <p:nvPr/>
        </p:nvSpPr>
        <p:spPr>
          <a:xfrm>
            <a:off x="4762975" y="2876450"/>
            <a:ext cx="6807900" cy="3266400"/>
          </a:xfrm>
          <a:prstGeom prst="rect">
            <a:avLst/>
          </a:prstGeom>
          <a:solidFill>
            <a:srgbClr val="8FFBBD"/>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pt-BR" sz="2200">
                <a:solidFill>
                  <a:srgbClr val="000000"/>
                </a:solidFill>
                <a:latin typeface="Palatino Linotype"/>
                <a:ea typeface="Palatino Linotype"/>
                <a:cs typeface="Palatino Linotype"/>
                <a:sym typeface="Palatino Linotype"/>
              </a:rPr>
              <a:t>As pesquisas mostram que características sociodemográficas como </a:t>
            </a:r>
            <a:r>
              <a:rPr b="1" lang="pt-BR" sz="2200">
                <a:solidFill>
                  <a:srgbClr val="000000"/>
                </a:solidFill>
                <a:latin typeface="Palatino Linotype"/>
                <a:ea typeface="Palatino Linotype"/>
                <a:cs typeface="Palatino Linotype"/>
                <a:sym typeface="Palatino Linotype"/>
              </a:rPr>
              <a:t>sexo</a:t>
            </a:r>
            <a:r>
              <a:rPr lang="pt-BR" sz="2200">
                <a:solidFill>
                  <a:srgbClr val="000000"/>
                </a:solidFill>
                <a:latin typeface="Palatino Linotype"/>
                <a:ea typeface="Palatino Linotype"/>
                <a:cs typeface="Palatino Linotype"/>
                <a:sym typeface="Palatino Linotype"/>
              </a:rPr>
              <a:t>, </a:t>
            </a:r>
            <a:r>
              <a:rPr b="1" lang="pt-BR" sz="2200">
                <a:solidFill>
                  <a:srgbClr val="000000"/>
                </a:solidFill>
                <a:latin typeface="Palatino Linotype"/>
                <a:ea typeface="Palatino Linotype"/>
                <a:cs typeface="Palatino Linotype"/>
                <a:sym typeface="Palatino Linotype"/>
              </a:rPr>
              <a:t>cor</a:t>
            </a:r>
            <a:r>
              <a:rPr lang="pt-BR" sz="2200">
                <a:solidFill>
                  <a:srgbClr val="000000"/>
                </a:solidFill>
                <a:latin typeface="Palatino Linotype"/>
                <a:ea typeface="Palatino Linotype"/>
                <a:cs typeface="Palatino Linotype"/>
                <a:sym typeface="Palatino Linotype"/>
              </a:rPr>
              <a:t> e </a:t>
            </a:r>
            <a:r>
              <a:rPr b="1" lang="pt-BR" sz="2200">
                <a:solidFill>
                  <a:srgbClr val="000000"/>
                </a:solidFill>
                <a:latin typeface="Palatino Linotype"/>
                <a:ea typeface="Palatino Linotype"/>
                <a:cs typeface="Palatino Linotype"/>
                <a:sym typeface="Palatino Linotype"/>
              </a:rPr>
              <a:t>idade</a:t>
            </a:r>
            <a:r>
              <a:rPr lang="pt-BR" sz="2200">
                <a:solidFill>
                  <a:srgbClr val="000000"/>
                </a:solidFill>
                <a:latin typeface="Palatino Linotype"/>
                <a:ea typeface="Palatino Linotype"/>
                <a:cs typeface="Palatino Linotype"/>
                <a:sym typeface="Palatino Linotype"/>
              </a:rPr>
              <a:t> afetam na escolha dos líderes.</a:t>
            </a:r>
            <a:endParaRPr sz="2300"/>
          </a:p>
          <a:p>
            <a:pPr indent="0" lvl="0" marL="0" marR="0" rtl="0" algn="l">
              <a:lnSpc>
                <a:spcPct val="100000"/>
              </a:lnSpc>
              <a:spcBef>
                <a:spcPts val="0"/>
              </a:spcBef>
              <a:spcAft>
                <a:spcPts val="0"/>
              </a:spcAft>
              <a:buNone/>
            </a:pPr>
            <a:r>
              <a:t/>
            </a:r>
            <a:endParaRPr sz="22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2200">
                <a:solidFill>
                  <a:srgbClr val="000000"/>
                </a:solidFill>
                <a:latin typeface="Palatino Linotype"/>
                <a:ea typeface="Palatino Linotype"/>
                <a:cs typeface="Palatino Linotype"/>
                <a:sym typeface="Palatino Linotype"/>
              </a:rPr>
              <a:t>Até características morfológicas como </a:t>
            </a:r>
            <a:r>
              <a:rPr b="1" lang="pt-BR" sz="2200">
                <a:solidFill>
                  <a:srgbClr val="000000"/>
                </a:solidFill>
                <a:latin typeface="Palatino Linotype"/>
                <a:ea typeface="Palatino Linotype"/>
                <a:cs typeface="Palatino Linotype"/>
                <a:sym typeface="Palatino Linotype"/>
              </a:rPr>
              <a:t>altura</a:t>
            </a:r>
            <a:r>
              <a:rPr lang="pt-BR" sz="2200">
                <a:solidFill>
                  <a:srgbClr val="000000"/>
                </a:solidFill>
                <a:latin typeface="Palatino Linotype"/>
                <a:ea typeface="Palatino Linotype"/>
                <a:cs typeface="Palatino Linotype"/>
                <a:sym typeface="Palatino Linotype"/>
              </a:rPr>
              <a:t> e </a:t>
            </a:r>
            <a:r>
              <a:rPr b="1" lang="pt-BR" sz="2200">
                <a:solidFill>
                  <a:srgbClr val="000000"/>
                </a:solidFill>
                <a:latin typeface="Palatino Linotype"/>
                <a:ea typeface="Palatino Linotype"/>
                <a:cs typeface="Palatino Linotype"/>
                <a:sym typeface="Palatino Linotype"/>
              </a:rPr>
              <a:t>traços</a:t>
            </a:r>
            <a:r>
              <a:rPr lang="pt-BR" sz="2200">
                <a:solidFill>
                  <a:srgbClr val="000000"/>
                </a:solidFill>
                <a:latin typeface="Palatino Linotype"/>
                <a:ea typeface="Palatino Linotype"/>
                <a:cs typeface="Palatino Linotype"/>
                <a:sym typeface="Palatino Linotype"/>
              </a:rPr>
              <a:t> </a:t>
            </a:r>
            <a:r>
              <a:rPr b="1" lang="pt-BR" sz="2200">
                <a:solidFill>
                  <a:srgbClr val="000000"/>
                </a:solidFill>
                <a:latin typeface="Palatino Linotype"/>
                <a:ea typeface="Palatino Linotype"/>
                <a:cs typeface="Palatino Linotype"/>
                <a:sym typeface="Palatino Linotype"/>
              </a:rPr>
              <a:t>faciais</a:t>
            </a:r>
            <a:r>
              <a:rPr lang="pt-BR" sz="2200">
                <a:solidFill>
                  <a:srgbClr val="000000"/>
                </a:solidFill>
                <a:latin typeface="Palatino Linotype"/>
                <a:ea typeface="Palatino Linotype"/>
                <a:cs typeface="Palatino Linotype"/>
                <a:sym typeface="Palatino Linotype"/>
              </a:rPr>
              <a:t> podem favorecer a escolha de líderes.</a:t>
            </a:r>
            <a:endParaRPr sz="2300"/>
          </a:p>
          <a:p>
            <a:pPr indent="0" lvl="0" marL="0" marR="0" rtl="0" algn="l">
              <a:lnSpc>
                <a:spcPct val="100000"/>
              </a:lnSpc>
              <a:spcBef>
                <a:spcPts val="0"/>
              </a:spcBef>
              <a:spcAft>
                <a:spcPts val="0"/>
              </a:spcAft>
              <a:buNone/>
            </a:pPr>
            <a:r>
              <a:t/>
            </a:r>
            <a:endParaRPr sz="22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2200">
                <a:solidFill>
                  <a:srgbClr val="000000"/>
                </a:solidFill>
                <a:latin typeface="Palatino Linotype"/>
                <a:ea typeface="Palatino Linotype"/>
                <a:cs typeface="Palatino Linotype"/>
                <a:sym typeface="Palatino Linotype"/>
              </a:rPr>
              <a:t>O que características dessa natureza tem a ver com liderança?</a:t>
            </a:r>
            <a:endParaRPr sz="2300"/>
          </a:p>
        </p:txBody>
      </p:sp>
      <p:cxnSp>
        <p:nvCxnSpPr>
          <p:cNvPr id="338" name="Google Shape;338;p13"/>
          <p:cNvCxnSpPr/>
          <p:nvPr/>
        </p:nvCxnSpPr>
        <p:spPr>
          <a:xfrm flipH="1" rot="10800000">
            <a:off x="3871732" y="4386805"/>
            <a:ext cx="891251" cy="5787"/>
          </a:xfrm>
          <a:prstGeom prst="straightConnector1">
            <a:avLst/>
          </a:prstGeom>
          <a:noFill/>
          <a:ln cap="flat" cmpd="sng" w="19050">
            <a:solidFill>
              <a:srgbClr val="65A69B"/>
            </a:solidFill>
            <a:prstDash val="solid"/>
            <a:miter lim="800000"/>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45" name="Google Shape;345;p14"/>
          <p:cNvSpPr txBox="1"/>
          <p:nvPr/>
        </p:nvSpPr>
        <p:spPr>
          <a:xfrm>
            <a:off x="1018572" y="2013994"/>
            <a:ext cx="10023676"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Competência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relacionadas com as tarefas do trabalho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interpessoais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Posição estrutural</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Centralidade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Conectando buracos estruturais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Demografia e Morfologia</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Personalidade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Motivação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Traços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Estilo interpessoal</a:t>
            </a:r>
            <a:endParaRPr/>
          </a:p>
        </p:txBody>
      </p:sp>
      <p:sp>
        <p:nvSpPr>
          <p:cNvPr id="346" name="Google Shape;346;p1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Antecedentes</a:t>
            </a:r>
            <a:endParaRPr/>
          </a:p>
        </p:txBody>
      </p:sp>
      <p:cxnSp>
        <p:nvCxnSpPr>
          <p:cNvPr id="347" name="Google Shape;347;p14"/>
          <p:cNvCxnSpPr/>
          <p:nvPr/>
        </p:nvCxnSpPr>
        <p:spPr>
          <a:xfrm>
            <a:off x="3871732" y="4392592"/>
            <a:ext cx="2882751" cy="0"/>
          </a:xfrm>
          <a:prstGeom prst="straightConnector1">
            <a:avLst/>
          </a:prstGeom>
          <a:noFill/>
          <a:ln cap="flat" cmpd="sng" w="19050">
            <a:solidFill>
              <a:srgbClr val="65A69B"/>
            </a:solidFill>
            <a:prstDash val="solid"/>
            <a:miter lim="800000"/>
            <a:headEnd len="sm" w="sm" type="none"/>
            <a:tailEnd len="med" w="med" type="triangle"/>
          </a:ln>
        </p:spPr>
      </p:cxnSp>
      <p:pic>
        <p:nvPicPr>
          <p:cNvPr id="348" name="Google Shape;348;p14"/>
          <p:cNvPicPr preferRelativeResize="0"/>
          <p:nvPr/>
        </p:nvPicPr>
        <p:blipFill rotWithShape="1">
          <a:blip r:embed="rId3">
            <a:alphaModFix/>
          </a:blip>
          <a:srcRect b="0" l="0" r="0" t="0"/>
          <a:stretch/>
        </p:blipFill>
        <p:spPr>
          <a:xfrm>
            <a:off x="6867275" y="2118526"/>
            <a:ext cx="4706696" cy="4755724"/>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55" name="Google Shape;355;p15"/>
          <p:cNvSpPr txBox="1"/>
          <p:nvPr/>
        </p:nvSpPr>
        <p:spPr>
          <a:xfrm>
            <a:off x="1018572" y="2013994"/>
            <a:ext cx="10023676"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Competência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relacionadas com as tarefas do trabalho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Habilidades interpessoais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Posição estrutural</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Centralidade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Conectando buracos estruturais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Demografia e Morfologia</a:t>
            </a:r>
            <a:endParaRPr/>
          </a:p>
          <a:p>
            <a:pPr indent="0" lvl="0" marL="0" marR="0" rtl="0" algn="l">
              <a:spcBef>
                <a:spcPts val="0"/>
              </a:spcBef>
              <a:spcAft>
                <a:spcPts val="0"/>
              </a:spcAft>
              <a:buNone/>
            </a:pPr>
            <a:r>
              <a:t/>
            </a:r>
            <a:endParaRPr b="1"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Personalidade</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Motivação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Traços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Estilo interpessoal</a:t>
            </a:r>
            <a:endParaRPr/>
          </a:p>
        </p:txBody>
      </p:sp>
      <p:sp>
        <p:nvSpPr>
          <p:cNvPr id="356" name="Google Shape;356;p1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Antecedentes</a:t>
            </a:r>
            <a:endParaRPr/>
          </a:p>
        </p:txBody>
      </p:sp>
      <p:sp>
        <p:nvSpPr>
          <p:cNvPr id="357" name="Google Shape;357;p15"/>
          <p:cNvSpPr/>
          <p:nvPr/>
        </p:nvSpPr>
        <p:spPr>
          <a:xfrm>
            <a:off x="4762983" y="2075418"/>
            <a:ext cx="6279266" cy="4221669"/>
          </a:xfrm>
          <a:prstGeom prst="rect">
            <a:avLst/>
          </a:prstGeom>
          <a:solidFill>
            <a:srgbClr val="8FFBBD"/>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1700">
                <a:solidFill>
                  <a:srgbClr val="000000"/>
                </a:solidFill>
                <a:latin typeface="Palatino Linotype"/>
                <a:ea typeface="Palatino Linotype"/>
                <a:cs typeface="Palatino Linotype"/>
                <a:sym typeface="Palatino Linotype"/>
              </a:rPr>
              <a:t>Motivação</a:t>
            </a:r>
            <a:r>
              <a:rPr lang="pt-BR" sz="1700">
                <a:solidFill>
                  <a:srgbClr val="000000"/>
                </a:solidFill>
                <a:latin typeface="Palatino Linotype"/>
                <a:ea typeface="Palatino Linotype"/>
                <a:cs typeface="Palatino Linotype"/>
                <a:sym typeface="Palatino Linotype"/>
              </a:rPr>
              <a:t>: </a:t>
            </a:r>
            <a:r>
              <a:rPr lang="pt-BR" sz="1600">
                <a:solidFill>
                  <a:srgbClr val="000000"/>
                </a:solidFill>
                <a:latin typeface="Palatino Linotype"/>
                <a:ea typeface="Palatino Linotype"/>
                <a:cs typeface="Palatino Linotype"/>
                <a:sym typeface="Palatino Linotype"/>
              </a:rPr>
              <a:t>Pessoas que desejam e necessitam de poder (ou seja, estão motivadas para obter o poder) tendem a adquiri-lo com mais frequência. Por que? As pesquisas mostram que essas pessoas são mais proativas em fazer coisas (em alguns casos, qualquer coisa) para obtê-lo.</a:t>
            </a:r>
            <a:endParaRPr sz="1800"/>
          </a:p>
          <a:p>
            <a:pPr indent="0" lvl="0" marL="0" marR="0" rtl="0" algn="l">
              <a:lnSpc>
                <a:spcPct val="100000"/>
              </a:lnSpc>
              <a:spcBef>
                <a:spcPts val="0"/>
              </a:spcBef>
              <a:spcAft>
                <a:spcPts val="0"/>
              </a:spcAft>
              <a:buNone/>
            </a:pPr>
            <a:r>
              <a:t/>
            </a:r>
            <a:endParaRPr sz="17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b="1" lang="pt-BR" sz="1700">
                <a:solidFill>
                  <a:srgbClr val="000000"/>
                </a:solidFill>
                <a:latin typeface="Palatino Linotype"/>
                <a:ea typeface="Palatino Linotype"/>
                <a:cs typeface="Palatino Linotype"/>
                <a:sym typeface="Palatino Linotype"/>
              </a:rPr>
              <a:t>Traços de personalidade</a:t>
            </a:r>
            <a:r>
              <a:rPr lang="pt-BR" sz="1700">
                <a:solidFill>
                  <a:srgbClr val="000000"/>
                </a:solidFill>
                <a:latin typeface="Palatino Linotype"/>
                <a:ea typeface="Palatino Linotype"/>
                <a:cs typeface="Palatino Linotype"/>
                <a:sym typeface="Palatino Linotype"/>
              </a:rPr>
              <a:t>: </a:t>
            </a:r>
            <a:r>
              <a:rPr lang="pt-BR" sz="1600">
                <a:solidFill>
                  <a:srgbClr val="000000"/>
                </a:solidFill>
                <a:latin typeface="Palatino Linotype"/>
                <a:ea typeface="Palatino Linotype"/>
                <a:cs typeface="Palatino Linotype"/>
                <a:sym typeface="Palatino Linotype"/>
              </a:rPr>
              <a:t>refletem como as pessoas tendem a se sentir, a pensar e a se comportar. Alguns traços são comuns em pessoas em posição de liderança: extroversão, narcisismo, dominância e auto monitoramento.</a:t>
            </a:r>
            <a:endParaRPr sz="1800"/>
          </a:p>
          <a:p>
            <a:pPr indent="0" lvl="0" marL="0" marR="0" rtl="0" algn="l">
              <a:lnSpc>
                <a:spcPct val="100000"/>
              </a:lnSpc>
              <a:spcBef>
                <a:spcPts val="0"/>
              </a:spcBef>
              <a:spcAft>
                <a:spcPts val="0"/>
              </a:spcAft>
              <a:buNone/>
            </a:pPr>
            <a:r>
              <a:t/>
            </a:r>
            <a:endParaRPr sz="17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b="1" lang="pt-BR" sz="1700">
                <a:solidFill>
                  <a:srgbClr val="000000"/>
                </a:solidFill>
                <a:latin typeface="Palatino Linotype"/>
                <a:ea typeface="Palatino Linotype"/>
                <a:cs typeface="Palatino Linotype"/>
                <a:sym typeface="Palatino Linotype"/>
              </a:rPr>
              <a:t>Estilo interpessoal</a:t>
            </a:r>
            <a:r>
              <a:rPr lang="pt-BR" sz="1700">
                <a:solidFill>
                  <a:srgbClr val="000000"/>
                </a:solidFill>
                <a:latin typeface="Palatino Linotype"/>
                <a:ea typeface="Palatino Linotype"/>
                <a:cs typeface="Palatino Linotype"/>
                <a:sym typeface="Palatino Linotype"/>
              </a:rPr>
              <a:t>: </a:t>
            </a:r>
            <a:r>
              <a:rPr lang="pt-BR" sz="1600">
                <a:solidFill>
                  <a:srgbClr val="000000"/>
                </a:solidFill>
                <a:latin typeface="Palatino Linotype"/>
                <a:ea typeface="Palatino Linotype"/>
                <a:cs typeface="Palatino Linotype"/>
                <a:sym typeface="Palatino Linotype"/>
              </a:rPr>
              <a:t>Reflete a forma como a pessoa se comunica com as outras, seja de forma verbal ou não verbal. O volume da voz, a tonalidade, a frequência impactam na percepção de poder.</a:t>
            </a:r>
            <a:endParaRPr sz="1800"/>
          </a:p>
          <a:p>
            <a:pPr indent="0" lvl="0" marL="0" marR="0" rtl="0" algn="l">
              <a:lnSpc>
                <a:spcPct val="100000"/>
              </a:lnSpc>
              <a:spcBef>
                <a:spcPts val="0"/>
              </a:spcBef>
              <a:spcAft>
                <a:spcPts val="0"/>
              </a:spcAft>
              <a:buNone/>
            </a:pPr>
            <a:r>
              <a:rPr lang="pt-BR" sz="1600">
                <a:solidFill>
                  <a:srgbClr val="000000"/>
                </a:solidFill>
                <a:latin typeface="Palatino Linotype"/>
                <a:ea typeface="Palatino Linotype"/>
                <a:cs typeface="Palatino Linotype"/>
                <a:sym typeface="Palatino Linotype"/>
              </a:rPr>
              <a:t>Comportamentos não verbais como o olhar, a postura, o contato físico e a gesticulação também influenciam em como as pessoas são percebidas.</a:t>
            </a:r>
            <a:endParaRPr sz="1800"/>
          </a:p>
        </p:txBody>
      </p:sp>
      <p:cxnSp>
        <p:nvCxnSpPr>
          <p:cNvPr id="358" name="Google Shape;358;p15"/>
          <p:cNvCxnSpPr/>
          <p:nvPr/>
        </p:nvCxnSpPr>
        <p:spPr>
          <a:xfrm>
            <a:off x="2656390" y="4959753"/>
            <a:ext cx="2106592" cy="17361"/>
          </a:xfrm>
          <a:prstGeom prst="straightConnector1">
            <a:avLst/>
          </a:prstGeom>
          <a:noFill/>
          <a:ln cap="flat" cmpd="sng" w="19050">
            <a:solidFill>
              <a:srgbClr val="65A69B"/>
            </a:solidFill>
            <a:prstDash val="solid"/>
            <a:miter lim="800000"/>
            <a:headEnd len="sm" w="sm"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65" name="Google Shape;365;p1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Aquisição, manutenção e perda do poder</a:t>
            </a:r>
            <a:endParaRPr/>
          </a:p>
        </p:txBody>
      </p:sp>
      <p:pic>
        <p:nvPicPr>
          <p:cNvPr id="366" name="Google Shape;366;p16"/>
          <p:cNvPicPr preferRelativeResize="0"/>
          <p:nvPr/>
        </p:nvPicPr>
        <p:blipFill rotWithShape="1">
          <a:blip r:embed="rId3">
            <a:alphaModFix/>
          </a:blip>
          <a:srcRect b="0" l="0" r="0" t="0"/>
          <a:stretch/>
        </p:blipFill>
        <p:spPr>
          <a:xfrm>
            <a:off x="2011326" y="2055262"/>
            <a:ext cx="8169348" cy="4263759"/>
          </a:xfrm>
          <a:prstGeom prst="rect">
            <a:avLst/>
          </a:prstGeom>
          <a:noFill/>
          <a:ln>
            <a:noFill/>
          </a:ln>
        </p:spPr>
      </p:pic>
      <p:sp>
        <p:nvSpPr>
          <p:cNvPr id="367" name="Google Shape;367;p16"/>
          <p:cNvSpPr/>
          <p:nvPr/>
        </p:nvSpPr>
        <p:spPr>
          <a:xfrm>
            <a:off x="2129742" y="2662177"/>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p16"/>
          <p:cNvSpPr/>
          <p:nvPr/>
        </p:nvSpPr>
        <p:spPr>
          <a:xfrm>
            <a:off x="8038618" y="2138814"/>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 name="Google Shape;369;p16"/>
          <p:cNvSpPr/>
          <p:nvPr/>
        </p:nvSpPr>
        <p:spPr>
          <a:xfrm>
            <a:off x="8038618" y="3973009"/>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16"/>
          <p:cNvSpPr/>
          <p:nvPr/>
        </p:nvSpPr>
        <p:spPr>
          <a:xfrm>
            <a:off x="4539206" y="3804211"/>
            <a:ext cx="814085" cy="382929"/>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1" name="Google Shape;371;p16"/>
          <p:cNvSpPr/>
          <p:nvPr/>
        </p:nvSpPr>
        <p:spPr>
          <a:xfrm>
            <a:off x="5719823" y="4660739"/>
            <a:ext cx="1145893" cy="214132"/>
          </a:xfrm>
          <a:prstGeom prst="rect">
            <a:avLst/>
          </a:prstGeom>
          <a:solidFill>
            <a:srgbClr val="B83122"/>
          </a:solidFill>
          <a:ln cap="flat" cmpd="sng" w="12700">
            <a:solidFill>
              <a:srgbClr val="B8312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2" name="Google Shape;372;p16"/>
          <p:cNvSpPr txBox="1"/>
          <p:nvPr/>
        </p:nvSpPr>
        <p:spPr>
          <a:xfrm>
            <a:off x="1812629" y="2570370"/>
            <a:ext cx="2030166" cy="369332"/>
          </a:xfrm>
          <a:prstGeom prst="rect">
            <a:avLst/>
          </a:prstGeom>
          <a:solidFill>
            <a:srgbClr val="65A69B"/>
          </a:solidFill>
          <a:ln cap="flat" cmpd="sng" w="9525">
            <a:solidFill>
              <a:srgbClr val="65A69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Antecedentes</a:t>
            </a:r>
            <a:endParaRPr/>
          </a:p>
        </p:txBody>
      </p:sp>
      <p:sp>
        <p:nvSpPr>
          <p:cNvPr id="373" name="Google Shape;373;p16"/>
          <p:cNvSpPr txBox="1"/>
          <p:nvPr/>
        </p:nvSpPr>
        <p:spPr>
          <a:xfrm>
            <a:off x="4375230" y="3788343"/>
            <a:ext cx="110538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rgbClr val="FFD966"/>
                </a:solidFill>
                <a:latin typeface="Calibri"/>
                <a:ea typeface="Calibri"/>
                <a:cs typeface="Calibri"/>
                <a:sym typeface="Calibri"/>
              </a:rPr>
              <a:t>Poder</a:t>
            </a:r>
            <a:endParaRPr/>
          </a:p>
        </p:txBody>
      </p:sp>
      <p:sp>
        <p:nvSpPr>
          <p:cNvPr id="374" name="Google Shape;374;p16"/>
          <p:cNvSpPr txBox="1"/>
          <p:nvPr/>
        </p:nvSpPr>
        <p:spPr>
          <a:xfrm>
            <a:off x="7963382" y="2055262"/>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Manutenção</a:t>
            </a:r>
            <a:endParaRPr/>
          </a:p>
        </p:txBody>
      </p:sp>
      <p:sp>
        <p:nvSpPr>
          <p:cNvPr id="375" name="Google Shape;375;p16"/>
          <p:cNvSpPr txBox="1"/>
          <p:nvPr/>
        </p:nvSpPr>
        <p:spPr>
          <a:xfrm>
            <a:off x="7963382" y="3895409"/>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Perda</a:t>
            </a:r>
            <a:endParaRPr/>
          </a:p>
        </p:txBody>
      </p:sp>
      <p:sp>
        <p:nvSpPr>
          <p:cNvPr id="376" name="Google Shape;376;p16"/>
          <p:cNvSpPr txBox="1"/>
          <p:nvPr/>
        </p:nvSpPr>
        <p:spPr>
          <a:xfrm>
            <a:off x="5526911" y="4473186"/>
            <a:ext cx="1927186" cy="369332"/>
          </a:xfrm>
          <a:prstGeom prst="rect">
            <a:avLst/>
          </a:prstGeom>
          <a:solidFill>
            <a:srgbClr val="B83122"/>
          </a:solidFill>
          <a:ln cap="flat" cmpd="sng" w="9525">
            <a:solidFill>
              <a:srgbClr val="B8312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Moderadores</a:t>
            </a:r>
            <a:endParaRPr/>
          </a:p>
        </p:txBody>
      </p:sp>
      <p:sp>
        <p:nvSpPr>
          <p:cNvPr id="377" name="Google Shape;377;p16"/>
          <p:cNvSpPr txBox="1"/>
          <p:nvPr/>
        </p:nvSpPr>
        <p:spPr>
          <a:xfrm>
            <a:off x="1812629" y="2899735"/>
            <a:ext cx="2037953" cy="2416046"/>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Competência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relacionadas com as tarefas do trabalho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interpessoais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Posição estrutural</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Centralidade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Preenchendo buracos estruturais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Demografia e Morfologia</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Personalidade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Traços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Estilo interpessoal</a:t>
            </a:r>
            <a:endParaRPr/>
          </a:p>
        </p:txBody>
      </p:sp>
      <p:sp>
        <p:nvSpPr>
          <p:cNvPr id="378" name="Google Shape;378;p16"/>
          <p:cNvSpPr txBox="1"/>
          <p:nvPr/>
        </p:nvSpPr>
        <p:spPr>
          <a:xfrm>
            <a:off x="7963382" y="2387048"/>
            <a:ext cx="2176042" cy="1338828"/>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Justificação do sistema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Atribuições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Fisiologia e afeto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Cognição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Comportamento</a:t>
            </a:r>
            <a:endParaRPr/>
          </a:p>
        </p:txBody>
      </p:sp>
      <p:sp>
        <p:nvSpPr>
          <p:cNvPr id="379" name="Google Shape;379;p16"/>
          <p:cNvSpPr txBox="1"/>
          <p:nvPr/>
        </p:nvSpPr>
        <p:spPr>
          <a:xfrm>
            <a:off x="7951806" y="4228409"/>
            <a:ext cx="2176042" cy="1677382"/>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Competição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grupo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indivíduo</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Transgressões éticas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em tomar decisão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nas percepção interpessoal</a:t>
            </a:r>
            <a:endParaRPr/>
          </a:p>
        </p:txBody>
      </p:sp>
      <p:sp>
        <p:nvSpPr>
          <p:cNvPr id="380" name="Google Shape;380;p16"/>
          <p:cNvSpPr txBox="1"/>
          <p:nvPr/>
        </p:nvSpPr>
        <p:spPr>
          <a:xfrm>
            <a:off x="5526911" y="4815952"/>
            <a:ext cx="1927186" cy="1508105"/>
          </a:xfrm>
          <a:prstGeom prst="rect">
            <a:avLst/>
          </a:prstGeom>
          <a:solidFill>
            <a:srgbClr val="FBC9B5"/>
          </a:solidFill>
          <a:ln cap="flat" cmpd="sng" w="9525">
            <a:solidFill>
              <a:srgbClr val="FBC9B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Características pessoais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 pessoal para obter o poder</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Disposições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Respostas às ameaças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Estabilidade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Legitimidade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Status</a:t>
            </a:r>
            <a:endParaRPr/>
          </a:p>
        </p:txBody>
      </p:sp>
      <p:sp>
        <p:nvSpPr>
          <p:cNvPr id="381" name="Google Shape;381;p16"/>
          <p:cNvSpPr/>
          <p:nvPr/>
        </p:nvSpPr>
        <p:spPr>
          <a:xfrm>
            <a:off x="1554866" y="5960179"/>
            <a:ext cx="26351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000">
                <a:solidFill>
                  <a:schemeClr val="dk1"/>
                </a:solidFill>
                <a:latin typeface="Calibri"/>
                <a:ea typeface="Calibri"/>
                <a:cs typeface="Calibri"/>
                <a:sym typeface="Calibri"/>
              </a:rPr>
              <a:t>Figura: </a:t>
            </a:r>
            <a:r>
              <a:rPr i="1" lang="pt-BR" sz="1000">
                <a:solidFill>
                  <a:schemeClr val="dk1"/>
                </a:solidFill>
                <a:latin typeface="Calibri"/>
                <a:ea typeface="Calibri"/>
                <a:cs typeface="Calibri"/>
                <a:sym typeface="Calibri"/>
              </a:rPr>
              <a:t>Perspectives on Power in Organizations </a:t>
            </a:r>
            <a:r>
              <a:rPr lang="pt-BR" sz="1000">
                <a:solidFill>
                  <a:schemeClr val="dk1"/>
                </a:solidFill>
                <a:latin typeface="Calibri"/>
                <a:ea typeface="Calibri"/>
                <a:cs typeface="Calibri"/>
                <a:sym typeface="Calibri"/>
              </a:rPr>
              <a:t>(Cameron Anderson &amp; Sebastien Brion, 2014)</a:t>
            </a:r>
            <a:endParaRPr/>
          </a:p>
        </p:txBody>
      </p:sp>
      <p:sp>
        <p:nvSpPr>
          <p:cNvPr id="382" name="Google Shape;382;p16"/>
          <p:cNvSpPr/>
          <p:nvPr/>
        </p:nvSpPr>
        <p:spPr>
          <a:xfrm>
            <a:off x="5353291" y="4392592"/>
            <a:ext cx="2170253" cy="196769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 name="Google Shape;383;p16"/>
          <p:cNvSpPr/>
          <p:nvPr/>
        </p:nvSpPr>
        <p:spPr>
          <a:xfrm>
            <a:off x="5575140" y="4028018"/>
            <a:ext cx="1751636" cy="1221101"/>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16"/>
          <p:cNvSpPr/>
          <p:nvPr/>
        </p:nvSpPr>
        <p:spPr>
          <a:xfrm>
            <a:off x="7963380" y="2394176"/>
            <a:ext cx="2176041" cy="1394167"/>
          </a:xfrm>
          <a:prstGeom prst="rect">
            <a:avLst/>
          </a:prstGeom>
          <a:solidFill>
            <a:srgbClr val="65A69B"/>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lt1"/>
                </a:solidFill>
                <a:latin typeface="Calibri"/>
                <a:ea typeface="Calibri"/>
                <a:cs typeface="Calibri"/>
                <a:sym typeface="Calibri"/>
              </a:rPr>
              <a:t>???</a:t>
            </a:r>
            <a:endParaRPr/>
          </a:p>
        </p:txBody>
      </p:sp>
      <p:sp>
        <p:nvSpPr>
          <p:cNvPr id="385" name="Google Shape;385;p16"/>
          <p:cNvSpPr/>
          <p:nvPr/>
        </p:nvSpPr>
        <p:spPr>
          <a:xfrm>
            <a:off x="7951807" y="4230289"/>
            <a:ext cx="2176041" cy="1668734"/>
          </a:xfrm>
          <a:prstGeom prst="rect">
            <a:avLst/>
          </a:prstGeom>
          <a:solidFill>
            <a:srgbClr val="65A69B"/>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lt1"/>
                </a:solidFill>
                <a:latin typeface="Calibri"/>
                <a:ea typeface="Calibri"/>
                <a:cs typeface="Calibri"/>
                <a:sym typeface="Calibri"/>
              </a:rPr>
              <a:t>???</a:t>
            </a:r>
            <a:endParaRPr/>
          </a:p>
        </p:txBody>
      </p:sp>
      <p:sp>
        <p:nvSpPr>
          <p:cNvPr id="386" name="Google Shape;386;p16"/>
          <p:cNvSpPr/>
          <p:nvPr/>
        </p:nvSpPr>
        <p:spPr>
          <a:xfrm>
            <a:off x="7783236" y="1888772"/>
            <a:ext cx="2278285" cy="2278285"/>
          </a:xfrm>
          <a:prstGeom prst="ellipse">
            <a:avLst/>
          </a:prstGeom>
          <a:solidFill>
            <a:srgbClr val="FC7C88">
              <a:alpha val="29803"/>
            </a:srgb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393" name="Google Shape;393;p1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Aquisição, manutenção e perda do poder</a:t>
            </a:r>
            <a:endParaRPr/>
          </a:p>
        </p:txBody>
      </p:sp>
      <p:pic>
        <p:nvPicPr>
          <p:cNvPr id="394" name="Google Shape;394;p17"/>
          <p:cNvPicPr preferRelativeResize="0"/>
          <p:nvPr/>
        </p:nvPicPr>
        <p:blipFill rotWithShape="1">
          <a:blip r:embed="rId3">
            <a:alphaModFix/>
          </a:blip>
          <a:srcRect b="0" l="0" r="0" t="0"/>
          <a:stretch/>
        </p:blipFill>
        <p:spPr>
          <a:xfrm>
            <a:off x="2011326" y="2055262"/>
            <a:ext cx="8169348" cy="4263759"/>
          </a:xfrm>
          <a:prstGeom prst="rect">
            <a:avLst/>
          </a:prstGeom>
          <a:noFill/>
          <a:ln>
            <a:noFill/>
          </a:ln>
        </p:spPr>
      </p:pic>
      <p:sp>
        <p:nvSpPr>
          <p:cNvPr id="395" name="Google Shape;395;p17"/>
          <p:cNvSpPr/>
          <p:nvPr/>
        </p:nvSpPr>
        <p:spPr>
          <a:xfrm>
            <a:off x="2129742" y="2662177"/>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 name="Google Shape;396;p17"/>
          <p:cNvSpPr/>
          <p:nvPr/>
        </p:nvSpPr>
        <p:spPr>
          <a:xfrm>
            <a:off x="8038618" y="2138814"/>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 name="Google Shape;397;p17"/>
          <p:cNvSpPr/>
          <p:nvPr/>
        </p:nvSpPr>
        <p:spPr>
          <a:xfrm>
            <a:off x="8038618" y="3973009"/>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 name="Google Shape;398;p17"/>
          <p:cNvSpPr/>
          <p:nvPr/>
        </p:nvSpPr>
        <p:spPr>
          <a:xfrm>
            <a:off x="4539206" y="3804211"/>
            <a:ext cx="814085" cy="382929"/>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9" name="Google Shape;399;p17"/>
          <p:cNvSpPr/>
          <p:nvPr/>
        </p:nvSpPr>
        <p:spPr>
          <a:xfrm>
            <a:off x="5719823" y="4660739"/>
            <a:ext cx="1145893" cy="214132"/>
          </a:xfrm>
          <a:prstGeom prst="rect">
            <a:avLst/>
          </a:prstGeom>
          <a:solidFill>
            <a:srgbClr val="B83122"/>
          </a:solidFill>
          <a:ln cap="flat" cmpd="sng" w="12700">
            <a:solidFill>
              <a:srgbClr val="B8312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0" name="Google Shape;400;p17"/>
          <p:cNvSpPr txBox="1"/>
          <p:nvPr/>
        </p:nvSpPr>
        <p:spPr>
          <a:xfrm>
            <a:off x="1812629" y="2570370"/>
            <a:ext cx="2030166" cy="369332"/>
          </a:xfrm>
          <a:prstGeom prst="rect">
            <a:avLst/>
          </a:prstGeom>
          <a:solidFill>
            <a:srgbClr val="65A69B"/>
          </a:solidFill>
          <a:ln cap="flat" cmpd="sng" w="9525">
            <a:solidFill>
              <a:srgbClr val="65A69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Antecedentes</a:t>
            </a:r>
            <a:endParaRPr/>
          </a:p>
        </p:txBody>
      </p:sp>
      <p:sp>
        <p:nvSpPr>
          <p:cNvPr id="401" name="Google Shape;401;p17"/>
          <p:cNvSpPr txBox="1"/>
          <p:nvPr/>
        </p:nvSpPr>
        <p:spPr>
          <a:xfrm>
            <a:off x="4375230" y="3788343"/>
            <a:ext cx="110538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rgbClr val="FFD966"/>
                </a:solidFill>
                <a:latin typeface="Calibri"/>
                <a:ea typeface="Calibri"/>
                <a:cs typeface="Calibri"/>
                <a:sym typeface="Calibri"/>
              </a:rPr>
              <a:t>Poder</a:t>
            </a:r>
            <a:endParaRPr/>
          </a:p>
        </p:txBody>
      </p:sp>
      <p:sp>
        <p:nvSpPr>
          <p:cNvPr id="402" name="Google Shape;402;p17"/>
          <p:cNvSpPr txBox="1"/>
          <p:nvPr/>
        </p:nvSpPr>
        <p:spPr>
          <a:xfrm>
            <a:off x="7963382" y="2055262"/>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Manutenção</a:t>
            </a:r>
            <a:endParaRPr/>
          </a:p>
        </p:txBody>
      </p:sp>
      <p:sp>
        <p:nvSpPr>
          <p:cNvPr id="403" name="Google Shape;403;p17"/>
          <p:cNvSpPr txBox="1"/>
          <p:nvPr/>
        </p:nvSpPr>
        <p:spPr>
          <a:xfrm>
            <a:off x="7963382" y="3895409"/>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Perda</a:t>
            </a:r>
            <a:endParaRPr/>
          </a:p>
        </p:txBody>
      </p:sp>
      <p:sp>
        <p:nvSpPr>
          <p:cNvPr id="404" name="Google Shape;404;p17"/>
          <p:cNvSpPr txBox="1"/>
          <p:nvPr/>
        </p:nvSpPr>
        <p:spPr>
          <a:xfrm>
            <a:off x="5526911" y="4473186"/>
            <a:ext cx="1927186" cy="369332"/>
          </a:xfrm>
          <a:prstGeom prst="rect">
            <a:avLst/>
          </a:prstGeom>
          <a:solidFill>
            <a:srgbClr val="B83122"/>
          </a:solidFill>
          <a:ln cap="flat" cmpd="sng" w="9525">
            <a:solidFill>
              <a:srgbClr val="B8312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Moderadores</a:t>
            </a:r>
            <a:endParaRPr/>
          </a:p>
        </p:txBody>
      </p:sp>
      <p:sp>
        <p:nvSpPr>
          <p:cNvPr id="405" name="Google Shape;405;p17"/>
          <p:cNvSpPr txBox="1"/>
          <p:nvPr/>
        </p:nvSpPr>
        <p:spPr>
          <a:xfrm>
            <a:off x="1812629" y="2899735"/>
            <a:ext cx="2037953" cy="2416046"/>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Competência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relacionadas com as tarefas do trabalho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interpessoais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Posição estrutural</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Centralidade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Preenchendo buracos estruturais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Demografia e Morfologia</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Personalidade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Traços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Estilo interpessoal</a:t>
            </a:r>
            <a:endParaRPr/>
          </a:p>
        </p:txBody>
      </p:sp>
      <p:sp>
        <p:nvSpPr>
          <p:cNvPr id="406" name="Google Shape;406;p17"/>
          <p:cNvSpPr txBox="1"/>
          <p:nvPr/>
        </p:nvSpPr>
        <p:spPr>
          <a:xfrm>
            <a:off x="7963382" y="2387048"/>
            <a:ext cx="2176042" cy="1338828"/>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Justificação do sistema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Atribuições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Fisiologia e afeto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Cognição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Comportamento</a:t>
            </a:r>
            <a:endParaRPr/>
          </a:p>
        </p:txBody>
      </p:sp>
      <p:sp>
        <p:nvSpPr>
          <p:cNvPr id="407" name="Google Shape;407;p17"/>
          <p:cNvSpPr txBox="1"/>
          <p:nvPr/>
        </p:nvSpPr>
        <p:spPr>
          <a:xfrm>
            <a:off x="7951806" y="4228409"/>
            <a:ext cx="2176042" cy="1677382"/>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Competição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grupo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indivíduo</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Transgressões éticas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em tomar decisão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nas percepção interpessoal</a:t>
            </a:r>
            <a:endParaRPr/>
          </a:p>
        </p:txBody>
      </p:sp>
      <p:sp>
        <p:nvSpPr>
          <p:cNvPr id="408" name="Google Shape;408;p17"/>
          <p:cNvSpPr txBox="1"/>
          <p:nvPr/>
        </p:nvSpPr>
        <p:spPr>
          <a:xfrm>
            <a:off x="5526911" y="4815952"/>
            <a:ext cx="1927186" cy="1508105"/>
          </a:xfrm>
          <a:prstGeom prst="rect">
            <a:avLst/>
          </a:prstGeom>
          <a:solidFill>
            <a:srgbClr val="FBC9B5"/>
          </a:solidFill>
          <a:ln cap="flat" cmpd="sng" w="9525">
            <a:solidFill>
              <a:srgbClr val="FBC9B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Características pessoais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 pessoal para obter o poder</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Disposições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Respostas às ameaças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Estabilidade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Legitimidade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Status</a:t>
            </a:r>
            <a:endParaRPr/>
          </a:p>
        </p:txBody>
      </p:sp>
      <p:sp>
        <p:nvSpPr>
          <p:cNvPr id="409" name="Google Shape;409;p17"/>
          <p:cNvSpPr/>
          <p:nvPr/>
        </p:nvSpPr>
        <p:spPr>
          <a:xfrm>
            <a:off x="1554866" y="5960179"/>
            <a:ext cx="26351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000">
                <a:solidFill>
                  <a:schemeClr val="dk1"/>
                </a:solidFill>
                <a:latin typeface="Calibri"/>
                <a:ea typeface="Calibri"/>
                <a:cs typeface="Calibri"/>
                <a:sym typeface="Calibri"/>
              </a:rPr>
              <a:t>Figura: </a:t>
            </a:r>
            <a:r>
              <a:rPr i="1" lang="pt-BR" sz="1000">
                <a:solidFill>
                  <a:schemeClr val="dk1"/>
                </a:solidFill>
                <a:latin typeface="Calibri"/>
                <a:ea typeface="Calibri"/>
                <a:cs typeface="Calibri"/>
                <a:sym typeface="Calibri"/>
              </a:rPr>
              <a:t>Perspectives on Power in Organizations </a:t>
            </a:r>
            <a:r>
              <a:rPr lang="pt-BR" sz="1000">
                <a:solidFill>
                  <a:schemeClr val="dk1"/>
                </a:solidFill>
                <a:latin typeface="Calibri"/>
                <a:ea typeface="Calibri"/>
                <a:cs typeface="Calibri"/>
                <a:sym typeface="Calibri"/>
              </a:rPr>
              <a:t>(Cameron Anderson &amp; Sebastien Brion, 2014)</a:t>
            </a:r>
            <a:endParaRPr/>
          </a:p>
        </p:txBody>
      </p:sp>
      <p:sp>
        <p:nvSpPr>
          <p:cNvPr id="410" name="Google Shape;410;p17"/>
          <p:cNvSpPr/>
          <p:nvPr/>
        </p:nvSpPr>
        <p:spPr>
          <a:xfrm>
            <a:off x="5353291" y="4392592"/>
            <a:ext cx="2170253" cy="196769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1" name="Google Shape;411;p17"/>
          <p:cNvSpPr/>
          <p:nvPr/>
        </p:nvSpPr>
        <p:spPr>
          <a:xfrm>
            <a:off x="5575140" y="4028018"/>
            <a:ext cx="1751636" cy="1221101"/>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2" name="Google Shape;412;p17"/>
          <p:cNvSpPr/>
          <p:nvPr/>
        </p:nvSpPr>
        <p:spPr>
          <a:xfrm>
            <a:off x="7783236" y="1888772"/>
            <a:ext cx="2278285" cy="2278285"/>
          </a:xfrm>
          <a:prstGeom prst="ellipse">
            <a:avLst/>
          </a:prstGeom>
          <a:solidFill>
            <a:srgbClr val="FC7C88">
              <a:alpha val="29803"/>
            </a:srgb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3" name="Google Shape;413;p17"/>
          <p:cNvSpPr/>
          <p:nvPr/>
        </p:nvSpPr>
        <p:spPr>
          <a:xfrm>
            <a:off x="7951807" y="4230289"/>
            <a:ext cx="2176041" cy="1668734"/>
          </a:xfrm>
          <a:prstGeom prst="rect">
            <a:avLst/>
          </a:prstGeom>
          <a:solidFill>
            <a:srgbClr val="65A69B"/>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lt1"/>
                </a:solidFill>
                <a:latin typeface="Calibri"/>
                <a:ea typeface="Calibri"/>
                <a:cs typeface="Calibri"/>
                <a:sym typeface="Calibri"/>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5bddd9407d_0_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20" name="Google Shape;420;g35bddd9407d_0_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000"/>
              </a:spcBef>
              <a:spcAft>
                <a:spcPts val="0"/>
              </a:spcAft>
              <a:buNone/>
            </a:pPr>
            <a:r>
              <a:rPr lang="pt-BR">
                <a:latin typeface="Palatino Linotype"/>
                <a:ea typeface="Palatino Linotype"/>
                <a:cs typeface="Palatino Linotype"/>
                <a:sym typeface="Palatino Linotype"/>
              </a:rPr>
              <a:t>Jost &amp; Banaji (1994) have argued that the system justification motive leads individuals to defend and justify the status quo, which includes the hierarchical systems in which they function. This basic psychological motive to defend, legitimate, and bolster social systems manifests itself in the desire to see hierarchies as legitimate</a:t>
            </a:r>
            <a:endParaRPr>
              <a:latin typeface="Palatino Linotype"/>
              <a:ea typeface="Palatino Linotype"/>
              <a:cs typeface="Palatino Linotype"/>
              <a:sym typeface="Palatino Linotype"/>
            </a:endParaRPr>
          </a:p>
          <a:p>
            <a:pPr indent="0" lvl="0" marL="0" rtl="0" algn="l">
              <a:lnSpc>
                <a:spcPct val="115000"/>
              </a:lnSpc>
              <a:spcBef>
                <a:spcPts val="1000"/>
              </a:spcBef>
              <a:spcAft>
                <a:spcPts val="0"/>
              </a:spcAft>
              <a:buNone/>
            </a:pPr>
            <a:r>
              <a:t/>
            </a:r>
            <a:endParaRPr u="sng">
              <a:latin typeface="Palatino Linotype"/>
              <a:ea typeface="Palatino Linotype"/>
              <a:cs typeface="Palatino Linotype"/>
              <a:sym typeface="Palatino Linotype"/>
            </a:endParaRPr>
          </a:p>
          <a:p>
            <a:pPr indent="0" lvl="0" marL="0" rtl="0" algn="l">
              <a:lnSpc>
                <a:spcPct val="115000"/>
              </a:lnSpc>
              <a:spcBef>
                <a:spcPts val="1000"/>
              </a:spcBef>
              <a:spcAft>
                <a:spcPts val="0"/>
              </a:spcAft>
              <a:buNone/>
            </a:pPr>
            <a:r>
              <a:rPr lang="pt-BR" sz="1850" u="sng">
                <a:highlight>
                  <a:schemeClr val="lt1"/>
                </a:highlight>
                <a:latin typeface="Palatino Linotype"/>
                <a:ea typeface="Palatino Linotype"/>
                <a:cs typeface="Palatino Linotype"/>
                <a:sym typeface="Palatino Linotype"/>
              </a:rPr>
              <a:t>people get what they deserve, and they deserve what they get (ditado popular).</a:t>
            </a:r>
            <a:endParaRPr sz="3300" u="sng">
              <a:highlight>
                <a:schemeClr val="lt1"/>
              </a:highlight>
              <a:latin typeface="Palatino Linotype"/>
              <a:ea typeface="Palatino Linotype"/>
              <a:cs typeface="Palatino Linotype"/>
              <a:sym typeface="Palatino Linotype"/>
            </a:endParaRPr>
          </a:p>
        </p:txBody>
      </p:sp>
      <p:sp>
        <p:nvSpPr>
          <p:cNvPr id="421" name="Google Shape;421;g35bddd9407d_0_8"/>
          <p:cNvSpPr/>
          <p:nvPr/>
        </p:nvSpPr>
        <p:spPr>
          <a:xfrm>
            <a:off x="838197" y="1106423"/>
            <a:ext cx="10023600" cy="5844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M</a:t>
            </a:r>
            <a:r>
              <a:rPr lang="pt-BR" sz="3500">
                <a:solidFill>
                  <a:schemeClr val="lt1"/>
                </a:solidFill>
                <a:latin typeface="Palatino Linotype"/>
                <a:ea typeface="Palatino Linotype"/>
                <a:cs typeface="Palatino Linotype"/>
                <a:sym typeface="Palatino Linotype"/>
              </a:rPr>
              <a:t>anutenção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28" name="Google Shape;428;p18"/>
          <p:cNvSpPr txBox="1"/>
          <p:nvPr/>
        </p:nvSpPr>
        <p:spPr>
          <a:xfrm>
            <a:off x="1018572" y="2013994"/>
            <a:ext cx="1002367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Justificação do Sistema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Atribuições de qualidade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Afeto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Cognição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Comportamento</a:t>
            </a:r>
            <a:endParaRPr/>
          </a:p>
        </p:txBody>
      </p:sp>
      <p:sp>
        <p:nvSpPr>
          <p:cNvPr id="429" name="Google Shape;429;p1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Manutenção do poder</a:t>
            </a:r>
            <a:endParaRPr/>
          </a:p>
        </p:txBody>
      </p:sp>
      <p:sp>
        <p:nvSpPr>
          <p:cNvPr id="430" name="Google Shape;430;p18"/>
          <p:cNvSpPr/>
          <p:nvPr/>
        </p:nvSpPr>
        <p:spPr>
          <a:xfrm>
            <a:off x="4762983" y="2075418"/>
            <a:ext cx="6279266" cy="2451953"/>
          </a:xfrm>
          <a:prstGeom prst="rect">
            <a:avLst/>
          </a:prstGeom>
          <a:solidFill>
            <a:srgbClr val="8FFBEE"/>
          </a:solidFill>
          <a:ln>
            <a:noFill/>
          </a:ln>
        </p:spPr>
        <p:txBody>
          <a:bodyPr anchorCtr="0" anchor="t" bIns="45700" lIns="91425" spcFirstLastPara="1" rIns="91425" wrap="square" tIns="45700">
            <a:spAutoFit/>
          </a:bodyPr>
          <a:lstStyle/>
          <a:p>
            <a:pPr indent="0" lvl="0" marL="0" marR="0" rtl="0" algn="l">
              <a:lnSpc>
                <a:spcPct val="173307"/>
              </a:lnSpc>
              <a:spcBef>
                <a:spcPts val="0"/>
              </a:spcBef>
              <a:spcAft>
                <a:spcPts val="0"/>
              </a:spcAft>
              <a:buNone/>
            </a:pPr>
            <a:r>
              <a:rPr b="1" lang="pt-BR" sz="1300">
                <a:solidFill>
                  <a:srgbClr val="000000"/>
                </a:solidFill>
                <a:latin typeface="Palatino Linotype"/>
                <a:ea typeface="Palatino Linotype"/>
                <a:cs typeface="Palatino Linotype"/>
                <a:sym typeface="Palatino Linotype"/>
              </a:rPr>
              <a:t>Status Quo</a:t>
            </a:r>
            <a:endParaRPr/>
          </a:p>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As pessoas tendem a justificar e defender, legitimar e reforçar o Status Quo e um sistema de hierarquias. Mesmo pessoas com baixo nível de poder tendem a reforçar um sistema de hierarquias, diferenças de poder e suas consequências. Esse sistema de crenças reduz a força de vontade de indivíduos com baixo poder em lutar por mudanças. Alguns sistemas dificultam os indivíduos que estão por baixo de pensarem e refletirem sobre sua própria posição social.</a:t>
            </a:r>
            <a:endParaRPr/>
          </a:p>
        </p:txBody>
      </p:sp>
      <p:cxnSp>
        <p:nvCxnSpPr>
          <p:cNvPr id="431" name="Google Shape;431;p18"/>
          <p:cNvCxnSpPr/>
          <p:nvPr/>
        </p:nvCxnSpPr>
        <p:spPr>
          <a:xfrm>
            <a:off x="3755985" y="2488558"/>
            <a:ext cx="1006998" cy="11574"/>
          </a:xfrm>
          <a:prstGeom prst="straightConnector1">
            <a:avLst/>
          </a:prstGeom>
          <a:noFill/>
          <a:ln cap="flat" cmpd="sng" w="19050">
            <a:solidFill>
              <a:srgbClr val="2E75B5"/>
            </a:solidFill>
            <a:prstDash val="solid"/>
            <a:miter lim="800000"/>
            <a:headEnd len="sm" w="sm" type="none"/>
            <a:tailEnd len="med" w="med" type="triangle"/>
          </a:ln>
        </p:spPr>
      </p:cxnSp>
      <p:pic>
        <p:nvPicPr>
          <p:cNvPr descr="https://grupoevolucao.com.br/livro/Historia1/feudal1.png" id="432" name="Google Shape;432;p18"/>
          <p:cNvPicPr preferRelativeResize="0"/>
          <p:nvPr/>
        </p:nvPicPr>
        <p:blipFill rotWithShape="1">
          <a:blip r:embed="rId3">
            <a:alphaModFix/>
          </a:blip>
          <a:srcRect b="0" l="0" r="0" t="0"/>
          <a:stretch/>
        </p:blipFill>
        <p:spPr>
          <a:xfrm>
            <a:off x="6843047" y="4645624"/>
            <a:ext cx="2119137" cy="158935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39" name="Google Shape;439;p19"/>
          <p:cNvSpPr txBox="1"/>
          <p:nvPr/>
        </p:nvSpPr>
        <p:spPr>
          <a:xfrm>
            <a:off x="1018572" y="2013994"/>
            <a:ext cx="1002367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Justificação do Sistema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Atribuições de qualidade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Afeto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Cognição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Comportamento</a:t>
            </a:r>
            <a:endParaRPr/>
          </a:p>
        </p:txBody>
      </p:sp>
      <p:sp>
        <p:nvSpPr>
          <p:cNvPr id="440" name="Google Shape;440;p1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Manutenção do poder</a:t>
            </a:r>
            <a:endParaRPr/>
          </a:p>
        </p:txBody>
      </p:sp>
      <p:sp>
        <p:nvSpPr>
          <p:cNvPr id="441" name="Google Shape;441;p19"/>
          <p:cNvSpPr/>
          <p:nvPr/>
        </p:nvSpPr>
        <p:spPr>
          <a:xfrm>
            <a:off x="4762983" y="2069630"/>
            <a:ext cx="6279266" cy="947824"/>
          </a:xfrm>
          <a:prstGeom prst="rect">
            <a:avLst/>
          </a:prstGeom>
          <a:solidFill>
            <a:srgbClr val="8FFBEE"/>
          </a:solidFill>
          <a:ln>
            <a:noFill/>
          </a:ln>
        </p:spPr>
        <p:txBody>
          <a:bodyPr anchorCtr="0" anchor="t" bIns="45700" lIns="91425" spcFirstLastPara="1" rIns="91425" wrap="square" tIns="45700">
            <a:spAutoFit/>
          </a:bodyPr>
          <a:lstStyle/>
          <a:p>
            <a:pPr indent="0" lvl="0" marL="0" marR="0" rtl="0" algn="l">
              <a:lnSpc>
                <a:spcPct val="173307"/>
              </a:lnSpc>
              <a:spcBef>
                <a:spcPts val="0"/>
              </a:spcBef>
              <a:spcAft>
                <a:spcPts val="0"/>
              </a:spcAft>
              <a:buNone/>
            </a:pPr>
            <a:r>
              <a:rPr b="1" lang="pt-BR" sz="1300">
                <a:solidFill>
                  <a:srgbClr val="000000"/>
                </a:solidFill>
                <a:latin typeface="Palatino Linotype"/>
                <a:ea typeface="Palatino Linotype"/>
                <a:cs typeface="Palatino Linotype"/>
                <a:sym typeface="Palatino Linotype"/>
              </a:rPr>
              <a:t>Efeito Halo e efeito da Liderança Romantizada</a:t>
            </a:r>
            <a:endParaRPr/>
          </a:p>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O efeito halo é quando uma característica da pessoa é usada para fazer um julgamento geral sobre ela.</a:t>
            </a:r>
            <a:endParaRPr/>
          </a:p>
        </p:txBody>
      </p:sp>
      <p:cxnSp>
        <p:nvCxnSpPr>
          <p:cNvPr id="442" name="Google Shape;442;p19"/>
          <p:cNvCxnSpPr/>
          <p:nvPr/>
        </p:nvCxnSpPr>
        <p:spPr>
          <a:xfrm>
            <a:off x="4091651" y="2777924"/>
            <a:ext cx="671332" cy="5782"/>
          </a:xfrm>
          <a:prstGeom prst="straightConnector1">
            <a:avLst/>
          </a:prstGeom>
          <a:noFill/>
          <a:ln cap="flat" cmpd="sng" w="19050">
            <a:solidFill>
              <a:srgbClr val="2E75B5"/>
            </a:solidFill>
            <a:prstDash val="solid"/>
            <a:miter lim="800000"/>
            <a:headEnd len="sm" w="sm" type="none"/>
            <a:tailEnd len="med" w="med" type="triangle"/>
          </a:ln>
        </p:spPr>
      </p:cxnSp>
      <p:pic>
        <p:nvPicPr>
          <p:cNvPr id="443" name="Google Shape;443;p19"/>
          <p:cNvPicPr preferRelativeResize="0"/>
          <p:nvPr/>
        </p:nvPicPr>
        <p:blipFill rotWithShape="1">
          <a:blip r:embed="rId3">
            <a:alphaModFix/>
          </a:blip>
          <a:srcRect b="0" l="0" r="0" t="0"/>
          <a:stretch/>
        </p:blipFill>
        <p:spPr>
          <a:xfrm>
            <a:off x="6299141" y="3138358"/>
            <a:ext cx="3206949" cy="301453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50" name="Google Shape;450;p20"/>
          <p:cNvSpPr txBox="1"/>
          <p:nvPr/>
        </p:nvSpPr>
        <p:spPr>
          <a:xfrm>
            <a:off x="1018572" y="2013994"/>
            <a:ext cx="1002367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Justificação do Sistema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Atribuições de qualidade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Afeto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Cognição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Comportamento</a:t>
            </a:r>
            <a:endParaRPr/>
          </a:p>
        </p:txBody>
      </p:sp>
      <p:sp>
        <p:nvSpPr>
          <p:cNvPr id="451" name="Google Shape;451;p2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Manutenção do poder</a:t>
            </a:r>
            <a:endParaRPr/>
          </a:p>
        </p:txBody>
      </p:sp>
      <p:sp>
        <p:nvSpPr>
          <p:cNvPr id="452" name="Google Shape;452;p20"/>
          <p:cNvSpPr/>
          <p:nvPr/>
        </p:nvSpPr>
        <p:spPr>
          <a:xfrm>
            <a:off x="4762983" y="2069630"/>
            <a:ext cx="6279266" cy="2422586"/>
          </a:xfrm>
          <a:prstGeom prst="rect">
            <a:avLst/>
          </a:prstGeom>
          <a:solidFill>
            <a:srgbClr val="8FFBEE"/>
          </a:solidFill>
          <a:ln>
            <a:noFill/>
          </a:ln>
        </p:spPr>
        <p:txBody>
          <a:bodyPr anchorCtr="0" anchor="t" bIns="45700" lIns="91425" spcFirstLastPara="1" rIns="91425" wrap="square" tIns="45700">
            <a:spAutoFit/>
          </a:bodyPr>
          <a:lstStyle/>
          <a:p>
            <a:pPr indent="0" lvl="0" marL="0" marR="0" rtl="0" algn="l">
              <a:lnSpc>
                <a:spcPct val="173307"/>
              </a:lnSpc>
              <a:spcBef>
                <a:spcPts val="0"/>
              </a:spcBef>
              <a:spcAft>
                <a:spcPts val="0"/>
              </a:spcAft>
              <a:buNone/>
            </a:pPr>
            <a:r>
              <a:rPr b="1" lang="pt-BR" sz="1300">
                <a:solidFill>
                  <a:srgbClr val="000000"/>
                </a:solidFill>
                <a:latin typeface="Palatino Linotype"/>
                <a:ea typeface="Palatino Linotype"/>
                <a:cs typeface="Palatino Linotype"/>
                <a:sym typeface="Palatino Linotype"/>
              </a:rPr>
              <a:t>Efeito Halo e efeito da Liderança Romantizada</a:t>
            </a:r>
            <a:endParaRPr/>
          </a:p>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O efeito halo é quando uma característica da pessoa é usada para fazer um julgamento geral sobre ela.</a:t>
            </a:r>
            <a:endParaRPr/>
          </a:p>
          <a:p>
            <a:pPr indent="0" lvl="0" marL="0" marR="0" rtl="0" algn="l">
              <a:lnSpc>
                <a:spcPct val="173307"/>
              </a:lnSpc>
              <a:spcBef>
                <a:spcPts val="0"/>
              </a:spcBef>
              <a:spcAft>
                <a:spcPts val="0"/>
              </a:spcAft>
              <a:buNone/>
            </a:pPr>
            <a:r>
              <a:t/>
            </a:r>
            <a:endParaRPr sz="1300">
              <a:solidFill>
                <a:srgbClr val="000000"/>
              </a:solidFill>
              <a:latin typeface="Palatino Linotype"/>
              <a:ea typeface="Palatino Linotype"/>
              <a:cs typeface="Palatino Linotype"/>
              <a:sym typeface="Palatino Linotype"/>
            </a:endParaRPr>
          </a:p>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Uma vez que um indivíduo obtém o poder, outras pessoas tendem a percebê-lo de forma "mais positiva". As pessoas tendem a enxergar a pessoa com maior status e poder como mais competentes, mesmo quando não são.</a:t>
            </a:r>
            <a:endParaRPr/>
          </a:p>
        </p:txBody>
      </p:sp>
      <p:cxnSp>
        <p:nvCxnSpPr>
          <p:cNvPr id="453" name="Google Shape;453;p20"/>
          <p:cNvCxnSpPr/>
          <p:nvPr/>
        </p:nvCxnSpPr>
        <p:spPr>
          <a:xfrm>
            <a:off x="4091651" y="2777924"/>
            <a:ext cx="671332" cy="5782"/>
          </a:xfrm>
          <a:prstGeom prst="straightConnector1">
            <a:avLst/>
          </a:prstGeom>
          <a:noFill/>
          <a:ln cap="flat" cmpd="sng" w="19050">
            <a:solidFill>
              <a:srgbClr val="2E75B5"/>
            </a:solidFill>
            <a:prstDash val="solid"/>
            <a:miter lim="800000"/>
            <a:headEnd len="sm" w="sm" type="none"/>
            <a:tailEnd len="med" w="med" type="triangle"/>
          </a:ln>
        </p:spPr>
      </p:cxnSp>
      <p:pic>
        <p:nvPicPr>
          <p:cNvPr descr="https://cutecatmama.com/wp-content/uploads/2018/09/Lion-Mane-For-Cats.jpg" id="454" name="Google Shape;454;p20"/>
          <p:cNvPicPr preferRelativeResize="0"/>
          <p:nvPr/>
        </p:nvPicPr>
        <p:blipFill rotWithShape="1">
          <a:blip r:embed="rId3">
            <a:alphaModFix/>
          </a:blip>
          <a:srcRect b="0" l="0" r="0" t="0"/>
          <a:stretch/>
        </p:blipFill>
        <p:spPr>
          <a:xfrm>
            <a:off x="8114963" y="4629336"/>
            <a:ext cx="1598381" cy="1598381"/>
          </a:xfrm>
          <a:prstGeom prst="rect">
            <a:avLst/>
          </a:prstGeom>
          <a:noFill/>
          <a:ln>
            <a:noFill/>
          </a:ln>
        </p:spPr>
      </p:pic>
      <p:pic>
        <p:nvPicPr>
          <p:cNvPr id="455" name="Google Shape;455;p20"/>
          <p:cNvPicPr preferRelativeResize="0"/>
          <p:nvPr/>
        </p:nvPicPr>
        <p:blipFill rotWithShape="1">
          <a:blip r:embed="rId4">
            <a:alphaModFix/>
          </a:blip>
          <a:srcRect b="0" l="0" r="0" t="0"/>
          <a:stretch/>
        </p:blipFill>
        <p:spPr>
          <a:xfrm>
            <a:off x="6158841" y="4632544"/>
            <a:ext cx="1597749" cy="159517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62" name="Google Shape;462;p21"/>
          <p:cNvSpPr txBox="1"/>
          <p:nvPr/>
        </p:nvSpPr>
        <p:spPr>
          <a:xfrm>
            <a:off x="1018572" y="2013994"/>
            <a:ext cx="1002367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Justificação do Sistema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Atribuições de qualidade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Afeto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Cognição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Comportamento</a:t>
            </a:r>
            <a:endParaRPr/>
          </a:p>
        </p:txBody>
      </p:sp>
      <p:sp>
        <p:nvSpPr>
          <p:cNvPr id="463" name="Google Shape;463;p2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Manutenção do poder</a:t>
            </a:r>
            <a:endParaRPr/>
          </a:p>
        </p:txBody>
      </p:sp>
      <p:sp>
        <p:nvSpPr>
          <p:cNvPr id="464" name="Google Shape;464;p21"/>
          <p:cNvSpPr/>
          <p:nvPr/>
        </p:nvSpPr>
        <p:spPr>
          <a:xfrm>
            <a:off x="4762975" y="2112650"/>
            <a:ext cx="6279300" cy="3607800"/>
          </a:xfrm>
          <a:prstGeom prst="rect">
            <a:avLst/>
          </a:prstGeom>
          <a:solidFill>
            <a:srgbClr val="8FFBEE"/>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pt-BR" sz="2200">
                <a:solidFill>
                  <a:srgbClr val="000000"/>
                </a:solidFill>
                <a:latin typeface="Palatino Linotype"/>
                <a:ea typeface="Palatino Linotype"/>
                <a:cs typeface="Palatino Linotype"/>
                <a:sym typeface="Palatino Linotype"/>
              </a:rPr>
              <a:t>O poder, uma vez adquirido, transformam as pessoas que o detém. </a:t>
            </a:r>
            <a:endParaRPr sz="2300"/>
          </a:p>
          <a:p>
            <a:pPr indent="0" lvl="0" marL="0" marR="0" rtl="0" algn="l">
              <a:lnSpc>
                <a:spcPct val="100000"/>
              </a:lnSpc>
              <a:spcBef>
                <a:spcPts val="0"/>
              </a:spcBef>
              <a:spcAft>
                <a:spcPts val="0"/>
              </a:spcAft>
              <a:buNone/>
            </a:pPr>
            <a:r>
              <a:t/>
            </a:r>
            <a:endParaRPr sz="22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2200">
                <a:solidFill>
                  <a:srgbClr val="000000"/>
                </a:solidFill>
                <a:latin typeface="Palatino Linotype"/>
                <a:ea typeface="Palatino Linotype"/>
                <a:cs typeface="Palatino Linotype"/>
                <a:sym typeface="Palatino Linotype"/>
              </a:rPr>
              <a:t>As consequências psicológicas de ser poderoso "capacita" as pessoas a se manterem em posições de vantagem.</a:t>
            </a:r>
            <a:endParaRPr sz="2300"/>
          </a:p>
          <a:p>
            <a:pPr indent="0" lvl="0" marL="0" marR="0" rtl="0" algn="l">
              <a:lnSpc>
                <a:spcPct val="100000"/>
              </a:lnSpc>
              <a:spcBef>
                <a:spcPts val="0"/>
              </a:spcBef>
              <a:spcAft>
                <a:spcPts val="0"/>
              </a:spcAft>
              <a:buNone/>
            </a:pPr>
            <a:r>
              <a:t/>
            </a:r>
            <a:endParaRPr sz="22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2200">
                <a:solidFill>
                  <a:srgbClr val="000000"/>
                </a:solidFill>
                <a:latin typeface="Palatino Linotype"/>
                <a:ea typeface="Palatino Linotype"/>
                <a:cs typeface="Palatino Linotype"/>
                <a:sym typeface="Palatino Linotype"/>
              </a:rPr>
              <a:t>Especificamente, o poder impacta em três aspectos do comportamento que facilitam a se manter no poder: </a:t>
            </a:r>
            <a:r>
              <a:rPr b="1" lang="pt-BR" sz="2200">
                <a:solidFill>
                  <a:srgbClr val="000000"/>
                </a:solidFill>
                <a:latin typeface="Palatino Linotype"/>
                <a:ea typeface="Palatino Linotype"/>
                <a:cs typeface="Palatino Linotype"/>
                <a:sym typeface="Palatino Linotype"/>
              </a:rPr>
              <a:t>afeto</a:t>
            </a:r>
            <a:r>
              <a:rPr lang="pt-BR" sz="2200">
                <a:solidFill>
                  <a:srgbClr val="000000"/>
                </a:solidFill>
                <a:latin typeface="Palatino Linotype"/>
                <a:ea typeface="Palatino Linotype"/>
                <a:cs typeface="Palatino Linotype"/>
                <a:sym typeface="Palatino Linotype"/>
              </a:rPr>
              <a:t>, </a:t>
            </a:r>
            <a:r>
              <a:rPr b="1" lang="pt-BR" sz="2200">
                <a:solidFill>
                  <a:srgbClr val="000000"/>
                </a:solidFill>
                <a:latin typeface="Palatino Linotype"/>
                <a:ea typeface="Palatino Linotype"/>
                <a:cs typeface="Palatino Linotype"/>
                <a:sym typeface="Palatino Linotype"/>
              </a:rPr>
              <a:t>cognição</a:t>
            </a:r>
            <a:r>
              <a:rPr lang="pt-BR" sz="2200">
                <a:solidFill>
                  <a:srgbClr val="000000"/>
                </a:solidFill>
                <a:latin typeface="Palatino Linotype"/>
                <a:ea typeface="Palatino Linotype"/>
                <a:cs typeface="Palatino Linotype"/>
                <a:sym typeface="Palatino Linotype"/>
              </a:rPr>
              <a:t> e </a:t>
            </a:r>
            <a:r>
              <a:rPr b="1" lang="pt-BR" sz="2200">
                <a:solidFill>
                  <a:srgbClr val="000000"/>
                </a:solidFill>
                <a:latin typeface="Palatino Linotype"/>
                <a:ea typeface="Palatino Linotype"/>
                <a:cs typeface="Palatino Linotype"/>
                <a:sym typeface="Palatino Linotype"/>
              </a:rPr>
              <a:t>comportamento</a:t>
            </a:r>
            <a:r>
              <a:rPr lang="pt-BR" sz="2200">
                <a:solidFill>
                  <a:srgbClr val="000000"/>
                </a:solidFill>
                <a:latin typeface="Palatino Linotype"/>
                <a:ea typeface="Palatino Linotype"/>
                <a:cs typeface="Palatino Linotype"/>
                <a:sym typeface="Palatino Linotype"/>
              </a:rPr>
              <a:t>.</a:t>
            </a:r>
            <a:endParaRPr sz="2300"/>
          </a:p>
        </p:txBody>
      </p:sp>
      <p:cxnSp>
        <p:nvCxnSpPr>
          <p:cNvPr id="465" name="Google Shape;465;p21"/>
          <p:cNvCxnSpPr/>
          <p:nvPr/>
        </p:nvCxnSpPr>
        <p:spPr>
          <a:xfrm>
            <a:off x="3113590" y="3302971"/>
            <a:ext cx="1649393" cy="18958"/>
          </a:xfrm>
          <a:prstGeom prst="straightConnector1">
            <a:avLst/>
          </a:prstGeom>
          <a:noFill/>
          <a:ln cap="flat" cmpd="sng" w="19050">
            <a:solidFill>
              <a:srgbClr val="2E75B5"/>
            </a:solidFill>
            <a:prstDash val="solid"/>
            <a:miter lim="800000"/>
            <a:headEnd len="sm" w="sm"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72" name="Google Shape;472;p22"/>
          <p:cNvSpPr txBox="1"/>
          <p:nvPr/>
        </p:nvSpPr>
        <p:spPr>
          <a:xfrm>
            <a:off x="1018572" y="2013994"/>
            <a:ext cx="1002367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Justificação do Sistema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Atribuições de qualidade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Afeto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Cognição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Comportamento</a:t>
            </a:r>
            <a:endParaRPr/>
          </a:p>
        </p:txBody>
      </p:sp>
      <p:sp>
        <p:nvSpPr>
          <p:cNvPr id="473" name="Google Shape;473;p2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Manutenção do poder</a:t>
            </a:r>
            <a:endParaRPr/>
          </a:p>
        </p:txBody>
      </p:sp>
      <p:sp>
        <p:nvSpPr>
          <p:cNvPr id="474" name="Google Shape;474;p22"/>
          <p:cNvSpPr/>
          <p:nvPr/>
        </p:nvSpPr>
        <p:spPr>
          <a:xfrm>
            <a:off x="4762975" y="2161401"/>
            <a:ext cx="6279300" cy="2800200"/>
          </a:xfrm>
          <a:prstGeom prst="rect">
            <a:avLst/>
          </a:prstGeom>
          <a:solidFill>
            <a:srgbClr val="8FFBEE"/>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pt-BR" sz="2000">
                <a:solidFill>
                  <a:srgbClr val="000000"/>
                </a:solidFill>
                <a:latin typeface="Palatino Linotype"/>
                <a:ea typeface="Palatino Linotype"/>
                <a:cs typeface="Palatino Linotype"/>
                <a:sym typeface="Palatino Linotype"/>
              </a:rPr>
              <a:t>Pessoas com mais poder tendem a experienciar e expressar afetos mais positivos e maior bem-estar subjetivo, enquanto pessoas com menos poder tendem a expressar afetos mais negativos.</a:t>
            </a:r>
            <a:endParaRPr sz="2100"/>
          </a:p>
          <a:p>
            <a:pPr indent="0" lvl="0" marL="0" marR="0" rtl="0" algn="l">
              <a:lnSpc>
                <a:spcPct val="100000"/>
              </a:lnSpc>
              <a:spcBef>
                <a:spcPts val="0"/>
              </a:spcBef>
              <a:spcAft>
                <a:spcPts val="0"/>
              </a:spcAft>
              <a:buNone/>
            </a:pPr>
            <a:r>
              <a:t/>
            </a:r>
            <a:endParaRPr sz="20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2000">
                <a:solidFill>
                  <a:srgbClr val="000000"/>
                </a:solidFill>
                <a:latin typeface="Palatino Linotype"/>
                <a:ea typeface="Palatino Linotype"/>
                <a:cs typeface="Palatino Linotype"/>
                <a:sym typeface="Palatino Linotype"/>
              </a:rPr>
              <a:t>Pesquisas mostram que pessoas "empoderadas" melhoram suas saúde mental, hormonal, cardiovascular, imunológica e reprodutiva, o que aumenta suas performances.</a:t>
            </a:r>
            <a:endParaRPr sz="2100"/>
          </a:p>
        </p:txBody>
      </p:sp>
      <p:cxnSp>
        <p:nvCxnSpPr>
          <p:cNvPr id="475" name="Google Shape;475;p22"/>
          <p:cNvCxnSpPr/>
          <p:nvPr/>
        </p:nvCxnSpPr>
        <p:spPr>
          <a:xfrm>
            <a:off x="2031357" y="3564998"/>
            <a:ext cx="2731626" cy="0"/>
          </a:xfrm>
          <a:prstGeom prst="straightConnector1">
            <a:avLst/>
          </a:prstGeom>
          <a:noFill/>
          <a:ln cap="flat" cmpd="sng" w="19050">
            <a:solidFill>
              <a:srgbClr val="2E75B5"/>
            </a:solidFill>
            <a:prstDash val="solid"/>
            <a:miter lim="800000"/>
            <a:headEnd len="sm" w="sm" type="none"/>
            <a:tailEnd len="med" w="med" type="triangle"/>
          </a:ln>
        </p:spPr>
      </p:cxnSp>
      <p:pic>
        <p:nvPicPr>
          <p:cNvPr descr="https://warrenvillage.org/wp-content/uploads/2017/02/Individual-Wellness-Icons-Horizontal.jpg" id="476" name="Google Shape;476;p22"/>
          <p:cNvPicPr preferRelativeResize="0"/>
          <p:nvPr/>
        </p:nvPicPr>
        <p:blipFill rotWithShape="1">
          <a:blip r:embed="rId3">
            <a:alphaModFix/>
          </a:blip>
          <a:srcRect b="0" l="0" r="0" t="0"/>
          <a:stretch/>
        </p:blipFill>
        <p:spPr>
          <a:xfrm>
            <a:off x="6111091" y="4961621"/>
            <a:ext cx="3587799" cy="1345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83" name="Google Shape;483;p23"/>
          <p:cNvSpPr txBox="1"/>
          <p:nvPr/>
        </p:nvSpPr>
        <p:spPr>
          <a:xfrm>
            <a:off x="1018572" y="2013994"/>
            <a:ext cx="1002367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Justificação do Sistema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Atribuições de qualidade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Afeto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Cognição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Comportamento</a:t>
            </a:r>
            <a:endParaRPr/>
          </a:p>
        </p:txBody>
      </p:sp>
      <p:sp>
        <p:nvSpPr>
          <p:cNvPr id="484" name="Google Shape;484;p2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Manutenção do poder</a:t>
            </a:r>
            <a:endParaRPr/>
          </a:p>
        </p:txBody>
      </p:sp>
      <p:sp>
        <p:nvSpPr>
          <p:cNvPr id="485" name="Google Shape;485;p23"/>
          <p:cNvSpPr/>
          <p:nvPr/>
        </p:nvSpPr>
        <p:spPr>
          <a:xfrm>
            <a:off x="4762975" y="2014003"/>
            <a:ext cx="6279300" cy="2652600"/>
          </a:xfrm>
          <a:prstGeom prst="rect">
            <a:avLst/>
          </a:prstGeom>
          <a:solidFill>
            <a:srgbClr val="8FFBEE"/>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pt-BR" sz="2000">
                <a:solidFill>
                  <a:srgbClr val="000000"/>
                </a:solidFill>
                <a:latin typeface="Palatino Linotype"/>
                <a:ea typeface="Palatino Linotype"/>
                <a:cs typeface="Palatino Linotype"/>
                <a:sym typeface="Palatino Linotype"/>
              </a:rPr>
              <a:t>O empoderamento também aumenta a performance em várias tarefas cognitivas: estabelecer e alcançar metas, pensamento abstrato e analítico, criatividade, planejamento futuro, autoconfiança. </a:t>
            </a:r>
            <a:endParaRPr sz="2100"/>
          </a:p>
          <a:p>
            <a:pPr indent="0" lvl="0" marL="0" marR="0" rtl="0" algn="l">
              <a:lnSpc>
                <a:spcPct val="100000"/>
              </a:lnSpc>
              <a:spcBef>
                <a:spcPts val="0"/>
              </a:spcBef>
              <a:spcAft>
                <a:spcPts val="0"/>
              </a:spcAft>
              <a:buNone/>
            </a:pPr>
            <a:r>
              <a:t/>
            </a:r>
            <a:endParaRPr sz="20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2000">
                <a:solidFill>
                  <a:srgbClr val="000000"/>
                </a:solidFill>
                <a:latin typeface="Palatino Linotype"/>
                <a:ea typeface="Palatino Linotype"/>
                <a:cs typeface="Palatino Linotype"/>
                <a:sym typeface="Palatino Linotype"/>
              </a:rPr>
              <a:t>Dessa forma, o empoderamento dá vantagens individuais sobre outros competidores em termos de </a:t>
            </a:r>
            <a:r>
              <a:rPr b="1" lang="pt-BR" sz="2000">
                <a:solidFill>
                  <a:srgbClr val="000000"/>
                </a:solidFill>
                <a:latin typeface="Palatino Linotype"/>
                <a:ea typeface="Palatino Linotype"/>
                <a:cs typeface="Palatino Linotype"/>
                <a:sym typeface="Palatino Linotype"/>
              </a:rPr>
              <a:t>raciocínio</a:t>
            </a:r>
            <a:r>
              <a:rPr lang="pt-BR" sz="2000">
                <a:solidFill>
                  <a:srgbClr val="000000"/>
                </a:solidFill>
                <a:latin typeface="Palatino Linotype"/>
                <a:ea typeface="Palatino Linotype"/>
                <a:cs typeface="Palatino Linotype"/>
                <a:sym typeface="Palatino Linotype"/>
              </a:rPr>
              <a:t>.</a:t>
            </a:r>
            <a:endParaRPr sz="2100"/>
          </a:p>
        </p:txBody>
      </p:sp>
      <p:cxnSp>
        <p:nvCxnSpPr>
          <p:cNvPr id="486" name="Google Shape;486;p23"/>
          <p:cNvCxnSpPr/>
          <p:nvPr/>
        </p:nvCxnSpPr>
        <p:spPr>
          <a:xfrm>
            <a:off x="2419109" y="3848582"/>
            <a:ext cx="2343874" cy="17357"/>
          </a:xfrm>
          <a:prstGeom prst="straightConnector1">
            <a:avLst/>
          </a:prstGeom>
          <a:noFill/>
          <a:ln cap="flat" cmpd="sng" w="19050">
            <a:solidFill>
              <a:srgbClr val="2E75B5"/>
            </a:solidFill>
            <a:prstDash val="solid"/>
            <a:miter lim="800000"/>
            <a:headEnd len="sm" w="sm" type="none"/>
            <a:tailEnd len="med" w="med" type="triangle"/>
          </a:ln>
        </p:spPr>
      </p:cxnSp>
      <p:pic>
        <p:nvPicPr>
          <p:cNvPr id="487" name="Google Shape;487;p23"/>
          <p:cNvPicPr preferRelativeResize="0"/>
          <p:nvPr/>
        </p:nvPicPr>
        <p:blipFill rotWithShape="1">
          <a:blip r:embed="rId3">
            <a:alphaModFix/>
          </a:blip>
          <a:srcRect b="0" l="0" r="0" t="0"/>
          <a:stretch/>
        </p:blipFill>
        <p:spPr>
          <a:xfrm>
            <a:off x="6808191" y="4721083"/>
            <a:ext cx="1693413" cy="147242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494" name="Google Shape;494;p24"/>
          <p:cNvSpPr txBox="1"/>
          <p:nvPr/>
        </p:nvSpPr>
        <p:spPr>
          <a:xfrm>
            <a:off x="1018572" y="2013994"/>
            <a:ext cx="1002367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Justificação do Sistema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Atribuições de qualidade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Afeto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Cognição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Comportamento</a:t>
            </a:r>
            <a:endParaRPr/>
          </a:p>
        </p:txBody>
      </p:sp>
      <p:sp>
        <p:nvSpPr>
          <p:cNvPr id="495" name="Google Shape;495;p2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Manutenção do poder</a:t>
            </a:r>
            <a:endParaRPr/>
          </a:p>
        </p:txBody>
      </p:sp>
      <p:sp>
        <p:nvSpPr>
          <p:cNvPr id="496" name="Google Shape;496;p24"/>
          <p:cNvSpPr/>
          <p:nvPr/>
        </p:nvSpPr>
        <p:spPr>
          <a:xfrm>
            <a:off x="4762983" y="2804620"/>
            <a:ext cx="6279300" cy="2746800"/>
          </a:xfrm>
          <a:prstGeom prst="rect">
            <a:avLst/>
          </a:prstGeom>
          <a:solidFill>
            <a:srgbClr val="8FFBEE"/>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pt-BR" sz="1900">
                <a:solidFill>
                  <a:srgbClr val="000000"/>
                </a:solidFill>
                <a:latin typeface="Palatino Linotype"/>
                <a:ea typeface="Palatino Linotype"/>
                <a:cs typeface="Palatino Linotype"/>
                <a:sym typeface="Palatino Linotype"/>
              </a:rPr>
              <a:t>O empoderamento também afeta a forma como os indivíduos interagem com o ambiente em que estão inseridos. </a:t>
            </a:r>
            <a:endParaRPr sz="2000"/>
          </a:p>
          <a:p>
            <a:pPr indent="0" lvl="0" marL="0" marR="0" rtl="0" algn="l">
              <a:lnSpc>
                <a:spcPct val="100000"/>
              </a:lnSpc>
              <a:spcBef>
                <a:spcPts val="0"/>
              </a:spcBef>
              <a:spcAft>
                <a:spcPts val="0"/>
              </a:spcAft>
              <a:buNone/>
            </a:pPr>
            <a:r>
              <a:t/>
            </a:r>
            <a:endParaRPr sz="19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900">
                <a:solidFill>
                  <a:srgbClr val="000000"/>
                </a:solidFill>
                <a:latin typeface="Palatino Linotype"/>
                <a:ea typeface="Palatino Linotype"/>
                <a:cs typeface="Palatino Linotype"/>
                <a:sym typeface="Palatino Linotype"/>
              </a:rPr>
              <a:t>Pessoas empoderadas são mais desinibidas, buscam mais ativamente alcançar seus objetivos e atuam mais politicamente.</a:t>
            </a:r>
            <a:endParaRPr sz="2000"/>
          </a:p>
          <a:p>
            <a:pPr indent="0" lvl="0" marL="0" marR="0" rtl="0" algn="l">
              <a:lnSpc>
                <a:spcPct val="100000"/>
              </a:lnSpc>
              <a:spcBef>
                <a:spcPts val="0"/>
              </a:spcBef>
              <a:spcAft>
                <a:spcPts val="0"/>
              </a:spcAft>
              <a:buNone/>
            </a:pPr>
            <a:r>
              <a:t/>
            </a:r>
            <a:endParaRPr sz="19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900">
                <a:solidFill>
                  <a:srgbClr val="000000"/>
                </a:solidFill>
                <a:latin typeface="Palatino Linotype"/>
                <a:ea typeface="Palatino Linotype"/>
                <a:cs typeface="Palatino Linotype"/>
                <a:sym typeface="Palatino Linotype"/>
              </a:rPr>
              <a:t>Pessoas no poder tendem a se manter no poder por possuírem maior controle dos recursos, poderem alterar a dinâmica dos contextos em que estão, formar coalisões, </a:t>
            </a:r>
            <a:r>
              <a:rPr lang="pt-BR" sz="1300">
                <a:solidFill>
                  <a:srgbClr val="000000"/>
                </a:solidFill>
                <a:latin typeface="Palatino Linotype"/>
                <a:ea typeface="Palatino Linotype"/>
                <a:cs typeface="Palatino Linotype"/>
                <a:sym typeface="Palatino Linotype"/>
              </a:rPr>
              <a:t>etc.</a:t>
            </a:r>
            <a:endParaRPr/>
          </a:p>
        </p:txBody>
      </p:sp>
      <p:cxnSp>
        <p:nvCxnSpPr>
          <p:cNvPr id="497" name="Google Shape;497;p24"/>
          <p:cNvCxnSpPr/>
          <p:nvPr/>
        </p:nvCxnSpPr>
        <p:spPr>
          <a:xfrm>
            <a:off x="3142527" y="4137949"/>
            <a:ext cx="1620456" cy="5779"/>
          </a:xfrm>
          <a:prstGeom prst="straightConnector1">
            <a:avLst/>
          </a:prstGeom>
          <a:noFill/>
          <a:ln cap="flat" cmpd="sng" w="19050">
            <a:solidFill>
              <a:srgbClr val="2E75B5"/>
            </a:solidFill>
            <a:prstDash val="solid"/>
            <a:miter lim="800000"/>
            <a:headEnd len="sm" w="sm" type="none"/>
            <a:tailEnd len="med" w="med" type="triangle"/>
          </a:ln>
        </p:spPr>
      </p:cxnSp>
      <p:pic>
        <p:nvPicPr>
          <p:cNvPr descr="https://liberationist.org/wp-content/uploads/2019/10/people-dont-need-empowerment-they-need-autonomy-1200x675.jpg" id="498" name="Google Shape;498;p24"/>
          <p:cNvPicPr preferRelativeResize="0"/>
          <p:nvPr/>
        </p:nvPicPr>
        <p:blipFill rotWithShape="1">
          <a:blip r:embed="rId3">
            <a:alphaModFix/>
          </a:blip>
          <a:srcRect b="0" l="0" r="0" t="0"/>
          <a:stretch/>
        </p:blipFill>
        <p:spPr>
          <a:xfrm>
            <a:off x="1678328" y="4522806"/>
            <a:ext cx="3026781" cy="17025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05" name="Google Shape;505;p25"/>
          <p:cNvSpPr txBox="1"/>
          <p:nvPr/>
        </p:nvSpPr>
        <p:spPr>
          <a:xfrm>
            <a:off x="1018572" y="2013994"/>
            <a:ext cx="1002367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Justificação do Sistema</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Atribuições de qualidade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Afeto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Cognição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Comportamento</a:t>
            </a:r>
            <a:endParaRPr/>
          </a:p>
        </p:txBody>
      </p:sp>
      <p:sp>
        <p:nvSpPr>
          <p:cNvPr id="506" name="Google Shape;506;p2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Manutenção do poder</a:t>
            </a:r>
            <a:endParaRPr/>
          </a:p>
        </p:txBody>
      </p:sp>
      <p:sp>
        <p:nvSpPr>
          <p:cNvPr id="507" name="Google Shape;507;p25"/>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pic>
        <p:nvPicPr>
          <p:cNvPr id="508" name="Google Shape;508;p25"/>
          <p:cNvPicPr preferRelativeResize="0"/>
          <p:nvPr/>
        </p:nvPicPr>
        <p:blipFill rotWithShape="1">
          <a:blip r:embed="rId3">
            <a:alphaModFix/>
          </a:blip>
          <a:srcRect b="0" l="0" r="0" t="0"/>
          <a:stretch/>
        </p:blipFill>
        <p:spPr>
          <a:xfrm>
            <a:off x="3590543" y="2755036"/>
            <a:ext cx="4879733" cy="3392937"/>
          </a:xfrm>
          <a:prstGeom prst="rect">
            <a:avLst/>
          </a:prstGeom>
          <a:noFill/>
          <a:ln cap="flat" cmpd="sng" w="9525">
            <a:solidFill>
              <a:schemeClr val="dk1"/>
            </a:solidFill>
            <a:prstDash val="solid"/>
            <a:round/>
            <a:headEnd len="sm" w="sm" type="none"/>
            <a:tailEnd len="sm" w="sm" type="none"/>
          </a:ln>
        </p:spPr>
      </p:pic>
      <p:sp>
        <p:nvSpPr>
          <p:cNvPr id="509" name="Google Shape;509;p25"/>
          <p:cNvSpPr txBox="1"/>
          <p:nvPr/>
        </p:nvSpPr>
        <p:spPr>
          <a:xfrm>
            <a:off x="8562660" y="2645265"/>
            <a:ext cx="2791140"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Em síntese:</a:t>
            </a:r>
            <a:endParaRPr/>
          </a:p>
          <a:p>
            <a:pPr indent="0" lvl="0" marL="0" marR="0" rtl="0" algn="l">
              <a:spcBef>
                <a:spcPts val="0"/>
              </a:spcBef>
              <a:spcAft>
                <a:spcPts val="0"/>
              </a:spcAft>
              <a:buNone/>
            </a:pPr>
            <a:r>
              <a:t/>
            </a:r>
            <a:endParaRPr sz="16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Possuir poder resulta em várias vantagens (exógenas e endógenas) que </a:t>
            </a:r>
            <a:r>
              <a:rPr lang="pt-BR" sz="1600" u="sng">
                <a:solidFill>
                  <a:schemeClr val="dk1"/>
                </a:solidFill>
                <a:latin typeface="Palatino Linotype"/>
                <a:ea typeface="Palatino Linotype"/>
                <a:cs typeface="Palatino Linotype"/>
                <a:sym typeface="Palatino Linotype"/>
              </a:rPr>
              <a:t>favorecem</a:t>
            </a:r>
            <a:r>
              <a:rPr lang="pt-BR" sz="1600">
                <a:solidFill>
                  <a:schemeClr val="dk1"/>
                </a:solidFill>
                <a:latin typeface="Palatino Linotype"/>
                <a:ea typeface="Palatino Linotype"/>
                <a:cs typeface="Palatino Linotype"/>
                <a:sym typeface="Palatino Linotype"/>
              </a:rPr>
              <a:t> a manutenção do poder. </a:t>
            </a:r>
            <a:endParaRPr/>
          </a:p>
          <a:p>
            <a:pPr indent="0" lvl="0" marL="0" marR="0" rtl="0" algn="l">
              <a:spcBef>
                <a:spcPts val="0"/>
              </a:spcBef>
              <a:spcAft>
                <a:spcPts val="0"/>
              </a:spcAft>
              <a:buNone/>
            </a:pPr>
            <a:r>
              <a:t/>
            </a:r>
            <a:endParaRPr sz="16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lang="pt-BR" sz="1600">
                <a:solidFill>
                  <a:schemeClr val="dk1"/>
                </a:solidFill>
                <a:latin typeface="Palatino Linotype"/>
                <a:ea typeface="Palatino Linotype"/>
                <a:cs typeface="Palatino Linotype"/>
                <a:sym typeface="Palatino Linotype"/>
              </a:rPr>
              <a:t>Porém, apesar do poder facilitar a perpetuação das situações e relações de poder, </a:t>
            </a:r>
            <a:r>
              <a:rPr b="1" lang="pt-BR" sz="1600">
                <a:solidFill>
                  <a:schemeClr val="dk1"/>
                </a:solidFill>
                <a:latin typeface="Palatino Linotype"/>
                <a:ea typeface="Palatino Linotype"/>
                <a:cs typeface="Palatino Linotype"/>
                <a:sym typeface="Palatino Linotype"/>
              </a:rPr>
              <a:t>ele não é estático ou imutável</a:t>
            </a:r>
            <a:r>
              <a:rPr lang="pt-BR" sz="1600">
                <a:solidFill>
                  <a:schemeClr val="dk1"/>
                </a:solidFill>
                <a:latin typeface="Palatino Linotype"/>
                <a:ea typeface="Palatino Linotype"/>
                <a:cs typeface="Palatino Linotype"/>
                <a:sym typeface="Palatino Linotype"/>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16" name="Google Shape;516;p2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Aquisição, manutenção e perda do poder</a:t>
            </a:r>
            <a:endParaRPr/>
          </a:p>
        </p:txBody>
      </p:sp>
      <p:sp>
        <p:nvSpPr>
          <p:cNvPr id="517" name="Google Shape;517;p26"/>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pic>
        <p:nvPicPr>
          <p:cNvPr id="518" name="Google Shape;518;p26"/>
          <p:cNvPicPr preferRelativeResize="0"/>
          <p:nvPr/>
        </p:nvPicPr>
        <p:blipFill rotWithShape="1">
          <a:blip r:embed="rId3">
            <a:alphaModFix/>
          </a:blip>
          <a:srcRect b="0" l="0" r="0" t="0"/>
          <a:stretch/>
        </p:blipFill>
        <p:spPr>
          <a:xfrm>
            <a:off x="2011326" y="2055262"/>
            <a:ext cx="8169348" cy="4263759"/>
          </a:xfrm>
          <a:prstGeom prst="rect">
            <a:avLst/>
          </a:prstGeom>
          <a:noFill/>
          <a:ln>
            <a:noFill/>
          </a:ln>
        </p:spPr>
      </p:pic>
      <p:sp>
        <p:nvSpPr>
          <p:cNvPr id="519" name="Google Shape;519;p26"/>
          <p:cNvSpPr/>
          <p:nvPr/>
        </p:nvSpPr>
        <p:spPr>
          <a:xfrm>
            <a:off x="2129742" y="2662177"/>
            <a:ext cx="1146000" cy="214200"/>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0" name="Google Shape;520;p26"/>
          <p:cNvSpPr/>
          <p:nvPr/>
        </p:nvSpPr>
        <p:spPr>
          <a:xfrm>
            <a:off x="8038618" y="2138814"/>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1" name="Google Shape;521;p26"/>
          <p:cNvSpPr/>
          <p:nvPr/>
        </p:nvSpPr>
        <p:spPr>
          <a:xfrm>
            <a:off x="8038618" y="3973009"/>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2" name="Google Shape;522;p26"/>
          <p:cNvSpPr/>
          <p:nvPr/>
        </p:nvSpPr>
        <p:spPr>
          <a:xfrm>
            <a:off x="4539206" y="3804211"/>
            <a:ext cx="814200" cy="382800"/>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p26"/>
          <p:cNvSpPr/>
          <p:nvPr/>
        </p:nvSpPr>
        <p:spPr>
          <a:xfrm>
            <a:off x="5719823" y="4660739"/>
            <a:ext cx="1145893" cy="214132"/>
          </a:xfrm>
          <a:prstGeom prst="rect">
            <a:avLst/>
          </a:prstGeom>
          <a:solidFill>
            <a:srgbClr val="B83122"/>
          </a:solidFill>
          <a:ln cap="flat" cmpd="sng" w="12700">
            <a:solidFill>
              <a:srgbClr val="B8312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 name="Google Shape;524;p26"/>
          <p:cNvSpPr txBox="1"/>
          <p:nvPr/>
        </p:nvSpPr>
        <p:spPr>
          <a:xfrm>
            <a:off x="1812629" y="2570370"/>
            <a:ext cx="2030100" cy="369300"/>
          </a:xfrm>
          <a:prstGeom prst="rect">
            <a:avLst/>
          </a:prstGeom>
          <a:solidFill>
            <a:srgbClr val="65A69B"/>
          </a:solidFill>
          <a:ln cap="flat" cmpd="sng" w="9525">
            <a:solidFill>
              <a:srgbClr val="65A69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Antecedentes</a:t>
            </a:r>
            <a:endParaRPr/>
          </a:p>
        </p:txBody>
      </p:sp>
      <p:sp>
        <p:nvSpPr>
          <p:cNvPr id="525" name="Google Shape;525;p26"/>
          <p:cNvSpPr txBox="1"/>
          <p:nvPr/>
        </p:nvSpPr>
        <p:spPr>
          <a:xfrm>
            <a:off x="4375230" y="3788343"/>
            <a:ext cx="11055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rgbClr val="FFD966"/>
                </a:solidFill>
                <a:latin typeface="Calibri"/>
                <a:ea typeface="Calibri"/>
                <a:cs typeface="Calibri"/>
                <a:sym typeface="Calibri"/>
              </a:rPr>
              <a:t>Poder</a:t>
            </a:r>
            <a:endParaRPr/>
          </a:p>
        </p:txBody>
      </p:sp>
      <p:sp>
        <p:nvSpPr>
          <p:cNvPr id="526" name="Google Shape;526;p26"/>
          <p:cNvSpPr txBox="1"/>
          <p:nvPr/>
        </p:nvSpPr>
        <p:spPr>
          <a:xfrm>
            <a:off x="7963382" y="2055262"/>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Manutenção</a:t>
            </a:r>
            <a:endParaRPr/>
          </a:p>
        </p:txBody>
      </p:sp>
      <p:sp>
        <p:nvSpPr>
          <p:cNvPr id="527" name="Google Shape;527;p26"/>
          <p:cNvSpPr txBox="1"/>
          <p:nvPr/>
        </p:nvSpPr>
        <p:spPr>
          <a:xfrm>
            <a:off x="7963382" y="3895409"/>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Perda</a:t>
            </a:r>
            <a:endParaRPr/>
          </a:p>
        </p:txBody>
      </p:sp>
      <p:sp>
        <p:nvSpPr>
          <p:cNvPr id="528" name="Google Shape;528;p26"/>
          <p:cNvSpPr txBox="1"/>
          <p:nvPr/>
        </p:nvSpPr>
        <p:spPr>
          <a:xfrm>
            <a:off x="5526911" y="4473186"/>
            <a:ext cx="1927186" cy="369332"/>
          </a:xfrm>
          <a:prstGeom prst="rect">
            <a:avLst/>
          </a:prstGeom>
          <a:solidFill>
            <a:srgbClr val="B83122"/>
          </a:solidFill>
          <a:ln cap="flat" cmpd="sng" w="9525">
            <a:solidFill>
              <a:srgbClr val="B8312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Moderadores</a:t>
            </a:r>
            <a:endParaRPr/>
          </a:p>
        </p:txBody>
      </p:sp>
      <p:sp>
        <p:nvSpPr>
          <p:cNvPr id="529" name="Google Shape;529;p26"/>
          <p:cNvSpPr txBox="1"/>
          <p:nvPr/>
        </p:nvSpPr>
        <p:spPr>
          <a:xfrm>
            <a:off x="1812629" y="2899735"/>
            <a:ext cx="2037900" cy="2415900"/>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Competência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relacionadas com as tarefas do trabalho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interpessoais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Posição estrutural</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Centralidade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Preenchendo buracos estruturais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Demografia e Morfologia</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Personalidade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Traços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Estilo interpessoal</a:t>
            </a:r>
            <a:endParaRPr/>
          </a:p>
        </p:txBody>
      </p:sp>
      <p:sp>
        <p:nvSpPr>
          <p:cNvPr id="530" name="Google Shape;530;p26"/>
          <p:cNvSpPr txBox="1"/>
          <p:nvPr/>
        </p:nvSpPr>
        <p:spPr>
          <a:xfrm>
            <a:off x="7963382" y="2387048"/>
            <a:ext cx="2176042" cy="1338828"/>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Justificação do sistema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Atribuições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Fisiologia e afeto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Cognição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Comportamento</a:t>
            </a:r>
            <a:endParaRPr/>
          </a:p>
        </p:txBody>
      </p:sp>
      <p:sp>
        <p:nvSpPr>
          <p:cNvPr id="531" name="Google Shape;531;p26"/>
          <p:cNvSpPr txBox="1"/>
          <p:nvPr/>
        </p:nvSpPr>
        <p:spPr>
          <a:xfrm>
            <a:off x="7951806" y="4228409"/>
            <a:ext cx="2176042" cy="1677382"/>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Competição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grupo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indivíduo</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Transgressões éticas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em tomar decisão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nas percepção interpessoal</a:t>
            </a:r>
            <a:endParaRPr/>
          </a:p>
        </p:txBody>
      </p:sp>
      <p:sp>
        <p:nvSpPr>
          <p:cNvPr id="532" name="Google Shape;532;p26"/>
          <p:cNvSpPr txBox="1"/>
          <p:nvPr/>
        </p:nvSpPr>
        <p:spPr>
          <a:xfrm>
            <a:off x="5526911" y="4815952"/>
            <a:ext cx="1927186" cy="1508105"/>
          </a:xfrm>
          <a:prstGeom prst="rect">
            <a:avLst/>
          </a:prstGeom>
          <a:solidFill>
            <a:srgbClr val="FBC9B5"/>
          </a:solidFill>
          <a:ln cap="flat" cmpd="sng" w="9525">
            <a:solidFill>
              <a:srgbClr val="FBC9B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Características pessoais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 pessoal para obter o poder</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Disposições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Respostas às ameaças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Estabilidade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Legitimidade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Status</a:t>
            </a:r>
            <a:endParaRPr/>
          </a:p>
        </p:txBody>
      </p:sp>
      <p:sp>
        <p:nvSpPr>
          <p:cNvPr id="533" name="Google Shape;533;p26"/>
          <p:cNvSpPr/>
          <p:nvPr/>
        </p:nvSpPr>
        <p:spPr>
          <a:xfrm>
            <a:off x="1554866" y="5960179"/>
            <a:ext cx="263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000">
                <a:solidFill>
                  <a:schemeClr val="dk1"/>
                </a:solidFill>
                <a:latin typeface="Calibri"/>
                <a:ea typeface="Calibri"/>
                <a:cs typeface="Calibri"/>
                <a:sym typeface="Calibri"/>
              </a:rPr>
              <a:t>Figura: </a:t>
            </a:r>
            <a:r>
              <a:rPr i="1" lang="pt-BR" sz="1000">
                <a:solidFill>
                  <a:schemeClr val="dk1"/>
                </a:solidFill>
                <a:latin typeface="Calibri"/>
                <a:ea typeface="Calibri"/>
                <a:cs typeface="Calibri"/>
                <a:sym typeface="Calibri"/>
              </a:rPr>
              <a:t>Perspectives on Power in Organizations </a:t>
            </a:r>
            <a:r>
              <a:rPr lang="pt-BR" sz="1000">
                <a:solidFill>
                  <a:schemeClr val="dk1"/>
                </a:solidFill>
                <a:latin typeface="Calibri"/>
                <a:ea typeface="Calibri"/>
                <a:cs typeface="Calibri"/>
                <a:sym typeface="Calibri"/>
              </a:rPr>
              <a:t>(Cameron Anderson &amp; Sebastien Brion, 2014)</a:t>
            </a:r>
            <a:endParaRPr/>
          </a:p>
        </p:txBody>
      </p:sp>
      <p:sp>
        <p:nvSpPr>
          <p:cNvPr id="534" name="Google Shape;534;p26"/>
          <p:cNvSpPr/>
          <p:nvPr/>
        </p:nvSpPr>
        <p:spPr>
          <a:xfrm>
            <a:off x="5353291" y="4392592"/>
            <a:ext cx="2170253" cy="196769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5" name="Google Shape;535;p26"/>
          <p:cNvSpPr/>
          <p:nvPr/>
        </p:nvSpPr>
        <p:spPr>
          <a:xfrm>
            <a:off x="5575140" y="4028018"/>
            <a:ext cx="1751636" cy="1221101"/>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6" name="Google Shape;536;p26"/>
          <p:cNvSpPr/>
          <p:nvPr/>
        </p:nvSpPr>
        <p:spPr>
          <a:xfrm>
            <a:off x="7863616" y="3861801"/>
            <a:ext cx="2278285" cy="2278285"/>
          </a:xfrm>
          <a:prstGeom prst="ellipse">
            <a:avLst/>
          </a:prstGeom>
          <a:solidFill>
            <a:srgbClr val="FC7C88">
              <a:alpha val="29803"/>
            </a:srgb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43" name="Google Shape;543;p27"/>
          <p:cNvSpPr txBox="1"/>
          <p:nvPr/>
        </p:nvSpPr>
        <p:spPr>
          <a:xfrm>
            <a:off x="1018572" y="2013994"/>
            <a:ext cx="1002367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Competição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grupo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indivíduo</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Transgressões éticas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em tomar decisão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nas percepção interpessoal</a:t>
            </a:r>
            <a:endParaRPr/>
          </a:p>
        </p:txBody>
      </p:sp>
      <p:sp>
        <p:nvSpPr>
          <p:cNvPr id="544" name="Google Shape;544;p2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Perda do poder</a:t>
            </a:r>
            <a:endParaRPr/>
          </a:p>
        </p:txBody>
      </p:sp>
      <p:sp>
        <p:nvSpPr>
          <p:cNvPr id="545" name="Google Shape;545;p27"/>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sp>
        <p:nvSpPr>
          <p:cNvPr id="546" name="Google Shape;546;p27"/>
          <p:cNvSpPr/>
          <p:nvPr/>
        </p:nvSpPr>
        <p:spPr>
          <a:xfrm>
            <a:off x="4762982" y="2133648"/>
            <a:ext cx="6279266" cy="1537729"/>
          </a:xfrm>
          <a:prstGeom prst="rect">
            <a:avLst/>
          </a:prstGeom>
          <a:solidFill>
            <a:srgbClr val="FC7C88"/>
          </a:solidFill>
          <a:ln>
            <a:noFill/>
          </a:ln>
        </p:spPr>
        <p:txBody>
          <a:bodyPr anchorCtr="0" anchor="t" bIns="45700" lIns="91425" spcFirstLastPara="1" rIns="91425" wrap="square" tIns="45700">
            <a:spAutoFit/>
          </a:bodyPr>
          <a:lstStyle/>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Embora o poder seja uma força que se auto reforça, frequentemente indivíduos perdem o poder. </a:t>
            </a:r>
            <a:endParaRPr/>
          </a:p>
          <a:p>
            <a:pPr indent="0" lvl="0" marL="0" marR="0" rtl="0" algn="l">
              <a:lnSpc>
                <a:spcPct val="173307"/>
              </a:lnSpc>
              <a:spcBef>
                <a:spcPts val="0"/>
              </a:spcBef>
              <a:spcAft>
                <a:spcPts val="0"/>
              </a:spcAft>
              <a:buNone/>
            </a:pPr>
            <a:r>
              <a:t/>
            </a:r>
            <a:endParaRPr sz="1300">
              <a:solidFill>
                <a:srgbClr val="000000"/>
              </a:solidFill>
              <a:latin typeface="Palatino Linotype"/>
              <a:ea typeface="Palatino Linotype"/>
              <a:cs typeface="Palatino Linotype"/>
              <a:sym typeface="Palatino Linotype"/>
            </a:endParaRPr>
          </a:p>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A maioria das pessoas se interessam em entender como se obtém o poder, e muitos esquecem dos fatores que levam à perda dele.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53" name="Google Shape;553;p28"/>
          <p:cNvSpPr txBox="1"/>
          <p:nvPr/>
        </p:nvSpPr>
        <p:spPr>
          <a:xfrm>
            <a:off x="1018572" y="2013994"/>
            <a:ext cx="1002367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Competição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grupo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indivíduo</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Transgressões éticas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em tomar decisão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nas percepção interpessoal</a:t>
            </a:r>
            <a:endParaRPr/>
          </a:p>
        </p:txBody>
      </p:sp>
      <p:sp>
        <p:nvSpPr>
          <p:cNvPr id="554" name="Google Shape;554;p2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Perda do poder</a:t>
            </a:r>
            <a:endParaRPr/>
          </a:p>
        </p:txBody>
      </p:sp>
      <p:sp>
        <p:nvSpPr>
          <p:cNvPr id="555" name="Google Shape;555;p28"/>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sp>
        <p:nvSpPr>
          <p:cNvPr id="556" name="Google Shape;556;p28"/>
          <p:cNvSpPr/>
          <p:nvPr/>
        </p:nvSpPr>
        <p:spPr>
          <a:xfrm>
            <a:off x="4762982" y="2133648"/>
            <a:ext cx="6279266" cy="1567096"/>
          </a:xfrm>
          <a:prstGeom prst="rect">
            <a:avLst/>
          </a:prstGeom>
          <a:solidFill>
            <a:srgbClr val="FC7C88"/>
          </a:solidFill>
          <a:ln>
            <a:noFill/>
          </a:ln>
        </p:spPr>
        <p:txBody>
          <a:bodyPr anchorCtr="0" anchor="t" bIns="45700" lIns="91425" spcFirstLastPara="1" rIns="91425" wrap="square" tIns="45700">
            <a:spAutoFit/>
          </a:bodyPr>
          <a:lstStyle/>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Uma das primeiras ameaças a quem está no poder consiste na existências de rivais que almejam o mesmo poder.</a:t>
            </a:r>
            <a:endParaRPr/>
          </a:p>
          <a:p>
            <a:pPr indent="0" lvl="0" marL="0" marR="0" rtl="0" algn="l">
              <a:lnSpc>
                <a:spcPct val="173307"/>
              </a:lnSpc>
              <a:spcBef>
                <a:spcPts val="0"/>
              </a:spcBef>
              <a:spcAft>
                <a:spcPts val="0"/>
              </a:spcAft>
              <a:buNone/>
            </a:pPr>
            <a:r>
              <a:t/>
            </a:r>
            <a:endParaRPr sz="1300">
              <a:solidFill>
                <a:srgbClr val="000000"/>
              </a:solidFill>
              <a:latin typeface="Palatino Linotype"/>
              <a:ea typeface="Palatino Linotype"/>
              <a:cs typeface="Palatino Linotype"/>
              <a:sym typeface="Palatino Linotype"/>
            </a:endParaRPr>
          </a:p>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Pessoas que não estão no poder podem buscar ativamente informações sobre as pessoas que estão no poder ou mesmo sabotá-las.</a:t>
            </a:r>
            <a:endParaRPr/>
          </a:p>
        </p:txBody>
      </p:sp>
      <p:cxnSp>
        <p:nvCxnSpPr>
          <p:cNvPr id="557" name="Google Shape;557;p28"/>
          <p:cNvCxnSpPr/>
          <p:nvPr/>
        </p:nvCxnSpPr>
        <p:spPr>
          <a:xfrm>
            <a:off x="2667965" y="2494344"/>
            <a:ext cx="2095017" cy="11575"/>
          </a:xfrm>
          <a:prstGeom prst="straightConnector1">
            <a:avLst/>
          </a:prstGeom>
          <a:noFill/>
          <a:ln cap="flat" cmpd="sng" w="19050">
            <a:solidFill>
              <a:srgbClr val="FC7C88"/>
            </a:solidFill>
            <a:prstDash val="solid"/>
            <a:miter lim="800000"/>
            <a:headEnd len="sm" w="sm" type="none"/>
            <a:tailEnd len="med" w="med" type="triangle"/>
          </a:ln>
        </p:spPr>
      </p:cxnSp>
      <p:pic>
        <p:nvPicPr>
          <p:cNvPr id="558" name="Google Shape;558;p28"/>
          <p:cNvPicPr preferRelativeResize="0"/>
          <p:nvPr/>
        </p:nvPicPr>
        <p:blipFill rotWithShape="1">
          <a:blip r:embed="rId3">
            <a:alphaModFix/>
          </a:blip>
          <a:srcRect b="0" l="0" r="0" t="0"/>
          <a:stretch/>
        </p:blipFill>
        <p:spPr>
          <a:xfrm>
            <a:off x="9308548" y="4013911"/>
            <a:ext cx="1733700" cy="1596528"/>
          </a:xfrm>
          <a:prstGeom prst="rect">
            <a:avLst/>
          </a:prstGeom>
          <a:noFill/>
          <a:ln>
            <a:noFill/>
          </a:ln>
        </p:spPr>
      </p:pic>
      <p:pic>
        <p:nvPicPr>
          <p:cNvPr id="559" name="Google Shape;559;p28"/>
          <p:cNvPicPr preferRelativeResize="0"/>
          <p:nvPr/>
        </p:nvPicPr>
        <p:blipFill rotWithShape="1">
          <a:blip r:embed="rId4">
            <a:alphaModFix/>
          </a:blip>
          <a:srcRect b="0" l="0" r="0" t="0"/>
          <a:stretch/>
        </p:blipFill>
        <p:spPr>
          <a:xfrm>
            <a:off x="4762982" y="4013956"/>
            <a:ext cx="3865945" cy="159648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66" name="Google Shape;566;p29"/>
          <p:cNvSpPr txBox="1"/>
          <p:nvPr/>
        </p:nvSpPr>
        <p:spPr>
          <a:xfrm>
            <a:off x="1018572" y="2013994"/>
            <a:ext cx="1002367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Competição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grupo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indivíduo</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Transgressões éticas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em tomar decisão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nas percepção interpessoal</a:t>
            </a:r>
            <a:endParaRPr/>
          </a:p>
        </p:txBody>
      </p:sp>
      <p:sp>
        <p:nvSpPr>
          <p:cNvPr id="567" name="Google Shape;567;p2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Perda do poder</a:t>
            </a:r>
            <a:endParaRPr/>
          </a:p>
        </p:txBody>
      </p:sp>
      <p:sp>
        <p:nvSpPr>
          <p:cNvPr id="568" name="Google Shape;568;p29"/>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sp>
        <p:nvSpPr>
          <p:cNvPr id="569" name="Google Shape;569;p29"/>
          <p:cNvSpPr/>
          <p:nvPr/>
        </p:nvSpPr>
        <p:spPr>
          <a:xfrm>
            <a:off x="4762982" y="2133648"/>
            <a:ext cx="6279266" cy="1567096"/>
          </a:xfrm>
          <a:prstGeom prst="rect">
            <a:avLst/>
          </a:prstGeom>
          <a:solidFill>
            <a:srgbClr val="FC7C88"/>
          </a:solidFill>
          <a:ln>
            <a:noFill/>
          </a:ln>
        </p:spPr>
        <p:txBody>
          <a:bodyPr anchorCtr="0" anchor="t" bIns="45700" lIns="91425" spcFirstLastPara="1" rIns="91425" wrap="square" tIns="45700">
            <a:spAutoFit/>
          </a:bodyPr>
          <a:lstStyle/>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Características do grupo ou da organização da qual a pessoa detém o poder também afetam na probabilidade de destituição do poder. </a:t>
            </a:r>
            <a:endParaRPr/>
          </a:p>
          <a:p>
            <a:pPr indent="0" lvl="0" marL="0" marR="0" rtl="0" algn="l">
              <a:lnSpc>
                <a:spcPct val="173307"/>
              </a:lnSpc>
              <a:spcBef>
                <a:spcPts val="0"/>
              </a:spcBef>
              <a:spcAft>
                <a:spcPts val="0"/>
              </a:spcAft>
              <a:buNone/>
            </a:pPr>
            <a:r>
              <a:t/>
            </a:r>
            <a:endParaRPr sz="1300">
              <a:solidFill>
                <a:srgbClr val="000000"/>
              </a:solidFill>
              <a:latin typeface="Palatino Linotype"/>
              <a:ea typeface="Palatino Linotype"/>
              <a:cs typeface="Palatino Linotype"/>
              <a:sym typeface="Palatino Linotype"/>
            </a:endParaRPr>
          </a:p>
          <a:p>
            <a:pPr indent="0" lvl="0" marL="0" marR="0" rtl="0" algn="l">
              <a:lnSpc>
                <a:spcPct val="173307"/>
              </a:lnSpc>
              <a:spcBef>
                <a:spcPts val="0"/>
              </a:spcBef>
              <a:spcAft>
                <a:spcPts val="0"/>
              </a:spcAft>
              <a:buNone/>
            </a:pPr>
            <a:r>
              <a:rPr lang="pt-BR" sz="1300">
                <a:solidFill>
                  <a:srgbClr val="000000"/>
                </a:solidFill>
                <a:latin typeface="Palatino Linotype"/>
                <a:ea typeface="Palatino Linotype"/>
                <a:cs typeface="Palatino Linotype"/>
                <a:sym typeface="Palatino Linotype"/>
              </a:rPr>
              <a:t>Grupos menos coesos e com maior disputa interna tendem a criar complicações ou a destituir seus líderes de forma mais frequente.</a:t>
            </a:r>
            <a:endParaRPr/>
          </a:p>
        </p:txBody>
      </p:sp>
      <p:cxnSp>
        <p:nvCxnSpPr>
          <p:cNvPr id="570" name="Google Shape;570;p29"/>
          <p:cNvCxnSpPr/>
          <p:nvPr/>
        </p:nvCxnSpPr>
        <p:spPr>
          <a:xfrm>
            <a:off x="3877519" y="2760562"/>
            <a:ext cx="885463" cy="5785"/>
          </a:xfrm>
          <a:prstGeom prst="straightConnector1">
            <a:avLst/>
          </a:prstGeom>
          <a:noFill/>
          <a:ln cap="flat" cmpd="sng" w="19050">
            <a:solidFill>
              <a:srgbClr val="FC7C88"/>
            </a:solidFill>
            <a:prstDash val="solid"/>
            <a:miter lim="800000"/>
            <a:headEnd len="sm" w="sm" type="none"/>
            <a:tailEnd len="med" w="med" type="triangle"/>
          </a:ln>
        </p:spPr>
      </p:cxnSp>
      <p:pic>
        <p:nvPicPr>
          <p:cNvPr descr="https://businessjargons.com/wp-content/uploads/2018/07/characteristics-of-group.jpg" id="571" name="Google Shape;571;p29"/>
          <p:cNvPicPr preferRelativeResize="0"/>
          <p:nvPr/>
        </p:nvPicPr>
        <p:blipFill rotWithShape="1">
          <a:blip r:embed="rId3">
            <a:alphaModFix/>
          </a:blip>
          <a:srcRect b="0" l="0" r="0" t="0"/>
          <a:stretch/>
        </p:blipFill>
        <p:spPr>
          <a:xfrm>
            <a:off x="6166011" y="3803820"/>
            <a:ext cx="3473208" cy="2192539"/>
          </a:xfrm>
          <a:prstGeom prst="rect">
            <a:avLst/>
          </a:prstGeom>
          <a:noFill/>
          <a:ln>
            <a:noFill/>
          </a:ln>
        </p:spPr>
      </p:pic>
      <p:sp>
        <p:nvSpPr>
          <p:cNvPr id="572" name="Google Shape;572;p29"/>
          <p:cNvSpPr txBox="1"/>
          <p:nvPr/>
        </p:nvSpPr>
        <p:spPr>
          <a:xfrm>
            <a:off x="8387803" y="3827642"/>
            <a:ext cx="2654445" cy="2246769"/>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Noto Sans Symbols"/>
              <a:buChar char="▪"/>
            </a:pPr>
            <a:r>
              <a:rPr lang="pt-BR" sz="2000">
                <a:solidFill>
                  <a:schemeClr val="dk1"/>
                </a:solidFill>
                <a:latin typeface="Palatino Linotype"/>
                <a:ea typeface="Palatino Linotype"/>
                <a:cs typeface="Palatino Linotype"/>
                <a:sym typeface="Palatino Linotype"/>
              </a:rPr>
              <a:t>Tamanho</a:t>
            </a:r>
            <a:endParaRPr/>
          </a:p>
          <a:p>
            <a:pPr indent="-285750" lvl="0" marL="285750" marR="0" rtl="0" algn="l">
              <a:spcBef>
                <a:spcPts val="0"/>
              </a:spcBef>
              <a:spcAft>
                <a:spcPts val="0"/>
              </a:spcAft>
              <a:buClr>
                <a:schemeClr val="dk1"/>
              </a:buClr>
              <a:buSzPts val="2000"/>
              <a:buFont typeface="Noto Sans Symbols"/>
              <a:buChar char="▪"/>
            </a:pPr>
            <a:r>
              <a:rPr lang="pt-BR" sz="2000">
                <a:solidFill>
                  <a:schemeClr val="dk1"/>
                </a:solidFill>
                <a:latin typeface="Palatino Linotype"/>
                <a:ea typeface="Palatino Linotype"/>
                <a:cs typeface="Palatino Linotype"/>
                <a:sym typeface="Palatino Linotype"/>
              </a:rPr>
              <a:t>Metas</a:t>
            </a:r>
            <a:endParaRPr/>
          </a:p>
          <a:p>
            <a:pPr indent="-285750" lvl="0" marL="285750" marR="0" rtl="0" algn="l">
              <a:spcBef>
                <a:spcPts val="0"/>
              </a:spcBef>
              <a:spcAft>
                <a:spcPts val="0"/>
              </a:spcAft>
              <a:buClr>
                <a:schemeClr val="dk1"/>
              </a:buClr>
              <a:buSzPts val="2000"/>
              <a:buFont typeface="Noto Sans Symbols"/>
              <a:buChar char="▪"/>
            </a:pPr>
            <a:r>
              <a:rPr lang="pt-BR" sz="2000">
                <a:solidFill>
                  <a:schemeClr val="dk1"/>
                </a:solidFill>
                <a:latin typeface="Palatino Linotype"/>
                <a:ea typeface="Palatino Linotype"/>
                <a:cs typeface="Palatino Linotype"/>
                <a:sym typeface="Palatino Linotype"/>
              </a:rPr>
              <a:t>Normas</a:t>
            </a:r>
            <a:endParaRPr/>
          </a:p>
          <a:p>
            <a:pPr indent="-285750" lvl="0" marL="285750" marR="0" rtl="0" algn="l">
              <a:spcBef>
                <a:spcPts val="0"/>
              </a:spcBef>
              <a:spcAft>
                <a:spcPts val="0"/>
              </a:spcAft>
              <a:buClr>
                <a:schemeClr val="dk1"/>
              </a:buClr>
              <a:buSzPts val="2000"/>
              <a:buFont typeface="Noto Sans Symbols"/>
              <a:buChar char="▪"/>
            </a:pPr>
            <a:r>
              <a:rPr lang="pt-BR" sz="2000">
                <a:solidFill>
                  <a:schemeClr val="dk1"/>
                </a:solidFill>
                <a:latin typeface="Palatino Linotype"/>
                <a:ea typeface="Palatino Linotype"/>
                <a:cs typeface="Palatino Linotype"/>
                <a:sym typeface="Palatino Linotype"/>
              </a:rPr>
              <a:t>Estrutura</a:t>
            </a:r>
            <a:endParaRPr/>
          </a:p>
          <a:p>
            <a:pPr indent="-285750" lvl="0" marL="285750" marR="0" rtl="0" algn="l">
              <a:spcBef>
                <a:spcPts val="0"/>
              </a:spcBef>
              <a:spcAft>
                <a:spcPts val="0"/>
              </a:spcAft>
              <a:buClr>
                <a:schemeClr val="dk1"/>
              </a:buClr>
              <a:buSzPts val="2000"/>
              <a:buFont typeface="Noto Sans Symbols"/>
              <a:buChar char="▪"/>
            </a:pPr>
            <a:r>
              <a:rPr lang="pt-BR" sz="2000">
                <a:solidFill>
                  <a:schemeClr val="dk1"/>
                </a:solidFill>
                <a:latin typeface="Palatino Linotype"/>
                <a:ea typeface="Palatino Linotype"/>
                <a:cs typeface="Palatino Linotype"/>
                <a:sym typeface="Palatino Linotype"/>
              </a:rPr>
              <a:t>Papeis</a:t>
            </a:r>
            <a:endParaRPr/>
          </a:p>
          <a:p>
            <a:pPr indent="-285750" lvl="0" marL="285750" marR="0" rtl="0" algn="l">
              <a:spcBef>
                <a:spcPts val="0"/>
              </a:spcBef>
              <a:spcAft>
                <a:spcPts val="0"/>
              </a:spcAft>
              <a:buClr>
                <a:schemeClr val="dk1"/>
              </a:buClr>
              <a:buSzPts val="2000"/>
              <a:buFont typeface="Noto Sans Symbols"/>
              <a:buChar char="▪"/>
            </a:pPr>
            <a:r>
              <a:rPr lang="pt-BR" sz="2000">
                <a:solidFill>
                  <a:schemeClr val="dk1"/>
                </a:solidFill>
                <a:latin typeface="Palatino Linotype"/>
                <a:ea typeface="Palatino Linotype"/>
                <a:cs typeface="Palatino Linotype"/>
                <a:sym typeface="Palatino Linotype"/>
              </a:rPr>
              <a:t>Interação</a:t>
            </a:r>
            <a:endParaRPr/>
          </a:p>
          <a:p>
            <a:pPr indent="-285750" lvl="0" marL="285750" marR="0" rtl="0" algn="l">
              <a:spcBef>
                <a:spcPts val="0"/>
              </a:spcBef>
              <a:spcAft>
                <a:spcPts val="0"/>
              </a:spcAft>
              <a:buClr>
                <a:schemeClr val="dk1"/>
              </a:buClr>
              <a:buSzPts val="2000"/>
              <a:buFont typeface="Noto Sans Symbols"/>
              <a:buChar char="▪"/>
            </a:pPr>
            <a:r>
              <a:rPr lang="pt-BR" sz="2000">
                <a:solidFill>
                  <a:schemeClr val="dk1"/>
                </a:solidFill>
                <a:latin typeface="Palatino Linotype"/>
                <a:ea typeface="Palatino Linotype"/>
                <a:cs typeface="Palatino Linotype"/>
                <a:sym typeface="Palatino Linotype"/>
              </a:rPr>
              <a:t>Identidade coletiva</a:t>
            </a:r>
            <a:endParaRPr/>
          </a:p>
        </p:txBody>
      </p:sp>
      <p:sp>
        <p:nvSpPr>
          <p:cNvPr id="573" name="Google Shape;573;p29"/>
          <p:cNvSpPr txBox="1"/>
          <p:nvPr/>
        </p:nvSpPr>
        <p:spPr>
          <a:xfrm>
            <a:off x="6238754" y="4650309"/>
            <a:ext cx="1452624" cy="553998"/>
          </a:xfrm>
          <a:prstGeom prst="rect">
            <a:avLst/>
          </a:prstGeom>
          <a:solidFill>
            <a:srgbClr val="C42F19"/>
          </a:solidFill>
          <a:ln cap="flat" cmpd="sng" w="9525">
            <a:solidFill>
              <a:srgbClr val="C42F1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500">
                <a:solidFill>
                  <a:schemeClr val="lt1"/>
                </a:solidFill>
                <a:latin typeface="Palatino Linotype"/>
                <a:ea typeface="Palatino Linotype"/>
                <a:cs typeface="Palatino Linotype"/>
                <a:sym typeface="Palatino Linotype"/>
              </a:rPr>
              <a:t>Características do grupo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80" name="Google Shape;580;p30"/>
          <p:cNvSpPr txBox="1"/>
          <p:nvPr/>
        </p:nvSpPr>
        <p:spPr>
          <a:xfrm>
            <a:off x="1018572" y="2013994"/>
            <a:ext cx="1002367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Competição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grupo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indivíduo</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Transgressões éticas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em tomar decisão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nas percepção interpessoal</a:t>
            </a:r>
            <a:endParaRPr/>
          </a:p>
        </p:txBody>
      </p:sp>
      <p:sp>
        <p:nvSpPr>
          <p:cNvPr id="581" name="Google Shape;581;p3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Perda do poder</a:t>
            </a:r>
            <a:endParaRPr/>
          </a:p>
        </p:txBody>
      </p:sp>
      <p:sp>
        <p:nvSpPr>
          <p:cNvPr id="582" name="Google Shape;582;p30"/>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sp>
        <p:nvSpPr>
          <p:cNvPr id="583" name="Google Shape;583;p30"/>
          <p:cNvSpPr/>
          <p:nvPr/>
        </p:nvSpPr>
        <p:spPr>
          <a:xfrm>
            <a:off x="4762975" y="2082775"/>
            <a:ext cx="6279300" cy="2046000"/>
          </a:xfrm>
          <a:prstGeom prst="rect">
            <a:avLst/>
          </a:prstGeom>
          <a:solidFill>
            <a:srgbClr val="FC7C8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Algumas característica demográficas como cor e sexo dificultam que as pessoas desses segmentos sigam no poder. </a:t>
            </a:r>
            <a:endParaRPr sz="1900"/>
          </a:p>
          <a:p>
            <a:pPr indent="0" lvl="0" marL="0" marR="0" rtl="0" algn="l">
              <a:lnSpc>
                <a:spcPct val="100000"/>
              </a:lnSpc>
              <a:spcBef>
                <a:spcPts val="0"/>
              </a:spcBef>
              <a:spcAft>
                <a:spcPts val="0"/>
              </a:spcAft>
              <a:buNone/>
            </a:pPr>
            <a:r>
              <a:t/>
            </a:r>
            <a:endParaRPr sz="18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Os outros tendem a questionar suas competências com mais frequência e/ou intensidade que o fariam com pessoas com características demográficas de grupos dominantes.</a:t>
            </a:r>
            <a:endParaRPr sz="1900"/>
          </a:p>
        </p:txBody>
      </p:sp>
      <p:cxnSp>
        <p:nvCxnSpPr>
          <p:cNvPr id="584" name="Google Shape;584;p30"/>
          <p:cNvCxnSpPr/>
          <p:nvPr/>
        </p:nvCxnSpPr>
        <p:spPr>
          <a:xfrm>
            <a:off x="4323144" y="3026780"/>
            <a:ext cx="439838" cy="5784"/>
          </a:xfrm>
          <a:prstGeom prst="straightConnector1">
            <a:avLst/>
          </a:prstGeom>
          <a:noFill/>
          <a:ln cap="flat" cmpd="sng" w="19050">
            <a:solidFill>
              <a:srgbClr val="FC7C88"/>
            </a:solidFill>
            <a:prstDash val="solid"/>
            <a:miter lim="800000"/>
            <a:headEnd len="sm" w="sm" type="none"/>
            <a:tailEnd len="med" w="med" type="triangle"/>
          </a:ln>
        </p:spPr>
      </p:cxnSp>
      <p:pic>
        <p:nvPicPr>
          <p:cNvPr descr="https://cdn.warc.com/fulltext/ADMAP/images/117253f01.gif" id="585" name="Google Shape;585;p30"/>
          <p:cNvPicPr preferRelativeResize="0"/>
          <p:nvPr/>
        </p:nvPicPr>
        <p:blipFill rotWithShape="1">
          <a:blip r:embed="rId3">
            <a:alphaModFix/>
          </a:blip>
          <a:srcRect b="0" l="0" r="0" t="0"/>
          <a:stretch/>
        </p:blipFill>
        <p:spPr>
          <a:xfrm>
            <a:off x="5706318" y="4167696"/>
            <a:ext cx="4392593" cy="209946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592" name="Google Shape;592;p31"/>
          <p:cNvSpPr txBox="1"/>
          <p:nvPr/>
        </p:nvSpPr>
        <p:spPr>
          <a:xfrm>
            <a:off x="1018572" y="2013994"/>
            <a:ext cx="1002367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Competição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grupo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indivíduo</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Transgressões éticas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em tomar decisão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nas percepção interpessoal</a:t>
            </a:r>
            <a:endParaRPr/>
          </a:p>
        </p:txBody>
      </p:sp>
      <p:sp>
        <p:nvSpPr>
          <p:cNvPr id="593" name="Google Shape;593;p3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Perda do poder</a:t>
            </a:r>
            <a:endParaRPr/>
          </a:p>
        </p:txBody>
      </p:sp>
      <p:sp>
        <p:nvSpPr>
          <p:cNvPr id="594" name="Google Shape;594;p31"/>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sp>
        <p:nvSpPr>
          <p:cNvPr id="595" name="Google Shape;595;p31"/>
          <p:cNvSpPr/>
          <p:nvPr/>
        </p:nvSpPr>
        <p:spPr>
          <a:xfrm>
            <a:off x="4762982" y="2214668"/>
            <a:ext cx="6279266" cy="3012491"/>
          </a:xfrm>
          <a:prstGeom prst="rect">
            <a:avLst/>
          </a:prstGeom>
          <a:solidFill>
            <a:srgbClr val="FC7C8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Muitas pessoas que estão no poder agem de forma anti ética (por diversos motivos) que podem favorecer a perda do poder. “</a:t>
            </a:r>
            <a:r>
              <a:rPr i="1" lang="pt-BR" sz="1800">
                <a:solidFill>
                  <a:srgbClr val="000000"/>
                </a:solidFill>
                <a:latin typeface="Palatino Linotype"/>
                <a:ea typeface="Palatino Linotype"/>
                <a:cs typeface="Palatino Linotype"/>
                <a:sym typeface="Palatino Linotype"/>
              </a:rPr>
              <a:t>O poder corrompe</a:t>
            </a:r>
            <a:r>
              <a:rPr lang="pt-BR" sz="1800">
                <a:solidFill>
                  <a:srgbClr val="000000"/>
                </a:solidFill>
                <a:latin typeface="Palatino Linotype"/>
                <a:ea typeface="Palatino Linotype"/>
                <a:cs typeface="Palatino Linotype"/>
                <a:sym typeface="Palatino Linotype"/>
              </a:rPr>
              <a:t>”</a:t>
            </a:r>
            <a:endParaRPr sz="18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A pessoa com poder passa a acreditar que está acima das regras (ou que as regras funcionam diferente para elas).</a:t>
            </a:r>
            <a:endParaRPr sz="18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Quando se sentem inseguros ou com pouca competência, podem agir de forma agressiva.</a:t>
            </a:r>
            <a:endParaRPr sz="18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Esses comportamentos abusivos podem levar a destituição</a:t>
            </a:r>
            <a:r>
              <a:rPr lang="pt-BR" sz="1800">
                <a:latin typeface="Palatino Linotype"/>
                <a:ea typeface="Palatino Linotype"/>
                <a:cs typeface="Palatino Linotype"/>
                <a:sym typeface="Palatino Linotype"/>
              </a:rPr>
              <a:t> </a:t>
            </a:r>
            <a:r>
              <a:rPr lang="pt-BR" sz="1800">
                <a:solidFill>
                  <a:srgbClr val="000000"/>
                </a:solidFill>
                <a:latin typeface="Palatino Linotype"/>
                <a:ea typeface="Palatino Linotype"/>
                <a:cs typeface="Palatino Linotype"/>
                <a:sym typeface="Palatino Linotype"/>
              </a:rPr>
              <a:t>do poder.</a:t>
            </a:r>
            <a:endParaRPr sz="1900"/>
          </a:p>
        </p:txBody>
      </p:sp>
      <p:cxnSp>
        <p:nvCxnSpPr>
          <p:cNvPr id="596" name="Google Shape;596;p31"/>
          <p:cNvCxnSpPr/>
          <p:nvPr/>
        </p:nvCxnSpPr>
        <p:spPr>
          <a:xfrm flipH="1" rot="10800000">
            <a:off x="3501342" y="3865940"/>
            <a:ext cx="1261640" cy="4"/>
          </a:xfrm>
          <a:prstGeom prst="straightConnector1">
            <a:avLst/>
          </a:prstGeom>
          <a:noFill/>
          <a:ln cap="flat" cmpd="sng" w="19050">
            <a:solidFill>
              <a:srgbClr val="FC7C88"/>
            </a:solidFill>
            <a:prstDash val="solid"/>
            <a:miter lim="800000"/>
            <a:headEnd len="sm" w="sm" type="none"/>
            <a:tailEnd len="med" w="med" type="triangle"/>
          </a:ln>
        </p:spPr>
      </p:cxnSp>
      <p:pic>
        <p:nvPicPr>
          <p:cNvPr descr="https://devpolicy.org/wp-content/uploads/2018/08/Credit-India-Today.jpg" id="597" name="Google Shape;597;p31"/>
          <p:cNvPicPr preferRelativeResize="0"/>
          <p:nvPr/>
        </p:nvPicPr>
        <p:blipFill rotWithShape="1">
          <a:blip r:embed="rId3">
            <a:alphaModFix/>
          </a:blip>
          <a:srcRect b="0" l="0" r="0" t="0"/>
          <a:stretch/>
        </p:blipFill>
        <p:spPr>
          <a:xfrm>
            <a:off x="1611433" y="4702654"/>
            <a:ext cx="3027463" cy="1555449"/>
          </a:xfrm>
          <a:prstGeom prst="rect">
            <a:avLst/>
          </a:prstGeom>
          <a:noFill/>
          <a:ln>
            <a:noFill/>
          </a:ln>
        </p:spPr>
      </p:pic>
      <p:pic>
        <p:nvPicPr>
          <p:cNvPr id="598" name="Google Shape;598;p31"/>
          <p:cNvPicPr preferRelativeResize="0"/>
          <p:nvPr/>
        </p:nvPicPr>
        <p:blipFill rotWithShape="1">
          <a:blip r:embed="rId4">
            <a:alphaModFix/>
          </a:blip>
          <a:srcRect b="0" l="0" r="0" t="0"/>
          <a:stretch/>
        </p:blipFill>
        <p:spPr>
          <a:xfrm>
            <a:off x="8278730" y="5272268"/>
            <a:ext cx="1453726" cy="1022108"/>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605" name="Google Shape;605;p32"/>
          <p:cNvSpPr txBox="1"/>
          <p:nvPr/>
        </p:nvSpPr>
        <p:spPr>
          <a:xfrm>
            <a:off x="1018572" y="2013994"/>
            <a:ext cx="1002367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Competição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grupo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indivíduo</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Transgressões éticas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em tomar decisão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nas percepção interpessoal</a:t>
            </a:r>
            <a:endParaRPr/>
          </a:p>
        </p:txBody>
      </p:sp>
      <p:sp>
        <p:nvSpPr>
          <p:cNvPr id="606" name="Google Shape;606;p3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Perda do poder</a:t>
            </a:r>
            <a:endParaRPr/>
          </a:p>
        </p:txBody>
      </p:sp>
      <p:sp>
        <p:nvSpPr>
          <p:cNvPr id="607" name="Google Shape;607;p32"/>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sp>
        <p:nvSpPr>
          <p:cNvPr id="608" name="Google Shape;608;p32"/>
          <p:cNvSpPr/>
          <p:nvPr/>
        </p:nvSpPr>
        <p:spPr>
          <a:xfrm>
            <a:off x="4762982" y="2602417"/>
            <a:ext cx="6279266" cy="3041858"/>
          </a:xfrm>
          <a:prstGeom prst="rect">
            <a:avLst/>
          </a:prstGeom>
          <a:solidFill>
            <a:srgbClr val="FC7C8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pt-BR" sz="1700">
                <a:solidFill>
                  <a:srgbClr val="000000"/>
                </a:solidFill>
                <a:latin typeface="Palatino Linotype"/>
                <a:ea typeface="Palatino Linotype"/>
                <a:cs typeface="Palatino Linotype"/>
                <a:sym typeface="Palatino Linotype"/>
              </a:rPr>
              <a:t>Pessoas no poder podem se sentir superconfiantes e ter uma falsa ilusão de estarem com tudo sob controle.</a:t>
            </a:r>
            <a:endParaRPr sz="1800"/>
          </a:p>
          <a:p>
            <a:pPr indent="0" lvl="0" marL="0" marR="0" rtl="0" algn="l">
              <a:lnSpc>
                <a:spcPct val="100000"/>
              </a:lnSpc>
              <a:spcBef>
                <a:spcPts val="0"/>
              </a:spcBef>
              <a:spcAft>
                <a:spcPts val="0"/>
              </a:spcAft>
              <a:buNone/>
            </a:pPr>
            <a:r>
              <a:t/>
            </a:r>
            <a:endParaRPr sz="17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700">
                <a:solidFill>
                  <a:srgbClr val="000000"/>
                </a:solidFill>
                <a:latin typeface="Palatino Linotype"/>
                <a:ea typeface="Palatino Linotype"/>
                <a:cs typeface="Palatino Linotype"/>
                <a:sym typeface="Palatino Linotype"/>
              </a:rPr>
              <a:t>Essas pessoas tendem a superestimar suas própria capacidades e subestimar as dificuldades de algumas tarefas ou o tempo para executá-las.</a:t>
            </a:r>
            <a:endParaRPr sz="1800"/>
          </a:p>
          <a:p>
            <a:pPr indent="0" lvl="0" marL="0" marR="0" rtl="0" algn="l">
              <a:lnSpc>
                <a:spcPct val="100000"/>
              </a:lnSpc>
              <a:spcBef>
                <a:spcPts val="0"/>
              </a:spcBef>
              <a:spcAft>
                <a:spcPts val="0"/>
              </a:spcAft>
              <a:buNone/>
            </a:pPr>
            <a:r>
              <a:t/>
            </a:r>
            <a:endParaRPr sz="17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700">
                <a:solidFill>
                  <a:srgbClr val="000000"/>
                </a:solidFill>
                <a:latin typeface="Palatino Linotype"/>
                <a:ea typeface="Palatino Linotype"/>
                <a:cs typeface="Palatino Linotype"/>
                <a:sym typeface="Palatino Linotype"/>
              </a:rPr>
              <a:t>O excesso de confiança pode fazê-los a assumirem riscos grandes e desnecessários, muitas vezes gerando grandes prejuízos para a organização. Alguns prejuízos podem ser irreversíveis.</a:t>
            </a:r>
            <a:endParaRPr sz="1800"/>
          </a:p>
        </p:txBody>
      </p:sp>
      <p:cxnSp>
        <p:nvCxnSpPr>
          <p:cNvPr id="609" name="Google Shape;609;p32"/>
          <p:cNvCxnSpPr/>
          <p:nvPr/>
        </p:nvCxnSpPr>
        <p:spPr>
          <a:xfrm flipH="1" rot="10800000">
            <a:off x="3929605" y="4120581"/>
            <a:ext cx="833377" cy="5794"/>
          </a:xfrm>
          <a:prstGeom prst="straightConnector1">
            <a:avLst/>
          </a:prstGeom>
          <a:noFill/>
          <a:ln cap="flat" cmpd="sng" w="19050">
            <a:solidFill>
              <a:srgbClr val="FC7C88"/>
            </a:solidFill>
            <a:prstDash val="solid"/>
            <a:miter lim="800000"/>
            <a:headEnd len="sm" w="sm" type="none"/>
            <a:tailEnd len="med" w="med" type="triangle"/>
          </a:ln>
        </p:spPr>
      </p:cxnSp>
      <p:pic>
        <p:nvPicPr>
          <p:cNvPr id="610" name="Google Shape;610;p32"/>
          <p:cNvPicPr preferRelativeResize="0"/>
          <p:nvPr/>
        </p:nvPicPr>
        <p:blipFill rotWithShape="1">
          <a:blip r:embed="rId3">
            <a:alphaModFix/>
          </a:blip>
          <a:srcRect b="0" l="0" r="0" t="0"/>
          <a:stretch/>
        </p:blipFill>
        <p:spPr>
          <a:xfrm>
            <a:off x="3674962" y="4577899"/>
            <a:ext cx="1036836" cy="1744290"/>
          </a:xfrm>
          <a:prstGeom prst="rect">
            <a:avLst/>
          </a:prstGeom>
          <a:noFill/>
          <a:ln>
            <a:noFill/>
          </a:ln>
        </p:spPr>
      </p:pic>
      <p:pic>
        <p:nvPicPr>
          <p:cNvPr id="611" name="Google Shape;611;p32"/>
          <p:cNvPicPr preferRelativeResize="0"/>
          <p:nvPr/>
        </p:nvPicPr>
        <p:blipFill rotWithShape="1">
          <a:blip r:embed="rId4">
            <a:alphaModFix/>
          </a:blip>
          <a:srcRect b="0" l="0" r="0" t="0"/>
          <a:stretch/>
        </p:blipFill>
        <p:spPr>
          <a:xfrm>
            <a:off x="1018572" y="4679476"/>
            <a:ext cx="2566053" cy="161208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618" name="Google Shape;618;p33"/>
          <p:cNvSpPr txBox="1"/>
          <p:nvPr/>
        </p:nvSpPr>
        <p:spPr>
          <a:xfrm>
            <a:off x="1018572" y="2013994"/>
            <a:ext cx="1002367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exógenos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Competição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grupo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Características do indivíduo</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pt-BR" sz="1800">
                <a:solidFill>
                  <a:schemeClr val="dk1"/>
                </a:solidFill>
                <a:latin typeface="Palatino Linotype"/>
                <a:ea typeface="Palatino Linotype"/>
                <a:cs typeface="Palatino Linotype"/>
                <a:sym typeface="Palatino Linotype"/>
              </a:rPr>
              <a:t>Fatores endógenos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Transgressões éticas</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em tomar decisão</a:t>
            </a:r>
            <a:endParaRPr/>
          </a:p>
          <a:p>
            <a:pPr indent="-285750" lvl="0" marL="285750" marR="0" rtl="0" algn="l">
              <a:spcBef>
                <a:spcPts val="0"/>
              </a:spcBef>
              <a:spcAft>
                <a:spcPts val="0"/>
              </a:spcAft>
              <a:buClr>
                <a:schemeClr val="dk1"/>
              </a:buClr>
              <a:buSzPts val="1800"/>
              <a:buFont typeface="Noto Sans Symbols"/>
              <a:buChar char="▪"/>
            </a:pPr>
            <a:r>
              <a:rPr lang="pt-BR" sz="1800">
                <a:solidFill>
                  <a:schemeClr val="dk1"/>
                </a:solidFill>
                <a:latin typeface="Palatino Linotype"/>
                <a:ea typeface="Palatino Linotype"/>
                <a:cs typeface="Palatino Linotype"/>
                <a:sym typeface="Palatino Linotype"/>
              </a:rPr>
              <a:t>Falhas nas percepção interpessoal</a:t>
            </a:r>
            <a:endParaRPr/>
          </a:p>
        </p:txBody>
      </p:sp>
      <p:sp>
        <p:nvSpPr>
          <p:cNvPr id="619" name="Google Shape;619;p3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Perda do poder</a:t>
            </a:r>
            <a:endParaRPr/>
          </a:p>
        </p:txBody>
      </p:sp>
      <p:sp>
        <p:nvSpPr>
          <p:cNvPr id="620" name="Google Shape;620;p33"/>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sp>
        <p:nvSpPr>
          <p:cNvPr id="621" name="Google Shape;621;p33"/>
          <p:cNvSpPr/>
          <p:nvPr/>
        </p:nvSpPr>
        <p:spPr>
          <a:xfrm>
            <a:off x="5283850" y="2014000"/>
            <a:ext cx="5758500" cy="4214100"/>
          </a:xfrm>
          <a:prstGeom prst="rect">
            <a:avLst/>
          </a:prstGeom>
          <a:solidFill>
            <a:srgbClr val="FC7C8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Às vezes o poder deixa a pessoa insensível às necessidades dos colegas e/ou subordinados.</a:t>
            </a:r>
            <a:endParaRPr sz="1900"/>
          </a:p>
          <a:p>
            <a:pPr indent="0" lvl="0" marL="0" marR="0" rtl="0" algn="l">
              <a:lnSpc>
                <a:spcPct val="100000"/>
              </a:lnSpc>
              <a:spcBef>
                <a:spcPts val="0"/>
              </a:spcBef>
              <a:spcAft>
                <a:spcPts val="0"/>
              </a:spcAft>
              <a:buNone/>
            </a:pPr>
            <a:r>
              <a:t/>
            </a:r>
            <a:endParaRPr sz="18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Também subestimam a capacidade dos demais, ignorando informações relevantes e/ou formam estereótipos sobre as pessoas que podem levar à discriminação.</a:t>
            </a:r>
            <a:endParaRPr sz="1900"/>
          </a:p>
          <a:p>
            <a:pPr indent="0" lvl="0" marL="0" marR="0" rtl="0" algn="l">
              <a:lnSpc>
                <a:spcPct val="100000"/>
              </a:lnSpc>
              <a:spcBef>
                <a:spcPts val="0"/>
              </a:spcBef>
              <a:spcAft>
                <a:spcPts val="0"/>
              </a:spcAft>
              <a:buNone/>
            </a:pPr>
            <a:r>
              <a:t/>
            </a:r>
            <a:endParaRPr sz="18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Essas insensibilidades levam os subordinados a se sentirem mais insatisfeitos, consistindo em um potencial mecanismo de perda de poder.</a:t>
            </a:r>
            <a:endParaRPr sz="1900"/>
          </a:p>
          <a:p>
            <a:pPr indent="0" lvl="0" marL="0" marR="0" rtl="0" algn="l">
              <a:lnSpc>
                <a:spcPct val="100000"/>
              </a:lnSpc>
              <a:spcBef>
                <a:spcPts val="0"/>
              </a:spcBef>
              <a:spcAft>
                <a:spcPts val="0"/>
              </a:spcAft>
              <a:buNone/>
            </a:pPr>
            <a:r>
              <a:t/>
            </a:r>
            <a:endParaRPr sz="1800">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lang="pt-BR" sz="1800">
                <a:solidFill>
                  <a:srgbClr val="000000"/>
                </a:solidFill>
                <a:latin typeface="Palatino Linotype"/>
                <a:ea typeface="Palatino Linotype"/>
                <a:cs typeface="Palatino Linotype"/>
                <a:sym typeface="Palatino Linotype"/>
              </a:rPr>
              <a:t>O erro de “leitura interpessoal” também pode gerar uma falsa percepção de que se tem mais aliados do que realmente tem.</a:t>
            </a:r>
            <a:endParaRPr sz="1900"/>
          </a:p>
        </p:txBody>
      </p:sp>
      <p:cxnSp>
        <p:nvCxnSpPr>
          <p:cNvPr id="622" name="Google Shape;622;p33"/>
          <p:cNvCxnSpPr/>
          <p:nvPr/>
        </p:nvCxnSpPr>
        <p:spPr>
          <a:xfrm flipH="1" rot="10800000">
            <a:off x="4907666" y="4404161"/>
            <a:ext cx="376175" cy="5793"/>
          </a:xfrm>
          <a:prstGeom prst="straightConnector1">
            <a:avLst/>
          </a:prstGeom>
          <a:noFill/>
          <a:ln cap="flat" cmpd="sng" w="19050">
            <a:solidFill>
              <a:srgbClr val="FC7C88"/>
            </a:solidFill>
            <a:prstDash val="solid"/>
            <a:miter lim="800000"/>
            <a:headEnd len="sm" w="sm" type="none"/>
            <a:tailEnd len="med" w="med" type="triangle"/>
          </a:ln>
        </p:spPr>
      </p:cxnSp>
      <p:pic>
        <p:nvPicPr>
          <p:cNvPr id="623" name="Google Shape;623;p33"/>
          <p:cNvPicPr preferRelativeResize="0"/>
          <p:nvPr/>
        </p:nvPicPr>
        <p:blipFill rotWithShape="1">
          <a:blip r:embed="rId3">
            <a:alphaModFix/>
          </a:blip>
          <a:srcRect b="0" l="0" r="0" t="0"/>
          <a:stretch/>
        </p:blipFill>
        <p:spPr>
          <a:xfrm>
            <a:off x="3503546" y="4599317"/>
            <a:ext cx="1705062" cy="166332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630" name="Google Shape;630;p3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Aquisição, manutenção e perda do poder</a:t>
            </a:r>
            <a:endParaRPr/>
          </a:p>
        </p:txBody>
      </p:sp>
      <p:sp>
        <p:nvSpPr>
          <p:cNvPr id="631" name="Google Shape;631;p34"/>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pic>
        <p:nvPicPr>
          <p:cNvPr id="632" name="Google Shape;632;p34"/>
          <p:cNvPicPr preferRelativeResize="0"/>
          <p:nvPr/>
        </p:nvPicPr>
        <p:blipFill rotWithShape="1">
          <a:blip r:embed="rId3">
            <a:alphaModFix/>
          </a:blip>
          <a:srcRect b="0" l="0" r="0" t="0"/>
          <a:stretch/>
        </p:blipFill>
        <p:spPr>
          <a:xfrm>
            <a:off x="2011326" y="2055262"/>
            <a:ext cx="8169348" cy="4263759"/>
          </a:xfrm>
          <a:prstGeom prst="rect">
            <a:avLst/>
          </a:prstGeom>
          <a:noFill/>
          <a:ln>
            <a:noFill/>
          </a:ln>
        </p:spPr>
      </p:pic>
      <p:sp>
        <p:nvSpPr>
          <p:cNvPr id="633" name="Google Shape;633;p34"/>
          <p:cNvSpPr/>
          <p:nvPr/>
        </p:nvSpPr>
        <p:spPr>
          <a:xfrm>
            <a:off x="2129742" y="2662177"/>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4" name="Google Shape;634;p34"/>
          <p:cNvSpPr/>
          <p:nvPr/>
        </p:nvSpPr>
        <p:spPr>
          <a:xfrm>
            <a:off x="8038618" y="2138814"/>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5" name="Google Shape;635;p34"/>
          <p:cNvSpPr/>
          <p:nvPr/>
        </p:nvSpPr>
        <p:spPr>
          <a:xfrm>
            <a:off x="8038618" y="3973009"/>
            <a:ext cx="1145893" cy="214132"/>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6" name="Google Shape;636;p34"/>
          <p:cNvSpPr/>
          <p:nvPr/>
        </p:nvSpPr>
        <p:spPr>
          <a:xfrm>
            <a:off x="4539206" y="3804211"/>
            <a:ext cx="814085" cy="382929"/>
          </a:xfrm>
          <a:prstGeom prst="rect">
            <a:avLst/>
          </a:prstGeom>
          <a:solidFill>
            <a:srgbClr val="65A69B"/>
          </a:solidFill>
          <a:ln cap="flat" cmpd="sng" w="12700">
            <a:solidFill>
              <a:srgbClr val="65A6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7" name="Google Shape;637;p34"/>
          <p:cNvSpPr/>
          <p:nvPr/>
        </p:nvSpPr>
        <p:spPr>
          <a:xfrm>
            <a:off x="5719823" y="4660739"/>
            <a:ext cx="1145893" cy="214132"/>
          </a:xfrm>
          <a:prstGeom prst="rect">
            <a:avLst/>
          </a:prstGeom>
          <a:solidFill>
            <a:srgbClr val="B83122"/>
          </a:solidFill>
          <a:ln cap="flat" cmpd="sng" w="12700">
            <a:solidFill>
              <a:srgbClr val="B8312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8" name="Google Shape;638;p34"/>
          <p:cNvSpPr txBox="1"/>
          <p:nvPr/>
        </p:nvSpPr>
        <p:spPr>
          <a:xfrm>
            <a:off x="1812629" y="2570370"/>
            <a:ext cx="2030166" cy="369332"/>
          </a:xfrm>
          <a:prstGeom prst="rect">
            <a:avLst/>
          </a:prstGeom>
          <a:solidFill>
            <a:srgbClr val="65A69B"/>
          </a:solidFill>
          <a:ln cap="flat" cmpd="sng" w="9525">
            <a:solidFill>
              <a:srgbClr val="65A69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Antecedentes</a:t>
            </a:r>
            <a:endParaRPr/>
          </a:p>
        </p:txBody>
      </p:sp>
      <p:sp>
        <p:nvSpPr>
          <p:cNvPr id="639" name="Google Shape;639;p34"/>
          <p:cNvSpPr txBox="1"/>
          <p:nvPr/>
        </p:nvSpPr>
        <p:spPr>
          <a:xfrm>
            <a:off x="4375230" y="3788343"/>
            <a:ext cx="110538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rgbClr val="FFD966"/>
                </a:solidFill>
                <a:latin typeface="Calibri"/>
                <a:ea typeface="Calibri"/>
                <a:cs typeface="Calibri"/>
                <a:sym typeface="Calibri"/>
              </a:rPr>
              <a:t>Poder</a:t>
            </a:r>
            <a:endParaRPr/>
          </a:p>
        </p:txBody>
      </p:sp>
      <p:sp>
        <p:nvSpPr>
          <p:cNvPr id="640" name="Google Shape;640;p34"/>
          <p:cNvSpPr txBox="1"/>
          <p:nvPr/>
        </p:nvSpPr>
        <p:spPr>
          <a:xfrm>
            <a:off x="7963382" y="2055262"/>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Manutenção</a:t>
            </a:r>
            <a:endParaRPr/>
          </a:p>
        </p:txBody>
      </p:sp>
      <p:sp>
        <p:nvSpPr>
          <p:cNvPr id="641" name="Google Shape;641;p34"/>
          <p:cNvSpPr txBox="1"/>
          <p:nvPr/>
        </p:nvSpPr>
        <p:spPr>
          <a:xfrm>
            <a:off x="7963382" y="3895409"/>
            <a:ext cx="217604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Perda</a:t>
            </a:r>
            <a:endParaRPr/>
          </a:p>
        </p:txBody>
      </p:sp>
      <p:sp>
        <p:nvSpPr>
          <p:cNvPr id="642" name="Google Shape;642;p34"/>
          <p:cNvSpPr txBox="1"/>
          <p:nvPr/>
        </p:nvSpPr>
        <p:spPr>
          <a:xfrm>
            <a:off x="5526911" y="4473186"/>
            <a:ext cx="1927186" cy="369332"/>
          </a:xfrm>
          <a:prstGeom prst="rect">
            <a:avLst/>
          </a:prstGeom>
          <a:solidFill>
            <a:srgbClr val="B83122"/>
          </a:solidFill>
          <a:ln cap="flat" cmpd="sng" w="9525">
            <a:solidFill>
              <a:srgbClr val="B8312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1800">
                <a:solidFill>
                  <a:schemeClr val="lt1"/>
                </a:solidFill>
                <a:latin typeface="Calibri"/>
                <a:ea typeface="Calibri"/>
                <a:cs typeface="Calibri"/>
                <a:sym typeface="Calibri"/>
              </a:rPr>
              <a:t>Moderadores</a:t>
            </a:r>
            <a:endParaRPr/>
          </a:p>
        </p:txBody>
      </p:sp>
      <p:sp>
        <p:nvSpPr>
          <p:cNvPr id="643" name="Google Shape;643;p34"/>
          <p:cNvSpPr txBox="1"/>
          <p:nvPr/>
        </p:nvSpPr>
        <p:spPr>
          <a:xfrm>
            <a:off x="1812629" y="2899735"/>
            <a:ext cx="2037953" cy="2416046"/>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Competência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relacionadas com as tarefas do trabalho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Habilidades interpessoais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Posição estrutural</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Centralidade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Preenchendo buracos estruturais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Demografia e Morfologia</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Personalidade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Traços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Estilo interpessoal</a:t>
            </a:r>
            <a:endParaRPr/>
          </a:p>
        </p:txBody>
      </p:sp>
      <p:sp>
        <p:nvSpPr>
          <p:cNvPr id="644" name="Google Shape;644;p34"/>
          <p:cNvSpPr txBox="1"/>
          <p:nvPr/>
        </p:nvSpPr>
        <p:spPr>
          <a:xfrm>
            <a:off x="7963382" y="2387048"/>
            <a:ext cx="2176042" cy="1338828"/>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Justificação do sistema</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Atribuições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Fisiologia e afeto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Cognição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Comportamento</a:t>
            </a:r>
            <a:endParaRPr/>
          </a:p>
        </p:txBody>
      </p:sp>
      <p:sp>
        <p:nvSpPr>
          <p:cNvPr id="645" name="Google Shape;645;p34"/>
          <p:cNvSpPr txBox="1"/>
          <p:nvPr/>
        </p:nvSpPr>
        <p:spPr>
          <a:xfrm>
            <a:off x="7951806" y="4228409"/>
            <a:ext cx="2176042" cy="1677382"/>
          </a:xfrm>
          <a:prstGeom prst="rect">
            <a:avLst/>
          </a:prstGeom>
          <a:solidFill>
            <a:srgbClr val="DEE7E6"/>
          </a:solidFill>
          <a:ln cap="flat" cmpd="sng" w="9525">
            <a:solidFill>
              <a:srgbClr val="DEE7E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exógenos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Competição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grupo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Características do indivíduo</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Fatores endógenos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Transgressões éticas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em tomar decisão</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Falhas nas percepção interpessoal</a:t>
            </a:r>
            <a:endParaRPr/>
          </a:p>
        </p:txBody>
      </p:sp>
      <p:sp>
        <p:nvSpPr>
          <p:cNvPr id="646" name="Google Shape;646;p34"/>
          <p:cNvSpPr txBox="1"/>
          <p:nvPr/>
        </p:nvSpPr>
        <p:spPr>
          <a:xfrm>
            <a:off x="5526911" y="4815952"/>
            <a:ext cx="1927186" cy="1508105"/>
          </a:xfrm>
          <a:prstGeom prst="rect">
            <a:avLst/>
          </a:prstGeom>
          <a:solidFill>
            <a:srgbClr val="FBC9B5"/>
          </a:solidFill>
          <a:ln cap="flat" cmpd="sng" w="9525">
            <a:solidFill>
              <a:srgbClr val="FBC9B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300">
                <a:solidFill>
                  <a:schemeClr val="dk1"/>
                </a:solidFill>
                <a:latin typeface="Calibri"/>
                <a:ea typeface="Calibri"/>
                <a:cs typeface="Calibri"/>
                <a:sym typeface="Calibri"/>
              </a:rPr>
              <a:t>- Características pessoais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Motivação pessoal para obter o poder</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Disposições</a:t>
            </a:r>
            <a:endParaRPr/>
          </a:p>
          <a:p>
            <a:pPr indent="0" lvl="0" marL="0" marR="0" rtl="0" algn="l">
              <a:spcBef>
                <a:spcPts val="0"/>
              </a:spcBef>
              <a:spcAft>
                <a:spcPts val="0"/>
              </a:spcAft>
              <a:buNone/>
            </a:pPr>
            <a:r>
              <a:rPr b="1" lang="pt-BR" sz="1300">
                <a:solidFill>
                  <a:schemeClr val="dk1"/>
                </a:solidFill>
                <a:latin typeface="Calibri"/>
                <a:ea typeface="Calibri"/>
                <a:cs typeface="Calibri"/>
                <a:sym typeface="Calibri"/>
              </a:rPr>
              <a:t>- Respostas às ameaças</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Estabilidade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Legitimidade</a:t>
            </a:r>
            <a:endParaRPr/>
          </a:p>
          <a:p>
            <a:pPr indent="-171450" lvl="0" marL="171450" marR="0" rtl="0" algn="l">
              <a:spcBef>
                <a:spcPts val="0"/>
              </a:spcBef>
              <a:spcAft>
                <a:spcPts val="0"/>
              </a:spcAft>
              <a:buClr>
                <a:schemeClr val="dk1"/>
              </a:buClr>
              <a:buSzPts val="1100"/>
              <a:buFont typeface="Noto Sans Symbols"/>
              <a:buChar char="▪"/>
            </a:pPr>
            <a:r>
              <a:rPr lang="pt-BR" sz="1100">
                <a:solidFill>
                  <a:schemeClr val="dk1"/>
                </a:solidFill>
                <a:latin typeface="Calibri"/>
                <a:ea typeface="Calibri"/>
                <a:cs typeface="Calibri"/>
                <a:sym typeface="Calibri"/>
              </a:rPr>
              <a:t>Status</a:t>
            </a:r>
            <a:endParaRPr/>
          </a:p>
        </p:txBody>
      </p:sp>
      <p:sp>
        <p:nvSpPr>
          <p:cNvPr id="647" name="Google Shape;647;p34"/>
          <p:cNvSpPr/>
          <p:nvPr/>
        </p:nvSpPr>
        <p:spPr>
          <a:xfrm>
            <a:off x="1554866" y="5960179"/>
            <a:ext cx="263516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000">
                <a:solidFill>
                  <a:schemeClr val="dk1"/>
                </a:solidFill>
                <a:latin typeface="Calibri"/>
                <a:ea typeface="Calibri"/>
                <a:cs typeface="Calibri"/>
                <a:sym typeface="Calibri"/>
              </a:rPr>
              <a:t>Figura: </a:t>
            </a:r>
            <a:r>
              <a:rPr i="1" lang="pt-BR" sz="1000">
                <a:solidFill>
                  <a:schemeClr val="dk1"/>
                </a:solidFill>
                <a:latin typeface="Calibri"/>
                <a:ea typeface="Calibri"/>
                <a:cs typeface="Calibri"/>
                <a:sym typeface="Calibri"/>
              </a:rPr>
              <a:t>Perspectives on Power in Organizations </a:t>
            </a:r>
            <a:r>
              <a:rPr lang="pt-BR" sz="1000">
                <a:solidFill>
                  <a:schemeClr val="dk1"/>
                </a:solidFill>
                <a:latin typeface="Calibri"/>
                <a:ea typeface="Calibri"/>
                <a:cs typeface="Calibri"/>
                <a:sym typeface="Calibri"/>
              </a:rPr>
              <a:t>(Cameron Anderson &amp; Sebastien Brion, 2014)</a:t>
            </a:r>
            <a:endParaRPr/>
          </a:p>
        </p:txBody>
      </p:sp>
      <p:sp>
        <p:nvSpPr>
          <p:cNvPr id="648" name="Google Shape;648;p34"/>
          <p:cNvSpPr/>
          <p:nvPr/>
        </p:nvSpPr>
        <p:spPr>
          <a:xfrm>
            <a:off x="5353291" y="4392592"/>
            <a:ext cx="2170253" cy="196769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9" name="Google Shape;649;p34"/>
          <p:cNvSpPr/>
          <p:nvPr/>
        </p:nvSpPr>
        <p:spPr>
          <a:xfrm>
            <a:off x="5575140" y="4028018"/>
            <a:ext cx="1751636" cy="1221101"/>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 </a:t>
            </a:r>
            <a:endParaRPr/>
          </a:p>
        </p:txBody>
      </p:sp>
      <p:sp>
        <p:nvSpPr>
          <p:cNvPr id="656" name="Google Shape;656;p35"/>
          <p:cNvSpPr txBox="1"/>
          <p:nvPr/>
        </p:nvSpPr>
        <p:spPr>
          <a:xfrm>
            <a:off x="1018572" y="2013994"/>
            <a:ext cx="10023676"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Palatino Linotype"/>
                <a:ea typeface="Palatino Linotype"/>
                <a:cs typeface="Palatino Linotype"/>
                <a:sym typeface="Palatino Linotype"/>
              </a:rPr>
              <a:t>Pense no seu conjunto de competências como uma caixa de ferramentas.</a:t>
            </a:r>
            <a:endParaRPr/>
          </a:p>
          <a:p>
            <a:pPr indent="0" lvl="0" marL="0" marR="0" rtl="0" algn="l">
              <a:spcBef>
                <a:spcPts val="0"/>
              </a:spcBef>
              <a:spcAft>
                <a:spcPts val="0"/>
              </a:spcAft>
              <a:buNone/>
            </a:pPr>
            <a:r>
              <a:rPr lang="pt-BR" sz="1800">
                <a:solidFill>
                  <a:schemeClr val="dk1"/>
                </a:solidFill>
                <a:latin typeface="Palatino Linotype"/>
                <a:ea typeface="Palatino Linotype"/>
                <a:cs typeface="Palatino Linotype"/>
                <a:sym typeface="Palatino Linotype"/>
              </a:rPr>
              <a:t>Considerando o </a:t>
            </a:r>
            <a:r>
              <a:rPr lang="pt-BR" sz="1800" u="sng">
                <a:solidFill>
                  <a:schemeClr val="dk1"/>
                </a:solidFill>
                <a:latin typeface="Palatino Linotype"/>
                <a:ea typeface="Palatino Linotype"/>
                <a:cs typeface="Palatino Linotype"/>
                <a:sym typeface="Palatino Linotype"/>
              </a:rPr>
              <a:t>seu trabalho ou o mercado de trabalho no geral</a:t>
            </a:r>
            <a:r>
              <a:rPr lang="pt-BR" sz="1800">
                <a:solidFill>
                  <a:schemeClr val="dk1"/>
                </a:solidFill>
                <a:latin typeface="Palatino Linotype"/>
                <a:ea typeface="Palatino Linotype"/>
                <a:cs typeface="Palatino Linotype"/>
                <a:sym typeface="Palatino Linotype"/>
              </a:rPr>
              <a:t>...</a:t>
            </a:r>
            <a:br>
              <a:rPr lang="pt-BR" sz="1800">
                <a:solidFill>
                  <a:schemeClr val="dk1"/>
                </a:solidFill>
                <a:latin typeface="Palatino Linotype"/>
                <a:ea typeface="Palatino Linotype"/>
                <a:cs typeface="Palatino Linotype"/>
                <a:sym typeface="Palatino Linotype"/>
              </a:rPr>
            </a:br>
            <a:br>
              <a:rPr lang="pt-BR" sz="1800">
                <a:solidFill>
                  <a:schemeClr val="dk1"/>
                </a:solidFill>
                <a:latin typeface="Palatino Linotype"/>
                <a:ea typeface="Palatino Linotype"/>
                <a:cs typeface="Palatino Linotype"/>
                <a:sym typeface="Palatino Linotype"/>
              </a:rPr>
            </a:br>
            <a:r>
              <a:rPr lang="pt-BR" sz="1800">
                <a:solidFill>
                  <a:schemeClr val="dk1"/>
                </a:solidFill>
                <a:latin typeface="Palatino Linotype"/>
                <a:ea typeface="Palatino Linotype"/>
                <a:cs typeface="Palatino Linotype"/>
                <a:sym typeface="Palatino Linotype"/>
              </a:rPr>
              <a:t>1. Cite as três competências que você mais valoriza da sua caixa de ferramentas. Justifique.</a:t>
            </a:r>
            <a:endParaRPr/>
          </a:p>
          <a:p>
            <a:pPr indent="0" lvl="0" marL="0" marR="0" rtl="0" algn="l">
              <a:spcBef>
                <a:spcPts val="0"/>
              </a:spcBef>
              <a:spcAft>
                <a:spcPts val="0"/>
              </a:spcAft>
              <a:buNone/>
            </a:pPr>
            <a:r>
              <a:rPr lang="pt-BR" sz="1800">
                <a:solidFill>
                  <a:schemeClr val="dk1"/>
                </a:solidFill>
                <a:latin typeface="Palatino Linotype"/>
                <a:ea typeface="Palatino Linotype"/>
                <a:cs typeface="Palatino Linotype"/>
                <a:sym typeface="Palatino Linotype"/>
              </a:rPr>
              <a:t>2. Cite três competências que você pretende ou gostaria de incorporar na sua caixa de ferramentas. Justifique relacionando com as bases de poder (o que essa competência ajudaria você alcançar? Como?)</a:t>
            </a:r>
            <a:endParaRPr/>
          </a:p>
        </p:txBody>
      </p:sp>
      <p:sp>
        <p:nvSpPr>
          <p:cNvPr id="657" name="Google Shape;657;p3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pt-BR" sz="3500">
                <a:solidFill>
                  <a:schemeClr val="lt1"/>
                </a:solidFill>
                <a:latin typeface="Palatino Linotype"/>
                <a:ea typeface="Palatino Linotype"/>
                <a:cs typeface="Palatino Linotype"/>
                <a:sym typeface="Palatino Linotype"/>
              </a:rPr>
              <a:t>Atividade</a:t>
            </a:r>
            <a:endParaRPr/>
          </a:p>
        </p:txBody>
      </p:sp>
      <p:sp>
        <p:nvSpPr>
          <p:cNvPr id="658" name="Google Shape;658;p35"/>
          <p:cNvSpPr txBox="1"/>
          <p:nvPr/>
        </p:nvSpPr>
        <p:spPr>
          <a:xfrm>
            <a:off x="8038618" y="204802"/>
            <a:ext cx="33151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200">
                <a:solidFill>
                  <a:srgbClr val="BFBFBF"/>
                </a:solidFill>
                <a:latin typeface="Calibri"/>
                <a:ea typeface="Calibri"/>
                <a:cs typeface="Calibri"/>
                <a:sym typeface="Calibri"/>
              </a:rPr>
              <a:t>Komatsu, A. V. (2020). Fatores associados ao poder . Slides da disciplina: Relações de poder nas organizações.</a:t>
            </a:r>
            <a:endParaRPr/>
          </a:p>
        </p:txBody>
      </p:sp>
      <p:pic>
        <p:nvPicPr>
          <p:cNvPr id="659" name="Google Shape;659;p35"/>
          <p:cNvPicPr preferRelativeResize="0"/>
          <p:nvPr/>
        </p:nvPicPr>
        <p:blipFill rotWithShape="1">
          <a:blip r:embed="rId3">
            <a:alphaModFix/>
          </a:blip>
          <a:srcRect b="0" l="0" r="0" t="0"/>
          <a:stretch/>
        </p:blipFill>
        <p:spPr>
          <a:xfrm>
            <a:off x="4040327" y="4641567"/>
            <a:ext cx="4111346" cy="1707028"/>
          </a:xfrm>
          <a:prstGeom prst="rect">
            <a:avLst/>
          </a:prstGeom>
          <a:noFill/>
          <a:ln>
            <a:noFill/>
          </a:ln>
        </p:spPr>
      </p:pic>
      <p:sp>
        <p:nvSpPr>
          <p:cNvPr id="660" name="Google Shape;660;p35"/>
          <p:cNvSpPr txBox="1"/>
          <p:nvPr/>
        </p:nvSpPr>
        <p:spPr>
          <a:xfrm>
            <a:off x="2494344" y="5333498"/>
            <a:ext cx="697627"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Inglês</a:t>
            </a:r>
            <a:endParaRPr/>
          </a:p>
        </p:txBody>
      </p:sp>
      <p:sp>
        <p:nvSpPr>
          <p:cNvPr id="661" name="Google Shape;661;p35"/>
          <p:cNvSpPr txBox="1"/>
          <p:nvPr/>
        </p:nvSpPr>
        <p:spPr>
          <a:xfrm>
            <a:off x="3200888" y="4918734"/>
            <a:ext cx="95250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Logística</a:t>
            </a:r>
            <a:endParaRPr/>
          </a:p>
        </p:txBody>
      </p:sp>
      <p:sp>
        <p:nvSpPr>
          <p:cNvPr id="662" name="Google Shape;662;p35"/>
          <p:cNvSpPr txBox="1"/>
          <p:nvPr/>
        </p:nvSpPr>
        <p:spPr>
          <a:xfrm>
            <a:off x="3167150" y="5722711"/>
            <a:ext cx="90281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Oratória</a:t>
            </a:r>
            <a:endParaRPr/>
          </a:p>
        </p:txBody>
      </p:sp>
      <p:sp>
        <p:nvSpPr>
          <p:cNvPr id="663" name="Google Shape;663;p35"/>
          <p:cNvSpPr txBox="1"/>
          <p:nvPr/>
        </p:nvSpPr>
        <p:spPr>
          <a:xfrm>
            <a:off x="3896355" y="4468023"/>
            <a:ext cx="633507"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Excel</a:t>
            </a:r>
            <a:endParaRPr/>
          </a:p>
        </p:txBody>
      </p:sp>
      <p:sp>
        <p:nvSpPr>
          <p:cNvPr id="664" name="Google Shape;664;p35"/>
          <p:cNvSpPr txBox="1"/>
          <p:nvPr/>
        </p:nvSpPr>
        <p:spPr>
          <a:xfrm>
            <a:off x="7508915" y="5615534"/>
            <a:ext cx="131318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Programação</a:t>
            </a:r>
            <a:endParaRPr/>
          </a:p>
        </p:txBody>
      </p:sp>
      <p:sp>
        <p:nvSpPr>
          <p:cNvPr id="665" name="Google Shape;665;p35"/>
          <p:cNvSpPr txBox="1"/>
          <p:nvPr/>
        </p:nvSpPr>
        <p:spPr>
          <a:xfrm>
            <a:off x="7973921" y="5170411"/>
            <a:ext cx="2101857"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Inteligência emocional</a:t>
            </a:r>
            <a:endParaRPr/>
          </a:p>
        </p:txBody>
      </p:sp>
      <p:sp>
        <p:nvSpPr>
          <p:cNvPr id="666" name="Google Shape;666;p35"/>
          <p:cNvSpPr txBox="1"/>
          <p:nvPr/>
        </p:nvSpPr>
        <p:spPr>
          <a:xfrm>
            <a:off x="7713271" y="4527826"/>
            <a:ext cx="1311578"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Autocontrole</a:t>
            </a:r>
            <a:endParaRPr/>
          </a:p>
        </p:txBody>
      </p:sp>
      <p:sp>
        <p:nvSpPr>
          <p:cNvPr id="667" name="Google Shape;667;p35"/>
          <p:cNvSpPr txBox="1"/>
          <p:nvPr/>
        </p:nvSpPr>
        <p:spPr>
          <a:xfrm>
            <a:off x="6471723" y="4261531"/>
            <a:ext cx="1369286"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Assertividade</a:t>
            </a:r>
            <a:endParaRPr/>
          </a:p>
        </p:txBody>
      </p:sp>
      <p:sp>
        <p:nvSpPr>
          <p:cNvPr id="668" name="Google Shape;668;p35"/>
          <p:cNvSpPr txBox="1"/>
          <p:nvPr/>
        </p:nvSpPr>
        <p:spPr>
          <a:xfrm>
            <a:off x="4681964" y="4261530"/>
            <a:ext cx="1348446"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Comunicação</a:t>
            </a:r>
            <a:endParaRPr/>
          </a:p>
        </p:txBody>
      </p:sp>
      <p:sp>
        <p:nvSpPr>
          <p:cNvPr id="669" name="Google Shape;669;p35"/>
          <p:cNvSpPr txBox="1"/>
          <p:nvPr/>
        </p:nvSpPr>
        <p:spPr>
          <a:xfrm>
            <a:off x="3513877" y="5366522"/>
            <a:ext cx="103105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Liderança</a:t>
            </a:r>
            <a:endParaRPr/>
          </a:p>
        </p:txBody>
      </p:sp>
      <p:sp>
        <p:nvSpPr>
          <p:cNvPr id="670" name="Google Shape;670;p35"/>
          <p:cNvSpPr txBox="1"/>
          <p:nvPr/>
        </p:nvSpPr>
        <p:spPr>
          <a:xfrm>
            <a:off x="7515120" y="6021997"/>
            <a:ext cx="1173719"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Negociação</a:t>
            </a:r>
            <a:endParaRPr/>
          </a:p>
        </p:txBody>
      </p:sp>
      <p:sp>
        <p:nvSpPr>
          <p:cNvPr id="671" name="Google Shape;671;p35"/>
          <p:cNvSpPr txBox="1"/>
          <p:nvPr/>
        </p:nvSpPr>
        <p:spPr>
          <a:xfrm>
            <a:off x="8649665" y="5847333"/>
            <a:ext cx="134684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Apresentação</a:t>
            </a:r>
            <a:endParaRPr/>
          </a:p>
        </p:txBody>
      </p:sp>
      <p:sp>
        <p:nvSpPr>
          <p:cNvPr id="672" name="Google Shape;672;p35"/>
          <p:cNvSpPr txBox="1"/>
          <p:nvPr/>
        </p:nvSpPr>
        <p:spPr>
          <a:xfrm>
            <a:off x="1899569" y="5884293"/>
            <a:ext cx="98777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Mecânica</a:t>
            </a:r>
            <a:endParaRPr/>
          </a:p>
        </p:txBody>
      </p:sp>
      <p:sp>
        <p:nvSpPr>
          <p:cNvPr id="673" name="Google Shape;673;p35"/>
          <p:cNvSpPr txBox="1"/>
          <p:nvPr/>
        </p:nvSpPr>
        <p:spPr>
          <a:xfrm>
            <a:off x="2510268" y="4562545"/>
            <a:ext cx="1172116"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Informática</a:t>
            </a:r>
            <a:endParaRPr/>
          </a:p>
        </p:txBody>
      </p:sp>
      <p:sp>
        <p:nvSpPr>
          <p:cNvPr id="674" name="Google Shape;674;p35"/>
          <p:cNvSpPr txBox="1"/>
          <p:nvPr/>
        </p:nvSpPr>
        <p:spPr>
          <a:xfrm>
            <a:off x="1917083" y="5043357"/>
            <a:ext cx="981359"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Espanhol</a:t>
            </a:r>
            <a:endParaRPr/>
          </a:p>
        </p:txBody>
      </p:sp>
      <p:sp>
        <p:nvSpPr>
          <p:cNvPr id="675" name="Google Shape;675;p35"/>
          <p:cNvSpPr txBox="1"/>
          <p:nvPr/>
        </p:nvSpPr>
        <p:spPr>
          <a:xfrm>
            <a:off x="3321278" y="4183979"/>
            <a:ext cx="898003"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Empatia</a:t>
            </a:r>
            <a:endParaRPr/>
          </a:p>
        </p:txBody>
      </p:sp>
      <p:sp>
        <p:nvSpPr>
          <p:cNvPr id="676" name="Google Shape;676;p35"/>
          <p:cNvSpPr txBox="1"/>
          <p:nvPr/>
        </p:nvSpPr>
        <p:spPr>
          <a:xfrm>
            <a:off x="5315137" y="3963407"/>
            <a:ext cx="1871859"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Trabalho em equipe</a:t>
            </a:r>
            <a:endParaRPr/>
          </a:p>
        </p:txBody>
      </p:sp>
      <p:sp>
        <p:nvSpPr>
          <p:cNvPr id="677" name="Google Shape;677;p35"/>
          <p:cNvSpPr txBox="1"/>
          <p:nvPr/>
        </p:nvSpPr>
        <p:spPr>
          <a:xfrm>
            <a:off x="7951300" y="4121363"/>
            <a:ext cx="126188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Organização</a:t>
            </a:r>
            <a:endParaRPr/>
          </a:p>
        </p:txBody>
      </p:sp>
      <p:sp>
        <p:nvSpPr>
          <p:cNvPr id="678" name="Google Shape;678;p35"/>
          <p:cNvSpPr txBox="1"/>
          <p:nvPr/>
        </p:nvSpPr>
        <p:spPr>
          <a:xfrm>
            <a:off x="8151673" y="4874449"/>
            <a:ext cx="1338828"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Planejamento</a:t>
            </a:r>
            <a:endParaRPr/>
          </a:p>
        </p:txBody>
      </p:sp>
      <p:sp>
        <p:nvSpPr>
          <p:cNvPr id="679" name="Google Shape;679;p35"/>
          <p:cNvSpPr txBox="1"/>
          <p:nvPr/>
        </p:nvSpPr>
        <p:spPr>
          <a:xfrm>
            <a:off x="2958580" y="6008916"/>
            <a:ext cx="90441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Redação</a:t>
            </a:r>
            <a:endParaRPr/>
          </a:p>
        </p:txBody>
      </p:sp>
      <p:sp>
        <p:nvSpPr>
          <p:cNvPr id="680" name="Google Shape;680;p35"/>
          <p:cNvSpPr txBox="1"/>
          <p:nvPr/>
        </p:nvSpPr>
        <p:spPr>
          <a:xfrm>
            <a:off x="4033515" y="6041942"/>
            <a:ext cx="118173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Matemática</a:t>
            </a:r>
            <a:endParaRPr/>
          </a:p>
        </p:txBody>
      </p:sp>
      <p:sp>
        <p:nvSpPr>
          <p:cNvPr id="681" name="Google Shape;681;p35"/>
          <p:cNvSpPr txBox="1"/>
          <p:nvPr/>
        </p:nvSpPr>
        <p:spPr>
          <a:xfrm>
            <a:off x="8917168" y="5559351"/>
            <a:ext cx="1728358"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Gestão de pessoas</a:t>
            </a:r>
            <a:endParaRPr/>
          </a:p>
        </p:txBody>
      </p:sp>
      <p:sp>
        <p:nvSpPr>
          <p:cNvPr id="682" name="Google Shape;682;p35"/>
          <p:cNvSpPr txBox="1"/>
          <p:nvPr/>
        </p:nvSpPr>
        <p:spPr>
          <a:xfrm>
            <a:off x="1116181" y="5495116"/>
            <a:ext cx="1380506"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Recrutamento</a:t>
            </a:r>
            <a:endParaRPr/>
          </a:p>
        </p:txBody>
      </p:sp>
      <p:sp>
        <p:nvSpPr>
          <p:cNvPr id="683" name="Google Shape;683;p35"/>
          <p:cNvSpPr txBox="1"/>
          <p:nvPr/>
        </p:nvSpPr>
        <p:spPr>
          <a:xfrm>
            <a:off x="1769545" y="4758195"/>
            <a:ext cx="780983"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Direito</a:t>
            </a:r>
            <a:endParaRPr/>
          </a:p>
        </p:txBody>
      </p:sp>
      <p:sp>
        <p:nvSpPr>
          <p:cNvPr id="684" name="Google Shape;684;p35"/>
          <p:cNvSpPr txBox="1"/>
          <p:nvPr/>
        </p:nvSpPr>
        <p:spPr>
          <a:xfrm>
            <a:off x="4455839" y="4613704"/>
            <a:ext cx="93166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Finanças</a:t>
            </a:r>
            <a:endParaRPr/>
          </a:p>
        </p:txBody>
      </p:sp>
      <p:sp>
        <p:nvSpPr>
          <p:cNvPr id="685" name="Google Shape;685;p35"/>
          <p:cNvSpPr txBox="1"/>
          <p:nvPr/>
        </p:nvSpPr>
        <p:spPr>
          <a:xfrm>
            <a:off x="9650618" y="6041942"/>
            <a:ext cx="90281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Didática</a:t>
            </a:r>
            <a:endParaRPr/>
          </a:p>
        </p:txBody>
      </p:sp>
      <p:sp>
        <p:nvSpPr>
          <p:cNvPr id="686" name="Google Shape;686;p35"/>
          <p:cNvSpPr txBox="1"/>
          <p:nvPr/>
        </p:nvSpPr>
        <p:spPr>
          <a:xfrm>
            <a:off x="9120181" y="4547142"/>
            <a:ext cx="130997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500">
                <a:solidFill>
                  <a:schemeClr val="dk1"/>
                </a:solidFill>
                <a:latin typeface="Palatino Linotype"/>
                <a:ea typeface="Palatino Linotype"/>
                <a:cs typeface="Palatino Linotype"/>
                <a:sym typeface="Palatino Linotype"/>
              </a:rPr>
              <a:t>Mindfullness</a:t>
            </a:r>
            <a:endParaRPr sz="1500">
              <a:solidFill>
                <a:schemeClr val="dk1"/>
              </a:solidFill>
              <a:latin typeface="Palatino Linotype"/>
              <a:ea typeface="Palatino Linotype"/>
              <a:cs typeface="Palatino Linotype"/>
              <a:sym typeface="Palatino Linotype"/>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2019-11-26T14:32:53Z</dcterms:created>
  <dc:creator>FABRICIO ISHIGA</dc:creator>
</cp:coreProperties>
</file>
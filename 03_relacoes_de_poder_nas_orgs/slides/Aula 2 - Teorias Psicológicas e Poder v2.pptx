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 id="279" r:id="rId28"/>
    <p:sldId id="280" r:id="rId29"/>
    <p:sldId id="281" r:id="rId30"/>
    <p:sldId id="282" r:id="rId31"/>
    <p:sldId id="283" r:id="rId32"/>
    <p:sldId id="284" r:id="rId33"/>
  </p:sldIdLst>
  <p:sldSz cy="6858000" cx="12192000"/>
  <p:notesSz cx="6858000" cy="9144000"/>
  <p:embeddedFontLst>
    <p:embeddedFont>
      <p:font typeface="Corbel"/>
      <p:regular r:id="rId34"/>
      <p:bold r:id="rId35"/>
      <p:italic r:id="rId36"/>
      <p:boldItalic r:id="rId37"/>
    </p:embeddedFont>
    <p:embeddedFont>
      <p:font typeface="Palatino Linotype"/>
      <p:regular r:id="rId38"/>
      <p:bold r:id="rId39"/>
      <p:italic r:id="rId40"/>
      <p:boldItalic r:id="rId4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42" roundtripDataSignature="AMtx7mjZgmv5ypMj9ZCi7RDU6eftoJg4P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40" Type="http://schemas.openxmlformats.org/officeDocument/2006/relationships/font" Target="fonts/PalatinoLinotype-italic.fntdata"/><Relationship Id="rId20" Type="http://schemas.openxmlformats.org/officeDocument/2006/relationships/slide" Target="slides/slide16.xml"/><Relationship Id="rId42" Type="http://customschemas.google.com/relationships/presentationmetadata" Target="metadata"/><Relationship Id="rId41" Type="http://schemas.openxmlformats.org/officeDocument/2006/relationships/font" Target="fonts/PalatinoLinotype-boldItalic.fntdata"/><Relationship Id="rId22" Type="http://schemas.openxmlformats.org/officeDocument/2006/relationships/slide" Target="slides/slide18.xml"/><Relationship Id="rId21" Type="http://schemas.openxmlformats.org/officeDocument/2006/relationships/slide" Target="slides/slide17.xml"/><Relationship Id="rId24" Type="http://schemas.openxmlformats.org/officeDocument/2006/relationships/slide" Target="slides/slide20.xml"/><Relationship Id="rId23" Type="http://schemas.openxmlformats.org/officeDocument/2006/relationships/slide" Target="slides/slide19.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26" Type="http://schemas.openxmlformats.org/officeDocument/2006/relationships/slide" Target="slides/slide22.xml"/><Relationship Id="rId25" Type="http://schemas.openxmlformats.org/officeDocument/2006/relationships/slide" Target="slides/slide21.xml"/><Relationship Id="rId28" Type="http://schemas.openxmlformats.org/officeDocument/2006/relationships/slide" Target="slides/slide24.xml"/><Relationship Id="rId27" Type="http://schemas.openxmlformats.org/officeDocument/2006/relationships/slide" Target="slides/slide23.xml"/><Relationship Id="rId5" Type="http://schemas.openxmlformats.org/officeDocument/2006/relationships/slide" Target="slides/slide1.xml"/><Relationship Id="rId6" Type="http://schemas.openxmlformats.org/officeDocument/2006/relationships/slide" Target="slides/slide2.xml"/><Relationship Id="rId29" Type="http://schemas.openxmlformats.org/officeDocument/2006/relationships/slide" Target="slides/slide25.xml"/><Relationship Id="rId7" Type="http://schemas.openxmlformats.org/officeDocument/2006/relationships/slide" Target="slides/slide3.xml"/><Relationship Id="rId8" Type="http://schemas.openxmlformats.org/officeDocument/2006/relationships/slide" Target="slides/slide4.xml"/><Relationship Id="rId31" Type="http://schemas.openxmlformats.org/officeDocument/2006/relationships/slide" Target="slides/slide27.xml"/><Relationship Id="rId30" Type="http://schemas.openxmlformats.org/officeDocument/2006/relationships/slide" Target="slides/slide26.xml"/><Relationship Id="rId11" Type="http://schemas.openxmlformats.org/officeDocument/2006/relationships/slide" Target="slides/slide7.xml"/><Relationship Id="rId33" Type="http://schemas.openxmlformats.org/officeDocument/2006/relationships/slide" Target="slides/slide29.xml"/><Relationship Id="rId10" Type="http://schemas.openxmlformats.org/officeDocument/2006/relationships/slide" Target="slides/slide6.xml"/><Relationship Id="rId32" Type="http://schemas.openxmlformats.org/officeDocument/2006/relationships/slide" Target="slides/slide28.xml"/><Relationship Id="rId13" Type="http://schemas.openxmlformats.org/officeDocument/2006/relationships/slide" Target="slides/slide9.xml"/><Relationship Id="rId35" Type="http://schemas.openxmlformats.org/officeDocument/2006/relationships/font" Target="fonts/Corbel-bold.fntdata"/><Relationship Id="rId12" Type="http://schemas.openxmlformats.org/officeDocument/2006/relationships/slide" Target="slides/slide8.xml"/><Relationship Id="rId34" Type="http://schemas.openxmlformats.org/officeDocument/2006/relationships/font" Target="fonts/Corbel-regular.fntdata"/><Relationship Id="rId15" Type="http://schemas.openxmlformats.org/officeDocument/2006/relationships/slide" Target="slides/slide11.xml"/><Relationship Id="rId37" Type="http://schemas.openxmlformats.org/officeDocument/2006/relationships/font" Target="fonts/Corbel-boldItalic.fntdata"/><Relationship Id="rId14" Type="http://schemas.openxmlformats.org/officeDocument/2006/relationships/slide" Target="slides/slide10.xml"/><Relationship Id="rId36" Type="http://schemas.openxmlformats.org/officeDocument/2006/relationships/font" Target="fonts/Corbel-italic.fntdata"/><Relationship Id="rId17" Type="http://schemas.openxmlformats.org/officeDocument/2006/relationships/slide" Target="slides/slide13.xml"/><Relationship Id="rId39" Type="http://schemas.openxmlformats.org/officeDocument/2006/relationships/font" Target="fonts/PalatinoLinotype-bold.fntdata"/><Relationship Id="rId16" Type="http://schemas.openxmlformats.org/officeDocument/2006/relationships/slide" Target="slides/slide12.xml"/><Relationship Id="rId38" Type="http://schemas.openxmlformats.org/officeDocument/2006/relationships/font" Target="fonts/PalatinoLinotype-regular.fntdata"/><Relationship Id="rId19" Type="http://schemas.openxmlformats.org/officeDocument/2006/relationships/slide" Target="slides/slide15.xml"/><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s-E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www.youtube.com/watch?v=wwNY2c_tcuA" TargetMode="Externa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www.youtube.com/watch?v=wwNY2c_tcuA" TargetMode="Externa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www.youtube.com/watch?v=wwNY2c_tcuA" TargetMode="Externa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www.youtube.com/watch?v=wwNY2c_tcuA" TargetMode="Externa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www.youtube.com/watch?v=wwNY2c_tcuA" TargetMode="Externa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www.youtube.com/watch?v=wwNY2c_tcuA" TargetMode="Externa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www.youtube.com/watch?v=wwNY2c_tcuA" TargetMode="Externa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www.youtube.com/watch?v=wwNY2c_tcuA" TargetMode="Externa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www.youtube.com/watch?v=wwNY2c_tcuA" TargetMode="Externa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www.youtube.com/watch?v=wwNY2c_tcuA" TargetMode="Externa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www.youtube.com/watch?v=wwNY2c_tcuA" TargetMode="Externa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www.youtube.com/watch?v=wwNY2c_tcuA" TargetMode="Externa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www.youtube.com/watch?v=wwNY2c_tcuA" TargetMode="Externa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www.youtube.com/watch?v=wwNY2c_tcuA" TargetMode="Externa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6" name="Google Shape;86;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 name="Shape 93"/>
        <p:cNvGrpSpPr/>
        <p:nvPr/>
      </p:nvGrpSpPr>
      <p:grpSpPr>
        <a:xfrm>
          <a:off x="0" y="0"/>
          <a:ext cx="0" cy="0"/>
          <a:chOff x="0" y="0"/>
          <a:chExt cx="0" cy="0"/>
        </a:xfrm>
      </p:grpSpPr>
      <p:sp>
        <p:nvSpPr>
          <p:cNvPr id="94" name="Google Shape;94;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5" name="Google Shape;95;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s-ES" sz="1200" u="sng">
                <a:solidFill>
                  <a:schemeClr val="hlink"/>
                </a:solidFill>
                <a:hlinkClick r:id="rId2"/>
              </a:rPr>
              <a:t>https://www.youtube.com/watch?v=wwNY2c_tcuA</a:t>
            </a:r>
            <a:r>
              <a:rPr lang="es-ES" sz="1200"/>
              <a:t> </a:t>
            </a:r>
            <a:endParaRPr/>
          </a:p>
        </p:txBody>
      </p:sp>
      <p:sp>
        <p:nvSpPr>
          <p:cNvPr id="96" name="Google Shape;96;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s-E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 name="Shape 101"/>
        <p:cNvGrpSpPr/>
        <p:nvPr/>
      </p:nvGrpSpPr>
      <p:grpSpPr>
        <a:xfrm>
          <a:off x="0" y="0"/>
          <a:ext cx="0" cy="0"/>
          <a:chOff x="0" y="0"/>
          <a:chExt cx="0" cy="0"/>
        </a:xfrm>
      </p:grpSpPr>
      <p:sp>
        <p:nvSpPr>
          <p:cNvPr id="102" name="Google Shape;102;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3" name="Google Shape;103;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 name="Shape 112"/>
        <p:cNvGrpSpPr/>
        <p:nvPr/>
      </p:nvGrpSpPr>
      <p:grpSpPr>
        <a:xfrm>
          <a:off x="0" y="0"/>
          <a:ext cx="0" cy="0"/>
          <a:chOff x="0" y="0"/>
          <a:chExt cx="0" cy="0"/>
        </a:xfrm>
      </p:grpSpPr>
      <p:sp>
        <p:nvSpPr>
          <p:cNvPr id="113" name="Google Shape;113;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4" name="Google Shape;114;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g3d8f21f41fc_0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26" name="Google Shape;126;g3d8f21f41fc_0_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7" name="Google Shape;127;g3d8f21f41fc_0_0: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s-E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g3d8ff26191f_0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32" name="Google Shape;132;g3d8ff26191f_0_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3" name="Google Shape;133;g3d8ff26191f_0_0: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s-E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 name="Shape 137"/>
        <p:cNvGrpSpPr/>
        <p:nvPr/>
      </p:nvGrpSpPr>
      <p:grpSpPr>
        <a:xfrm>
          <a:off x="0" y="0"/>
          <a:ext cx="0" cy="0"/>
          <a:chOff x="0" y="0"/>
          <a:chExt cx="0" cy="0"/>
        </a:xfrm>
      </p:grpSpPr>
      <p:sp>
        <p:nvSpPr>
          <p:cNvPr id="138" name="Google Shape;138;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9" name="Google Shape;139;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s-ES" sz="1200" u="sng">
                <a:solidFill>
                  <a:schemeClr val="hlink"/>
                </a:solidFill>
                <a:hlinkClick r:id="rId2"/>
              </a:rPr>
              <a:t>https://www.youtube.com/watch?v=wwNY2c_tcuA</a:t>
            </a:r>
            <a:r>
              <a:rPr lang="es-ES" sz="1200"/>
              <a:t> </a:t>
            </a:r>
            <a:endParaRPr/>
          </a:p>
        </p:txBody>
      </p:sp>
      <p:sp>
        <p:nvSpPr>
          <p:cNvPr id="140" name="Google Shape;140;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s-E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 name="Shape 145"/>
        <p:cNvGrpSpPr/>
        <p:nvPr/>
      </p:nvGrpSpPr>
      <p:grpSpPr>
        <a:xfrm>
          <a:off x="0" y="0"/>
          <a:ext cx="0" cy="0"/>
          <a:chOff x="0" y="0"/>
          <a:chExt cx="0" cy="0"/>
        </a:xfrm>
      </p:grpSpPr>
      <p:sp>
        <p:nvSpPr>
          <p:cNvPr id="146" name="Google Shape;146;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47" name="Google Shape;147;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 name="Shape 153"/>
        <p:cNvGrpSpPr/>
        <p:nvPr/>
      </p:nvGrpSpPr>
      <p:grpSpPr>
        <a:xfrm>
          <a:off x="0" y="0"/>
          <a:ext cx="0" cy="0"/>
          <a:chOff x="0" y="0"/>
          <a:chExt cx="0" cy="0"/>
        </a:xfrm>
      </p:grpSpPr>
      <p:sp>
        <p:nvSpPr>
          <p:cNvPr id="154" name="Google Shape;154;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5" name="Google Shape;155;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s-ES" sz="1200" u="sng">
                <a:solidFill>
                  <a:schemeClr val="hlink"/>
                </a:solidFill>
                <a:hlinkClick r:id="rId2"/>
              </a:rPr>
              <a:t>https://www.youtube.com/watch?v=wwNY2c_tcuA</a:t>
            </a:r>
            <a:r>
              <a:rPr lang="es-ES" sz="1200"/>
              <a:t> </a:t>
            </a:r>
            <a:endParaRPr/>
          </a:p>
        </p:txBody>
      </p:sp>
      <p:sp>
        <p:nvSpPr>
          <p:cNvPr id="156" name="Google Shape;156;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s-E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 name="Shape 163"/>
        <p:cNvGrpSpPr/>
        <p:nvPr/>
      </p:nvGrpSpPr>
      <p:grpSpPr>
        <a:xfrm>
          <a:off x="0" y="0"/>
          <a:ext cx="0" cy="0"/>
          <a:chOff x="0" y="0"/>
          <a:chExt cx="0" cy="0"/>
        </a:xfrm>
      </p:grpSpPr>
      <p:sp>
        <p:nvSpPr>
          <p:cNvPr id="164" name="Google Shape;164;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5" name="Google Shape;165;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s-ES" sz="1200" u="sng">
                <a:solidFill>
                  <a:schemeClr val="hlink"/>
                </a:solidFill>
                <a:hlinkClick r:id="rId2"/>
              </a:rPr>
              <a:t>https://www.youtube.com/watch?v=wwNY2c_tcuA</a:t>
            </a:r>
            <a:r>
              <a:rPr lang="es-ES" sz="1200"/>
              <a:t> </a:t>
            </a:r>
            <a:endParaRPr/>
          </a:p>
        </p:txBody>
      </p:sp>
      <p:sp>
        <p:nvSpPr>
          <p:cNvPr id="166" name="Google Shape;166;p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s-E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 name="Shape 172"/>
        <p:cNvGrpSpPr/>
        <p:nvPr/>
      </p:nvGrpSpPr>
      <p:grpSpPr>
        <a:xfrm>
          <a:off x="0" y="0"/>
          <a:ext cx="0" cy="0"/>
          <a:chOff x="0" y="0"/>
          <a:chExt cx="0" cy="0"/>
        </a:xfrm>
      </p:grpSpPr>
      <p:sp>
        <p:nvSpPr>
          <p:cNvPr id="173" name="Google Shape;173;g38c87ce9264_0_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4" name="Google Shape;174;g38c87ce9264_0_1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s-ES" sz="1200" u="sng">
                <a:solidFill>
                  <a:schemeClr val="hlink"/>
                </a:solidFill>
                <a:hlinkClick r:id="rId2"/>
              </a:rPr>
              <a:t>https://www.youtube.com/watch?v=wwNY2c_tcuA</a:t>
            </a:r>
            <a:r>
              <a:rPr lang="es-ES" sz="1200"/>
              <a:t> </a:t>
            </a:r>
            <a:endParaRPr/>
          </a:p>
        </p:txBody>
      </p:sp>
      <p:sp>
        <p:nvSpPr>
          <p:cNvPr id="175" name="Google Shape;175;g38c87ce9264_0_13: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s-E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1" name="Shape 181"/>
        <p:cNvGrpSpPr/>
        <p:nvPr/>
      </p:nvGrpSpPr>
      <p:grpSpPr>
        <a:xfrm>
          <a:off x="0" y="0"/>
          <a:ext cx="0" cy="0"/>
          <a:chOff x="0" y="0"/>
          <a:chExt cx="0" cy="0"/>
        </a:xfrm>
      </p:grpSpPr>
      <p:sp>
        <p:nvSpPr>
          <p:cNvPr id="182" name="Google Shape;182;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3" name="Google Shape;183;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s-ES" sz="1200" u="sng">
                <a:solidFill>
                  <a:schemeClr val="hlink"/>
                </a:solidFill>
                <a:hlinkClick r:id="rId2"/>
              </a:rPr>
              <a:t>https://www.youtube.com/watch?v=wwNY2c_tcuA</a:t>
            </a:r>
            <a:r>
              <a:rPr lang="es-ES" sz="1200"/>
              <a:t> </a:t>
            </a:r>
            <a:endParaRPr/>
          </a:p>
        </p:txBody>
      </p:sp>
      <p:sp>
        <p:nvSpPr>
          <p:cNvPr id="184" name="Google Shape;184;p1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s-E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2" name="Shape 192"/>
        <p:cNvGrpSpPr/>
        <p:nvPr/>
      </p:nvGrpSpPr>
      <p:grpSpPr>
        <a:xfrm>
          <a:off x="0" y="0"/>
          <a:ext cx="0" cy="0"/>
          <a:chOff x="0" y="0"/>
          <a:chExt cx="0" cy="0"/>
        </a:xfrm>
      </p:grpSpPr>
      <p:sp>
        <p:nvSpPr>
          <p:cNvPr id="193" name="Google Shape;193;g356308ae9ff_0_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4" name="Google Shape;194;g356308ae9ff_0_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95" name="Google Shape;195;g356308ae9ff_0_7: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es-ES"/>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 name="Shape 199"/>
        <p:cNvGrpSpPr/>
        <p:nvPr/>
      </p:nvGrpSpPr>
      <p:grpSpPr>
        <a:xfrm>
          <a:off x="0" y="0"/>
          <a:ext cx="0" cy="0"/>
          <a:chOff x="0" y="0"/>
          <a:chExt cx="0" cy="0"/>
        </a:xfrm>
      </p:grpSpPr>
      <p:sp>
        <p:nvSpPr>
          <p:cNvPr id="200" name="Google Shape;200;g356308ae9ff_0_2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1" name="Google Shape;201;g356308ae9ff_0_2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02" name="Google Shape;202;g356308ae9ff_0_23: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s-ES"/>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6" name="Shape 206"/>
        <p:cNvGrpSpPr/>
        <p:nvPr/>
      </p:nvGrpSpPr>
      <p:grpSpPr>
        <a:xfrm>
          <a:off x="0" y="0"/>
          <a:ext cx="0" cy="0"/>
          <a:chOff x="0" y="0"/>
          <a:chExt cx="0" cy="0"/>
        </a:xfrm>
      </p:grpSpPr>
      <p:sp>
        <p:nvSpPr>
          <p:cNvPr id="207" name="Google Shape;207;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8" name="Google Shape;208;p1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s-ES" sz="1200" u="sng">
                <a:solidFill>
                  <a:schemeClr val="hlink"/>
                </a:solidFill>
                <a:hlinkClick r:id="rId2"/>
              </a:rPr>
              <a:t>https://www.youtube.com/watch?v=wwNY2c_tcuA</a:t>
            </a:r>
            <a:r>
              <a:rPr lang="es-ES" sz="1200"/>
              <a:t> </a:t>
            </a:r>
            <a:endParaRPr/>
          </a:p>
        </p:txBody>
      </p:sp>
      <p:sp>
        <p:nvSpPr>
          <p:cNvPr id="209" name="Google Shape;209;p1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s-ES"/>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4" name="Shape 214"/>
        <p:cNvGrpSpPr/>
        <p:nvPr/>
      </p:nvGrpSpPr>
      <p:grpSpPr>
        <a:xfrm>
          <a:off x="0" y="0"/>
          <a:ext cx="0" cy="0"/>
          <a:chOff x="0" y="0"/>
          <a:chExt cx="0" cy="0"/>
        </a:xfrm>
      </p:grpSpPr>
      <p:sp>
        <p:nvSpPr>
          <p:cNvPr id="215" name="Google Shape;215;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6" name="Google Shape;216;p1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s-ES" sz="1200" u="sng">
                <a:solidFill>
                  <a:schemeClr val="hlink"/>
                </a:solidFill>
                <a:hlinkClick r:id="rId2"/>
              </a:rPr>
              <a:t>https://www.youtube.com/watch?v=wwNY2c_tcuA</a:t>
            </a:r>
            <a:r>
              <a:rPr lang="es-ES" sz="1200"/>
              <a:t> </a:t>
            </a:r>
            <a:endParaRPr/>
          </a:p>
        </p:txBody>
      </p:sp>
      <p:sp>
        <p:nvSpPr>
          <p:cNvPr id="217" name="Google Shape;217;p1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s-ES"/>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2" name="Shape 222"/>
        <p:cNvGrpSpPr/>
        <p:nvPr/>
      </p:nvGrpSpPr>
      <p:grpSpPr>
        <a:xfrm>
          <a:off x="0" y="0"/>
          <a:ext cx="0" cy="0"/>
          <a:chOff x="0" y="0"/>
          <a:chExt cx="0" cy="0"/>
        </a:xfrm>
      </p:grpSpPr>
      <p:sp>
        <p:nvSpPr>
          <p:cNvPr id="223" name="Google Shape;223;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4" name="Google Shape;224;p1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s-ES" sz="1200" u="sng">
                <a:solidFill>
                  <a:schemeClr val="hlink"/>
                </a:solidFill>
                <a:hlinkClick r:id="rId2"/>
              </a:rPr>
              <a:t>https://www.youtube.com/watch?v=wwNY2c_tcuA</a:t>
            </a:r>
            <a:r>
              <a:rPr lang="es-ES" sz="1200"/>
              <a:t> </a:t>
            </a:r>
            <a:endParaRPr/>
          </a:p>
        </p:txBody>
      </p:sp>
      <p:sp>
        <p:nvSpPr>
          <p:cNvPr id="225" name="Google Shape;225;p1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s-ES"/>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4" name="Shape 234"/>
        <p:cNvGrpSpPr/>
        <p:nvPr/>
      </p:nvGrpSpPr>
      <p:grpSpPr>
        <a:xfrm>
          <a:off x="0" y="0"/>
          <a:ext cx="0" cy="0"/>
          <a:chOff x="0" y="0"/>
          <a:chExt cx="0" cy="0"/>
        </a:xfrm>
      </p:grpSpPr>
      <p:sp>
        <p:nvSpPr>
          <p:cNvPr id="235" name="Google Shape;235;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6" name="Google Shape;236;p1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s-ES" sz="1200" u="sng">
                <a:solidFill>
                  <a:schemeClr val="hlink"/>
                </a:solidFill>
                <a:hlinkClick r:id="rId2"/>
              </a:rPr>
              <a:t>https://www.youtube.com/watch?v=wwNY2c_tcuA</a:t>
            </a:r>
            <a:r>
              <a:rPr lang="es-ES" sz="1200"/>
              <a:t> </a:t>
            </a:r>
            <a:endParaRPr/>
          </a:p>
        </p:txBody>
      </p:sp>
      <p:sp>
        <p:nvSpPr>
          <p:cNvPr id="237" name="Google Shape;237;p1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s-ES"/>
              <a:t>‹#›</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2" name="Shape 242"/>
        <p:cNvGrpSpPr/>
        <p:nvPr/>
      </p:nvGrpSpPr>
      <p:grpSpPr>
        <a:xfrm>
          <a:off x="0" y="0"/>
          <a:ext cx="0" cy="0"/>
          <a:chOff x="0" y="0"/>
          <a:chExt cx="0" cy="0"/>
        </a:xfrm>
      </p:grpSpPr>
      <p:sp>
        <p:nvSpPr>
          <p:cNvPr id="243" name="Google Shape;243;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4" name="Google Shape;244;p1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s-ES" sz="1200" u="sng">
                <a:solidFill>
                  <a:schemeClr val="hlink"/>
                </a:solidFill>
                <a:hlinkClick r:id="rId2"/>
              </a:rPr>
              <a:t>https://www.youtube.com/watch?v=wwNY2c_tcuA</a:t>
            </a:r>
            <a:r>
              <a:rPr lang="es-ES" sz="1200"/>
              <a:t> </a:t>
            </a:r>
            <a:endParaRPr/>
          </a:p>
        </p:txBody>
      </p:sp>
      <p:sp>
        <p:nvSpPr>
          <p:cNvPr id="245" name="Google Shape;245;p1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s-ES"/>
              <a:t>‹#›</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3" name="Shape 253"/>
        <p:cNvGrpSpPr/>
        <p:nvPr/>
      </p:nvGrpSpPr>
      <p:grpSpPr>
        <a:xfrm>
          <a:off x="0" y="0"/>
          <a:ext cx="0" cy="0"/>
          <a:chOff x="0" y="0"/>
          <a:chExt cx="0" cy="0"/>
        </a:xfrm>
      </p:grpSpPr>
      <p:sp>
        <p:nvSpPr>
          <p:cNvPr id="254" name="Google Shape;254;g3d8f21f41fc_0_33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55" name="Google Shape;255;g3d8f21f41fc_0_33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s-ES" sz="1200" u="sng">
                <a:solidFill>
                  <a:schemeClr val="hlink"/>
                </a:solidFill>
                <a:hlinkClick r:id="rId2"/>
              </a:rPr>
              <a:t>https://www.youtube.com/watch?v=wwNY2c_tcuA</a:t>
            </a:r>
            <a:r>
              <a:rPr lang="es-ES" sz="1200"/>
              <a:t> </a:t>
            </a:r>
            <a:endParaRPr/>
          </a:p>
        </p:txBody>
      </p:sp>
      <p:sp>
        <p:nvSpPr>
          <p:cNvPr id="256" name="Google Shape;256;g3d8f21f41fc_0_338: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s-ES"/>
              <a:t>‹#›</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2" name="Shape 262"/>
        <p:cNvGrpSpPr/>
        <p:nvPr/>
      </p:nvGrpSpPr>
      <p:grpSpPr>
        <a:xfrm>
          <a:off x="0" y="0"/>
          <a:ext cx="0" cy="0"/>
          <a:chOff x="0" y="0"/>
          <a:chExt cx="0" cy="0"/>
        </a:xfrm>
      </p:grpSpPr>
      <p:sp>
        <p:nvSpPr>
          <p:cNvPr id="263" name="Google Shape;263;g3d8f21f41fc_0_29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64" name="Google Shape;264;g3d8f21f41fc_0_29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8" name="Shape 268"/>
        <p:cNvGrpSpPr/>
        <p:nvPr/>
      </p:nvGrpSpPr>
      <p:grpSpPr>
        <a:xfrm>
          <a:off x="0" y="0"/>
          <a:ext cx="0" cy="0"/>
          <a:chOff x="0" y="0"/>
          <a:chExt cx="0" cy="0"/>
        </a:xfrm>
      </p:grpSpPr>
      <p:sp>
        <p:nvSpPr>
          <p:cNvPr id="269" name="Google Shape;269;g3d8f21f41fc_0_29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70" name="Google Shape;270;g3d8f21f41fc_0_29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5" name="Shape 275"/>
        <p:cNvGrpSpPr/>
        <p:nvPr/>
      </p:nvGrpSpPr>
      <p:grpSpPr>
        <a:xfrm>
          <a:off x="0" y="0"/>
          <a:ext cx="0" cy="0"/>
          <a:chOff x="0" y="0"/>
          <a:chExt cx="0" cy="0"/>
        </a:xfrm>
      </p:grpSpPr>
      <p:sp>
        <p:nvSpPr>
          <p:cNvPr id="276" name="Google Shape;276;g3d8f21f41fc_0_30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77" name="Google Shape;277;g3d8f21f41fc_0_30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2" name="Shape 282"/>
        <p:cNvGrpSpPr/>
        <p:nvPr/>
      </p:nvGrpSpPr>
      <p:grpSpPr>
        <a:xfrm>
          <a:off x="0" y="0"/>
          <a:ext cx="0" cy="0"/>
          <a:chOff x="0" y="0"/>
          <a:chExt cx="0" cy="0"/>
        </a:xfrm>
      </p:grpSpPr>
      <p:sp>
        <p:nvSpPr>
          <p:cNvPr id="283" name="Google Shape;283;g3d8f21f41fc_0_30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84" name="Google Shape;284;g3d8f21f41fc_0_30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9" name="Shape 289"/>
        <p:cNvGrpSpPr/>
        <p:nvPr/>
      </p:nvGrpSpPr>
      <p:grpSpPr>
        <a:xfrm>
          <a:off x="0" y="0"/>
          <a:ext cx="0" cy="0"/>
          <a:chOff x="0" y="0"/>
          <a:chExt cx="0" cy="0"/>
        </a:xfrm>
      </p:grpSpPr>
      <p:sp>
        <p:nvSpPr>
          <p:cNvPr id="290" name="Google Shape;290;g3d8f21f41fc_0_31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91" name="Google Shape;291;g3d8f21f41fc_0_31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6" name="Shape 296"/>
        <p:cNvGrpSpPr/>
        <p:nvPr/>
      </p:nvGrpSpPr>
      <p:grpSpPr>
        <a:xfrm>
          <a:off x="0" y="0"/>
          <a:ext cx="0" cy="0"/>
          <a:chOff x="0" y="0"/>
          <a:chExt cx="0" cy="0"/>
        </a:xfrm>
      </p:grpSpPr>
      <p:sp>
        <p:nvSpPr>
          <p:cNvPr id="297" name="Google Shape;297;g3d8f21f41fc_0_31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98" name="Google Shape;298;g3d8f21f41fc_0_31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3" name="Shape 303"/>
        <p:cNvGrpSpPr/>
        <p:nvPr/>
      </p:nvGrpSpPr>
      <p:grpSpPr>
        <a:xfrm>
          <a:off x="0" y="0"/>
          <a:ext cx="0" cy="0"/>
          <a:chOff x="0" y="0"/>
          <a:chExt cx="0" cy="0"/>
        </a:xfrm>
      </p:grpSpPr>
      <p:sp>
        <p:nvSpPr>
          <p:cNvPr id="304" name="Google Shape;304;g3d8f21f41fc_0_32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05" name="Google Shape;305;g3d8f21f41fc_0_32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06" name="Google Shape;306;g3d8f21f41fc_0_325: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es-ES"/>
              <a:t>‹#›</a:t>
            </a:fld>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0" name="Shape 310"/>
        <p:cNvGrpSpPr/>
        <p:nvPr/>
      </p:nvGrpSpPr>
      <p:grpSpPr>
        <a:xfrm>
          <a:off x="0" y="0"/>
          <a:ext cx="0" cy="0"/>
          <a:chOff x="0" y="0"/>
          <a:chExt cx="0" cy="0"/>
        </a:xfrm>
      </p:grpSpPr>
      <p:sp>
        <p:nvSpPr>
          <p:cNvPr id="311" name="Google Shape;311;p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12" name="Google Shape;312;p1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s-ES" sz="1200" u="sng">
                <a:solidFill>
                  <a:schemeClr val="hlink"/>
                </a:solidFill>
                <a:hlinkClick r:id="rId2"/>
              </a:rPr>
              <a:t>https://www.youtube.com/watch?v=wwNY2c_tcuA</a:t>
            </a:r>
            <a:r>
              <a:rPr lang="es-ES" sz="1200"/>
              <a:t> </a:t>
            </a:r>
            <a:endParaRPr/>
          </a:p>
        </p:txBody>
      </p:sp>
      <p:sp>
        <p:nvSpPr>
          <p:cNvPr id="313" name="Google Shape;313;p1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s-ES"/>
              <a:t>‹#›</a:t>
            </a:fld>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8" name="Shape 318"/>
        <p:cNvGrpSpPr/>
        <p:nvPr/>
      </p:nvGrpSpPr>
      <p:grpSpPr>
        <a:xfrm>
          <a:off x="0" y="0"/>
          <a:ext cx="0" cy="0"/>
          <a:chOff x="0" y="0"/>
          <a:chExt cx="0" cy="0"/>
        </a:xfrm>
      </p:grpSpPr>
      <p:sp>
        <p:nvSpPr>
          <p:cNvPr id="319" name="Google Shape;319;p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20" name="Google Shape;320;p1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s-ES" sz="1200" u="sng">
                <a:solidFill>
                  <a:schemeClr val="hlink"/>
                </a:solidFill>
                <a:hlinkClick r:id="rId2"/>
              </a:rPr>
              <a:t>https://www.youtube.com/watch?v=wwNY2c_tcuA</a:t>
            </a:r>
            <a:r>
              <a:rPr lang="es-ES" sz="1200"/>
              <a:t> </a:t>
            </a:r>
            <a:endParaRPr/>
          </a:p>
        </p:txBody>
      </p:sp>
      <p:sp>
        <p:nvSpPr>
          <p:cNvPr id="321" name="Google Shape;321;p1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s-E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e Conteúdo" type="obj">
  <p:cSld name="OBJECT">
    <p:spTree>
      <p:nvGrpSpPr>
        <p:cNvPr id="15" name="Shape 15"/>
        <p:cNvGrpSpPr/>
        <p:nvPr/>
      </p:nvGrpSpPr>
      <p:grpSpPr>
        <a:xfrm>
          <a:off x="0" y="0"/>
          <a:ext cx="0" cy="0"/>
          <a:chOff x="0" y="0"/>
          <a:chExt cx="0" cy="0"/>
        </a:xfrm>
      </p:grpSpPr>
      <p:sp>
        <p:nvSpPr>
          <p:cNvPr id="16" name="Google Shape;16;p19"/>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 name="Google Shape;17;p19"/>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8" name="Google Shape;18;p1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 name="Google Shape;19;p1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 name="Google Shape;20;p1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de Título" type="title">
  <p:cSld name="TITLE">
    <p:spTree>
      <p:nvGrpSpPr>
        <p:cNvPr id="21" name="Shape 21"/>
        <p:cNvGrpSpPr/>
        <p:nvPr/>
      </p:nvGrpSpPr>
      <p:grpSpPr>
        <a:xfrm>
          <a:off x="0" y="0"/>
          <a:ext cx="0" cy="0"/>
          <a:chOff x="0" y="0"/>
          <a:chExt cx="0" cy="0"/>
        </a:xfrm>
      </p:grpSpPr>
      <p:sp>
        <p:nvSpPr>
          <p:cNvPr id="22" name="Google Shape;22;p20"/>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 name="Google Shape;23;p20"/>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24" name="Google Shape;24;p2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 name="Google Shape;25;p2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6" name="Google Shape;26;p2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beçalho da Seção" type="secHead">
  <p:cSld name="SECTION_HEADER">
    <p:spTree>
      <p:nvGrpSpPr>
        <p:cNvPr id="27" name="Shape 27"/>
        <p:cNvGrpSpPr/>
        <p:nvPr/>
      </p:nvGrpSpPr>
      <p:grpSpPr>
        <a:xfrm>
          <a:off x="0" y="0"/>
          <a:ext cx="0" cy="0"/>
          <a:chOff x="0" y="0"/>
          <a:chExt cx="0" cy="0"/>
        </a:xfrm>
      </p:grpSpPr>
      <p:sp>
        <p:nvSpPr>
          <p:cNvPr id="28" name="Google Shape;28;p21"/>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9" name="Google Shape;29;p21"/>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888888"/>
              </a:buClr>
              <a:buSzPts val="2400"/>
              <a:buNone/>
              <a:defRPr sz="2400">
                <a:solidFill>
                  <a:srgbClr val="888888"/>
                </a:solidFill>
              </a:defRPr>
            </a:lvl1pPr>
            <a:lvl2pPr indent="-228600" lvl="1" marL="914400" algn="l">
              <a:lnSpc>
                <a:spcPct val="90000"/>
              </a:lnSpc>
              <a:spcBef>
                <a:spcPts val="500"/>
              </a:spcBef>
              <a:spcAft>
                <a:spcPts val="0"/>
              </a:spcAft>
              <a:buClr>
                <a:srgbClr val="888888"/>
              </a:buClr>
              <a:buSzPts val="2000"/>
              <a:buNone/>
              <a:defRPr sz="2000">
                <a:solidFill>
                  <a:srgbClr val="888888"/>
                </a:solidFill>
              </a:defRPr>
            </a:lvl2pPr>
            <a:lvl3pPr indent="-228600" lvl="2" marL="1371600" algn="l">
              <a:lnSpc>
                <a:spcPct val="9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30" name="Google Shape;30;p2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1" name="Google Shape;31;p2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2" name="Google Shape;32;p2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uas Partes de Conteúdo" type="twoObj">
  <p:cSld name="TWO_OBJECTS">
    <p:spTree>
      <p:nvGrpSpPr>
        <p:cNvPr id="33" name="Shape 33"/>
        <p:cNvGrpSpPr/>
        <p:nvPr/>
      </p:nvGrpSpPr>
      <p:grpSpPr>
        <a:xfrm>
          <a:off x="0" y="0"/>
          <a:ext cx="0" cy="0"/>
          <a:chOff x="0" y="0"/>
          <a:chExt cx="0" cy="0"/>
        </a:xfrm>
      </p:grpSpPr>
      <p:sp>
        <p:nvSpPr>
          <p:cNvPr id="34" name="Google Shape;34;p2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5" name="Google Shape;35;p22"/>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6" name="Google Shape;36;p22"/>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7" name="Google Shape;37;p2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8" name="Google Shape;38;p2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9" name="Google Shape;39;p2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ação" type="twoTxTwoObj">
  <p:cSld name="TWO_OBJECTS_WITH_TEXT">
    <p:spTree>
      <p:nvGrpSpPr>
        <p:cNvPr id="40" name="Shape 40"/>
        <p:cNvGrpSpPr/>
        <p:nvPr/>
      </p:nvGrpSpPr>
      <p:grpSpPr>
        <a:xfrm>
          <a:off x="0" y="0"/>
          <a:ext cx="0" cy="0"/>
          <a:chOff x="0" y="0"/>
          <a:chExt cx="0" cy="0"/>
        </a:xfrm>
      </p:grpSpPr>
      <p:sp>
        <p:nvSpPr>
          <p:cNvPr id="41" name="Google Shape;41;p23"/>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2" name="Google Shape;42;p23"/>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3" name="Google Shape;43;p23"/>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4" name="Google Shape;44;p23"/>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5" name="Google Shape;45;p23"/>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6" name="Google Shape;46;p2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7" name="Google Shape;47;p2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8" name="Google Shape;48;p2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omente Título" type="titleOnly">
  <p:cSld name="TITLE_ONLY">
    <p:spTree>
      <p:nvGrpSpPr>
        <p:cNvPr id="49" name="Shape 49"/>
        <p:cNvGrpSpPr/>
        <p:nvPr/>
      </p:nvGrpSpPr>
      <p:grpSpPr>
        <a:xfrm>
          <a:off x="0" y="0"/>
          <a:ext cx="0" cy="0"/>
          <a:chOff x="0" y="0"/>
          <a:chExt cx="0" cy="0"/>
        </a:xfrm>
      </p:grpSpPr>
      <p:sp>
        <p:nvSpPr>
          <p:cNvPr id="50" name="Google Shape;50;p2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1" name="Google Shape;51;p2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2" name="Google Shape;52;p2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3" name="Google Shape;53;p2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m Branco" type="blank">
  <p:cSld name="BLANK">
    <p:spTree>
      <p:nvGrpSpPr>
        <p:cNvPr id="54" name="Shape 54"/>
        <p:cNvGrpSpPr/>
        <p:nvPr/>
      </p:nvGrpSpPr>
      <p:grpSpPr>
        <a:xfrm>
          <a:off x="0" y="0"/>
          <a:ext cx="0" cy="0"/>
          <a:chOff x="0" y="0"/>
          <a:chExt cx="0" cy="0"/>
        </a:xfrm>
      </p:grpSpPr>
      <p:sp>
        <p:nvSpPr>
          <p:cNvPr id="55" name="Google Shape;55;p2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6" name="Google Shape;56;p2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7" name="Google Shape;57;p2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údo com Legenda" type="objTx">
  <p:cSld name="OBJECT_WITH_CAPTION_TEXT">
    <p:spTree>
      <p:nvGrpSpPr>
        <p:cNvPr id="58" name="Shape 58"/>
        <p:cNvGrpSpPr/>
        <p:nvPr/>
      </p:nvGrpSpPr>
      <p:grpSpPr>
        <a:xfrm>
          <a:off x="0" y="0"/>
          <a:ext cx="0" cy="0"/>
          <a:chOff x="0" y="0"/>
          <a:chExt cx="0" cy="0"/>
        </a:xfrm>
      </p:grpSpPr>
      <p:sp>
        <p:nvSpPr>
          <p:cNvPr id="59" name="Google Shape;59;p26"/>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0" name="Google Shape;60;p26"/>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61" name="Google Shape;61;p26"/>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2" name="Google Shape;62;p2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3" name="Google Shape;63;p2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4" name="Google Shape;64;p2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m com Legenda" type="picTx">
  <p:cSld name="PICTURE_WITH_CAPTION_TEXT">
    <p:spTree>
      <p:nvGrpSpPr>
        <p:cNvPr id="65" name="Shape 65"/>
        <p:cNvGrpSpPr/>
        <p:nvPr/>
      </p:nvGrpSpPr>
      <p:grpSpPr>
        <a:xfrm>
          <a:off x="0" y="0"/>
          <a:ext cx="0" cy="0"/>
          <a:chOff x="0" y="0"/>
          <a:chExt cx="0" cy="0"/>
        </a:xfrm>
      </p:grpSpPr>
      <p:sp>
        <p:nvSpPr>
          <p:cNvPr id="66" name="Google Shape;66;p27"/>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7" name="Google Shape;67;p27"/>
          <p:cNvSpPr/>
          <p:nvPr>
            <p:ph idx="2" type="pic"/>
          </p:nvPr>
        </p:nvSpPr>
        <p:spPr>
          <a:xfrm>
            <a:off x="5183188" y="987425"/>
            <a:ext cx="6172200" cy="4873625"/>
          </a:xfrm>
          <a:prstGeom prst="rect">
            <a:avLst/>
          </a:prstGeom>
          <a:noFill/>
          <a:ln>
            <a:noFill/>
          </a:ln>
        </p:spPr>
      </p:sp>
      <p:sp>
        <p:nvSpPr>
          <p:cNvPr id="68" name="Google Shape;68;p27"/>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9" name="Google Shape;69;p2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2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1" name="Google Shape;71;p2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e Texto Vertical" type="vertTx">
  <p:cSld name="VERTICAL_TEXT">
    <p:spTree>
      <p:nvGrpSpPr>
        <p:cNvPr id="72" name="Shape 72"/>
        <p:cNvGrpSpPr/>
        <p:nvPr/>
      </p:nvGrpSpPr>
      <p:grpSpPr>
        <a:xfrm>
          <a:off x="0" y="0"/>
          <a:ext cx="0" cy="0"/>
          <a:chOff x="0" y="0"/>
          <a:chExt cx="0" cy="0"/>
        </a:xfrm>
      </p:grpSpPr>
      <p:sp>
        <p:nvSpPr>
          <p:cNvPr id="73" name="Google Shape;73;p28"/>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4" name="Google Shape;74;p28"/>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5" name="Google Shape;75;p2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6" name="Google Shape;76;p2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7" name="Google Shape;77;p2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xto e Título Vertical" type="vertTitleAndTx">
  <p:cSld name="VERTICAL_TITLE_AND_VERTICAL_TEXT">
    <p:spTree>
      <p:nvGrpSpPr>
        <p:cNvPr id="78" name="Shape 78"/>
        <p:cNvGrpSpPr/>
        <p:nvPr/>
      </p:nvGrpSpPr>
      <p:grpSpPr>
        <a:xfrm>
          <a:off x="0" y="0"/>
          <a:ext cx="0" cy="0"/>
          <a:chOff x="0" y="0"/>
          <a:chExt cx="0" cy="0"/>
        </a:xfrm>
      </p:grpSpPr>
      <p:sp>
        <p:nvSpPr>
          <p:cNvPr id="79" name="Google Shape;79;p29"/>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0" name="Google Shape;80;p29"/>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1" name="Google Shape;81;p2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2" name="Google Shape;82;p2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3" name="Google Shape;83;p2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0.xml"/><Relationship Id="rId10" Type="http://schemas.openxmlformats.org/officeDocument/2006/relationships/slideLayout" Target="../slideLayouts/slideLayout9.xml"/><Relationship Id="rId13" Type="http://schemas.openxmlformats.org/officeDocument/2006/relationships/theme" Target="../theme/theme1.xml"/><Relationship Id="rId12" Type="http://schemas.openxmlformats.org/officeDocument/2006/relationships/slideLayout" Target="../slideLayouts/slideLayout11.xml"/><Relationship Id="rId1" Type="http://schemas.openxmlformats.org/officeDocument/2006/relationships/image" Target="../media/image1.jp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1">
            <a:alphaModFix/>
          </a:blip>
          <a:stretch>
            <a:fillRect/>
          </a:stretch>
        </a:blipFill>
      </p:bgPr>
    </p:bg>
    <p:spTree>
      <p:nvGrpSpPr>
        <p:cNvPr id="9" name="Shape 9"/>
        <p:cNvGrpSpPr/>
        <p:nvPr/>
      </p:nvGrpSpPr>
      <p:grpSpPr>
        <a:xfrm>
          <a:off x="0" y="0"/>
          <a:ext cx="0" cy="0"/>
          <a:chOff x="0" y="0"/>
          <a:chExt cx="0" cy="0"/>
        </a:xfrm>
      </p:grpSpPr>
      <p:sp>
        <p:nvSpPr>
          <p:cNvPr id="10" name="Google Shape;10;p18"/>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1" name="Google Shape;11;p18"/>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2" name="Google Shape;12;p1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3" name="Google Shape;13;p1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4" name="Google Shape;14;p1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ES"/>
              <a:t>‹#›</a:t>
            </a:fld>
            <a:endParaRPr/>
          </a:p>
        </p:txBody>
      </p:sp>
    </p:spTree>
  </p:cSld>
  <p:clrMap accent1="accent1" accent2="accent2" accent3="accent3" accent4="accent4" accent5="accent5" accent6="accent6" bg1="lt1" bg2="dk2" tx1="dk1" tx2="lt2" folHlink="folHlink" hlink="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2.png"/><Relationship Id="rId4" Type="http://schemas.openxmlformats.org/officeDocument/2006/relationships/image" Target="../media/image4.png"/><Relationship Id="rId5" Type="http://schemas.openxmlformats.org/officeDocument/2006/relationships/image" Target="../media/image8.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2.png"/><Relationship Id="rId4" Type="http://schemas.openxmlformats.org/officeDocument/2006/relationships/image" Target="../media/image4.png"/><Relationship Id="rId5" Type="http://schemas.openxmlformats.org/officeDocument/2006/relationships/image" Target="../media/image8.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1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17.png"/><Relationship Id="rId4" Type="http://schemas.openxmlformats.org/officeDocument/2006/relationships/image" Target="../media/image19.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2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hyperlink" Target="https://www.youtube.com/watch?v=UGxGDdQnC1Y&amp;ab_channel=CrashCourse" TargetMode="External"/><Relationship Id="rId4" Type="http://schemas.openxmlformats.org/officeDocument/2006/relationships/hyperlink" Target="http://www.youtube.com/watch?v=UGxGDdQnC1Y" TargetMode="External"/><Relationship Id="rId5" Type="http://schemas.openxmlformats.org/officeDocument/2006/relationships/image" Target="../media/image14.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9.png"/><Relationship Id="rId4" Type="http://schemas.openxmlformats.org/officeDocument/2006/relationships/image" Target="../media/image5.jp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7.png"/><Relationship Id="rId4" Type="http://schemas.openxmlformats.org/officeDocument/2006/relationships/image" Target="../media/image6.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3.png"/></Relationships>
</file>

<file path=ppt/slides/_rels/slide21.xml.rels><?xml version="1.0" encoding="UTF-8" standalone="yes"?><Relationships xmlns="http://schemas.openxmlformats.org/package/2006/relationships"><Relationship Id="rId11" Type="http://schemas.openxmlformats.org/officeDocument/2006/relationships/hyperlink" Target="https://pt.wikipedia.org/wiki/Neuroticismo" TargetMode="External"/><Relationship Id="rId10" Type="http://schemas.openxmlformats.org/officeDocument/2006/relationships/hyperlink" Target="https://pt.wikipedia.org/wiki/Extravers%C3%A3o_e_introvers%C3%A3o" TargetMode="External"/><Relationship Id="rId13" Type="http://schemas.openxmlformats.org/officeDocument/2006/relationships/hyperlink" Target="https://pt.wikipedia.org/wiki/Amabilidade" TargetMode="External"/><Relationship Id="rId12" Type="http://schemas.openxmlformats.org/officeDocument/2006/relationships/hyperlink" Target="https://pt.wikipedia.org/wiki/Labilidade_emocional" TargetMode="External"/><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hyperlink" Target="https://pt.wikipedia.org/wiki/Cinco_grandes_(psicologia)#cite_note-1" TargetMode="External"/><Relationship Id="rId4" Type="http://schemas.openxmlformats.org/officeDocument/2006/relationships/hyperlink" Target="https://pt.wikipedia.org/wiki/L%C3%ADngua_inglesa" TargetMode="External"/><Relationship Id="rId9" Type="http://schemas.openxmlformats.org/officeDocument/2006/relationships/hyperlink" Target="https://pt.wikipedia.org/wiki/Conscienciosidade" TargetMode="External"/><Relationship Id="rId5" Type="http://schemas.openxmlformats.org/officeDocument/2006/relationships/hyperlink" Target="https://pt.wikipedia.org/wiki/Psicologia" TargetMode="External"/><Relationship Id="rId6" Type="http://schemas.openxmlformats.org/officeDocument/2006/relationships/hyperlink" Target="https://pt.wikipedia.org/wiki/Personalidade" TargetMode="External"/><Relationship Id="rId7" Type="http://schemas.openxmlformats.org/officeDocument/2006/relationships/hyperlink" Target="https://pt.wikipedia.org/wiki/Cinco_grandes_(psicologia)#cite_note-2" TargetMode="External"/><Relationship Id="rId8" Type="http://schemas.openxmlformats.org/officeDocument/2006/relationships/hyperlink" Target="https://pt.wikipedia.org/wiki/Abertura_para_a_experi%C3%AAncia" TargetMode="Externa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image" Target="../media/image11.png"/><Relationship Id="rId4" Type="http://schemas.openxmlformats.org/officeDocument/2006/relationships/image" Target="../media/image13.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 Id="rId3" Type="http://schemas.openxmlformats.org/officeDocument/2006/relationships/image" Target="../media/image10.png"/><Relationship Id="rId4" Type="http://schemas.openxmlformats.org/officeDocument/2006/relationships/image" Target="../media/image15.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 Id="rId3" Type="http://schemas.openxmlformats.org/officeDocument/2006/relationships/image" Target="../media/image24.jpg"/><Relationship Id="rId4" Type="http://schemas.openxmlformats.org/officeDocument/2006/relationships/image" Target="../media/image16.jp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 Id="rId3" Type="http://schemas.openxmlformats.org/officeDocument/2006/relationships/image" Target="../media/image22.png"/><Relationship Id="rId4" Type="http://schemas.openxmlformats.org/officeDocument/2006/relationships/image" Target="../media/image20.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 Id="rId3" Type="http://schemas.openxmlformats.org/officeDocument/2006/relationships/image" Target="../media/image23.jpg"/><Relationship Id="rId4" Type="http://schemas.openxmlformats.org/officeDocument/2006/relationships/image" Target="../media/image25.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 Id="rId3" Type="http://schemas.openxmlformats.org/officeDocument/2006/relationships/image" Target="../media/image26.jpg"/><Relationship Id="rId4" Type="http://schemas.openxmlformats.org/officeDocument/2006/relationships/image" Target="../media/image18.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 name="Shape 87"/>
        <p:cNvGrpSpPr/>
        <p:nvPr/>
      </p:nvGrpSpPr>
      <p:grpSpPr>
        <a:xfrm>
          <a:off x="0" y="0"/>
          <a:ext cx="0" cy="0"/>
          <a:chOff x="0" y="0"/>
          <a:chExt cx="0" cy="0"/>
        </a:xfrm>
      </p:grpSpPr>
      <p:sp>
        <p:nvSpPr>
          <p:cNvPr id="88" name="Google Shape;88;p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s-ES"/>
              <a:t> </a:t>
            </a:r>
            <a:endParaRPr/>
          </a:p>
        </p:txBody>
      </p:sp>
      <p:sp>
        <p:nvSpPr>
          <p:cNvPr id="89" name="Google Shape;89;p1"/>
          <p:cNvSpPr txBox="1"/>
          <p:nvPr/>
        </p:nvSpPr>
        <p:spPr>
          <a:xfrm>
            <a:off x="1463039" y="1628834"/>
            <a:ext cx="9064200" cy="22473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000"/>
              <a:buFont typeface="Arial"/>
              <a:buNone/>
            </a:pPr>
            <a:r>
              <a:rPr b="1" i="0" lang="es-ES" sz="2000" u="none" cap="none" strike="noStrike">
                <a:solidFill>
                  <a:schemeClr val="dk1"/>
                </a:solidFill>
                <a:latin typeface="Arial Rounded"/>
                <a:ea typeface="Arial Rounded"/>
                <a:cs typeface="Arial Rounded"/>
                <a:sym typeface="Arial Rounded"/>
              </a:rPr>
              <a:t>Especialização em Psicologia Organizacional e do Trabalho</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2000"/>
              <a:buFont typeface="Arial"/>
              <a:buNone/>
            </a:pPr>
            <a:r>
              <a:t/>
            </a:r>
            <a:endParaRPr b="1" i="0" sz="2000" u="none" cap="none" strike="noStrike">
              <a:solidFill>
                <a:schemeClr val="dk1"/>
              </a:solidFill>
              <a:latin typeface="Arial Rounded"/>
              <a:ea typeface="Arial Rounded"/>
              <a:cs typeface="Arial Rounded"/>
              <a:sym typeface="Arial Rounded"/>
            </a:endParaRPr>
          </a:p>
          <a:p>
            <a:pPr indent="0" lvl="0" marL="0" marR="0" rtl="0" algn="ctr">
              <a:lnSpc>
                <a:spcPct val="100000"/>
              </a:lnSpc>
              <a:spcBef>
                <a:spcPts val="0"/>
              </a:spcBef>
              <a:spcAft>
                <a:spcPts val="0"/>
              </a:spcAft>
              <a:buClr>
                <a:srgbClr val="000000"/>
              </a:buClr>
              <a:buSzPts val="2000"/>
              <a:buFont typeface="Arial"/>
              <a:buNone/>
            </a:pPr>
            <a:r>
              <a:rPr b="1" i="0" lang="es-ES" sz="2000" u="none" cap="none" strike="noStrike">
                <a:solidFill>
                  <a:schemeClr val="dk1"/>
                </a:solidFill>
                <a:latin typeface="Arial Rounded"/>
                <a:ea typeface="Arial Rounded"/>
                <a:cs typeface="Arial Rounded"/>
                <a:sym typeface="Arial Rounded"/>
              </a:rPr>
              <a:t>Disciplina: Relações de Poder nas Organizações</a:t>
            </a:r>
            <a:endParaRPr b="1" i="0" sz="2000" u="none" cap="none" strike="noStrike">
              <a:solidFill>
                <a:schemeClr val="dk1"/>
              </a:solidFill>
              <a:latin typeface="Arial Rounded"/>
              <a:ea typeface="Arial Rounded"/>
              <a:cs typeface="Arial Rounded"/>
              <a:sym typeface="Arial Rounded"/>
            </a:endParaRPr>
          </a:p>
          <a:p>
            <a:pPr indent="0" lvl="0" marL="0" marR="0" rtl="0" algn="ctr">
              <a:lnSpc>
                <a:spcPct val="100000"/>
              </a:lnSpc>
              <a:spcBef>
                <a:spcPts val="0"/>
              </a:spcBef>
              <a:spcAft>
                <a:spcPts val="0"/>
              </a:spcAft>
              <a:buClr>
                <a:srgbClr val="000000"/>
              </a:buClr>
              <a:buSzPts val="2000"/>
              <a:buFont typeface="Arial"/>
              <a:buNone/>
            </a:pPr>
            <a:r>
              <a:t/>
            </a:r>
            <a:endParaRPr b="1" i="0" sz="2000" u="none" cap="none" strike="noStrike">
              <a:solidFill>
                <a:schemeClr val="dk1"/>
              </a:solidFill>
              <a:latin typeface="Arial Rounded"/>
              <a:ea typeface="Arial Rounded"/>
              <a:cs typeface="Arial Rounded"/>
              <a:sym typeface="Arial Rounded"/>
            </a:endParaRPr>
          </a:p>
          <a:p>
            <a:pPr indent="0" lvl="0" marL="0" marR="0" rtl="0" algn="ctr">
              <a:lnSpc>
                <a:spcPct val="100000"/>
              </a:lnSpc>
              <a:spcBef>
                <a:spcPts val="0"/>
              </a:spcBef>
              <a:spcAft>
                <a:spcPts val="0"/>
              </a:spcAft>
              <a:buClr>
                <a:srgbClr val="000000"/>
              </a:buClr>
              <a:buSzPts val="2000"/>
              <a:buFont typeface="Arial"/>
              <a:buNone/>
            </a:pPr>
            <a:r>
              <a:rPr b="1" i="0" lang="es-ES" sz="2000" u="none" cap="none" strike="noStrike">
                <a:solidFill>
                  <a:schemeClr val="dk1"/>
                </a:solidFill>
                <a:latin typeface="Arial Rounded"/>
                <a:ea typeface="Arial Rounded"/>
                <a:cs typeface="Arial Rounded"/>
                <a:sym typeface="Arial Rounded"/>
              </a:rPr>
              <a:t>Aula: Teorías Psicológicas e Poder</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2000"/>
              <a:buFont typeface="Arial"/>
              <a:buNone/>
            </a:pPr>
            <a:r>
              <a:t/>
            </a:r>
            <a:endParaRPr b="1" i="0" sz="2000" u="none" cap="none" strike="noStrike">
              <a:solidFill>
                <a:schemeClr val="dk1"/>
              </a:solidFill>
              <a:latin typeface="Arial Rounded"/>
              <a:ea typeface="Arial Rounded"/>
              <a:cs typeface="Arial Rounded"/>
              <a:sym typeface="Arial Rounded"/>
            </a:endParaRPr>
          </a:p>
          <a:p>
            <a:pPr indent="0" lvl="0" marL="0" marR="0" rtl="0" algn="ctr">
              <a:lnSpc>
                <a:spcPct val="100000"/>
              </a:lnSpc>
              <a:spcBef>
                <a:spcPts val="0"/>
              </a:spcBef>
              <a:spcAft>
                <a:spcPts val="0"/>
              </a:spcAft>
              <a:buClr>
                <a:srgbClr val="000000"/>
              </a:buClr>
              <a:buSzPts val="2000"/>
              <a:buFont typeface="Arial"/>
              <a:buNone/>
            </a:pPr>
            <a:r>
              <a:rPr b="1" i="0" lang="es-ES" sz="2000" u="none" cap="none" strike="noStrike">
                <a:solidFill>
                  <a:schemeClr val="dk1"/>
                </a:solidFill>
                <a:latin typeface="Arial Rounded"/>
                <a:ea typeface="Arial Rounded"/>
                <a:cs typeface="Arial Rounded"/>
                <a:sym typeface="Arial Rounded"/>
              </a:rPr>
              <a:t>Prof. Dr. Ezio Alves </a:t>
            </a:r>
            <a:endParaRPr b="1" i="0" sz="2000" u="none" cap="none" strike="noStrike">
              <a:solidFill>
                <a:schemeClr val="dk1"/>
              </a:solidFill>
              <a:latin typeface="Arial Rounded"/>
              <a:ea typeface="Arial Rounded"/>
              <a:cs typeface="Arial Rounded"/>
              <a:sym typeface="Arial Rounded"/>
            </a:endParaRPr>
          </a:p>
        </p:txBody>
      </p:sp>
      <p:sp>
        <p:nvSpPr>
          <p:cNvPr id="90" name="Google Shape;90;p1"/>
          <p:cNvSpPr/>
          <p:nvPr/>
        </p:nvSpPr>
        <p:spPr>
          <a:xfrm>
            <a:off x="4149190" y="3906456"/>
            <a:ext cx="1828124" cy="2401746"/>
          </a:xfrm>
          <a:custGeom>
            <a:rect b="b" l="l" r="r" t="t"/>
            <a:pathLst>
              <a:path extrusionOk="0" h="2401746" w="1828124">
                <a:moveTo>
                  <a:pt x="1765474" y="300941"/>
                </a:moveTo>
                <a:cubicBezTo>
                  <a:pt x="1793446" y="291295"/>
                  <a:pt x="1763059" y="277456"/>
                  <a:pt x="1759687" y="266217"/>
                </a:cubicBezTo>
                <a:cubicBezTo>
                  <a:pt x="1757208" y="257954"/>
                  <a:pt x="1749065" y="251642"/>
                  <a:pt x="1748112" y="243068"/>
                </a:cubicBezTo>
                <a:cubicBezTo>
                  <a:pt x="1741281" y="181594"/>
                  <a:pt x="1746705" y="118884"/>
                  <a:pt x="1736537" y="57873"/>
                </a:cubicBezTo>
                <a:cubicBezTo>
                  <a:pt x="1734743" y="47109"/>
                  <a:pt x="1722468" y="40777"/>
                  <a:pt x="1713388" y="34724"/>
                </a:cubicBezTo>
                <a:cubicBezTo>
                  <a:pt x="1677069" y="10511"/>
                  <a:pt x="1661509" y="10179"/>
                  <a:pt x="1620790" y="0"/>
                </a:cubicBezTo>
                <a:cubicBezTo>
                  <a:pt x="1485752" y="1929"/>
                  <a:pt x="1350564" y="-874"/>
                  <a:pt x="1215677" y="5787"/>
                </a:cubicBezTo>
                <a:cubicBezTo>
                  <a:pt x="1193708" y="6872"/>
                  <a:pt x="1173665" y="19263"/>
                  <a:pt x="1152016" y="23149"/>
                </a:cubicBezTo>
                <a:cubicBezTo>
                  <a:pt x="1098310" y="32788"/>
                  <a:pt x="989970" y="46298"/>
                  <a:pt x="989970" y="46298"/>
                </a:cubicBezTo>
                <a:cubicBezTo>
                  <a:pt x="982254" y="52085"/>
                  <a:pt x="975253" y="58976"/>
                  <a:pt x="966821" y="63660"/>
                </a:cubicBezTo>
                <a:cubicBezTo>
                  <a:pt x="938830" y="79211"/>
                  <a:pt x="904566" y="81753"/>
                  <a:pt x="874223" y="86810"/>
                </a:cubicBezTo>
                <a:cubicBezTo>
                  <a:pt x="702524" y="115426"/>
                  <a:pt x="904902" y="78525"/>
                  <a:pt x="706390" y="115746"/>
                </a:cubicBezTo>
                <a:cubicBezTo>
                  <a:pt x="689028" y="123463"/>
                  <a:pt x="671033" y="129888"/>
                  <a:pt x="654304" y="138896"/>
                </a:cubicBezTo>
                <a:cubicBezTo>
                  <a:pt x="645811" y="143469"/>
                  <a:pt x="639587" y="151574"/>
                  <a:pt x="631155" y="156258"/>
                </a:cubicBezTo>
                <a:cubicBezTo>
                  <a:pt x="606914" y="169726"/>
                  <a:pt x="576050" y="173648"/>
                  <a:pt x="550132" y="179407"/>
                </a:cubicBezTo>
                <a:cubicBezTo>
                  <a:pt x="534699" y="187124"/>
                  <a:pt x="518629" y="193679"/>
                  <a:pt x="503833" y="202557"/>
                </a:cubicBezTo>
                <a:cubicBezTo>
                  <a:pt x="494188" y="208344"/>
                  <a:pt x="485298" y="215636"/>
                  <a:pt x="474897" y="219919"/>
                </a:cubicBezTo>
                <a:cubicBezTo>
                  <a:pt x="452333" y="229210"/>
                  <a:pt x="427274" y="232156"/>
                  <a:pt x="405449" y="243068"/>
                </a:cubicBezTo>
                <a:cubicBezTo>
                  <a:pt x="390016" y="250784"/>
                  <a:pt x="375170" y="259809"/>
                  <a:pt x="359150" y="266217"/>
                </a:cubicBezTo>
                <a:cubicBezTo>
                  <a:pt x="318885" y="282323"/>
                  <a:pt x="340069" y="274507"/>
                  <a:pt x="295489" y="289367"/>
                </a:cubicBezTo>
                <a:cubicBezTo>
                  <a:pt x="291631" y="299012"/>
                  <a:pt x="290248" y="310069"/>
                  <a:pt x="283914" y="318303"/>
                </a:cubicBezTo>
                <a:cubicBezTo>
                  <a:pt x="270607" y="335602"/>
                  <a:pt x="251588" y="347835"/>
                  <a:pt x="237616" y="364602"/>
                </a:cubicBezTo>
                <a:lnTo>
                  <a:pt x="208679" y="399326"/>
                </a:lnTo>
                <a:cubicBezTo>
                  <a:pt x="200963" y="418617"/>
                  <a:pt x="193061" y="437835"/>
                  <a:pt x="185530" y="457200"/>
                </a:cubicBezTo>
                <a:cubicBezTo>
                  <a:pt x="179556" y="472561"/>
                  <a:pt x="179823" y="491843"/>
                  <a:pt x="168168" y="503498"/>
                </a:cubicBezTo>
                <a:lnTo>
                  <a:pt x="139231" y="532435"/>
                </a:lnTo>
                <a:cubicBezTo>
                  <a:pt x="102698" y="617677"/>
                  <a:pt x="139405" y="526091"/>
                  <a:pt x="110294" y="619245"/>
                </a:cubicBezTo>
                <a:cubicBezTo>
                  <a:pt x="105378" y="634977"/>
                  <a:pt x="98144" y="649907"/>
                  <a:pt x="92932" y="665544"/>
                </a:cubicBezTo>
                <a:cubicBezTo>
                  <a:pt x="88491" y="678867"/>
                  <a:pt x="85799" y="692732"/>
                  <a:pt x="81358" y="706055"/>
                </a:cubicBezTo>
                <a:cubicBezTo>
                  <a:pt x="76146" y="721692"/>
                  <a:pt x="68911" y="736622"/>
                  <a:pt x="63995" y="752354"/>
                </a:cubicBezTo>
                <a:cubicBezTo>
                  <a:pt x="42229" y="822006"/>
                  <a:pt x="65884" y="776216"/>
                  <a:pt x="35059" y="827589"/>
                </a:cubicBezTo>
                <a:cubicBezTo>
                  <a:pt x="-30671" y="1221960"/>
                  <a:pt x="13207" y="934416"/>
                  <a:pt x="29271" y="1898248"/>
                </a:cubicBezTo>
                <a:cubicBezTo>
                  <a:pt x="29888" y="1935296"/>
                  <a:pt x="41759" y="1939672"/>
                  <a:pt x="63995" y="1961908"/>
                </a:cubicBezTo>
                <a:cubicBezTo>
                  <a:pt x="96786" y="2060282"/>
                  <a:pt x="51053" y="1940337"/>
                  <a:pt x="98720" y="2019782"/>
                </a:cubicBezTo>
                <a:cubicBezTo>
                  <a:pt x="104997" y="2030244"/>
                  <a:pt x="104017" y="2044044"/>
                  <a:pt x="110294" y="2054506"/>
                </a:cubicBezTo>
                <a:cubicBezTo>
                  <a:pt x="125499" y="2079847"/>
                  <a:pt x="140475" y="2077979"/>
                  <a:pt x="162380" y="2095017"/>
                </a:cubicBezTo>
                <a:cubicBezTo>
                  <a:pt x="170994" y="2101717"/>
                  <a:pt x="176172" y="2112552"/>
                  <a:pt x="185530" y="2118167"/>
                </a:cubicBezTo>
                <a:cubicBezTo>
                  <a:pt x="195992" y="2124444"/>
                  <a:pt x="208788" y="2125572"/>
                  <a:pt x="220254" y="2129741"/>
                </a:cubicBezTo>
                <a:cubicBezTo>
                  <a:pt x="230017" y="2133291"/>
                  <a:pt x="239407" y="2137822"/>
                  <a:pt x="249190" y="2141316"/>
                </a:cubicBezTo>
                <a:cubicBezTo>
                  <a:pt x="299442" y="2159263"/>
                  <a:pt x="290920" y="2153413"/>
                  <a:pt x="330213" y="2170253"/>
                </a:cubicBezTo>
                <a:cubicBezTo>
                  <a:pt x="347676" y="2177737"/>
                  <a:pt x="364658" y="2186346"/>
                  <a:pt x="382299" y="2193402"/>
                </a:cubicBezTo>
                <a:cubicBezTo>
                  <a:pt x="450971" y="2220871"/>
                  <a:pt x="380862" y="2186263"/>
                  <a:pt x="463322" y="2222339"/>
                </a:cubicBezTo>
                <a:cubicBezTo>
                  <a:pt x="497891" y="2237463"/>
                  <a:pt x="514938" y="2251118"/>
                  <a:pt x="550132" y="2262850"/>
                </a:cubicBezTo>
                <a:cubicBezTo>
                  <a:pt x="565224" y="2267881"/>
                  <a:pt x="581135" y="2270055"/>
                  <a:pt x="596431" y="2274425"/>
                </a:cubicBezTo>
                <a:cubicBezTo>
                  <a:pt x="608162" y="2277777"/>
                  <a:pt x="620048" y="2280951"/>
                  <a:pt x="631155" y="2286000"/>
                </a:cubicBezTo>
                <a:cubicBezTo>
                  <a:pt x="641395" y="2290655"/>
                  <a:pt x="649214" y="2300499"/>
                  <a:pt x="660092" y="2303362"/>
                </a:cubicBezTo>
                <a:cubicBezTo>
                  <a:pt x="686475" y="2310305"/>
                  <a:pt x="714362" y="2309586"/>
                  <a:pt x="741114" y="2314936"/>
                </a:cubicBezTo>
                <a:cubicBezTo>
                  <a:pt x="762682" y="2319250"/>
                  <a:pt x="783207" y="2327984"/>
                  <a:pt x="804775" y="2332298"/>
                </a:cubicBezTo>
                <a:cubicBezTo>
                  <a:pt x="831527" y="2337648"/>
                  <a:pt x="858864" y="2339529"/>
                  <a:pt x="885798" y="2343873"/>
                </a:cubicBezTo>
                <a:cubicBezTo>
                  <a:pt x="918675" y="2349176"/>
                  <a:pt x="951388" y="2355448"/>
                  <a:pt x="984183" y="2361235"/>
                </a:cubicBezTo>
                <a:cubicBezTo>
                  <a:pt x="993829" y="2365093"/>
                  <a:pt x="1003131" y="2369956"/>
                  <a:pt x="1013120" y="2372810"/>
                </a:cubicBezTo>
                <a:cubicBezTo>
                  <a:pt x="1042363" y="2381165"/>
                  <a:pt x="1142188" y="2398818"/>
                  <a:pt x="1157803" y="2401746"/>
                </a:cubicBezTo>
                <a:cubicBezTo>
                  <a:pt x="1304416" y="2397888"/>
                  <a:pt x="1451148" y="2397232"/>
                  <a:pt x="1597641" y="2390172"/>
                </a:cubicBezTo>
                <a:cubicBezTo>
                  <a:pt x="1607101" y="2389716"/>
                  <a:pt x="1655471" y="2373477"/>
                  <a:pt x="1667089" y="2367022"/>
                </a:cubicBezTo>
                <a:cubicBezTo>
                  <a:pt x="1802280" y="2291917"/>
                  <a:pt x="1587576" y="2400989"/>
                  <a:pt x="1713388" y="2338086"/>
                </a:cubicBezTo>
                <a:cubicBezTo>
                  <a:pt x="1791758" y="2259712"/>
                  <a:pt x="1667757" y="2376223"/>
                  <a:pt x="1777049" y="2303362"/>
                </a:cubicBezTo>
                <a:cubicBezTo>
                  <a:pt x="1784227" y="2298576"/>
                  <a:pt x="1785895" y="2288397"/>
                  <a:pt x="1788623" y="2280212"/>
                </a:cubicBezTo>
                <a:cubicBezTo>
                  <a:pt x="1815955" y="2198216"/>
                  <a:pt x="1785673" y="2262964"/>
                  <a:pt x="1811773" y="2210764"/>
                </a:cubicBezTo>
                <a:cubicBezTo>
                  <a:pt x="1811257" y="2193225"/>
                  <a:pt x="1863949" y="2018643"/>
                  <a:pt x="1782836" y="2002420"/>
                </a:cubicBezTo>
                <a:cubicBezTo>
                  <a:pt x="1752334" y="1996319"/>
                  <a:pt x="1721105" y="1994703"/>
                  <a:pt x="1690239" y="1990845"/>
                </a:cubicBezTo>
                <a:cubicBezTo>
                  <a:pt x="1635944" y="1963698"/>
                  <a:pt x="1703885" y="1996304"/>
                  <a:pt x="1632365" y="1967696"/>
                </a:cubicBezTo>
                <a:cubicBezTo>
                  <a:pt x="1624355" y="1964492"/>
                  <a:pt x="1617756" y="1957341"/>
                  <a:pt x="1609216" y="1956121"/>
                </a:cubicBezTo>
                <a:cubicBezTo>
                  <a:pt x="1563224" y="1949550"/>
                  <a:pt x="1516619" y="1948404"/>
                  <a:pt x="1470320" y="1944546"/>
                </a:cubicBezTo>
                <a:cubicBezTo>
                  <a:pt x="1466462" y="1936830"/>
                  <a:pt x="1465647" y="1926573"/>
                  <a:pt x="1458745" y="1921397"/>
                </a:cubicBezTo>
                <a:cubicBezTo>
                  <a:pt x="1442461" y="1909184"/>
                  <a:pt x="1357760" y="1898779"/>
                  <a:pt x="1354573" y="1898248"/>
                </a:cubicBezTo>
                <a:cubicBezTo>
                  <a:pt x="1350715" y="1890531"/>
                  <a:pt x="1349735" y="1880488"/>
                  <a:pt x="1342998" y="1875098"/>
                </a:cubicBezTo>
                <a:cubicBezTo>
                  <a:pt x="1329524" y="1864319"/>
                  <a:pt x="1296699" y="1851949"/>
                  <a:pt x="1296699" y="1851949"/>
                </a:cubicBezTo>
                <a:cubicBezTo>
                  <a:pt x="1279337" y="1817224"/>
                  <a:pt x="1284161" y="1803721"/>
                  <a:pt x="1250401" y="1794076"/>
                </a:cubicBezTo>
                <a:cubicBezTo>
                  <a:pt x="1231485" y="1788671"/>
                  <a:pt x="1211818" y="1786359"/>
                  <a:pt x="1192527" y="1782501"/>
                </a:cubicBezTo>
                <a:cubicBezTo>
                  <a:pt x="1184811" y="1767068"/>
                  <a:pt x="1184811" y="1743918"/>
                  <a:pt x="1169378" y="1736202"/>
                </a:cubicBezTo>
                <a:lnTo>
                  <a:pt x="1123079" y="1713053"/>
                </a:lnTo>
                <a:cubicBezTo>
                  <a:pt x="1095050" y="1656993"/>
                  <a:pt x="1112131" y="1678955"/>
                  <a:pt x="1076780" y="1643605"/>
                </a:cubicBezTo>
                <a:cubicBezTo>
                  <a:pt x="1072922" y="1635888"/>
                  <a:pt x="1070382" y="1627357"/>
                  <a:pt x="1065206" y="1620455"/>
                </a:cubicBezTo>
                <a:cubicBezTo>
                  <a:pt x="1058658" y="1611725"/>
                  <a:pt x="1046936" y="1607067"/>
                  <a:pt x="1042056" y="1597306"/>
                </a:cubicBezTo>
                <a:cubicBezTo>
                  <a:pt x="1034942" y="1583078"/>
                  <a:pt x="1041731" y="1562256"/>
                  <a:pt x="1030482" y="1551007"/>
                </a:cubicBezTo>
                <a:cubicBezTo>
                  <a:pt x="1019233" y="1539758"/>
                  <a:pt x="999616" y="1543291"/>
                  <a:pt x="984183" y="1539433"/>
                </a:cubicBezTo>
                <a:cubicBezTo>
                  <a:pt x="976466" y="1535575"/>
                  <a:pt x="966556" y="1534486"/>
                  <a:pt x="961033" y="1527858"/>
                </a:cubicBezTo>
                <a:cubicBezTo>
                  <a:pt x="955941" y="1521747"/>
                  <a:pt x="955246" y="1512662"/>
                  <a:pt x="955246" y="1504708"/>
                </a:cubicBezTo>
                <a:cubicBezTo>
                  <a:pt x="955246" y="1477632"/>
                  <a:pt x="957016" y="1450463"/>
                  <a:pt x="961033" y="1423686"/>
                </a:cubicBezTo>
                <a:cubicBezTo>
                  <a:pt x="962816" y="1411799"/>
                  <a:pt x="979212" y="1372453"/>
                  <a:pt x="984183" y="1360025"/>
                </a:cubicBezTo>
                <a:cubicBezTo>
                  <a:pt x="982254" y="1344592"/>
                  <a:pt x="987314" y="1326468"/>
                  <a:pt x="978395" y="1313726"/>
                </a:cubicBezTo>
                <a:cubicBezTo>
                  <a:pt x="971398" y="1303731"/>
                  <a:pt x="953432" y="1309472"/>
                  <a:pt x="943671" y="1302152"/>
                </a:cubicBezTo>
                <a:cubicBezTo>
                  <a:pt x="936769" y="1296976"/>
                  <a:pt x="935955" y="1286719"/>
                  <a:pt x="932097" y="1279002"/>
                </a:cubicBezTo>
                <a:cubicBezTo>
                  <a:pt x="934026" y="1178688"/>
                  <a:pt x="928961" y="1077995"/>
                  <a:pt x="937884" y="978060"/>
                </a:cubicBezTo>
                <a:cubicBezTo>
                  <a:pt x="938854" y="967191"/>
                  <a:pt x="955419" y="964268"/>
                  <a:pt x="961033" y="954911"/>
                </a:cubicBezTo>
                <a:cubicBezTo>
                  <a:pt x="967310" y="944449"/>
                  <a:pt x="968077" y="931515"/>
                  <a:pt x="972608" y="920187"/>
                </a:cubicBezTo>
                <a:cubicBezTo>
                  <a:pt x="975812" y="912177"/>
                  <a:pt x="980325" y="904754"/>
                  <a:pt x="984183" y="897038"/>
                </a:cubicBezTo>
                <a:cubicBezTo>
                  <a:pt x="988041" y="866172"/>
                  <a:pt x="985921" y="833950"/>
                  <a:pt x="995758" y="804440"/>
                </a:cubicBezTo>
                <a:cubicBezTo>
                  <a:pt x="998486" y="796256"/>
                  <a:pt x="1012807" y="798965"/>
                  <a:pt x="1018907" y="792865"/>
                </a:cubicBezTo>
                <a:cubicBezTo>
                  <a:pt x="1028743" y="783028"/>
                  <a:pt x="1034588" y="769877"/>
                  <a:pt x="1042056" y="758141"/>
                </a:cubicBezTo>
                <a:cubicBezTo>
                  <a:pt x="1047249" y="749980"/>
                  <a:pt x="1067125" y="717657"/>
                  <a:pt x="1070993" y="706055"/>
                </a:cubicBezTo>
                <a:cubicBezTo>
                  <a:pt x="1076024" y="690964"/>
                  <a:pt x="1076302" y="674378"/>
                  <a:pt x="1082568" y="659757"/>
                </a:cubicBezTo>
                <a:cubicBezTo>
                  <a:pt x="1101450" y="615698"/>
                  <a:pt x="1103976" y="635069"/>
                  <a:pt x="1128866" y="601883"/>
                </a:cubicBezTo>
                <a:cubicBezTo>
                  <a:pt x="1134042" y="594981"/>
                  <a:pt x="1134918" y="585362"/>
                  <a:pt x="1140441" y="578734"/>
                </a:cubicBezTo>
                <a:cubicBezTo>
                  <a:pt x="1154413" y="561967"/>
                  <a:pt x="1186740" y="532435"/>
                  <a:pt x="1186740" y="532435"/>
                </a:cubicBezTo>
                <a:cubicBezTo>
                  <a:pt x="1196588" y="512738"/>
                  <a:pt x="1200571" y="498672"/>
                  <a:pt x="1221464" y="486136"/>
                </a:cubicBezTo>
                <a:cubicBezTo>
                  <a:pt x="1231926" y="479859"/>
                  <a:pt x="1244613" y="478420"/>
                  <a:pt x="1256188" y="474562"/>
                </a:cubicBezTo>
                <a:cubicBezTo>
                  <a:pt x="1263904" y="462987"/>
                  <a:pt x="1268650" y="448744"/>
                  <a:pt x="1279337" y="439838"/>
                </a:cubicBezTo>
                <a:cubicBezTo>
                  <a:pt x="1292592" y="428792"/>
                  <a:pt x="1309480" y="422746"/>
                  <a:pt x="1325636" y="416688"/>
                </a:cubicBezTo>
                <a:cubicBezTo>
                  <a:pt x="1341069" y="410901"/>
                  <a:pt x="1355829" y="402827"/>
                  <a:pt x="1371935" y="399326"/>
                </a:cubicBezTo>
                <a:cubicBezTo>
                  <a:pt x="1400461" y="393125"/>
                  <a:pt x="1429867" y="392030"/>
                  <a:pt x="1458745" y="387752"/>
                </a:cubicBezTo>
                <a:cubicBezTo>
                  <a:pt x="1481960" y="384313"/>
                  <a:pt x="1505044" y="380035"/>
                  <a:pt x="1528193" y="376177"/>
                </a:cubicBezTo>
                <a:cubicBezTo>
                  <a:pt x="1537839" y="372319"/>
                  <a:pt x="1549784" y="371948"/>
                  <a:pt x="1557130" y="364602"/>
                </a:cubicBezTo>
                <a:cubicBezTo>
                  <a:pt x="1580503" y="341228"/>
                  <a:pt x="1552274" y="329038"/>
                  <a:pt x="1591854" y="324091"/>
                </a:cubicBezTo>
                <a:cubicBezTo>
                  <a:pt x="1761596" y="302874"/>
                  <a:pt x="1737502" y="310587"/>
                  <a:pt x="1765474" y="300941"/>
                </a:cubicBezTo>
                <a:close/>
              </a:path>
            </a:pathLst>
          </a:custGeom>
          <a:solidFill>
            <a:schemeClr val="lt1"/>
          </a:solidFill>
          <a:ln cap="flat" cmpd="sng" w="12700">
            <a:solidFill>
              <a:schemeClr val="l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91" name="Google Shape;91;p1"/>
          <p:cNvSpPr/>
          <p:nvPr/>
        </p:nvSpPr>
        <p:spPr>
          <a:xfrm>
            <a:off x="5723681" y="3956679"/>
            <a:ext cx="2476982" cy="2288149"/>
          </a:xfrm>
          <a:custGeom>
            <a:rect b="b" l="l" r="r" t="t"/>
            <a:pathLst>
              <a:path extrusionOk="0" h="2288149" w="2476982">
                <a:moveTo>
                  <a:pt x="63661" y="198632"/>
                </a:moveTo>
                <a:cubicBezTo>
                  <a:pt x="79094" y="207313"/>
                  <a:pt x="80541" y="221187"/>
                  <a:pt x="92597" y="227569"/>
                </a:cubicBezTo>
                <a:cubicBezTo>
                  <a:pt x="114163" y="238986"/>
                  <a:pt x="140221" y="239805"/>
                  <a:pt x="162046" y="250718"/>
                </a:cubicBezTo>
                <a:cubicBezTo>
                  <a:pt x="169762" y="254576"/>
                  <a:pt x="176678" y="260919"/>
                  <a:pt x="185195" y="262293"/>
                </a:cubicBezTo>
                <a:cubicBezTo>
                  <a:pt x="236933" y="270638"/>
                  <a:pt x="289367" y="273868"/>
                  <a:pt x="341453" y="279655"/>
                </a:cubicBezTo>
                <a:cubicBezTo>
                  <a:pt x="356886" y="283513"/>
                  <a:pt x="372185" y="287953"/>
                  <a:pt x="387752" y="291230"/>
                </a:cubicBezTo>
                <a:cubicBezTo>
                  <a:pt x="408858" y="295673"/>
                  <a:pt x="430418" y="297864"/>
                  <a:pt x="451413" y="302804"/>
                </a:cubicBezTo>
                <a:cubicBezTo>
                  <a:pt x="463289" y="305598"/>
                  <a:pt x="474562" y="310521"/>
                  <a:pt x="486137" y="314379"/>
                </a:cubicBezTo>
                <a:cubicBezTo>
                  <a:pt x="493853" y="322096"/>
                  <a:pt x="499928" y="331914"/>
                  <a:pt x="509286" y="337529"/>
                </a:cubicBezTo>
                <a:cubicBezTo>
                  <a:pt x="519748" y="343806"/>
                  <a:pt x="532544" y="344934"/>
                  <a:pt x="544010" y="349103"/>
                </a:cubicBezTo>
                <a:cubicBezTo>
                  <a:pt x="553773" y="352653"/>
                  <a:pt x="563301" y="356820"/>
                  <a:pt x="572947" y="360678"/>
                </a:cubicBezTo>
                <a:cubicBezTo>
                  <a:pt x="580663" y="368394"/>
                  <a:pt x="587366" y="377280"/>
                  <a:pt x="596096" y="383827"/>
                </a:cubicBezTo>
                <a:cubicBezTo>
                  <a:pt x="614785" y="397844"/>
                  <a:pt x="645336" y="401925"/>
                  <a:pt x="665544" y="406977"/>
                </a:cubicBezTo>
                <a:cubicBezTo>
                  <a:pt x="680977" y="422410"/>
                  <a:pt x="692322" y="443514"/>
                  <a:pt x="711843" y="453275"/>
                </a:cubicBezTo>
                <a:cubicBezTo>
                  <a:pt x="727276" y="460992"/>
                  <a:pt x="745941" y="464224"/>
                  <a:pt x="758142" y="476425"/>
                </a:cubicBezTo>
                <a:cubicBezTo>
                  <a:pt x="810541" y="528823"/>
                  <a:pt x="784920" y="512962"/>
                  <a:pt x="827590" y="534298"/>
                </a:cubicBezTo>
                <a:cubicBezTo>
                  <a:pt x="855343" y="617554"/>
                  <a:pt x="821672" y="513584"/>
                  <a:pt x="850739" y="615321"/>
                </a:cubicBezTo>
                <a:cubicBezTo>
                  <a:pt x="854091" y="627052"/>
                  <a:pt x="855222" y="640117"/>
                  <a:pt x="862314" y="650045"/>
                </a:cubicBezTo>
                <a:cubicBezTo>
                  <a:pt x="875000" y="667805"/>
                  <a:pt x="908613" y="696344"/>
                  <a:pt x="908613" y="696344"/>
                </a:cubicBezTo>
                <a:cubicBezTo>
                  <a:pt x="912471" y="704060"/>
                  <a:pt x="914664" y="712866"/>
                  <a:pt x="920187" y="719493"/>
                </a:cubicBezTo>
                <a:cubicBezTo>
                  <a:pt x="934159" y="736260"/>
                  <a:pt x="966486" y="765792"/>
                  <a:pt x="966486" y="765792"/>
                </a:cubicBezTo>
                <a:cubicBezTo>
                  <a:pt x="970344" y="788941"/>
                  <a:pt x="975539" y="811907"/>
                  <a:pt x="978061" y="835240"/>
                </a:cubicBezTo>
                <a:cubicBezTo>
                  <a:pt x="983261" y="883341"/>
                  <a:pt x="980980" y="932322"/>
                  <a:pt x="989635" y="979923"/>
                </a:cubicBezTo>
                <a:cubicBezTo>
                  <a:pt x="992722" y="996899"/>
                  <a:pt x="1012785" y="1026222"/>
                  <a:pt x="1012785" y="1026222"/>
                </a:cubicBezTo>
                <a:cubicBezTo>
                  <a:pt x="1010856" y="1047442"/>
                  <a:pt x="1010120" y="1068805"/>
                  <a:pt x="1006997" y="1089883"/>
                </a:cubicBezTo>
                <a:cubicBezTo>
                  <a:pt x="1002395" y="1120947"/>
                  <a:pt x="992760" y="1151232"/>
                  <a:pt x="989635" y="1182480"/>
                </a:cubicBezTo>
                <a:cubicBezTo>
                  <a:pt x="983097" y="1247857"/>
                  <a:pt x="991946" y="1315031"/>
                  <a:pt x="978061" y="1379250"/>
                </a:cubicBezTo>
                <a:cubicBezTo>
                  <a:pt x="975326" y="1391899"/>
                  <a:pt x="953939" y="1389191"/>
                  <a:pt x="943337" y="1396612"/>
                </a:cubicBezTo>
                <a:cubicBezTo>
                  <a:pt x="934397" y="1402870"/>
                  <a:pt x="927904" y="1412045"/>
                  <a:pt x="920187" y="1419761"/>
                </a:cubicBezTo>
                <a:cubicBezTo>
                  <a:pt x="916329" y="1427478"/>
                  <a:pt x="913789" y="1436009"/>
                  <a:pt x="908613" y="1442911"/>
                </a:cubicBezTo>
                <a:cubicBezTo>
                  <a:pt x="902065" y="1451641"/>
                  <a:pt x="889762" y="1456030"/>
                  <a:pt x="885463" y="1466060"/>
                </a:cubicBezTo>
                <a:cubicBezTo>
                  <a:pt x="869938" y="1502285"/>
                  <a:pt x="882438" y="1532777"/>
                  <a:pt x="856527" y="1564445"/>
                </a:cubicBezTo>
                <a:cubicBezTo>
                  <a:pt x="847718" y="1575211"/>
                  <a:pt x="833378" y="1579878"/>
                  <a:pt x="821803" y="1587594"/>
                </a:cubicBezTo>
                <a:cubicBezTo>
                  <a:pt x="791697" y="1647804"/>
                  <a:pt x="813634" y="1625332"/>
                  <a:pt x="758142" y="1657042"/>
                </a:cubicBezTo>
                <a:cubicBezTo>
                  <a:pt x="754284" y="1666688"/>
                  <a:pt x="752330" y="1677335"/>
                  <a:pt x="746567" y="1685979"/>
                </a:cubicBezTo>
                <a:cubicBezTo>
                  <a:pt x="731941" y="1707919"/>
                  <a:pt x="721618" y="1710029"/>
                  <a:pt x="700268" y="1720703"/>
                </a:cubicBezTo>
                <a:cubicBezTo>
                  <a:pt x="691032" y="1736097"/>
                  <a:pt x="677530" y="1763902"/>
                  <a:pt x="659757" y="1772789"/>
                </a:cubicBezTo>
                <a:cubicBezTo>
                  <a:pt x="645528" y="1779903"/>
                  <a:pt x="628891" y="1780506"/>
                  <a:pt x="613458" y="1784364"/>
                </a:cubicBezTo>
                <a:cubicBezTo>
                  <a:pt x="591704" y="1838752"/>
                  <a:pt x="618584" y="1793669"/>
                  <a:pt x="561372" y="1824875"/>
                </a:cubicBezTo>
                <a:cubicBezTo>
                  <a:pt x="551792" y="1830101"/>
                  <a:pt x="547303" y="1841972"/>
                  <a:pt x="538223" y="1848025"/>
                </a:cubicBezTo>
                <a:cubicBezTo>
                  <a:pt x="481063" y="1886132"/>
                  <a:pt x="455564" y="1874810"/>
                  <a:pt x="376177" y="1882749"/>
                </a:cubicBezTo>
                <a:cubicBezTo>
                  <a:pt x="364602" y="1888536"/>
                  <a:pt x="350158" y="1890535"/>
                  <a:pt x="341453" y="1900111"/>
                </a:cubicBezTo>
                <a:cubicBezTo>
                  <a:pt x="329846" y="1912878"/>
                  <a:pt x="318304" y="1946410"/>
                  <a:pt x="318304" y="1946410"/>
                </a:cubicBezTo>
                <a:cubicBezTo>
                  <a:pt x="320868" y="2015630"/>
                  <a:pt x="287994" y="2086320"/>
                  <a:pt x="347241" y="2125817"/>
                </a:cubicBezTo>
                <a:cubicBezTo>
                  <a:pt x="361597" y="2135388"/>
                  <a:pt x="379736" y="2138613"/>
                  <a:pt x="393539" y="2148966"/>
                </a:cubicBezTo>
                <a:cubicBezTo>
                  <a:pt x="401256" y="2154754"/>
                  <a:pt x="407585" y="2163142"/>
                  <a:pt x="416689" y="2166329"/>
                </a:cubicBezTo>
                <a:cubicBezTo>
                  <a:pt x="446718" y="2176839"/>
                  <a:pt x="509286" y="2189478"/>
                  <a:pt x="509286" y="2189478"/>
                </a:cubicBezTo>
                <a:cubicBezTo>
                  <a:pt x="634199" y="2264425"/>
                  <a:pt x="465258" y="2156018"/>
                  <a:pt x="549797" y="2229989"/>
                </a:cubicBezTo>
                <a:cubicBezTo>
                  <a:pt x="559536" y="2238511"/>
                  <a:pt x="572245" y="2243259"/>
                  <a:pt x="584522" y="2247351"/>
                </a:cubicBezTo>
                <a:cubicBezTo>
                  <a:pt x="636989" y="2264840"/>
                  <a:pt x="726803" y="2266769"/>
                  <a:pt x="769716" y="2270501"/>
                </a:cubicBezTo>
                <a:cubicBezTo>
                  <a:pt x="777433" y="2276288"/>
                  <a:pt x="783223" y="2287653"/>
                  <a:pt x="792866" y="2287863"/>
                </a:cubicBezTo>
                <a:cubicBezTo>
                  <a:pt x="869597" y="2289531"/>
                  <a:pt x="1075171" y="2284897"/>
                  <a:pt x="1169043" y="2247351"/>
                </a:cubicBezTo>
                <a:cubicBezTo>
                  <a:pt x="1341007" y="2178570"/>
                  <a:pt x="1065189" y="2291799"/>
                  <a:pt x="1221129" y="2218415"/>
                </a:cubicBezTo>
                <a:cubicBezTo>
                  <a:pt x="1245441" y="2206974"/>
                  <a:pt x="1271322" y="2199217"/>
                  <a:pt x="1296365" y="2189478"/>
                </a:cubicBezTo>
                <a:cubicBezTo>
                  <a:pt x="1306047" y="2185713"/>
                  <a:pt x="1315312" y="2180757"/>
                  <a:pt x="1325301" y="2177903"/>
                </a:cubicBezTo>
                <a:cubicBezTo>
                  <a:pt x="1364861" y="2166601"/>
                  <a:pt x="1372380" y="2165628"/>
                  <a:pt x="1412111" y="2148966"/>
                </a:cubicBezTo>
                <a:cubicBezTo>
                  <a:pt x="1456728" y="2130255"/>
                  <a:pt x="1501175" y="2111113"/>
                  <a:pt x="1545220" y="2091093"/>
                </a:cubicBezTo>
                <a:cubicBezTo>
                  <a:pt x="1564855" y="2082168"/>
                  <a:pt x="1583459" y="2071081"/>
                  <a:pt x="1603094" y="2062156"/>
                </a:cubicBezTo>
                <a:cubicBezTo>
                  <a:pt x="1637688" y="2046432"/>
                  <a:pt x="1697209" y="2025939"/>
                  <a:pt x="1730415" y="2004283"/>
                </a:cubicBezTo>
                <a:cubicBezTo>
                  <a:pt x="1756917" y="1986999"/>
                  <a:pt x="1779509" y="1964234"/>
                  <a:pt x="1805651" y="1946410"/>
                </a:cubicBezTo>
                <a:cubicBezTo>
                  <a:pt x="1822061" y="1935221"/>
                  <a:pt x="1842148" y="1929780"/>
                  <a:pt x="1857737" y="1917473"/>
                </a:cubicBezTo>
                <a:cubicBezTo>
                  <a:pt x="1879150" y="1900568"/>
                  <a:pt x="1894823" y="1877268"/>
                  <a:pt x="1915610" y="1859599"/>
                </a:cubicBezTo>
                <a:cubicBezTo>
                  <a:pt x="1958774" y="1822910"/>
                  <a:pt x="1982079" y="1814790"/>
                  <a:pt x="2031357" y="1790151"/>
                </a:cubicBezTo>
                <a:cubicBezTo>
                  <a:pt x="2097786" y="1712651"/>
                  <a:pt x="2032447" y="1784700"/>
                  <a:pt x="2106592" y="1714916"/>
                </a:cubicBezTo>
                <a:cubicBezTo>
                  <a:pt x="2126459" y="1696218"/>
                  <a:pt x="2144355" y="1675477"/>
                  <a:pt x="2164466" y="1657042"/>
                </a:cubicBezTo>
                <a:cubicBezTo>
                  <a:pt x="2190687" y="1633006"/>
                  <a:pt x="2223345" y="1615432"/>
                  <a:pt x="2245489" y="1587594"/>
                </a:cubicBezTo>
                <a:cubicBezTo>
                  <a:pt x="2384876" y="1412364"/>
                  <a:pt x="2340506" y="1447174"/>
                  <a:pt x="2413322" y="1292440"/>
                </a:cubicBezTo>
                <a:cubicBezTo>
                  <a:pt x="2480636" y="1149397"/>
                  <a:pt x="2443110" y="1260663"/>
                  <a:pt x="2476982" y="1147756"/>
                </a:cubicBezTo>
                <a:cubicBezTo>
                  <a:pt x="2463478" y="1049371"/>
                  <a:pt x="2451202" y="950810"/>
                  <a:pt x="2436471" y="852602"/>
                </a:cubicBezTo>
                <a:cubicBezTo>
                  <a:pt x="2427115" y="790227"/>
                  <a:pt x="2417962" y="783849"/>
                  <a:pt x="2384385" y="719493"/>
                </a:cubicBezTo>
                <a:cubicBezTo>
                  <a:pt x="2359236" y="671290"/>
                  <a:pt x="2348789" y="654670"/>
                  <a:pt x="2314937" y="609534"/>
                </a:cubicBezTo>
                <a:cubicBezTo>
                  <a:pt x="2300114" y="589770"/>
                  <a:pt x="2285332" y="569871"/>
                  <a:pt x="2268638" y="551660"/>
                </a:cubicBezTo>
                <a:cubicBezTo>
                  <a:pt x="2242829" y="523505"/>
                  <a:pt x="2221777" y="487718"/>
                  <a:pt x="2187615" y="470637"/>
                </a:cubicBezTo>
                <a:cubicBezTo>
                  <a:pt x="2075476" y="414568"/>
                  <a:pt x="2174728" y="460784"/>
                  <a:pt x="2095018" y="430126"/>
                </a:cubicBezTo>
                <a:cubicBezTo>
                  <a:pt x="2081305" y="424852"/>
                  <a:pt x="2069100" y="414461"/>
                  <a:pt x="2054506" y="412764"/>
                </a:cubicBezTo>
                <a:cubicBezTo>
                  <a:pt x="1985416" y="404730"/>
                  <a:pt x="1915610" y="405047"/>
                  <a:pt x="1846162" y="401189"/>
                </a:cubicBezTo>
                <a:cubicBezTo>
                  <a:pt x="1821084" y="391544"/>
                  <a:pt x="1796518" y="380442"/>
                  <a:pt x="1770927" y="372253"/>
                </a:cubicBezTo>
                <a:cubicBezTo>
                  <a:pt x="1748200" y="364981"/>
                  <a:pt x="1723718" y="363540"/>
                  <a:pt x="1701478" y="354891"/>
                </a:cubicBezTo>
                <a:cubicBezTo>
                  <a:pt x="1688513" y="349849"/>
                  <a:pt x="1678730" y="338818"/>
                  <a:pt x="1666754" y="331741"/>
                </a:cubicBezTo>
                <a:cubicBezTo>
                  <a:pt x="1636266" y="313725"/>
                  <a:pt x="1604987" y="297081"/>
                  <a:pt x="1574157" y="279655"/>
                </a:cubicBezTo>
                <a:cubicBezTo>
                  <a:pt x="1560617" y="272002"/>
                  <a:pt x="1545594" y="266463"/>
                  <a:pt x="1533646" y="256506"/>
                </a:cubicBezTo>
                <a:cubicBezTo>
                  <a:pt x="1522071" y="246860"/>
                  <a:pt x="1511633" y="235658"/>
                  <a:pt x="1498922" y="227569"/>
                </a:cubicBezTo>
                <a:cubicBezTo>
                  <a:pt x="1473721" y="211532"/>
                  <a:pt x="1422567" y="208092"/>
                  <a:pt x="1400537" y="204420"/>
                </a:cubicBezTo>
                <a:cubicBezTo>
                  <a:pt x="1392820" y="196703"/>
                  <a:pt x="1385909" y="188087"/>
                  <a:pt x="1377387" y="181270"/>
                </a:cubicBezTo>
                <a:cubicBezTo>
                  <a:pt x="1352769" y="161575"/>
                  <a:pt x="1305896" y="136424"/>
                  <a:pt x="1279003" y="129184"/>
                </a:cubicBezTo>
                <a:cubicBezTo>
                  <a:pt x="1250814" y="121595"/>
                  <a:pt x="1221018" y="122222"/>
                  <a:pt x="1192192" y="117610"/>
                </a:cubicBezTo>
                <a:cubicBezTo>
                  <a:pt x="1172766" y="114502"/>
                  <a:pt x="1153610" y="109893"/>
                  <a:pt x="1134319" y="106035"/>
                </a:cubicBezTo>
                <a:cubicBezTo>
                  <a:pt x="1082122" y="79935"/>
                  <a:pt x="1146866" y="110216"/>
                  <a:pt x="1064871" y="82885"/>
                </a:cubicBezTo>
                <a:cubicBezTo>
                  <a:pt x="1056687" y="80157"/>
                  <a:pt x="1050128" y="73251"/>
                  <a:pt x="1041722" y="71311"/>
                </a:cubicBezTo>
                <a:cubicBezTo>
                  <a:pt x="917763" y="42705"/>
                  <a:pt x="938000" y="54625"/>
                  <a:pt x="833377" y="36587"/>
                </a:cubicBezTo>
                <a:cubicBezTo>
                  <a:pt x="804296" y="31573"/>
                  <a:pt x="775504" y="25012"/>
                  <a:pt x="746567" y="19225"/>
                </a:cubicBezTo>
                <a:cubicBezTo>
                  <a:pt x="738851" y="15367"/>
                  <a:pt x="732045" y="7650"/>
                  <a:pt x="723418" y="7650"/>
                </a:cubicBezTo>
                <a:cubicBezTo>
                  <a:pt x="251781" y="7650"/>
                  <a:pt x="378258" y="-20357"/>
                  <a:pt x="173620" y="30799"/>
                </a:cubicBezTo>
                <a:cubicBezTo>
                  <a:pt x="165904" y="38516"/>
                  <a:pt x="159551" y="47896"/>
                  <a:pt x="150471" y="53949"/>
                </a:cubicBezTo>
                <a:cubicBezTo>
                  <a:pt x="141827" y="59712"/>
                  <a:pt x="131297" y="61973"/>
                  <a:pt x="121534" y="65523"/>
                </a:cubicBezTo>
                <a:cubicBezTo>
                  <a:pt x="92166" y="76202"/>
                  <a:pt x="77040" y="79889"/>
                  <a:pt x="46299" y="88673"/>
                </a:cubicBezTo>
                <a:cubicBezTo>
                  <a:pt x="38582" y="102177"/>
                  <a:pt x="30468" y="115461"/>
                  <a:pt x="23149" y="129184"/>
                </a:cubicBezTo>
                <a:cubicBezTo>
                  <a:pt x="15029" y="144409"/>
                  <a:pt x="0" y="175483"/>
                  <a:pt x="0" y="175483"/>
                </a:cubicBezTo>
                <a:cubicBezTo>
                  <a:pt x="7658" y="206118"/>
                  <a:pt x="48228" y="189951"/>
                  <a:pt x="63661" y="198632"/>
                </a:cubicBezTo>
                <a:close/>
              </a:path>
            </a:pathLst>
          </a:custGeom>
          <a:solidFill>
            <a:schemeClr val="lt1"/>
          </a:solidFill>
          <a:ln cap="flat" cmpd="sng" w="12700">
            <a:solidFill>
              <a:schemeClr val="l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92" name="Google Shape;92;p1"/>
          <p:cNvSpPr/>
          <p:nvPr/>
        </p:nvSpPr>
        <p:spPr>
          <a:xfrm>
            <a:off x="4948177" y="5370653"/>
            <a:ext cx="225707" cy="196770"/>
          </a:xfrm>
          <a:prstGeom prst="ellipse">
            <a:avLst/>
          </a:prstGeom>
          <a:solidFill>
            <a:schemeClr val="lt1"/>
          </a:solidFill>
          <a:ln cap="flat" cmpd="sng" w="12700">
            <a:solidFill>
              <a:schemeClr val="l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 name="Shape 97"/>
        <p:cNvGrpSpPr/>
        <p:nvPr/>
      </p:nvGrpSpPr>
      <p:grpSpPr>
        <a:xfrm>
          <a:off x="0" y="0"/>
          <a:ext cx="0" cy="0"/>
          <a:chOff x="0" y="0"/>
          <a:chExt cx="0" cy="0"/>
        </a:xfrm>
      </p:grpSpPr>
      <p:sp>
        <p:nvSpPr>
          <p:cNvPr id="98" name="Google Shape;98;p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s-ES"/>
              <a:t> </a:t>
            </a:r>
            <a:endParaRPr/>
          </a:p>
        </p:txBody>
      </p:sp>
      <p:sp>
        <p:nvSpPr>
          <p:cNvPr id="99" name="Google Shape;99;p2"/>
          <p:cNvSpPr txBox="1"/>
          <p:nvPr/>
        </p:nvSpPr>
        <p:spPr>
          <a:xfrm>
            <a:off x="1018572" y="2013994"/>
            <a:ext cx="10023600" cy="3648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s-ES" sz="3300" u="none" cap="none" strike="noStrike">
                <a:solidFill>
                  <a:schemeClr val="dk1"/>
                </a:solidFill>
                <a:latin typeface="Palatino Linotype"/>
                <a:ea typeface="Palatino Linotype"/>
                <a:cs typeface="Palatino Linotype"/>
                <a:sym typeface="Palatino Linotype"/>
              </a:rPr>
              <a:t>As bases do poder:</a:t>
            </a:r>
            <a:endParaRPr b="0" i="0" sz="2900" u="none" cap="none" strike="noStrike">
              <a:solidFill>
                <a:srgbClr val="000000"/>
              </a:solidFill>
              <a:latin typeface="Arial"/>
              <a:ea typeface="Arial"/>
              <a:cs typeface="Arial"/>
              <a:sym typeface="Arial"/>
            </a:endParaRPr>
          </a:p>
          <a:p>
            <a:pPr indent="-438150" lvl="0" marL="342900" marR="0" rtl="0" algn="l">
              <a:lnSpc>
                <a:spcPct val="100000"/>
              </a:lnSpc>
              <a:spcBef>
                <a:spcPts val="0"/>
              </a:spcBef>
              <a:spcAft>
                <a:spcPts val="0"/>
              </a:spcAft>
              <a:buClr>
                <a:srgbClr val="0070C0"/>
              </a:buClr>
              <a:buSzPts val="3300"/>
              <a:buFont typeface="Noto Sans Symbols"/>
              <a:buChar char="▪"/>
            </a:pPr>
            <a:r>
              <a:rPr b="1" i="0" lang="es-ES" sz="3300" u="sng" cap="none" strike="noStrike">
                <a:solidFill>
                  <a:srgbClr val="0070C0"/>
                </a:solidFill>
                <a:latin typeface="Palatino Linotype"/>
                <a:ea typeface="Palatino Linotype"/>
                <a:cs typeface="Palatino Linotype"/>
                <a:sym typeface="Palatino Linotype"/>
              </a:rPr>
              <a:t>Coerção</a:t>
            </a:r>
            <a:endParaRPr b="0" i="0" sz="3300" u="none" cap="none" strike="noStrike">
              <a:solidFill>
                <a:schemeClr val="dk1"/>
              </a:solidFill>
              <a:latin typeface="Palatino Linotype"/>
              <a:ea typeface="Palatino Linotype"/>
              <a:cs typeface="Palatino Linotype"/>
              <a:sym typeface="Palatino Linotype"/>
            </a:endParaRPr>
          </a:p>
          <a:p>
            <a:pPr indent="-438150" lvl="0" marL="342900" marR="0" rtl="0" algn="l">
              <a:lnSpc>
                <a:spcPct val="100000"/>
              </a:lnSpc>
              <a:spcBef>
                <a:spcPts val="0"/>
              </a:spcBef>
              <a:spcAft>
                <a:spcPts val="0"/>
              </a:spcAft>
              <a:buClr>
                <a:srgbClr val="0070C0"/>
              </a:buClr>
              <a:buSzPts val="3300"/>
              <a:buFont typeface="Noto Sans Symbols"/>
              <a:buChar char="▪"/>
            </a:pPr>
            <a:r>
              <a:rPr b="1" i="0" lang="es-ES" sz="3300" u="sng" cap="none" strike="noStrike">
                <a:solidFill>
                  <a:srgbClr val="0070C0"/>
                </a:solidFill>
                <a:latin typeface="Palatino Linotype"/>
                <a:ea typeface="Palatino Linotype"/>
                <a:cs typeface="Palatino Linotype"/>
                <a:sym typeface="Palatino Linotype"/>
              </a:rPr>
              <a:t>Recompensa</a:t>
            </a:r>
            <a:r>
              <a:rPr b="0" i="0" lang="es-ES" sz="3300" u="none" cap="none" strike="noStrike">
                <a:solidFill>
                  <a:schemeClr val="dk1"/>
                </a:solidFill>
                <a:latin typeface="Palatino Linotype"/>
                <a:ea typeface="Palatino Linotype"/>
                <a:cs typeface="Palatino Linotype"/>
                <a:sym typeface="Palatino Linotype"/>
              </a:rPr>
              <a:t> </a:t>
            </a:r>
            <a:endParaRPr b="0" i="0" sz="2900" u="none" cap="none" strike="noStrike">
              <a:solidFill>
                <a:srgbClr val="000000"/>
              </a:solidFill>
              <a:latin typeface="Arial"/>
              <a:ea typeface="Arial"/>
              <a:cs typeface="Arial"/>
              <a:sym typeface="Arial"/>
            </a:endParaRPr>
          </a:p>
          <a:p>
            <a:pPr indent="-438150" lvl="0" marL="342900" marR="0" rtl="0" algn="l">
              <a:lnSpc>
                <a:spcPct val="100000"/>
              </a:lnSpc>
              <a:spcBef>
                <a:spcPts val="0"/>
              </a:spcBef>
              <a:spcAft>
                <a:spcPts val="0"/>
              </a:spcAft>
              <a:buClr>
                <a:srgbClr val="0070C0"/>
              </a:buClr>
              <a:buSzPts val="3300"/>
              <a:buFont typeface="Noto Sans Symbols"/>
              <a:buChar char="▪"/>
            </a:pPr>
            <a:r>
              <a:rPr b="1" i="0" lang="es-ES" sz="3300" u="sng" cap="none" strike="noStrike">
                <a:solidFill>
                  <a:srgbClr val="0070C0"/>
                </a:solidFill>
                <a:latin typeface="Palatino Linotype"/>
                <a:ea typeface="Palatino Linotype"/>
                <a:cs typeface="Palatino Linotype"/>
                <a:sym typeface="Palatino Linotype"/>
              </a:rPr>
              <a:t>Legitimidade</a:t>
            </a:r>
            <a:r>
              <a:rPr b="0" i="0" lang="es-ES" sz="3300" u="none" cap="none" strike="noStrike">
                <a:solidFill>
                  <a:schemeClr val="dk1"/>
                </a:solidFill>
                <a:latin typeface="Palatino Linotype"/>
                <a:ea typeface="Palatino Linotype"/>
                <a:cs typeface="Palatino Linotype"/>
                <a:sym typeface="Palatino Linotype"/>
              </a:rPr>
              <a:t> </a:t>
            </a:r>
            <a:endParaRPr b="0" i="0" sz="2900" u="none" cap="none" strike="noStrike">
              <a:solidFill>
                <a:srgbClr val="000000"/>
              </a:solidFill>
              <a:latin typeface="Arial"/>
              <a:ea typeface="Arial"/>
              <a:cs typeface="Arial"/>
              <a:sym typeface="Arial"/>
            </a:endParaRPr>
          </a:p>
          <a:p>
            <a:pPr indent="-438150" lvl="0" marL="342900" marR="0" rtl="0" algn="l">
              <a:lnSpc>
                <a:spcPct val="100000"/>
              </a:lnSpc>
              <a:spcBef>
                <a:spcPts val="0"/>
              </a:spcBef>
              <a:spcAft>
                <a:spcPts val="0"/>
              </a:spcAft>
              <a:buClr>
                <a:srgbClr val="0070C0"/>
              </a:buClr>
              <a:buSzPts val="3300"/>
              <a:buFont typeface="Noto Sans Symbols"/>
              <a:buChar char="▪"/>
            </a:pPr>
            <a:r>
              <a:rPr b="1" i="0" lang="es-ES" sz="3300" u="sng" cap="none" strike="noStrike">
                <a:solidFill>
                  <a:srgbClr val="0070C0"/>
                </a:solidFill>
                <a:latin typeface="Palatino Linotype"/>
                <a:ea typeface="Palatino Linotype"/>
                <a:cs typeface="Palatino Linotype"/>
                <a:sym typeface="Palatino Linotype"/>
              </a:rPr>
              <a:t>Competência</a:t>
            </a:r>
            <a:r>
              <a:rPr b="0" i="0" lang="es-ES" sz="3300" u="none" cap="none" strike="noStrike">
                <a:solidFill>
                  <a:schemeClr val="dk1"/>
                </a:solidFill>
                <a:latin typeface="Palatino Linotype"/>
                <a:ea typeface="Palatino Linotype"/>
                <a:cs typeface="Palatino Linotype"/>
                <a:sym typeface="Palatino Linotype"/>
              </a:rPr>
              <a:t> </a:t>
            </a:r>
            <a:endParaRPr b="0" i="0" sz="2900" u="none" cap="none" strike="noStrike">
              <a:solidFill>
                <a:srgbClr val="000000"/>
              </a:solidFill>
              <a:latin typeface="Arial"/>
              <a:ea typeface="Arial"/>
              <a:cs typeface="Arial"/>
              <a:sym typeface="Arial"/>
            </a:endParaRPr>
          </a:p>
          <a:p>
            <a:pPr indent="-438150" lvl="0" marL="342900" marR="0" rtl="0" algn="l">
              <a:lnSpc>
                <a:spcPct val="100000"/>
              </a:lnSpc>
              <a:spcBef>
                <a:spcPts val="0"/>
              </a:spcBef>
              <a:spcAft>
                <a:spcPts val="0"/>
              </a:spcAft>
              <a:buClr>
                <a:srgbClr val="0070C0"/>
              </a:buClr>
              <a:buSzPts val="3300"/>
              <a:buFont typeface="Noto Sans Symbols"/>
              <a:buChar char="▪"/>
            </a:pPr>
            <a:r>
              <a:rPr b="1" i="0" lang="es-ES" sz="3300" u="sng" cap="none" strike="noStrike">
                <a:solidFill>
                  <a:srgbClr val="0070C0"/>
                </a:solidFill>
                <a:latin typeface="Palatino Linotype"/>
                <a:ea typeface="Palatino Linotype"/>
                <a:cs typeface="Palatino Linotype"/>
                <a:sym typeface="Palatino Linotype"/>
              </a:rPr>
              <a:t>Referência</a:t>
            </a:r>
            <a:endParaRPr b="0" i="0" sz="2900" u="none" cap="none" strike="noStrike">
              <a:solidFill>
                <a:srgbClr val="000000"/>
              </a:solidFill>
              <a:latin typeface="Arial"/>
              <a:ea typeface="Arial"/>
              <a:cs typeface="Arial"/>
              <a:sym typeface="Arial"/>
            </a:endParaRPr>
          </a:p>
          <a:p>
            <a:pPr indent="-438150" lvl="0" marL="342900" marR="0" rtl="0" algn="l">
              <a:lnSpc>
                <a:spcPct val="100000"/>
              </a:lnSpc>
              <a:spcBef>
                <a:spcPts val="0"/>
              </a:spcBef>
              <a:spcAft>
                <a:spcPts val="0"/>
              </a:spcAft>
              <a:buClr>
                <a:srgbClr val="0070C0"/>
              </a:buClr>
              <a:buSzPts val="3300"/>
              <a:buFont typeface="Noto Sans Symbols"/>
              <a:buChar char="▪"/>
            </a:pPr>
            <a:r>
              <a:rPr b="1" i="0" lang="es-ES" sz="3300" u="sng" cap="none" strike="noStrike">
                <a:solidFill>
                  <a:srgbClr val="0070C0"/>
                </a:solidFill>
                <a:latin typeface="Palatino Linotype"/>
                <a:ea typeface="Palatino Linotype"/>
                <a:cs typeface="Palatino Linotype"/>
                <a:sym typeface="Palatino Linotype"/>
              </a:rPr>
              <a:t>Informação</a:t>
            </a:r>
            <a:endParaRPr b="0" i="0" sz="3300" u="none" cap="none" strike="noStrike">
              <a:solidFill>
                <a:schemeClr val="dk1"/>
              </a:solidFill>
              <a:latin typeface="Palatino Linotype"/>
              <a:ea typeface="Palatino Linotype"/>
              <a:cs typeface="Palatino Linotype"/>
              <a:sym typeface="Palatino Linotype"/>
            </a:endParaRPr>
          </a:p>
        </p:txBody>
      </p:sp>
      <p:sp>
        <p:nvSpPr>
          <p:cNvPr id="100" name="Google Shape;100;p2"/>
          <p:cNvSpPr/>
          <p:nvPr/>
        </p:nvSpPr>
        <p:spPr>
          <a:xfrm>
            <a:off x="1018572" y="1429473"/>
            <a:ext cx="10023676" cy="584521"/>
          </a:xfrm>
          <a:prstGeom prst="rect">
            <a:avLst/>
          </a:prstGeom>
          <a:solidFill>
            <a:schemeClr val="dk1"/>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3500"/>
              <a:buFont typeface="Arial"/>
              <a:buNone/>
            </a:pPr>
            <a:r>
              <a:rPr b="0" i="0" lang="es-ES" sz="3500" u="none" cap="none" strike="noStrike">
                <a:solidFill>
                  <a:schemeClr val="lt1"/>
                </a:solidFill>
                <a:latin typeface="Palatino Linotype"/>
                <a:ea typeface="Palatino Linotype"/>
                <a:cs typeface="Palatino Linotype"/>
                <a:sym typeface="Palatino Linotype"/>
              </a:rPr>
              <a:t>Retomando a aula anterior...</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 name="Shape 104"/>
        <p:cNvGrpSpPr/>
        <p:nvPr/>
      </p:nvGrpSpPr>
      <p:grpSpPr>
        <a:xfrm>
          <a:off x="0" y="0"/>
          <a:ext cx="0" cy="0"/>
          <a:chOff x="0" y="0"/>
          <a:chExt cx="0" cy="0"/>
        </a:xfrm>
      </p:grpSpPr>
      <p:sp>
        <p:nvSpPr>
          <p:cNvPr id="105" name="Google Shape;105;p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s-ES"/>
              <a:t> </a:t>
            </a:r>
            <a:endParaRPr/>
          </a:p>
        </p:txBody>
      </p:sp>
      <p:sp>
        <p:nvSpPr>
          <p:cNvPr id="106" name="Google Shape;106;p3"/>
          <p:cNvSpPr txBox="1"/>
          <p:nvPr/>
        </p:nvSpPr>
        <p:spPr>
          <a:xfrm>
            <a:off x="1018572" y="2013994"/>
            <a:ext cx="10023676" cy="923330"/>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rgbClr val="000000"/>
              </a:buClr>
              <a:buSzPts val="1800"/>
              <a:buFont typeface="Arial"/>
              <a:buNone/>
            </a:pPr>
            <a:r>
              <a:rPr b="1" i="0" lang="es-ES" sz="1800" u="none" cap="none" strike="noStrike">
                <a:solidFill>
                  <a:srgbClr val="0070C0"/>
                </a:solidFill>
                <a:latin typeface="Palatino Linotype"/>
                <a:ea typeface="Palatino Linotype"/>
                <a:cs typeface="Palatino Linotype"/>
                <a:sym typeface="Palatino Linotype"/>
              </a:rPr>
              <a:t>O poder de informação consiste em possuir um conhecimento que outras pessoas querem ou precisam. </a:t>
            </a:r>
            <a:r>
              <a:rPr b="0" i="0" lang="es-ES" sz="1800" u="none" cap="none" strike="noStrike">
                <a:solidFill>
                  <a:schemeClr val="dk1"/>
                </a:solidFill>
                <a:latin typeface="Palatino Linotype"/>
                <a:ea typeface="Palatino Linotype"/>
                <a:cs typeface="Palatino Linotype"/>
                <a:sym typeface="Palatino Linotype"/>
              </a:rPr>
              <a:t>Com informação e conhecimento, a pessoa possui mais poder de persuasão ou de negociação. </a:t>
            </a:r>
            <a:endParaRPr b="0" i="0" sz="1400" u="none" cap="none" strike="noStrike">
              <a:solidFill>
                <a:srgbClr val="000000"/>
              </a:solidFill>
              <a:latin typeface="Arial"/>
              <a:ea typeface="Arial"/>
              <a:cs typeface="Arial"/>
              <a:sym typeface="Arial"/>
            </a:endParaRPr>
          </a:p>
        </p:txBody>
      </p:sp>
      <p:sp>
        <p:nvSpPr>
          <p:cNvPr id="107" name="Google Shape;107;p3"/>
          <p:cNvSpPr/>
          <p:nvPr/>
        </p:nvSpPr>
        <p:spPr>
          <a:xfrm>
            <a:off x="1018572" y="1429473"/>
            <a:ext cx="10023676" cy="584521"/>
          </a:xfrm>
          <a:prstGeom prst="rect">
            <a:avLst/>
          </a:prstGeom>
          <a:solidFill>
            <a:schemeClr val="dk1"/>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3500"/>
              <a:buFont typeface="Arial"/>
              <a:buNone/>
            </a:pPr>
            <a:r>
              <a:rPr b="0" i="0" lang="es-ES" sz="3500" u="none" cap="none" strike="noStrike">
                <a:solidFill>
                  <a:schemeClr val="lt1"/>
                </a:solidFill>
                <a:latin typeface="Palatino Linotype"/>
                <a:ea typeface="Palatino Linotype"/>
                <a:cs typeface="Palatino Linotype"/>
                <a:sym typeface="Palatino Linotype"/>
              </a:rPr>
              <a:t>O poder de </a:t>
            </a:r>
            <a:r>
              <a:rPr b="0" i="0" lang="es-ES" sz="3500" u="none" cap="none" strike="noStrike">
                <a:solidFill>
                  <a:srgbClr val="FFC000"/>
                </a:solidFill>
                <a:latin typeface="Palatino Linotype"/>
                <a:ea typeface="Palatino Linotype"/>
                <a:cs typeface="Palatino Linotype"/>
                <a:sym typeface="Palatino Linotype"/>
              </a:rPr>
              <a:t>Informação</a:t>
            </a:r>
            <a:endParaRPr b="0" i="0" sz="3500" u="none" cap="none" strike="noStrike">
              <a:solidFill>
                <a:srgbClr val="FFC000"/>
              </a:solidFill>
              <a:latin typeface="Palatino Linotype"/>
              <a:ea typeface="Palatino Linotype"/>
              <a:cs typeface="Palatino Linotype"/>
              <a:sym typeface="Palatino Linotype"/>
            </a:endParaRPr>
          </a:p>
        </p:txBody>
      </p:sp>
      <p:sp>
        <p:nvSpPr>
          <p:cNvPr descr="data:image/png;base64,iVBORw0KGgoAAAANSUhEUgAAALcAAAEUCAMAAABeT1dZAAAB0VBMVEX///8APVnsZxnTlwAAAAD9wwD5sAD5rgAAOVYANlRISEh1dXUAMlH5rQDkqADbnwCdm5vrXwDrsADvswD/ygAAO1vkqQDeogAAL0/1ugDXmwD6tQAANFP/7gDRlQDdoAD/0wD//ff3+foAKkzs7Oz/9eP/3wArNSv7wlD+8NX+6sX+5rvrWgAAJkluhpXHjgCdnqL+7c7/+e3/1wD/5AD94ar8znT6vTn7xVv804f92ZP7ymn8znf93aD6uSS0wMjX3uKFmqdCYXbKyslALgBgRQC4hwCsewD7wEn7vjRPbYChr7nucCulVzn+7eXEXB7YYRz72cv4wan2ro7zk2bSu4zEpGDDpGubagCurKz91oInUWlifIyLi5BfSEiIUUB0TkT3s5X50cLKXR7zm3OOTiPweThoRCYyQ1JyRSaBSSWYVTrvf0rmwbOvWjF4WVMAUG6UbmJCQk0AKToaHh+nTRoAExpmLQM9PTxeX1/VzccWNkjzlmu4kTwsHABONADh0rXdcgzPhTXzlQbBfQDncxLegwZwVQDzhw1KPgB4ZgDAlS29mUnNpADbyqN3VQAAKy05OSlLNxqTbBZGNR9nSBqnjFWlgji5qoqgloWhjm1VWLvfAAAWg0lEQVR4nO2di3vaZpbGhbG5zCAo2JW4FVsYtVxsMyjF3AW2UwTYdWrn0sR4ekm7mXSa6Xa66W53Wrfp9r5J2m4z20znr53zfboghABh40g8j995mrFBxj8O53vPOZ9AJogLXehCF7rQhS50oYnEsKzZCJMrVasm20WzKSZSKl8qtKv5HEFUzEYxKjZdTiY3yzlG/HYzNeQ47pkRjRXD1qqV5FGG5aRvIblrGf1j08lKnnmGbMOVS7Yr+ZwqjBESkiRV0j+6SLA1fjP9bNBGKq8lTDp5SIeC7sHsEfo3VWqXTDccVrsEa04HRzD63OWc+P9cxnzDaWmWWsbpgDwo6S1MRnmOzOY5U41XUvWSM5lSiuXJGqRPTefQtHJjZsi6fYZSWwdDkiWi4ISwslWdQzeVp1gx3w9z8kvOQBB5Z4EoOiPwXUvH7pQ04fTSJFeuVqtH+Wf1jNik9EWBLBCbTidRI0n43a1Bx8jn5a9qOe19TK1QS3MMk8pXKsNq1pRVkQjLJM9lnM4US5L5nnWopHgIM+AmuSTKNoZDweYq5XNjVauKywiHjCSXcpB5rlAAiPTAL+8lB6u9LwP5zuSLyUIhWQb02nTchhtd39DLzxYjOdZJ5plCMUcwqCmsDMS0pjxMWZMJOTg2HSmm885iiXTAk8pPpS+rOUbezRYlI6linlSmVGi1WtWqZmH2zJvTUDFJhijzLKCniGq+RMKCKU/DJzMOACkOfSQG6jqBfIDhUuVKsVCsFpMtB1nQGENOSY50vv+OagZ+RbGYdPCZXJtj+Up1Gn0jV3EgOUltABUl0R1svpQsVCqtzUoyWWk7yKLWT46UGzb778pDnYrw5VyklKlEnHkumeKn0HixvBOoSRL+0yslSOWjcrKVbBWPioVkJYkC53QMlstITYohp3mcdIkoRxgiV4CnXyxVInwq3To7dxGwi2QqzTvA4vQPSRc2Ky3EW4T/ksmCg2wNHgkO6aikEXptIJpMsdWuJtHyhuRKR6qczs9PKBYypMY48kTeWSjrJx1bRNSVYuWoVWjzcLxTL6OA29nmW2WWqAzcy0YybJlslTnkI0yLLw9fTEaVgfyA0oJGgSFH5PlicrNaKRbbTnEhRPK6x6WrDr5UIJ384EjBOipg4blSxLHJEWybaDumwp0j8o5h65vbLFRa7XalXCsgbKeTLA63gnzFQTrJwQCwkVa+As+Wi2zyrVKSSDnPzJ0CmBbLkkNWeK7lgMSvpmvVAuRBpFBUJmN9seWWzurmCrkCatprJahxDr6SaZ/dUCCMTkfByScrpdpAJGsOnBs8CWqXMqnTjrzFDMvDWmzl0NLMZQo8LM8zcuccoiCcuF9SiU2SODMcrVLtbAaQ5pniUYRH2VisEWzriCie2QozPAnMErw671IQZpQZ0H6e9XcQyVolTVRQWSZbrUiEI/hB15lUXKZUKTp4HnGro5BrVzOpaXT5TIbg+EiZaKWYvDOfq0F0uLNji9psEzlEPthVT0EQa7ZA1pKQLxmonfCiapubUysNM0zZ6Ti7QemJQc1vORJpk8kiD90LU5nKzhDaOeOgmqTJc+ImOFQg2Vz5qJRh0Xqfxm9hSm0YHInKJtrROZ88AZWKcoi5UnIqm1lMxOmATjMfKcG6TI4//pTiysnNWiZfKlantXuIwuxoFaDEOPnzHLUZNpXOsVPchiiQonuT54p9NrFpeM6a25gjByrkvN7WmSXE5AuOCB9xtDIa1+dy6VQmYvre7xClCs7NXAqyrDI4HcKT0pm9LKEcbp1xV8+2dGaywfnKEko5Smgt43+Y3ObQScFqShaYJAQZd6SVPMMPm94tpjSUwhQwZ1A2sGiONXcZpsrG0rIilcKUPBtEns2u6BBFSNLYKSAZk5NxK2eeOOKg0/5s1emIMEZ6cFLqwWryHkBN/5SYQcXrWxudTud4Y6ueOM3PZ6Apyrd0z271C03suXxps01KAc+3T/P7sOL1zvqqx+1yu91RT3DdtrEz8UOwvMNZZst8pDSmA3VCXudTHMPJtbJ02njHd7tRl02tqLu7O2nGtBxOtD/Nllrt0qh9gpZ2q7x9mk3/BlBvB/upkVzB7fpkj1RyOnjsaEyqzLeGn1/OR1SFBp7f0K2ekVrvunSoMfnqxkSPlCMdPYJcOcKX9dE5/ojIyFt3tU2wk9NM1F23LjSWZ3uSXOEgwdWveIofkuh5Mt3bvcnVyFNNZFue4dw2z/EE4EzF6VCvsNRQWz4ie+NojTxd1WnY9LNE1OqW8UeqgYM7VDZYPhp6aJlM4l1JLo1PsZ9Kf4yO4LZFDRsi08qQDqdqX29U959LOvhWscVHiqcdyA7uvPH8CG7XttEHSheJiDrBU6OXWypfrRxlTj1GMnv+uY9Gga82DD5StUZAgkeU78tD3kA0HV31z83NvekanuMeoxkO7X8eSr2SHPx5dqcHCHtu7sobtmExdxn0QkgTdMpAWWZsZOThZ9Q1kRvI3/rU9jzSALfLGHcVAbediquVzrOpflvGnpvzz1159c233nz1I23KrBvqDhlcvNPKKS4mOWE1ObhtvGoeSthX3unhv6rlNrYw02IvWk5JFSXFT0TNvOtfu2rw2NtKkvxbj3vundMZSkWMMye/07A0mZscrs3N7e0T+0aO3T+841dxv3ZF/EbLvW6EWzlfnJfSY8INPpSw/tv7a4bAlfx+7U/ov9dE7ruapWkov7Xn53PJyXq8A5Sin127ZvCn5AR/570/v6fkygeagBvxk4rmjPPERQfn7NqhwaMPFD95rZfhc++rI+7qGOHW9iIT70yKJEaP3p/TlZrbUL1kC5GSemhhJ3MTJEhZv1FHIZh7Y7mDxqY1tpzkq8oZ89MUnTt+/18MH/yuXwf7AxW3y230oWCqbLeqeCBmWqcYYQ7m/v1D4wevaaH9/it3XZOkye2rPfNK1SJ8KXfK3mR31WN8oNUmyju/+0jdHLpsjRE/vA/r/+01/57adSFhYCI+DXdi2xU1vIVwW5Mobz3fV+ejIyNwsHZwG71E/euJYYcM8uNUXx8dpj7d8cuFEtvhp33W7XKNfJwD/+HeJLY7TsdRt6FqIf7uuT99cEUulu/3F8vV3ZE/u48bBcMN0VglbK6o4R0EmHg+/kAuO3f7ssQ9bri8B6a7N61og3Y9tqDRtan28I/7s2RctiX+Oue/ZrAVMqaNoC14bPBYlRe+1ZcmY1d3J/jG1HJEVHzbbXyz6Z7iKX3RHlspd4PRzplJNUqACwc7xjbgD5UhU10oXeOwG+4JbMuw6vCo0a6hxz2Qw/3XHrfHNg470XVNsgtnWAjctW5k912qPf63N+S9Wdfqxrifi3fdbkMt7sSqe8DUop3G2APFqcd/DQqtSB3tjK238Y7b5h7/0KdSHZ38cLu3xkVFTJK1g3hXtJHu+C4hfuyxeUYXpTNox4Ze+KBtdLLgrTb/2j1Yy7jhNmD8iW3w2fNIbkmNbbwr7+luNYYfdHXN79/77HAfldlxnZSoRNcN5eFckltS/BifKHMFbcf6ZyXjcOu1d2/vizhwbHC8d9YB2719qpOcxlV3ecS5JRjs7NYb6rsa9d3jqNoTjt02V3fsI27Bend3zxkbIrrhluzN5YHgdzsbW6CNThd8w+N2i9utiZ2tbqfRWIc8GfPy49SLnne0xV/ViSonzVwutzsKcrvFsSa6hZ9a1+NxuW1bG+MGs8QWWuqeZ4INqm+ve/S35leR56FBA1vJ9nY3un48HGr3Q3SuMzjR6cGzqbHVXY3qnFZYRwjb8u0uV3dja3dXH7yxFUXUrvM0QB3Fdza2bcGou8fuiorLsKHuAt1dcJ6BeMYTux0bfsmMVKWpozfqW50uSnGc3p2tLo7dRv+ZQNcq3KN2HvRTtqBLNNQRWXTeSjRA6Nc3om4IXnwdL1DVAnC5PcH11Q+3O8fHne0PV9eDHvFVcq2aEGwddbAN7wYByb0Bwdekv/i69L4Nbp9bRzKRdlbdHTQauURfSexuu4a4DvJ+13b92dnISHXcQQhgfRWnSQPd0tjdxm/70TBHg+sjO5xnqx0Y+huIHqEpdTte3zruuteDQQ8qT57g6qpte2O3YSKnVh03ohVNsG90iScS0LpsYUFLM+iKpqqBFiOYIG67jHSvFhG4NqR3fFWs8NZwCgNKrOJTZbvi230Mv+vBdIFrQ5GPS63JurVyeLgQMPSw9XXR6oyfoTBZyLWjdTThiHZiNo9RYeCE/Kaw6LNtTU+vRhfVGskEZ8hOUC/l2YrL78Ezfj7IZCEbCTZ25fc8jj6NYx0h84YiL89nLpt5w8BEQmniPhY7QaTxmybWEHITz1Zv29jwmxvNFd7ADNaVBttt9FSQyarj9FbCbfy9jSYLDfCuTlcZawy+V8Nsic1UtzeIrU7+KQwzNPCWb0/DbCRD6vmfrIbZSIa0of1Ig7HThaarq91nOP9N+Gkooc0So2+VNll17QcajL1F0HTtaj/5MiPTzsCynJEyr12WM8IdH3Dv2eBuDHLPxCYb3qafQe6tgc91zQb38cAHF2eCWxmGZ4y7oaWeFe6BZTkbPlifUe5BO5kN7o7OR85ngXugO5mNfjDRHcCeif5bxwZngntg2LHNxpw22FXNBreOncwEt056zwJ3Yn02ufXSexa4B2b52eBOfKib35b378GdWCTr13k9F5yBvmrINVos38du6F+ixepvUhrc8RFl9dNpgzsQoiz+bojdIeG2+GlAvQ5WlKXfFPaX4VfxMXaFE1O0/65/7v0h18JxGf5M7zPXoR9/BO3Nu7rcVm1PDuQPhvr//B863FYtO1fnlM+zvnf//iC5Ne374I7qk/0f/+d9IP9Uw21B+97vv3CF/7/m79+X0eVeBb0J3GK6rQ6233/vcP+Pn9yfByH0j+7ann8efQzZaja4/5maeu3abXRjYgfpk/n//tveax+8+uYbdz/91GxOrdb8qlC/3XfJn9/N/178+Lnf718zi2+YlNze++xAc6EixC1fvspvDt1wyVcd0rkUAuK+KnNb48+JqiRd+eHe4D2IW/64v3+qV3iYhmQy/XgfWJZ7/44INnilD8QtXwTKetxSCvuvDdyBue9I3AcmkI3Wvn+IYyBu5ppluQmx8gySIW7ZJ/23zSAbLfGSFf63tbdj7qvW5Sbu6Dsh5j60MLfINmAZmFu6QI6O3Ziv/T1dNMy9b2FucfH539XcirkJv4W5RSu8p0kUkVsqSwOr1hLCbZ/WCUXua0PcxhLCVqhlE7mlcjrla1BNS3pOKHIfWppbvOxQf4KL3FJV0i5aiwhboaa4iNzihausyo2tUAMncjNzQ9pFawgPCHt9N4ncxJ6lubHf9V96WOK+N2yOs4bQ1Z77nVDiFjvZe5YbjGUNZIPELRrhHctyIyvsu1qqxC2OxnuW5UYj8Jq61Mvcc9bmRiuzzwklbmk0ti43Sog78jcMx30y/3uO4xjxmqDW27BShAFxojy4/vqJ0Px8/guh+fDG9TsW50bO4T9kHtwQmk27z7t4ef67xQDtzX6JuNcszI1K+v88bGbDi6EFEHAvhOCrrzD3A7PpRujql0IzRgFqaDGwCPF+JUBRXgpzz319w6p/cJJInTSzAYAOLS4GKJoG7nDMvkyHMfdyWLhuNqC+rgtNClGHApSXXvZhbjsohrnJBTr70IIhZ24IsRAONmB7l33hZYX7G8T9VWBhMdZ8YDamVsyJ4JOwA14v7Qtjbh/itmPubylvKOQVfjQbtF/cQwFyRIo2JEmYDgSA2+uNATc2wm/tXnox5GtaKskZNTZKEjvtRfFeprPA/a3IDbcFQlTTShG/IdD9SWKnKS+Ot5obilEAIv7AbFpF12/6Qqok8QbAvQO4XoJ/076YzG0PA3hYsMrfiH0gNHvYUODBv0Eh4Ba/8iLuL/EShXsX7Y/MBpZ0IkBhl6MdCEmS6jz6qsdtp+lQwCKZ8qMQVmEvyFr6Yv67JfGrb3rcdrBDX9MKTRYHWRKSk4RaWFKEuEV9D9zfSNx2b2AxawUzvH4TvEQyQFqFvfLD/Hcr4pdfqblp7+LyQ/OXJnfSDCkGGFgSSVdAl4D70goWibhjMjgFATffxB/cDPeq5ILIubIUoBde/GH+f19cCPtCK5ciwP09LkFIy96Q/aHZ2MQjMJOQVCXppUtYS+FmeAlzL2WzscVLyFC+D8jcYZThD0zGhlUJfk3hKmn3Lr2IdImCOW3pZeB+eSlrj4VXLoGhfB/KKivTGzB9ZT4QfFAbcZKE7dQK5l6Jxey+lRckbrt96WXg/mYhK2d4mFr0mp0o12/CMpOwY9TKy0grqDBi7hdWEHc4/CVal0053nY6QAsmW/gjIRAI0LiVggQQuV8MwHi28Pjz+R8e43hn8Uifzfa4Kap56r8COh1Bege8yyI2CjLWCm3PCgLaPxHEIKOOUPFBbOFmO+FN4JaiDRPZksj9wqUAPB80pwkCvkvLTZu9MLmb2QAlY0OCvyiBPxYCIYi3LyY8fnklEI4NcNPmcrM3m4hbBgovSNxCdqE5Pz8vhJtNFP7lfm4fTcVeN5U7dTNLeRVse4yWViZwPwHun8JNAX//jTQ4yJWHos3mblLeHpA95g3RPhBwC8B9E7jRt74vtdx2c7lZDTekeAiKp7cpBBaffHH5p5iQhe+81Ld93ObnCaxLirb3gdsDqF8RmhT44+Wf4P+Qvurjppcpn8mF/qbQH29EHqMg6AJ4N3i4II6Yy1eufN1bmN5lyuwG5WGTosN2LXk2G16MNaHoPL4s0GgaevLzz4KKm6bMbghvCDDBq0Itwy3jkXgBVmeWXljIvvRSH7d3+WuTtzh/vOlbppT1RiF5vT7ELSomfJ4NUf+HuJV+ELjpprnYRAoMQ0kUCs1oAKvizoaffLH4y0ugJwo3TXvDN0zmJk4Eil6W4yjBUrEet93+E8ZWcVM+2uz0JojXobBQEpFP3jvxxXxLcrxp4WfM/ZMyp0G8m6YP9KzQpJWAK5s+ATn09lc+/+WXv/8dEvz/haycJnTW9DRB5xkUR4kFlhY0Csz39Ap+WcJen9f8NEEbEVmYd6QU0GIvPFZxf56Vsjv2yAobbY8EX5iSBgdKG/CQivsy4vbRy15rbGw+gAxXas9ApixSj7NN4ckrly9ffhLGWeKLmZ/dWDeEsI+mh6b4wsLSkrcZ9qHxIub1gZlY5HQgcwJTpFdK8Rg9iL2YbcakPAJ6s0finqBo+nrgWWpxYakX9RAVbsrWDUlCZ83tvPv0o9DsgaN2MCs7S6zZbCqFEjqCcOzECl4i6zqKOK2aIJbletm7CRwQktz8Stmn60IzHPZRSiu+jDbFFxcDPW64M7xsvVP0AG6H1amEHHKliSQ3JShHwvYTq2FjG4+F7T5v/7gpU3uBms5aok5qxT6CzilsD1N0/+QWpr1e9G/WUqe4VWJ+bGLHC/u8FNozRFrGX8JNsewj6+WILO71prRdjCooEvZGcL/swwdmww1RPJFINBp/+xW9m021FwixDmezT/+B/uxewlp/tivR2Ll169Zzsn57egJRz8bgf+ifpvD0n7899wfpzlu3dizyR8fiPWJJf3jut99+ffr0RBBOnv76z9960Ios8TcRINpaLmBXNHjfrR3LXAUAUntnB2XLLZ3nIOYHCA6xSJJoFAcl9ITuMBvuQhe60IUudKELzbD+BctylfSaG2GNAAAAAElFTkSuQmCC" id="108" name="Google Shape;108;p3"/>
          <p:cNvSpPr/>
          <p:nvPr/>
        </p:nvSpPr>
        <p:spPr>
          <a:xfrm>
            <a:off x="155575" y="-144463"/>
            <a:ext cx="304800" cy="304801"/>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pic>
        <p:nvPicPr>
          <p:cNvPr id="109" name="Google Shape;109;p3"/>
          <p:cNvPicPr preferRelativeResize="0"/>
          <p:nvPr/>
        </p:nvPicPr>
        <p:blipFill rotWithShape="1">
          <a:blip r:embed="rId3">
            <a:alphaModFix/>
          </a:blip>
          <a:srcRect b="0" l="0" r="0" t="0"/>
          <a:stretch/>
        </p:blipFill>
        <p:spPr>
          <a:xfrm>
            <a:off x="2360738" y="3127669"/>
            <a:ext cx="886589" cy="1459302"/>
          </a:xfrm>
          <a:prstGeom prst="rect">
            <a:avLst/>
          </a:prstGeom>
          <a:noFill/>
          <a:ln>
            <a:noFill/>
          </a:ln>
        </p:spPr>
      </p:pic>
      <p:pic>
        <p:nvPicPr>
          <p:cNvPr id="110" name="Google Shape;110;p3"/>
          <p:cNvPicPr preferRelativeResize="0"/>
          <p:nvPr/>
        </p:nvPicPr>
        <p:blipFill rotWithShape="1">
          <a:blip r:embed="rId4">
            <a:alphaModFix/>
          </a:blip>
          <a:srcRect b="0" l="0" r="0" t="0"/>
          <a:stretch/>
        </p:blipFill>
        <p:spPr>
          <a:xfrm>
            <a:off x="3961937" y="3316882"/>
            <a:ext cx="3029172" cy="1270089"/>
          </a:xfrm>
          <a:prstGeom prst="rect">
            <a:avLst/>
          </a:prstGeom>
          <a:noFill/>
          <a:ln>
            <a:noFill/>
          </a:ln>
        </p:spPr>
      </p:pic>
      <p:pic>
        <p:nvPicPr>
          <p:cNvPr id="111" name="Google Shape;111;p3"/>
          <p:cNvPicPr preferRelativeResize="0"/>
          <p:nvPr/>
        </p:nvPicPr>
        <p:blipFill rotWithShape="1">
          <a:blip r:embed="rId5">
            <a:alphaModFix/>
          </a:blip>
          <a:srcRect b="0" l="0" r="0" t="0"/>
          <a:stretch/>
        </p:blipFill>
        <p:spPr>
          <a:xfrm>
            <a:off x="7308957" y="3127669"/>
            <a:ext cx="2690093" cy="1520322"/>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 name="Shape 115"/>
        <p:cNvGrpSpPr/>
        <p:nvPr/>
      </p:nvGrpSpPr>
      <p:grpSpPr>
        <a:xfrm>
          <a:off x="0" y="0"/>
          <a:ext cx="0" cy="0"/>
          <a:chOff x="0" y="0"/>
          <a:chExt cx="0" cy="0"/>
        </a:xfrm>
      </p:grpSpPr>
      <p:sp>
        <p:nvSpPr>
          <p:cNvPr id="116" name="Google Shape;116;p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s-ES"/>
              <a:t> </a:t>
            </a:r>
            <a:endParaRPr/>
          </a:p>
        </p:txBody>
      </p:sp>
      <p:sp>
        <p:nvSpPr>
          <p:cNvPr id="117" name="Google Shape;117;p4"/>
          <p:cNvSpPr txBox="1"/>
          <p:nvPr/>
        </p:nvSpPr>
        <p:spPr>
          <a:xfrm>
            <a:off x="1018572" y="2013994"/>
            <a:ext cx="10023676" cy="923330"/>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rgbClr val="000000"/>
              </a:buClr>
              <a:buSzPts val="1800"/>
              <a:buFont typeface="Arial"/>
              <a:buNone/>
            </a:pPr>
            <a:r>
              <a:rPr b="1" i="0" lang="es-ES" sz="1800" u="none" cap="none" strike="noStrike">
                <a:solidFill>
                  <a:srgbClr val="0070C0"/>
                </a:solidFill>
                <a:latin typeface="Palatino Linotype"/>
                <a:ea typeface="Palatino Linotype"/>
                <a:cs typeface="Palatino Linotype"/>
                <a:sym typeface="Palatino Linotype"/>
              </a:rPr>
              <a:t>O poder de informação consiste em possuir um conhecimento que outras pessoas querem ou precisam. </a:t>
            </a:r>
            <a:r>
              <a:rPr b="0" i="0" lang="es-ES" sz="1800" u="none" cap="none" strike="noStrike">
                <a:solidFill>
                  <a:schemeClr val="dk1"/>
                </a:solidFill>
                <a:latin typeface="Palatino Linotype"/>
                <a:ea typeface="Palatino Linotype"/>
                <a:cs typeface="Palatino Linotype"/>
                <a:sym typeface="Palatino Linotype"/>
              </a:rPr>
              <a:t>Com informação e conhecimento, a pessoa possui mais poder de persuasão ou de negociação. </a:t>
            </a:r>
            <a:endParaRPr b="0" i="0" sz="1400" u="none" cap="none" strike="noStrike">
              <a:solidFill>
                <a:srgbClr val="000000"/>
              </a:solidFill>
              <a:latin typeface="Arial"/>
              <a:ea typeface="Arial"/>
              <a:cs typeface="Arial"/>
              <a:sym typeface="Arial"/>
            </a:endParaRPr>
          </a:p>
        </p:txBody>
      </p:sp>
      <p:sp>
        <p:nvSpPr>
          <p:cNvPr id="118" name="Google Shape;118;p4"/>
          <p:cNvSpPr/>
          <p:nvPr/>
        </p:nvSpPr>
        <p:spPr>
          <a:xfrm>
            <a:off x="1018572" y="1429473"/>
            <a:ext cx="10023676" cy="584521"/>
          </a:xfrm>
          <a:prstGeom prst="rect">
            <a:avLst/>
          </a:prstGeom>
          <a:solidFill>
            <a:schemeClr val="dk1"/>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3500"/>
              <a:buFont typeface="Arial"/>
              <a:buNone/>
            </a:pPr>
            <a:r>
              <a:rPr b="0" i="0" lang="es-ES" sz="3500" u="none" cap="none" strike="noStrike">
                <a:solidFill>
                  <a:schemeClr val="lt1"/>
                </a:solidFill>
                <a:latin typeface="Palatino Linotype"/>
                <a:ea typeface="Palatino Linotype"/>
                <a:cs typeface="Palatino Linotype"/>
                <a:sym typeface="Palatino Linotype"/>
              </a:rPr>
              <a:t>O poder de </a:t>
            </a:r>
            <a:r>
              <a:rPr b="0" i="0" lang="es-ES" sz="3500" u="none" cap="none" strike="noStrike">
                <a:solidFill>
                  <a:srgbClr val="FFC000"/>
                </a:solidFill>
                <a:latin typeface="Palatino Linotype"/>
                <a:ea typeface="Palatino Linotype"/>
                <a:cs typeface="Palatino Linotype"/>
                <a:sym typeface="Palatino Linotype"/>
              </a:rPr>
              <a:t>Informação</a:t>
            </a:r>
            <a:endParaRPr b="0" i="0" sz="3500" u="none" cap="none" strike="noStrike">
              <a:solidFill>
                <a:srgbClr val="FFC000"/>
              </a:solidFill>
              <a:latin typeface="Palatino Linotype"/>
              <a:ea typeface="Palatino Linotype"/>
              <a:cs typeface="Palatino Linotype"/>
              <a:sym typeface="Palatino Linotype"/>
            </a:endParaRPr>
          </a:p>
        </p:txBody>
      </p:sp>
      <p:sp>
        <p:nvSpPr>
          <p:cNvPr id="119" name="Google Shape;119;p4"/>
          <p:cNvSpPr txBox="1"/>
          <p:nvPr/>
        </p:nvSpPr>
        <p:spPr>
          <a:xfrm>
            <a:off x="1018572" y="4996404"/>
            <a:ext cx="10023676" cy="64633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s-ES" sz="1800" u="none" cap="none" strike="noStrike">
                <a:solidFill>
                  <a:srgbClr val="182A2E"/>
                </a:solidFill>
                <a:latin typeface="Palatino Linotype"/>
                <a:ea typeface="Palatino Linotype"/>
                <a:cs typeface="Palatino Linotype"/>
                <a:sym typeface="Palatino Linotype"/>
              </a:rPr>
              <a:t>Exemplos</a:t>
            </a:r>
            <a:r>
              <a:rPr b="0" i="0" lang="es-ES" sz="1800" u="none" cap="none" strike="noStrike">
                <a:solidFill>
                  <a:srgbClr val="182A2E"/>
                </a:solidFill>
                <a:latin typeface="Palatino Linotype"/>
                <a:ea typeface="Palatino Linotype"/>
                <a:cs typeface="Palatino Linotype"/>
                <a:sym typeface="Palatino Linotype"/>
              </a:rPr>
              <a: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s-ES" sz="1800" u="none" cap="none" strike="noStrike">
                <a:solidFill>
                  <a:srgbClr val="182A2E"/>
                </a:solidFill>
                <a:latin typeface="Palatino Linotype"/>
                <a:ea typeface="Palatino Linotype"/>
                <a:cs typeface="Palatino Linotype"/>
                <a:sym typeface="Palatino Linotype"/>
              </a:rPr>
              <a:t>Delações premiadas, Extorsões, Informações privilegiadas...</a:t>
            </a:r>
            <a:endParaRPr b="0" i="0" sz="1400" u="none" cap="none" strike="noStrike">
              <a:solidFill>
                <a:srgbClr val="000000"/>
              </a:solidFill>
              <a:latin typeface="Arial"/>
              <a:ea typeface="Arial"/>
              <a:cs typeface="Arial"/>
              <a:sym typeface="Arial"/>
            </a:endParaRPr>
          </a:p>
        </p:txBody>
      </p:sp>
      <p:sp>
        <p:nvSpPr>
          <p:cNvPr descr="data:image/png;base64,iVBORw0KGgoAAAANSUhEUgAAALcAAAEUCAMAAABeT1dZAAAB0VBMVEX///8APVnsZxnTlwAAAAD9wwD5sAD5rgAAOVYANlRISEh1dXUAMlH5rQDkqADbnwCdm5vrXwDrsADvswD/ygAAO1vkqQDeogAAL0/1ugDXmwD6tQAANFP/7gDRlQDdoAD/0wD//ff3+foAKkzs7Oz/9eP/3wArNSv7wlD+8NX+6sX+5rvrWgAAJkluhpXHjgCdnqL+7c7/+e3/1wD/5AD94ar8znT6vTn7xVv804f92ZP7ymn8znf93aD6uSS0wMjX3uKFmqdCYXbKyslALgBgRQC4hwCsewD7wEn7vjRPbYChr7nucCulVzn+7eXEXB7YYRz72cv4wan2ro7zk2bSu4zEpGDDpGubagCurKz91oInUWlifIyLi5BfSEiIUUB0TkT3s5X50cLKXR7zm3OOTiPweThoRCYyQ1JyRSaBSSWYVTrvf0rmwbOvWjF4WVMAUG6UbmJCQk0AKToaHh+nTRoAExpmLQM9PTxeX1/VzccWNkjzlmu4kTwsHABONADh0rXdcgzPhTXzlQbBfQDncxLegwZwVQDzhw1KPgB4ZgDAlS29mUnNpADbyqN3VQAAKy05OSlLNxqTbBZGNR9nSBqnjFWlgji5qoqgloWhjm1VWLvfAAAWg0lEQVR4nO2di3vaZpbGhbG5zCAo2JW4FVsYtVxsMyjF3AW2UwTYdWrn0sR4ekm7mXSa6Xa66W53Wrfp9r5J2m4z20znr53zfboghABh40g8j995mrFBxj8O53vPOZ9AJogLXehCF7rQhS50oYnEsKzZCJMrVasm20WzKSZSKl8qtKv5HEFUzEYxKjZdTiY3yzlG/HYzNeQ47pkRjRXD1qqV5FGG5aRvIblrGf1j08lKnnmGbMOVS7Yr+ZwqjBESkiRV0j+6SLA1fjP9bNBGKq8lTDp5SIeC7sHsEfo3VWqXTDccVrsEa04HRzD63OWc+P9cxnzDaWmWWsbpgDwo6S1MRnmOzOY5U41XUvWSM5lSiuXJGqRPTefQtHJjZsi6fYZSWwdDkiWi4ISwslWdQzeVp1gx3w9z8kvOQBB5Z4EoOiPwXUvH7pQ04fTSJFeuVqtH+Wf1jNik9EWBLBCbTidRI0n43a1Bx8jn5a9qOe19TK1QS3MMk8pXKsNq1pRVkQjLJM9lnM4US5L5nnWopHgIM+AmuSTKNoZDweYq5XNjVauKywiHjCSXcpB5rlAAiPTAL+8lB6u9LwP5zuSLyUIhWQb02nTchhtd39DLzxYjOdZJ5plCMUcwqCmsDMS0pjxMWZMJOTg2HSmm885iiXTAk8pPpS+rOUbezRYlI6linlSmVGi1WtWqZmH2zJvTUDFJhijzLKCniGq+RMKCKU/DJzMOACkOfSQG6jqBfIDhUuVKsVCsFpMtB1nQGENOSY50vv+OagZ+RbGYdPCZXJtj+Up1Gn0jV3EgOUltABUl0R1svpQsVCqtzUoyWWk7yKLWT46UGzb778pDnYrw5VyklKlEnHkumeKn0HixvBOoSRL+0yslSOWjcrKVbBWPioVkJYkC53QMlstITYohp3mcdIkoRxgiV4CnXyxVInwq3To7dxGwi2QqzTvA4vQPSRc2Ky3EW4T/ksmCg2wNHgkO6aikEXptIJpMsdWuJtHyhuRKR6qczs9PKBYypMY48kTeWSjrJx1bRNSVYuWoVWjzcLxTL6OA29nmW2WWqAzcy0YybJlslTnkI0yLLw9fTEaVgfyA0oJGgSFH5PlicrNaKRbbTnEhRPK6x6WrDr5UIJ384EjBOipg4blSxLHJEWybaDumwp0j8o5h65vbLFRa7XalXCsgbKeTLA63gnzFQTrJwQCwkVa+As+Wi2zyrVKSSDnPzJ0CmBbLkkNWeK7lgMSvpmvVAuRBpFBUJmN9seWWzurmCrkCatprJahxDr6SaZ/dUCCMTkfByScrpdpAJGsOnBs8CWqXMqnTjrzFDMvDWmzl0NLMZQo8LM8zcuccoiCcuF9SiU2SODMcrVLtbAaQ5pniUYRH2VisEWzriCie2QozPAnMErw671IQZpQZ0H6e9XcQyVolTVRQWSZbrUiEI/hB15lUXKZUKTp4HnGro5BrVzOpaXT5TIbg+EiZaKWYvDOfq0F0uLNji9psEzlEPthVT0EQa7ZA1pKQLxmonfCiapubUysNM0zZ6Ti7QemJQc1vORJpk8kiD90LU5nKzhDaOeOgmqTJc+ImOFQg2Vz5qJRh0Xqfxm9hSm0YHInKJtrROZ88AZWKcoi5UnIqm1lMxOmATjMfKcG6TI4//pTiysnNWiZfKlantXuIwuxoFaDEOPnzHLUZNpXOsVPchiiQonuT54p9NrFpeM6a25gjByrkvN7WmSXE5AuOCB9xtDIa1+dy6VQmYvre7xClCs7NXAqyrDI4HcKT0pm9LKEcbp1xV8+2dGaywfnKEko5Smgt43+Y3ObQScFqShaYJAQZd6SVPMMPm94tpjSUwhQwZ1A2sGiONXcZpsrG0rIilcKUPBtEns2u6BBFSNLYKSAZk5NxK2eeOOKg0/5s1emIMEZ6cFLqwWryHkBN/5SYQcXrWxudTud4Y6ueOM3PZ6Apyrd0z271C03suXxps01KAc+3T/P7sOL1zvqqx+1yu91RT3DdtrEz8UOwvMNZZst8pDSmA3VCXudTHMPJtbJ02njHd7tRl02tqLu7O2nGtBxOtD/Nllrt0qh9gpZ2q7x9mk3/BlBvB/upkVzB7fpkj1RyOnjsaEyqzLeGn1/OR1SFBp7f0K2ekVrvunSoMfnqxkSPlCMdPYJcOcKX9dE5/ojIyFt3tU2wk9NM1F23LjSWZ3uSXOEgwdWveIofkuh5Mt3bvcnVyFNNZFue4dw2z/EE4EzF6VCvsNRQWz4ie+NojTxd1WnY9LNE1OqW8UeqgYM7VDZYPhp6aJlM4l1JLo1PsZ9Kf4yO4LZFDRsi08qQDqdqX29U959LOvhWscVHiqcdyA7uvPH8CG7XttEHSheJiDrBU6OXWypfrRxlTj1GMnv+uY9Gga82DD5StUZAgkeU78tD3kA0HV31z83NvekanuMeoxkO7X8eSr2SHPx5dqcHCHtu7sobtmExdxn0QkgTdMpAWWZsZOThZ9Q1kRvI3/rU9jzSALfLGHcVAbediquVzrOpflvGnpvzz1159c233nz1I23KrBvqDhlcvNPKKS4mOWE1ObhtvGoeSthX3unhv6rlNrYw02IvWk5JFSXFT0TNvOtfu2rw2NtKkvxbj3vundMZSkWMMye/07A0mZscrs3N7e0T+0aO3T+841dxv3ZF/EbLvW6EWzlfnJfSY8INPpSw/tv7a4bAlfx+7U/ov9dE7ruapWkov7Xn53PJyXq8A5Sin127ZvCn5AR/570/v6fkygeagBvxk4rmjPPERQfn7NqhwaMPFD95rZfhc++rI+7qGOHW9iIT70yKJEaP3p/TlZrbUL1kC5GSemhhJ3MTJEhZv1FHIZh7Y7mDxqY1tpzkq8oZ89MUnTt+/18MH/yuXwf7AxW3y230oWCqbLeqeCBmWqcYYQ7m/v1D4wevaaH9/it3XZOkye2rPfNK1SJ8KXfK3mR31WN8oNUmyju/+0jdHLpsjRE/vA/r/+01/57adSFhYCI+DXdi2xU1vIVwW5Mobz3fV+ejIyNwsHZwG71E/euJYYcM8uNUXx8dpj7d8cuFEtvhp33W7XKNfJwD/+HeJLY7TsdRt6FqIf7uuT99cEUulu/3F8vV3ZE/u48bBcMN0VglbK6o4R0EmHg+/kAuO3f7ssQ9bri8B6a7N61og3Y9tqDRtan28I/7s2RctiX+Oue/ZrAVMqaNoC14bPBYlRe+1ZcmY1d3J/jG1HJEVHzbbXyz6Z7iKX3RHlspd4PRzplJNUqACwc7xjbgD5UhU10oXeOwG+4JbMuw6vCo0a6hxz2Qw/3XHrfHNg470XVNsgtnWAjctW5k912qPf63N+S9Wdfqxrifi3fdbkMt7sSqe8DUop3G2APFqcd/DQqtSB3tjK238Y7b5h7/0KdSHZ38cLu3xkVFTJK1g3hXtJHu+C4hfuyxeUYXpTNox4Ze+KBtdLLgrTb/2j1Yy7jhNmD8iW3w2fNIbkmNbbwr7+luNYYfdHXN79/77HAfldlxnZSoRNcN5eFckltS/BifKHMFbcf6ZyXjcOu1d2/vizhwbHC8d9YB2719qpOcxlV3ecS5JRjs7NYb6rsa9d3jqNoTjt02V3fsI27Bend3zxkbIrrhluzN5YHgdzsbW6CNThd8w+N2i9utiZ2tbqfRWIc8GfPy49SLnne0xV/ViSonzVwutzsKcrvFsSa6hZ9a1+NxuW1bG+MGs8QWWuqeZ4INqm+ve/S35leR56FBA1vJ9nY3un48HGr3Q3SuMzjR6cGzqbHVXY3qnFZYRwjb8u0uV3dja3dXH7yxFUXUrvM0QB3Fdza2bcGou8fuiorLsKHuAt1dcJ6BeMYTux0bfsmMVKWpozfqW50uSnGc3p2tLo7dRv+ZQNcq3KN2HvRTtqBLNNQRWXTeSjRA6Nc3om4IXnwdL1DVAnC5PcH11Q+3O8fHne0PV9eDHvFVcq2aEGwddbAN7wYByb0Bwdekv/i69L4Nbp9bRzKRdlbdHTQauURfSexuu4a4DvJ+13b92dnISHXcQQhgfRWnSQPd0tjdxm/70TBHg+sjO5xnqx0Y+huIHqEpdTte3zruuteDQQ8qT57g6qpte2O3YSKnVh03ohVNsG90iScS0LpsYUFLM+iKpqqBFiOYIG67jHSvFhG4NqR3fFWs8NZwCgNKrOJTZbvi230Mv+vBdIFrQ5GPS63JurVyeLgQMPSw9XXR6oyfoTBZyLWjdTThiHZiNo9RYeCE/Kaw6LNtTU+vRhfVGskEZ8hOUC/l2YrL78Ezfj7IZCEbCTZ25fc8jj6NYx0h84YiL89nLpt5w8BEQmniPhY7QaTxmybWEHITz1Zv29jwmxvNFd7ADNaVBttt9FSQyarj9FbCbfy9jSYLDfCuTlcZawy+V8Nsic1UtzeIrU7+KQwzNPCWb0/DbCRD6vmfrIbZSIa0of1Ig7HThaarq91nOP9N+Gkooc0So2+VNll17QcajL1F0HTtaj/5MiPTzsCynJEyr12WM8IdH3Dv2eBuDHLPxCYb3qafQe6tgc91zQb38cAHF2eCWxmGZ4y7oaWeFe6BZTkbPlifUe5BO5kN7o7OR85ngXugO5mNfjDRHcCeif5bxwZngntg2LHNxpw22FXNBreOncwEt056zwJ3Yn02ufXSexa4B2b52eBOfKib35b378GdWCTr13k9F5yBvmrINVos38du6F+ixepvUhrc8RFl9dNpgzsQoiz+bojdIeG2+GlAvQ5WlKXfFPaX4VfxMXaFE1O0/65/7v0h18JxGf5M7zPXoR9/BO3Nu7rcVm1PDuQPhvr//B863FYtO1fnlM+zvnf//iC5Ne374I7qk/0f/+d9IP9Uw21B+97vv3CF/7/m79+X0eVeBb0J3GK6rQ6233/vcP+Pn9yfByH0j+7ann8efQzZaja4/5maeu3abXRjYgfpk/n//tveax+8+uYbdz/91GxOrdb8qlC/3XfJn9/N/178+Lnf718zi2+YlNze++xAc6EixC1fvspvDt1wyVcd0rkUAuK+KnNb48+JqiRd+eHe4D2IW/64v3+qV3iYhmQy/XgfWJZ7/44INnilD8QtXwTKetxSCvuvDdyBue9I3AcmkI3Wvn+IYyBu5ppluQmx8gySIW7ZJ/23zSAbLfGSFf63tbdj7qvW5Sbu6Dsh5j60MLfINmAZmFu6QI6O3Ziv/T1dNMy9b2FucfH539XcirkJv4W5RSu8p0kUkVsqSwOr1hLCbZ/WCUXua0PcxhLCVqhlE7mlcjrla1BNS3pOKHIfWppbvOxQf4KL3FJV0i5aiwhboaa4iNzihausyo2tUAMncjNzQ9pFawgPCHt9N4ncxJ6lubHf9V96WOK+N2yOs4bQ1Z77nVDiFjvZe5YbjGUNZIPELRrhHctyIyvsu1qqxC2OxnuW5UYj8Jq61Mvcc9bmRiuzzwklbmk0ti43Sog78jcMx30y/3uO4xjxmqDW27BShAFxojy4/vqJ0Px8/guh+fDG9TsW50bO4T9kHtwQmk27z7t4ef67xQDtzX6JuNcszI1K+v88bGbDi6EFEHAvhOCrrzD3A7PpRujql0IzRgFqaDGwCPF+JUBRXgpzz319w6p/cJJInTSzAYAOLS4GKJoG7nDMvkyHMfdyWLhuNqC+rgtNClGHApSXXvZhbjsohrnJBTr70IIhZ24IsRAONmB7l33hZYX7G8T9VWBhMdZ8YDamVsyJ4JOwA14v7Qtjbh/itmPubylvKOQVfjQbtF/cQwFyRIo2JEmYDgSA2+uNATc2wm/tXnox5GtaKskZNTZKEjvtRfFeprPA/a3IDbcFQlTTShG/IdD9SWKnKS+Ot5obilEAIv7AbFpF12/6Qqok8QbAvQO4XoJ/076YzG0PA3hYsMrfiH0gNHvYUODBv0Eh4Ba/8iLuL/EShXsX7Y/MBpZ0IkBhl6MdCEmS6jz6qsdtp+lQwCKZ8qMQVmEvyFr6Yv67JfGrb3rcdrBDX9MKTRYHWRKSk4RaWFKEuEV9D9zfSNx2b2AxawUzvH4TvEQyQFqFvfLD/Hcr4pdfqblp7+LyQ/OXJnfSDCkGGFgSSVdAl4D70goWibhjMjgFATffxB/cDPeq5ILIubIUoBde/GH+f19cCPtCK5ciwP09LkFIy96Q/aHZ2MQjMJOQVCXppUtYS+FmeAlzL2WzscVLyFC+D8jcYZThD0zGhlUJfk3hKmn3Lr2IdImCOW3pZeB+eSlrj4VXLoGhfB/KKivTGzB9ZT4QfFAbcZKE7dQK5l6Jxey+lRckbrt96WXg/mYhK2d4mFr0mp0o12/CMpOwY9TKy0grqDBi7hdWEHc4/CVal0053nY6QAsmW/gjIRAI0LiVggQQuV8MwHi28Pjz+R8e43hn8Uifzfa4Kap56r8COh1Bege8yyI2CjLWCm3PCgLaPxHEIKOOUPFBbOFmO+FN4JaiDRPZksj9wqUAPB80pwkCvkvLTZu9MLmb2QAlY0OCvyiBPxYCIYi3LyY8fnklEI4NcNPmcrM3m4hbBgovSNxCdqE5Pz8vhJtNFP7lfm4fTcVeN5U7dTNLeRVse4yWViZwPwHun8JNAX//jTQ4yJWHos3mblLeHpA95g3RPhBwC8B9E7jRt74vtdx2c7lZDTekeAiKp7cpBBaffHH5p5iQhe+81Ld93ObnCaxLirb3gdsDqF8RmhT44+Wf4P+Qvurjppcpn8mF/qbQH29EHqMg6AJ4N3i4II6Yy1eufN1bmN5lyuwG5WGTosN2LXk2G16MNaHoPL4s0GgaevLzz4KKm6bMbghvCDDBq0Itwy3jkXgBVmeWXljIvvRSH7d3+WuTtzh/vOlbppT1RiF5vT7ELSomfJ4NUf+HuJV+ELjpprnYRAoMQ0kUCs1oAKvizoaffLH4y0ugJwo3TXvDN0zmJk4Eil6W4yjBUrEet93+E8ZWcVM+2uz0JojXobBQEpFP3jvxxXxLcrxp4WfM/ZMyp0G8m6YP9KzQpJWAK5s+ATn09lc+/+WXv/8dEvz/haycJnTW9DRB5xkUR4kFlhY0Csz39Ap+WcJen9f8NEEbEVmYd6QU0GIvPFZxf56Vsjv2yAobbY8EX5iSBgdKG/CQivsy4vbRy15rbGw+gAxXas9ApixSj7NN4ckrly9ffhLGWeKLmZ/dWDeEsI+mh6b4wsLSkrcZ9qHxIub1gZlY5HQgcwJTpFdK8Rg9iL2YbcakPAJ6s0finqBo+nrgWWpxYakX9RAVbsrWDUlCZ83tvPv0o9DsgaN2MCs7S6zZbCqFEjqCcOzECl4i6zqKOK2aIJbletm7CRwQktz8Stmn60IzHPZRSiu+jDbFFxcDPW64M7xsvVP0AG6H1amEHHKliSQ3JShHwvYTq2FjG4+F7T5v/7gpU3uBms5aok5qxT6CzilsD1N0/+QWpr1e9G/WUqe4VWJ+bGLHC/u8FNozRFrGX8JNsewj6+WILO71prRdjCooEvZGcL/swwdmww1RPJFINBp/+xW9m021FwixDmezT/+B/uxewlp/tivR2Ll169Zzsn57egJRz8bgf+ifpvD0n7899wfpzlu3dizyR8fiPWJJf3jut99+ffr0RBBOnv76z9960Ios8TcRINpaLmBXNHjfrR3LXAUAUntnB2XLLZ3nIOYHCA6xSJJoFAcl9ITuMBvuQhe60IUudKELzbD+BctylfSaG2GNAAAAAElFTkSuQmCC" id="120" name="Google Shape;120;p4"/>
          <p:cNvSpPr/>
          <p:nvPr/>
        </p:nvSpPr>
        <p:spPr>
          <a:xfrm>
            <a:off x="155575" y="-144463"/>
            <a:ext cx="304800" cy="304801"/>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pic>
        <p:nvPicPr>
          <p:cNvPr id="121" name="Google Shape;121;p4"/>
          <p:cNvPicPr preferRelativeResize="0"/>
          <p:nvPr/>
        </p:nvPicPr>
        <p:blipFill rotWithShape="1">
          <a:blip r:embed="rId3">
            <a:alphaModFix/>
          </a:blip>
          <a:srcRect b="0" l="0" r="0" t="0"/>
          <a:stretch/>
        </p:blipFill>
        <p:spPr>
          <a:xfrm>
            <a:off x="2360738" y="3127669"/>
            <a:ext cx="886589" cy="1459302"/>
          </a:xfrm>
          <a:prstGeom prst="rect">
            <a:avLst/>
          </a:prstGeom>
          <a:noFill/>
          <a:ln>
            <a:noFill/>
          </a:ln>
        </p:spPr>
      </p:pic>
      <p:pic>
        <p:nvPicPr>
          <p:cNvPr id="122" name="Google Shape;122;p4"/>
          <p:cNvPicPr preferRelativeResize="0"/>
          <p:nvPr/>
        </p:nvPicPr>
        <p:blipFill rotWithShape="1">
          <a:blip r:embed="rId4">
            <a:alphaModFix/>
          </a:blip>
          <a:srcRect b="0" l="0" r="0" t="0"/>
          <a:stretch/>
        </p:blipFill>
        <p:spPr>
          <a:xfrm>
            <a:off x="3961937" y="3316882"/>
            <a:ext cx="3029172" cy="1270089"/>
          </a:xfrm>
          <a:prstGeom prst="rect">
            <a:avLst/>
          </a:prstGeom>
          <a:noFill/>
          <a:ln>
            <a:noFill/>
          </a:ln>
        </p:spPr>
      </p:pic>
      <p:pic>
        <p:nvPicPr>
          <p:cNvPr id="123" name="Google Shape;123;p4"/>
          <p:cNvPicPr preferRelativeResize="0"/>
          <p:nvPr/>
        </p:nvPicPr>
        <p:blipFill rotWithShape="1">
          <a:blip r:embed="rId5">
            <a:alphaModFix/>
          </a:blip>
          <a:srcRect b="0" l="0" r="0" t="0"/>
          <a:stretch/>
        </p:blipFill>
        <p:spPr>
          <a:xfrm>
            <a:off x="7308957" y="3127669"/>
            <a:ext cx="2690093" cy="1520322"/>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 name="Shape 128"/>
        <p:cNvGrpSpPr/>
        <p:nvPr/>
      </p:nvGrpSpPr>
      <p:grpSpPr>
        <a:xfrm>
          <a:off x="0" y="0"/>
          <a:ext cx="0" cy="0"/>
          <a:chOff x="0" y="0"/>
          <a:chExt cx="0" cy="0"/>
        </a:xfrm>
      </p:grpSpPr>
      <p:pic>
        <p:nvPicPr>
          <p:cNvPr id="129" name="Google Shape;129;g3d8f21f41fc_0_0"/>
          <p:cNvPicPr preferRelativeResize="0"/>
          <p:nvPr/>
        </p:nvPicPr>
        <p:blipFill>
          <a:blip r:embed="rId3">
            <a:alphaModFix/>
          </a:blip>
          <a:stretch>
            <a:fillRect/>
          </a:stretch>
        </p:blipFill>
        <p:spPr>
          <a:xfrm>
            <a:off x="739225" y="1601000"/>
            <a:ext cx="11185400" cy="4065125"/>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 name="Shape 134"/>
        <p:cNvGrpSpPr/>
        <p:nvPr/>
      </p:nvGrpSpPr>
      <p:grpSpPr>
        <a:xfrm>
          <a:off x="0" y="0"/>
          <a:ext cx="0" cy="0"/>
          <a:chOff x="0" y="0"/>
          <a:chExt cx="0" cy="0"/>
        </a:xfrm>
      </p:grpSpPr>
      <p:pic>
        <p:nvPicPr>
          <p:cNvPr id="135" name="Google Shape;135;g3d8ff26191f_0_0"/>
          <p:cNvPicPr preferRelativeResize="0"/>
          <p:nvPr/>
        </p:nvPicPr>
        <p:blipFill>
          <a:blip r:embed="rId3">
            <a:alphaModFix/>
          </a:blip>
          <a:stretch>
            <a:fillRect/>
          </a:stretch>
        </p:blipFill>
        <p:spPr>
          <a:xfrm>
            <a:off x="881275" y="1368488"/>
            <a:ext cx="3567967" cy="5405624"/>
          </a:xfrm>
          <a:prstGeom prst="rect">
            <a:avLst/>
          </a:prstGeom>
          <a:noFill/>
          <a:ln>
            <a:noFill/>
          </a:ln>
        </p:spPr>
      </p:pic>
      <p:pic>
        <p:nvPicPr>
          <p:cNvPr id="136" name="Google Shape;136;g3d8ff26191f_0_0"/>
          <p:cNvPicPr preferRelativeResize="0"/>
          <p:nvPr/>
        </p:nvPicPr>
        <p:blipFill>
          <a:blip r:embed="rId4">
            <a:alphaModFix/>
          </a:blip>
          <a:stretch>
            <a:fillRect/>
          </a:stretch>
        </p:blipFill>
        <p:spPr>
          <a:xfrm>
            <a:off x="4810727" y="2581428"/>
            <a:ext cx="7234899" cy="2979758"/>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1" name="Shape 141"/>
        <p:cNvGrpSpPr/>
        <p:nvPr/>
      </p:nvGrpSpPr>
      <p:grpSpPr>
        <a:xfrm>
          <a:off x="0" y="0"/>
          <a:ext cx="0" cy="0"/>
          <a:chOff x="0" y="0"/>
          <a:chExt cx="0" cy="0"/>
        </a:xfrm>
      </p:grpSpPr>
      <p:sp>
        <p:nvSpPr>
          <p:cNvPr id="142" name="Google Shape;142;p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s-ES"/>
              <a:t> </a:t>
            </a:r>
            <a:endParaRPr/>
          </a:p>
        </p:txBody>
      </p:sp>
      <p:sp>
        <p:nvSpPr>
          <p:cNvPr id="143" name="Google Shape;143;p5"/>
          <p:cNvSpPr txBox="1"/>
          <p:nvPr/>
        </p:nvSpPr>
        <p:spPr>
          <a:xfrm>
            <a:off x="1018575" y="2014000"/>
            <a:ext cx="10625400" cy="3478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s-ES" sz="2200" u="none" cap="none" strike="noStrike">
                <a:solidFill>
                  <a:schemeClr val="dk1"/>
                </a:solidFill>
                <a:latin typeface="Palatino Linotype"/>
                <a:ea typeface="Palatino Linotype"/>
                <a:cs typeface="Palatino Linotype"/>
                <a:sym typeface="Palatino Linotype"/>
              </a:rPr>
              <a:t>As bases do poder:</a:t>
            </a:r>
            <a:endParaRPr b="0" i="0" sz="1800" u="none" cap="none" strike="noStrike">
              <a:solidFill>
                <a:srgbClr val="000000"/>
              </a:solidFill>
              <a:latin typeface="Arial"/>
              <a:ea typeface="Arial"/>
              <a:cs typeface="Arial"/>
              <a:sym typeface="Arial"/>
            </a:endParaRPr>
          </a:p>
          <a:p>
            <a:pPr indent="-368300" lvl="0" marL="342900" marR="0" rtl="0" algn="l">
              <a:lnSpc>
                <a:spcPct val="100000"/>
              </a:lnSpc>
              <a:spcBef>
                <a:spcPts val="0"/>
              </a:spcBef>
              <a:spcAft>
                <a:spcPts val="0"/>
              </a:spcAft>
              <a:buClr>
                <a:srgbClr val="0070C0"/>
              </a:buClr>
              <a:buSzPts val="2200"/>
              <a:buFont typeface="Noto Sans Symbols"/>
              <a:buChar char="▪"/>
            </a:pPr>
            <a:r>
              <a:rPr b="1" i="0" lang="es-ES" sz="2200" u="sng" cap="none" strike="noStrike">
                <a:solidFill>
                  <a:srgbClr val="0070C0"/>
                </a:solidFill>
                <a:latin typeface="Palatino Linotype"/>
                <a:ea typeface="Palatino Linotype"/>
                <a:cs typeface="Palatino Linotype"/>
                <a:sym typeface="Palatino Linotype"/>
              </a:rPr>
              <a:t>Coerção</a:t>
            </a:r>
            <a:r>
              <a:rPr b="0" i="0" lang="es-ES" sz="2200" u="none" cap="none" strike="noStrike">
                <a:solidFill>
                  <a:schemeClr val="dk1"/>
                </a:solidFill>
                <a:latin typeface="Palatino Linotype"/>
                <a:ea typeface="Palatino Linotype"/>
                <a:cs typeface="Palatino Linotype"/>
                <a:sym typeface="Palatino Linotype"/>
              </a:rPr>
              <a:t>: capacidade de punição (as pessoas evitam serem punidas)</a:t>
            </a:r>
            <a:endParaRPr b="0" i="0" sz="1800" u="none" cap="none" strike="noStrike">
              <a:solidFill>
                <a:srgbClr val="000000"/>
              </a:solidFill>
              <a:latin typeface="Arial"/>
              <a:ea typeface="Arial"/>
              <a:cs typeface="Arial"/>
              <a:sym typeface="Arial"/>
            </a:endParaRPr>
          </a:p>
          <a:p>
            <a:pPr indent="-368300" lvl="0" marL="342900" marR="0" rtl="0" algn="l">
              <a:lnSpc>
                <a:spcPct val="100000"/>
              </a:lnSpc>
              <a:spcBef>
                <a:spcPts val="0"/>
              </a:spcBef>
              <a:spcAft>
                <a:spcPts val="0"/>
              </a:spcAft>
              <a:buClr>
                <a:srgbClr val="0070C0"/>
              </a:buClr>
              <a:buSzPts val="2200"/>
              <a:buFont typeface="Noto Sans Symbols"/>
              <a:buChar char="▪"/>
            </a:pPr>
            <a:r>
              <a:rPr b="1" i="0" lang="es-ES" sz="2200" u="sng" cap="none" strike="noStrike">
                <a:solidFill>
                  <a:srgbClr val="0070C0"/>
                </a:solidFill>
                <a:latin typeface="Palatino Linotype"/>
                <a:ea typeface="Palatino Linotype"/>
                <a:cs typeface="Palatino Linotype"/>
                <a:sym typeface="Palatino Linotype"/>
              </a:rPr>
              <a:t>Recompensa</a:t>
            </a:r>
            <a:r>
              <a:rPr b="0" i="0" lang="es-ES" sz="2200" u="none" cap="none" strike="noStrike">
                <a:solidFill>
                  <a:schemeClr val="dk1"/>
                </a:solidFill>
                <a:latin typeface="Palatino Linotype"/>
                <a:ea typeface="Palatino Linotype"/>
                <a:cs typeface="Palatino Linotype"/>
                <a:sym typeface="Palatino Linotype"/>
              </a:rPr>
              <a:t>: capacidade de recompensar (as pessoas criam expectativas de recompensa)</a:t>
            </a:r>
            <a:endParaRPr b="0" i="0" sz="1800" u="none" cap="none" strike="noStrike">
              <a:solidFill>
                <a:srgbClr val="000000"/>
              </a:solidFill>
              <a:latin typeface="Arial"/>
              <a:ea typeface="Arial"/>
              <a:cs typeface="Arial"/>
              <a:sym typeface="Arial"/>
            </a:endParaRPr>
          </a:p>
          <a:p>
            <a:pPr indent="-368300" lvl="0" marL="342900" marR="0" rtl="0" algn="l">
              <a:lnSpc>
                <a:spcPct val="100000"/>
              </a:lnSpc>
              <a:spcBef>
                <a:spcPts val="0"/>
              </a:spcBef>
              <a:spcAft>
                <a:spcPts val="0"/>
              </a:spcAft>
              <a:buClr>
                <a:srgbClr val="0070C0"/>
              </a:buClr>
              <a:buSzPts val="2200"/>
              <a:buFont typeface="Noto Sans Symbols"/>
              <a:buChar char="▪"/>
            </a:pPr>
            <a:r>
              <a:rPr b="1" i="0" lang="es-ES" sz="2200" u="sng" cap="none" strike="noStrike">
                <a:solidFill>
                  <a:srgbClr val="0070C0"/>
                </a:solidFill>
                <a:latin typeface="Palatino Linotype"/>
                <a:ea typeface="Palatino Linotype"/>
                <a:cs typeface="Palatino Linotype"/>
                <a:sym typeface="Palatino Linotype"/>
              </a:rPr>
              <a:t>Legitimidade</a:t>
            </a:r>
            <a:r>
              <a:rPr b="0" i="0" lang="es-ES" sz="2200" u="none" cap="none" strike="noStrike">
                <a:solidFill>
                  <a:schemeClr val="dk1"/>
                </a:solidFill>
                <a:latin typeface="Palatino Linotype"/>
                <a:ea typeface="Palatino Linotype"/>
                <a:cs typeface="Palatino Linotype"/>
                <a:sym typeface="Palatino Linotype"/>
              </a:rPr>
              <a:t>: poder pela posição que ocupa (as pessoas acreditam no direito legítimo da pessoa exercer determinados tipos de poder/vontades)</a:t>
            </a:r>
            <a:endParaRPr b="0" i="0" sz="1800" u="none" cap="none" strike="noStrike">
              <a:solidFill>
                <a:srgbClr val="000000"/>
              </a:solidFill>
              <a:latin typeface="Arial"/>
              <a:ea typeface="Arial"/>
              <a:cs typeface="Arial"/>
              <a:sym typeface="Arial"/>
            </a:endParaRPr>
          </a:p>
          <a:p>
            <a:pPr indent="-368300" lvl="0" marL="342900" marR="0" rtl="0" algn="l">
              <a:lnSpc>
                <a:spcPct val="100000"/>
              </a:lnSpc>
              <a:spcBef>
                <a:spcPts val="0"/>
              </a:spcBef>
              <a:spcAft>
                <a:spcPts val="0"/>
              </a:spcAft>
              <a:buClr>
                <a:srgbClr val="0070C0"/>
              </a:buClr>
              <a:buSzPts val="2200"/>
              <a:buFont typeface="Noto Sans Symbols"/>
              <a:buChar char="▪"/>
            </a:pPr>
            <a:r>
              <a:rPr b="1" i="0" lang="es-ES" sz="2200" u="sng" cap="none" strike="noStrike">
                <a:solidFill>
                  <a:srgbClr val="0070C0"/>
                </a:solidFill>
                <a:latin typeface="Palatino Linotype"/>
                <a:ea typeface="Palatino Linotype"/>
                <a:cs typeface="Palatino Linotype"/>
                <a:sym typeface="Palatino Linotype"/>
              </a:rPr>
              <a:t>Competência</a:t>
            </a:r>
            <a:r>
              <a:rPr b="0" i="0" lang="es-ES" sz="2200" u="none" cap="none" strike="noStrike">
                <a:solidFill>
                  <a:schemeClr val="dk1"/>
                </a:solidFill>
                <a:latin typeface="Palatino Linotype"/>
                <a:ea typeface="Palatino Linotype"/>
                <a:cs typeface="Palatino Linotype"/>
                <a:sym typeface="Palatino Linotype"/>
              </a:rPr>
              <a:t> (ou Especialista): expertise sobre um assunto (as pessoas acreditam que a pessoa é a mais capacitada)</a:t>
            </a:r>
            <a:endParaRPr b="0" i="0" sz="1800" u="none" cap="none" strike="noStrike">
              <a:solidFill>
                <a:srgbClr val="000000"/>
              </a:solidFill>
              <a:latin typeface="Arial"/>
              <a:ea typeface="Arial"/>
              <a:cs typeface="Arial"/>
              <a:sym typeface="Arial"/>
            </a:endParaRPr>
          </a:p>
          <a:p>
            <a:pPr indent="-368300" lvl="0" marL="342900" marR="0" rtl="0" algn="l">
              <a:lnSpc>
                <a:spcPct val="100000"/>
              </a:lnSpc>
              <a:spcBef>
                <a:spcPts val="0"/>
              </a:spcBef>
              <a:spcAft>
                <a:spcPts val="0"/>
              </a:spcAft>
              <a:buClr>
                <a:srgbClr val="0070C0"/>
              </a:buClr>
              <a:buSzPts val="2200"/>
              <a:buFont typeface="Noto Sans Symbols"/>
              <a:buChar char="▪"/>
            </a:pPr>
            <a:r>
              <a:rPr b="1" i="0" lang="es-ES" sz="2200" u="sng" cap="none" strike="noStrike">
                <a:solidFill>
                  <a:srgbClr val="0070C0"/>
                </a:solidFill>
                <a:latin typeface="Palatino Linotype"/>
                <a:ea typeface="Palatino Linotype"/>
                <a:cs typeface="Palatino Linotype"/>
                <a:sym typeface="Palatino Linotype"/>
              </a:rPr>
              <a:t>Referência</a:t>
            </a:r>
            <a:r>
              <a:rPr b="0" i="0" lang="es-ES" sz="2200" u="none" cap="none" strike="noStrike">
                <a:solidFill>
                  <a:schemeClr val="dk1"/>
                </a:solidFill>
                <a:latin typeface="Palatino Linotype"/>
                <a:ea typeface="Palatino Linotype"/>
                <a:cs typeface="Palatino Linotype"/>
                <a:sym typeface="Palatino Linotype"/>
              </a:rPr>
              <a:t>: modelo a ser seguido (as pessoas se identificam e por isso o seguem)</a:t>
            </a:r>
            <a:endParaRPr b="0" i="0" sz="1800" u="none" cap="none" strike="noStrike">
              <a:solidFill>
                <a:srgbClr val="000000"/>
              </a:solidFill>
              <a:latin typeface="Arial"/>
              <a:ea typeface="Arial"/>
              <a:cs typeface="Arial"/>
              <a:sym typeface="Arial"/>
            </a:endParaRPr>
          </a:p>
          <a:p>
            <a:pPr indent="-368300" lvl="0" marL="342900" marR="0" rtl="0" algn="l">
              <a:lnSpc>
                <a:spcPct val="100000"/>
              </a:lnSpc>
              <a:spcBef>
                <a:spcPts val="0"/>
              </a:spcBef>
              <a:spcAft>
                <a:spcPts val="0"/>
              </a:spcAft>
              <a:buClr>
                <a:srgbClr val="0070C0"/>
              </a:buClr>
              <a:buSzPts val="2200"/>
              <a:buFont typeface="Noto Sans Symbols"/>
              <a:buChar char="▪"/>
            </a:pPr>
            <a:r>
              <a:rPr b="1" i="0" lang="es-ES" sz="2200" u="sng" cap="none" strike="noStrike">
                <a:solidFill>
                  <a:srgbClr val="0070C0"/>
                </a:solidFill>
                <a:latin typeface="Palatino Linotype"/>
                <a:ea typeface="Palatino Linotype"/>
                <a:cs typeface="Palatino Linotype"/>
                <a:sym typeface="Palatino Linotype"/>
              </a:rPr>
              <a:t>Informação</a:t>
            </a:r>
            <a:r>
              <a:rPr b="0" i="0" lang="es-ES" sz="2200" u="none" cap="none" strike="noStrike">
                <a:solidFill>
                  <a:schemeClr val="dk1"/>
                </a:solidFill>
                <a:latin typeface="Palatino Linotype"/>
                <a:ea typeface="Palatino Linotype"/>
                <a:cs typeface="Palatino Linotype"/>
                <a:sym typeface="Palatino Linotype"/>
              </a:rPr>
              <a:t>: deter informações importantes (que te munem de poder)</a:t>
            </a:r>
            <a:endParaRPr b="0" i="0" sz="1800" u="none" cap="none" strike="noStrike">
              <a:solidFill>
                <a:srgbClr val="000000"/>
              </a:solidFill>
              <a:latin typeface="Arial"/>
              <a:ea typeface="Arial"/>
              <a:cs typeface="Arial"/>
              <a:sym typeface="Arial"/>
            </a:endParaRPr>
          </a:p>
        </p:txBody>
      </p:sp>
      <p:sp>
        <p:nvSpPr>
          <p:cNvPr id="144" name="Google Shape;144;p5"/>
          <p:cNvSpPr/>
          <p:nvPr/>
        </p:nvSpPr>
        <p:spPr>
          <a:xfrm>
            <a:off x="1018572" y="1429473"/>
            <a:ext cx="10023676" cy="584521"/>
          </a:xfrm>
          <a:prstGeom prst="rect">
            <a:avLst/>
          </a:prstGeom>
          <a:solidFill>
            <a:schemeClr val="dk1"/>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3500"/>
              <a:buFont typeface="Arial"/>
              <a:buNone/>
            </a:pPr>
            <a:r>
              <a:rPr b="0" i="0" lang="es-ES" sz="3500" u="none" cap="none" strike="noStrike">
                <a:solidFill>
                  <a:schemeClr val="lt1"/>
                </a:solidFill>
                <a:latin typeface="Palatino Linotype"/>
                <a:ea typeface="Palatino Linotype"/>
                <a:cs typeface="Palatino Linotype"/>
                <a:sym typeface="Palatino Linotype"/>
              </a:rPr>
              <a:t>Revisão da aula anterior</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8" name="Shape 148"/>
        <p:cNvGrpSpPr/>
        <p:nvPr/>
      </p:nvGrpSpPr>
      <p:grpSpPr>
        <a:xfrm>
          <a:off x="0" y="0"/>
          <a:ext cx="0" cy="0"/>
          <a:chOff x="0" y="0"/>
          <a:chExt cx="0" cy="0"/>
        </a:xfrm>
      </p:grpSpPr>
      <p:sp>
        <p:nvSpPr>
          <p:cNvPr id="149" name="Google Shape;149;p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s-ES"/>
              <a:t> </a:t>
            </a:r>
            <a:endParaRPr/>
          </a:p>
        </p:txBody>
      </p:sp>
      <p:sp>
        <p:nvSpPr>
          <p:cNvPr id="150" name="Google Shape;150;p6"/>
          <p:cNvSpPr txBox="1"/>
          <p:nvPr/>
        </p:nvSpPr>
        <p:spPr>
          <a:xfrm>
            <a:off x="1018572" y="2013994"/>
            <a:ext cx="10023600" cy="3694200"/>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rgbClr val="000000"/>
              </a:buClr>
              <a:buSzPts val="1800"/>
              <a:buFont typeface="Arial"/>
              <a:buNone/>
            </a:pPr>
            <a:r>
              <a:rPr b="0" i="0" lang="es-ES" sz="1800" u="none" cap="none" strike="noStrike">
                <a:solidFill>
                  <a:schemeClr val="dk1"/>
                </a:solidFill>
                <a:latin typeface="Palatino Linotype"/>
                <a:ea typeface="Palatino Linotype"/>
                <a:cs typeface="Palatino Linotype"/>
                <a:sym typeface="Palatino Linotype"/>
              </a:rPr>
              <a:t>A partir do conhecimento das bases do poderes, agora podemos identificá-los nas situações cotidianas ou no contexto da nossa organização ou empresa. Dominando esse conhecimento, podemos aplicá-lo a nosso favor.</a:t>
            </a:r>
            <a:endParaRPr b="0" i="0" sz="1800" u="none" cap="none" strike="noStrike">
              <a:solidFill>
                <a:schemeClr val="dk1"/>
              </a:solidFill>
              <a:latin typeface="Palatino Linotype"/>
              <a:ea typeface="Palatino Linotype"/>
              <a:cs typeface="Palatino Linotype"/>
              <a:sym typeface="Palatino Linotype"/>
            </a:endParaRPr>
          </a:p>
          <a:p>
            <a:pPr indent="-171450" lvl="0" marL="285750" marR="0" rtl="0" algn="just">
              <a:lnSpc>
                <a:spcPct val="100000"/>
              </a:lnSpc>
              <a:spcBef>
                <a:spcPts val="0"/>
              </a:spcBef>
              <a:spcAft>
                <a:spcPts val="0"/>
              </a:spcAft>
              <a:buClr>
                <a:schemeClr val="dk1"/>
              </a:buClr>
              <a:buSzPts val="1800"/>
              <a:buFont typeface="Noto Sans Symbols"/>
              <a:buNone/>
            </a:pPr>
            <a:r>
              <a:t/>
            </a:r>
            <a:endParaRPr b="0" i="0" sz="1800" u="none" cap="none" strike="noStrike">
              <a:solidFill>
                <a:schemeClr val="dk1"/>
              </a:solidFill>
              <a:latin typeface="Palatino Linotype"/>
              <a:ea typeface="Palatino Linotype"/>
              <a:cs typeface="Palatino Linotype"/>
              <a:sym typeface="Palatino Linotype"/>
            </a:endParaRPr>
          </a:p>
          <a:p>
            <a:pPr indent="-285750" lvl="0" marL="285750" marR="0" rtl="0" algn="just">
              <a:lnSpc>
                <a:spcPct val="100000"/>
              </a:lnSpc>
              <a:spcBef>
                <a:spcPts val="0"/>
              </a:spcBef>
              <a:spcAft>
                <a:spcPts val="0"/>
              </a:spcAft>
              <a:buClr>
                <a:schemeClr val="dk1"/>
              </a:buClr>
              <a:buSzPts val="1800"/>
              <a:buFont typeface="Noto Sans Symbols"/>
              <a:buChar char="▪"/>
            </a:pPr>
            <a:r>
              <a:rPr b="0" i="0" lang="es-ES" sz="1800" u="none" cap="none" strike="noStrike">
                <a:solidFill>
                  <a:schemeClr val="dk1"/>
                </a:solidFill>
                <a:latin typeface="Palatino Linotype"/>
                <a:ea typeface="Palatino Linotype"/>
                <a:cs typeface="Palatino Linotype"/>
                <a:sym typeface="Palatino Linotype"/>
              </a:rPr>
              <a:t>Identificação e Gerenciamento de conflitos</a:t>
            </a:r>
            <a:endParaRPr b="0" i="0" sz="1400" u="none" cap="none" strike="noStrike">
              <a:solidFill>
                <a:srgbClr val="000000"/>
              </a:solidFill>
              <a:latin typeface="Arial"/>
              <a:ea typeface="Arial"/>
              <a:cs typeface="Arial"/>
              <a:sym typeface="Arial"/>
            </a:endParaRPr>
          </a:p>
          <a:p>
            <a:pPr indent="-285750" lvl="0" marL="285750" marR="0" rtl="0" algn="just">
              <a:lnSpc>
                <a:spcPct val="100000"/>
              </a:lnSpc>
              <a:spcBef>
                <a:spcPts val="0"/>
              </a:spcBef>
              <a:spcAft>
                <a:spcPts val="0"/>
              </a:spcAft>
              <a:buClr>
                <a:schemeClr val="dk1"/>
              </a:buClr>
              <a:buSzPts val="1800"/>
              <a:buFont typeface="Noto Sans Symbols"/>
              <a:buChar char="▪"/>
            </a:pPr>
            <a:r>
              <a:rPr b="0" i="0" lang="es-ES" sz="1800" u="none" cap="none" strike="noStrike">
                <a:solidFill>
                  <a:schemeClr val="dk1"/>
                </a:solidFill>
                <a:latin typeface="Palatino Linotype"/>
                <a:ea typeface="Palatino Linotype"/>
                <a:cs typeface="Palatino Linotype"/>
                <a:sym typeface="Palatino Linotype"/>
              </a:rPr>
              <a:t>Motivação de pessoal</a:t>
            </a:r>
            <a:endParaRPr b="0" i="0" sz="1400" u="none" cap="none" strike="noStrike">
              <a:solidFill>
                <a:srgbClr val="000000"/>
              </a:solidFill>
              <a:latin typeface="Arial"/>
              <a:ea typeface="Arial"/>
              <a:cs typeface="Arial"/>
              <a:sym typeface="Arial"/>
            </a:endParaRPr>
          </a:p>
          <a:p>
            <a:pPr indent="-285750" lvl="0" marL="285750" marR="0" rtl="0" algn="just">
              <a:lnSpc>
                <a:spcPct val="100000"/>
              </a:lnSpc>
              <a:spcBef>
                <a:spcPts val="0"/>
              </a:spcBef>
              <a:spcAft>
                <a:spcPts val="0"/>
              </a:spcAft>
              <a:buClr>
                <a:schemeClr val="dk1"/>
              </a:buClr>
              <a:buSzPts val="1800"/>
              <a:buFont typeface="Noto Sans Symbols"/>
              <a:buChar char="▪"/>
            </a:pPr>
            <a:r>
              <a:rPr b="0" i="0" lang="es-ES" sz="1800" u="none" cap="none" strike="noStrike">
                <a:solidFill>
                  <a:schemeClr val="dk1"/>
                </a:solidFill>
                <a:latin typeface="Palatino Linotype"/>
                <a:ea typeface="Palatino Linotype"/>
                <a:cs typeface="Palatino Linotype"/>
                <a:sym typeface="Palatino Linotype"/>
              </a:rPr>
              <a:t>Melhoria nas relações interpessoais</a:t>
            </a:r>
            <a:endParaRPr b="0" i="0" sz="1400" u="none" cap="none" strike="noStrike">
              <a:solidFill>
                <a:srgbClr val="000000"/>
              </a:solidFill>
              <a:latin typeface="Arial"/>
              <a:ea typeface="Arial"/>
              <a:cs typeface="Arial"/>
              <a:sym typeface="Arial"/>
            </a:endParaRPr>
          </a:p>
          <a:p>
            <a:pPr indent="-171450" lvl="0" marL="285750" marR="0" rtl="0" algn="just">
              <a:lnSpc>
                <a:spcPct val="100000"/>
              </a:lnSpc>
              <a:spcBef>
                <a:spcPts val="0"/>
              </a:spcBef>
              <a:spcAft>
                <a:spcPts val="0"/>
              </a:spcAft>
              <a:buClr>
                <a:schemeClr val="dk1"/>
              </a:buClr>
              <a:buSzPts val="1800"/>
              <a:buFont typeface="Noto Sans Symbols"/>
              <a:buNone/>
            </a:pPr>
            <a:r>
              <a:t/>
            </a:r>
            <a:endParaRPr b="0" i="0" sz="1800" u="none" cap="none" strike="noStrike">
              <a:solidFill>
                <a:schemeClr val="dk1"/>
              </a:solidFill>
              <a:latin typeface="Palatino Linotype"/>
              <a:ea typeface="Palatino Linotype"/>
              <a:cs typeface="Palatino Linotype"/>
              <a:sym typeface="Palatino Linotype"/>
            </a:endParaRPr>
          </a:p>
          <a:p>
            <a:pPr indent="-171450" lvl="0" marL="285750" marR="0" rtl="0" algn="just">
              <a:lnSpc>
                <a:spcPct val="100000"/>
              </a:lnSpc>
              <a:spcBef>
                <a:spcPts val="0"/>
              </a:spcBef>
              <a:spcAft>
                <a:spcPts val="0"/>
              </a:spcAft>
              <a:buClr>
                <a:schemeClr val="dk1"/>
              </a:buClr>
              <a:buSzPts val="1800"/>
              <a:buFont typeface="Noto Sans Symbols"/>
              <a:buNone/>
            </a:pPr>
            <a:r>
              <a:t/>
            </a:r>
            <a:endParaRPr b="0" i="0" sz="1800" u="none" cap="none" strike="noStrike">
              <a:solidFill>
                <a:schemeClr val="dk1"/>
              </a:solidFill>
              <a:latin typeface="Palatino Linotype"/>
              <a:ea typeface="Palatino Linotype"/>
              <a:cs typeface="Palatino Linotype"/>
              <a:sym typeface="Palatino Linotype"/>
            </a:endParaRPr>
          </a:p>
          <a:p>
            <a:pPr indent="0" lvl="0" marL="0" marR="0" rtl="0" algn="l">
              <a:lnSpc>
                <a:spcPct val="100000"/>
              </a:lnSpc>
              <a:spcBef>
                <a:spcPts val="0"/>
              </a:spcBef>
              <a:spcAft>
                <a:spcPts val="0"/>
              </a:spcAft>
              <a:buClr>
                <a:srgbClr val="000000"/>
              </a:buClr>
              <a:buSzPts val="1800"/>
              <a:buFont typeface="Arial"/>
              <a:buNone/>
            </a:pPr>
            <a:r>
              <a:rPr b="1" i="0" lang="es-ES" sz="1800" u="none" cap="none" strike="noStrike">
                <a:solidFill>
                  <a:schemeClr val="dk1"/>
                </a:solidFill>
                <a:latin typeface="Palatino Linotype"/>
                <a:ea typeface="Palatino Linotype"/>
                <a:cs typeface="Palatino Linotype"/>
                <a:sym typeface="Palatino Linotype"/>
              </a:rPr>
              <a:t>Perguntas a serem feitas em qualquer relação social (situação que envolve 2 ou mais pessoas):</a:t>
            </a:r>
            <a:endParaRPr b="0" i="0" sz="1400" u="none" cap="none" strike="noStrike">
              <a:solidFill>
                <a:srgbClr val="000000"/>
              </a:solidFill>
              <a:latin typeface="Arial"/>
              <a:ea typeface="Arial"/>
              <a:cs typeface="Arial"/>
              <a:sym typeface="Arial"/>
            </a:endParaRPr>
          </a:p>
          <a:p>
            <a:pPr indent="-342900" lvl="0" marL="342900" marR="0" rtl="0" algn="l">
              <a:lnSpc>
                <a:spcPct val="100000"/>
              </a:lnSpc>
              <a:spcBef>
                <a:spcPts val="0"/>
              </a:spcBef>
              <a:spcAft>
                <a:spcPts val="0"/>
              </a:spcAft>
              <a:buClr>
                <a:schemeClr val="dk1"/>
              </a:buClr>
              <a:buSzPts val="1800"/>
              <a:buFont typeface="Noto Sans Symbols"/>
              <a:buChar char="▪"/>
            </a:pPr>
            <a:r>
              <a:rPr b="0" i="0" lang="es-ES" sz="1800" u="none" cap="none" strike="noStrike">
                <a:solidFill>
                  <a:schemeClr val="dk1"/>
                </a:solidFill>
                <a:latin typeface="Palatino Linotype"/>
                <a:ea typeface="Palatino Linotype"/>
                <a:cs typeface="Palatino Linotype"/>
                <a:sym typeface="Palatino Linotype"/>
              </a:rPr>
              <a:t>Quais são as relações de poder envolvidas?</a:t>
            </a:r>
            <a:endParaRPr b="0" i="0" sz="1400" u="none" cap="none" strike="noStrike">
              <a:solidFill>
                <a:srgbClr val="000000"/>
              </a:solidFill>
              <a:latin typeface="Arial"/>
              <a:ea typeface="Arial"/>
              <a:cs typeface="Arial"/>
              <a:sym typeface="Arial"/>
            </a:endParaRPr>
          </a:p>
          <a:p>
            <a:pPr indent="-342900" lvl="0" marL="342900" marR="0" rtl="0" algn="l">
              <a:lnSpc>
                <a:spcPct val="100000"/>
              </a:lnSpc>
              <a:spcBef>
                <a:spcPts val="0"/>
              </a:spcBef>
              <a:spcAft>
                <a:spcPts val="0"/>
              </a:spcAft>
              <a:buClr>
                <a:schemeClr val="dk1"/>
              </a:buClr>
              <a:buSzPts val="1800"/>
              <a:buFont typeface="Noto Sans Symbols"/>
              <a:buChar char="▪"/>
            </a:pPr>
            <a:r>
              <a:rPr b="0" i="0" lang="es-ES" sz="1800" u="none" cap="none" strike="noStrike">
                <a:solidFill>
                  <a:schemeClr val="dk1"/>
                </a:solidFill>
                <a:latin typeface="Palatino Linotype"/>
                <a:ea typeface="Palatino Linotype"/>
                <a:cs typeface="Palatino Linotype"/>
                <a:sym typeface="Palatino Linotype"/>
              </a:rPr>
              <a:t>Que tipo de poder eu tenho sobre a pessoa?</a:t>
            </a:r>
            <a:endParaRPr b="0" i="0" sz="1400" u="none" cap="none" strike="noStrike">
              <a:solidFill>
                <a:srgbClr val="000000"/>
              </a:solidFill>
              <a:latin typeface="Arial"/>
              <a:ea typeface="Arial"/>
              <a:cs typeface="Arial"/>
              <a:sym typeface="Arial"/>
            </a:endParaRPr>
          </a:p>
          <a:p>
            <a:pPr indent="-342900" lvl="0" marL="342900" marR="0" rtl="0" algn="l">
              <a:lnSpc>
                <a:spcPct val="100000"/>
              </a:lnSpc>
              <a:spcBef>
                <a:spcPts val="0"/>
              </a:spcBef>
              <a:spcAft>
                <a:spcPts val="0"/>
              </a:spcAft>
              <a:buClr>
                <a:schemeClr val="dk1"/>
              </a:buClr>
              <a:buSzPts val="1800"/>
              <a:buFont typeface="Noto Sans Symbols"/>
              <a:buChar char="▪"/>
            </a:pPr>
            <a:r>
              <a:rPr b="0" i="0" lang="es-ES" sz="1800" u="none" cap="none" strike="noStrike">
                <a:solidFill>
                  <a:schemeClr val="dk1"/>
                </a:solidFill>
                <a:latin typeface="Palatino Linotype"/>
                <a:ea typeface="Palatino Linotype"/>
                <a:cs typeface="Palatino Linotype"/>
                <a:sym typeface="Palatino Linotype"/>
              </a:rPr>
              <a:t>Que tipo de poder a pessoa tem sobre mim?</a:t>
            </a:r>
            <a:endParaRPr b="0" i="0" sz="1400" u="none" cap="none" strike="noStrike">
              <a:solidFill>
                <a:srgbClr val="000000"/>
              </a:solidFill>
              <a:latin typeface="Arial"/>
              <a:ea typeface="Arial"/>
              <a:cs typeface="Arial"/>
              <a:sym typeface="Arial"/>
            </a:endParaRPr>
          </a:p>
        </p:txBody>
      </p:sp>
      <p:sp>
        <p:nvSpPr>
          <p:cNvPr id="151" name="Google Shape;151;p6"/>
          <p:cNvSpPr/>
          <p:nvPr/>
        </p:nvSpPr>
        <p:spPr>
          <a:xfrm>
            <a:off x="1018572" y="1429473"/>
            <a:ext cx="10023676" cy="584521"/>
          </a:xfrm>
          <a:prstGeom prst="rect">
            <a:avLst/>
          </a:prstGeom>
          <a:solidFill>
            <a:schemeClr val="dk1"/>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3500"/>
              <a:buFont typeface="Arial"/>
              <a:buNone/>
            </a:pPr>
            <a:r>
              <a:rPr b="0" i="0" lang="es-ES" sz="3500" u="none" cap="none" strike="noStrike">
                <a:solidFill>
                  <a:schemeClr val="lt1"/>
                </a:solidFill>
                <a:latin typeface="Palatino Linotype"/>
                <a:ea typeface="Palatino Linotype"/>
                <a:cs typeface="Palatino Linotype"/>
                <a:sym typeface="Palatino Linotype"/>
              </a:rPr>
              <a:t>Aplicações</a:t>
            </a:r>
            <a:endParaRPr b="0" i="0" sz="3500" u="none" cap="none" strike="noStrike">
              <a:solidFill>
                <a:srgbClr val="FFC000"/>
              </a:solidFill>
              <a:latin typeface="Palatino Linotype"/>
              <a:ea typeface="Palatino Linotype"/>
              <a:cs typeface="Palatino Linotype"/>
              <a:sym typeface="Palatino Linotype"/>
            </a:endParaRPr>
          </a:p>
        </p:txBody>
      </p:sp>
      <p:sp>
        <p:nvSpPr>
          <p:cNvPr descr="data:image/png;base64,iVBORw0KGgoAAAANSUhEUgAAALcAAAEUCAMAAABeT1dZAAAB0VBMVEX///8APVnsZxnTlwAAAAD9wwD5sAD5rgAAOVYANlRISEh1dXUAMlH5rQDkqADbnwCdm5vrXwDrsADvswD/ygAAO1vkqQDeogAAL0/1ugDXmwD6tQAANFP/7gDRlQDdoAD/0wD//ff3+foAKkzs7Oz/9eP/3wArNSv7wlD+8NX+6sX+5rvrWgAAJkluhpXHjgCdnqL+7c7/+e3/1wD/5AD94ar8znT6vTn7xVv804f92ZP7ymn8znf93aD6uSS0wMjX3uKFmqdCYXbKyslALgBgRQC4hwCsewD7wEn7vjRPbYChr7nucCulVzn+7eXEXB7YYRz72cv4wan2ro7zk2bSu4zEpGDDpGubagCurKz91oInUWlifIyLi5BfSEiIUUB0TkT3s5X50cLKXR7zm3OOTiPweThoRCYyQ1JyRSaBSSWYVTrvf0rmwbOvWjF4WVMAUG6UbmJCQk0AKToaHh+nTRoAExpmLQM9PTxeX1/VzccWNkjzlmu4kTwsHABONADh0rXdcgzPhTXzlQbBfQDncxLegwZwVQDzhw1KPgB4ZgDAlS29mUnNpADbyqN3VQAAKy05OSlLNxqTbBZGNR9nSBqnjFWlgji5qoqgloWhjm1VWLvfAAAWg0lEQVR4nO2di3vaZpbGhbG5zCAo2JW4FVsYtVxsMyjF3AW2UwTYdWrn0sR4ekm7mXSa6Xa66W53Wrfp9r5J2m4z20znr53zfboghABh40g8j995mrFBxj8O53vPOZ9AJogLXehCF7rQhS50oYnEsKzZCJMrVasm20WzKSZSKl8qtKv5HEFUzEYxKjZdTiY3yzlG/HYzNeQ47pkRjRXD1qqV5FGG5aRvIblrGf1j08lKnnmGbMOVS7Yr+ZwqjBESkiRV0j+6SLA1fjP9bNBGKq8lTDp5SIeC7sHsEfo3VWqXTDccVrsEa04HRzD63OWc+P9cxnzDaWmWWsbpgDwo6S1MRnmOzOY5U41XUvWSM5lSiuXJGqRPTefQtHJjZsi6fYZSWwdDkiWi4ISwslWdQzeVp1gx3w9z8kvOQBB5Z4EoOiPwXUvH7pQ04fTSJFeuVqtH+Wf1jNik9EWBLBCbTidRI0n43a1Bx8jn5a9qOe19TK1QS3MMk8pXKsNq1pRVkQjLJM9lnM4US5L5nnWopHgIM+AmuSTKNoZDweYq5XNjVauKywiHjCSXcpB5rlAAiPTAL+8lB6u9LwP5zuSLyUIhWQb02nTchhtd39DLzxYjOdZJ5plCMUcwqCmsDMS0pjxMWZMJOTg2HSmm885iiXTAk8pPpS+rOUbezRYlI6linlSmVGi1WtWqZmH2zJvTUDFJhijzLKCniGq+RMKCKU/DJzMOACkOfSQG6jqBfIDhUuVKsVCsFpMtB1nQGENOSY50vv+OagZ+RbGYdPCZXJtj+Up1Gn0jV3EgOUltABUl0R1svpQsVCqtzUoyWWk7yKLWT46UGzb778pDnYrw5VyklKlEnHkumeKn0HixvBOoSRL+0yslSOWjcrKVbBWPioVkJYkC53QMlstITYohp3mcdIkoRxgiV4CnXyxVInwq3To7dxGwi2QqzTvA4vQPSRc2Ky3EW4T/ksmCg2wNHgkO6aikEXptIJpMsdWuJtHyhuRKR6qczs9PKBYypMY48kTeWSjrJx1bRNSVYuWoVWjzcLxTL6OA29nmW2WWqAzcy0YybJlslTnkI0yLLw9fTEaVgfyA0oJGgSFH5PlicrNaKRbbTnEhRPK6x6WrDr5UIJ384EjBOipg4blSxLHJEWybaDumwp0j8o5h65vbLFRa7XalXCsgbKeTLA63gnzFQTrJwQCwkVa+As+Wi2zyrVKSSDnPzJ0CmBbLkkNWeK7lgMSvpmvVAuRBpFBUJmN9seWWzurmCrkCatprJahxDr6SaZ/dUCCMTkfByScrpdpAJGsOnBs8CWqXMqnTjrzFDMvDWmzl0NLMZQo8LM8zcuccoiCcuF9SiU2SODMcrVLtbAaQ5pniUYRH2VisEWzriCie2QozPAnMErw671IQZpQZ0H6e9XcQyVolTVRQWSZbrUiEI/hB15lUXKZUKTp4HnGro5BrVzOpaXT5TIbg+EiZaKWYvDOfq0F0uLNji9psEzlEPthVT0EQa7ZA1pKQLxmonfCiapubUysNM0zZ6Ti7QemJQc1vORJpk8kiD90LU5nKzhDaOeOgmqTJc+ImOFQg2Vz5qJRh0Xqfxm9hSm0YHInKJtrROZ88AZWKcoi5UnIqm1lMxOmATjMfKcG6TI4//pTiysnNWiZfKlantXuIwuxoFaDEOPnzHLUZNpXOsVPchiiQonuT54p9NrFpeM6a25gjByrkvN7WmSXE5AuOCB9xtDIa1+dy6VQmYvre7xClCs7NXAqyrDI4HcKT0pm9LKEcbp1xV8+2dGaywfnKEko5Smgt43+Y3ObQScFqShaYJAQZd6SVPMMPm94tpjSUwhQwZ1A2sGiONXcZpsrG0rIilcKUPBtEns2u6BBFSNLYKSAZk5NxK2eeOOKg0/5s1emIMEZ6cFLqwWryHkBN/5SYQcXrWxudTud4Y6ueOM3PZ6Apyrd0z271C03suXxps01KAc+3T/P7sOL1zvqqx+1yu91RT3DdtrEz8UOwvMNZZst8pDSmA3VCXudTHMPJtbJ02njHd7tRl02tqLu7O2nGtBxOtD/Nllrt0qh9gpZ2q7x9mk3/BlBvB/upkVzB7fpkj1RyOnjsaEyqzLeGn1/OR1SFBp7f0K2ekVrvunSoMfnqxkSPlCMdPYJcOcKX9dE5/ojIyFt3tU2wk9NM1F23LjSWZ3uSXOEgwdWveIofkuh5Mt3bvcnVyFNNZFue4dw2z/EE4EzF6VCvsNRQWz4ie+NojTxd1WnY9LNE1OqW8UeqgYM7VDZYPhp6aJlM4l1JLo1PsZ9Kf4yO4LZFDRsi08qQDqdqX29U959LOvhWscVHiqcdyA7uvPH8CG7XttEHSheJiDrBU6OXWypfrRxlTj1GMnv+uY9Gga82DD5StUZAgkeU78tD3kA0HV31z83NvekanuMeoxkO7X8eSr2SHPx5dqcHCHtu7sobtmExdxn0QkgTdMpAWWZsZOThZ9Q1kRvI3/rU9jzSALfLGHcVAbediquVzrOpflvGnpvzz1159c233nz1I23KrBvqDhlcvNPKKS4mOWE1ObhtvGoeSthX3unhv6rlNrYw02IvWk5JFSXFT0TNvOtfu2rw2NtKkvxbj3vundMZSkWMMye/07A0mZscrs3N7e0T+0aO3T+841dxv3ZF/EbLvW6EWzlfnJfSY8INPpSw/tv7a4bAlfx+7U/ov9dE7ruapWkov7Xn53PJyXq8A5Sin127ZvCn5AR/570/v6fkygeagBvxk4rmjPPERQfn7NqhwaMPFD95rZfhc++rI+7qGOHW9iIT70yKJEaP3p/TlZrbUL1kC5GSemhhJ3MTJEhZv1FHIZh7Y7mDxqY1tpzkq8oZ89MUnTt+/18MH/yuXwf7AxW3y230oWCqbLeqeCBmWqcYYQ7m/v1D4wevaaH9/it3XZOkye2rPfNK1SJ8KXfK3mR31WN8oNUmyju/+0jdHLpsjRE/vA/r/+01/57adSFhYCI+DXdi2xU1vIVwW5Mobz3fV+ejIyNwsHZwG71E/euJYYcM8uNUXx8dpj7d8cuFEtvhp33W7XKNfJwD/+HeJLY7TsdRt6FqIf7uuT99cEUulu/3F8vV3ZE/u48bBcMN0VglbK6o4R0EmHg+/kAuO3f7ssQ9bri8B6a7N61og3Y9tqDRtan28I/7s2RctiX+Oue/ZrAVMqaNoC14bPBYlRe+1ZcmY1d3J/jG1HJEVHzbbXyz6Z7iKX3RHlspd4PRzplJNUqACwc7xjbgD5UhU10oXeOwG+4JbMuw6vCo0a6hxz2Qw/3XHrfHNg470XVNsgtnWAjctW5k912qPf63N+S9Wdfqxrifi3fdbkMt7sSqe8DUop3G2APFqcd/DQqtSB3tjK238Y7b5h7/0KdSHZ38cLu3xkVFTJK1g3hXtJHu+C4hfuyxeUYXpTNox4Ze+KBtdLLgrTb/2j1Yy7jhNmD8iW3w2fNIbkmNbbwr7+luNYYfdHXN79/77HAfldlxnZSoRNcN5eFckltS/BifKHMFbcf6ZyXjcOu1d2/vizhwbHC8d9YB2719qpOcxlV3ecS5JRjs7NYb6rsa9d3jqNoTjt02V3fsI27Bend3zxkbIrrhluzN5YHgdzsbW6CNThd8w+N2i9utiZ2tbqfRWIc8GfPy49SLnne0xV/ViSonzVwutzsKcrvFsSa6hZ9a1+NxuW1bG+MGs8QWWuqeZ4INqm+ve/S35leR56FBA1vJ9nY3un48HGr3Q3SuMzjR6cGzqbHVXY3qnFZYRwjb8u0uV3dja3dXH7yxFUXUrvM0QB3Fdza2bcGou8fuiorLsKHuAt1dcJ6BeMYTux0bfsmMVKWpozfqW50uSnGc3p2tLo7dRv+ZQNcq3KN2HvRTtqBLNNQRWXTeSjRA6Nc3om4IXnwdL1DVAnC5PcH11Q+3O8fHne0PV9eDHvFVcq2aEGwddbAN7wYByb0Bwdekv/i69L4Nbp9bRzKRdlbdHTQauURfSexuu4a4DvJ+13b92dnISHXcQQhgfRWnSQPd0tjdxm/70TBHg+sjO5xnqx0Y+huIHqEpdTte3zruuteDQQ8qT57g6qpte2O3YSKnVh03ohVNsG90iScS0LpsYUFLM+iKpqqBFiOYIG67jHSvFhG4NqR3fFWs8NZwCgNKrOJTZbvi230Mv+vBdIFrQ5GPS63JurVyeLgQMPSw9XXR6oyfoTBZyLWjdTThiHZiNo9RYeCE/Kaw6LNtTU+vRhfVGskEZ8hOUC/l2YrL78Ezfj7IZCEbCTZ25fc8jj6NYx0h84YiL89nLpt5w8BEQmniPhY7QaTxmybWEHITz1Zv29jwmxvNFd7ADNaVBttt9FSQyarj9FbCbfy9jSYLDfCuTlcZawy+V8Nsic1UtzeIrU7+KQwzNPCWb0/DbCRD6vmfrIbZSIa0of1Ig7HThaarq91nOP9N+Gkooc0So2+VNll17QcajL1F0HTtaj/5MiPTzsCynJEyr12WM8IdH3Dv2eBuDHLPxCYb3qafQe6tgc91zQb38cAHF2eCWxmGZ4y7oaWeFe6BZTkbPlifUe5BO5kN7o7OR85ngXugO5mNfjDRHcCeif5bxwZngntg2LHNxpw22FXNBreOncwEt056zwJ3Yn02ufXSexa4B2b52eBOfKib35b378GdWCTr13k9F5yBvmrINVos38du6F+ixepvUhrc8RFl9dNpgzsQoiz+bojdIeG2+GlAvQ5WlKXfFPaX4VfxMXaFE1O0/65/7v0h18JxGf5M7zPXoR9/BO3Nu7rcVm1PDuQPhvr//B863FYtO1fnlM+zvnf//iC5Ne374I7qk/0f/+d9IP9Uw21B+97vv3CF/7/m79+X0eVeBb0J3GK6rQ6233/vcP+Pn9yfByH0j+7ann8efQzZaja4/5maeu3abXRjYgfpk/n//tveax+8+uYbdz/91GxOrdb8qlC/3XfJn9/N/178+Lnf718zi2+YlNze++xAc6EixC1fvspvDt1wyVcd0rkUAuK+KnNb48+JqiRd+eHe4D2IW/64v3+qV3iYhmQy/XgfWJZ7/44INnilD8QtXwTKetxSCvuvDdyBue9I3AcmkI3Wvn+IYyBu5ppluQmx8gySIW7ZJ/23zSAbLfGSFf63tbdj7qvW5Sbu6Dsh5j60MLfINmAZmFu6QI6O3Ziv/T1dNMy9b2FucfH539XcirkJv4W5RSu8p0kUkVsqSwOr1hLCbZ/WCUXua0PcxhLCVqhlE7mlcjrla1BNS3pOKHIfWppbvOxQf4KL3FJV0i5aiwhboaa4iNzihausyo2tUAMncjNzQ9pFawgPCHt9N4ncxJ6lubHf9V96WOK+N2yOs4bQ1Z77nVDiFjvZe5YbjGUNZIPELRrhHctyIyvsu1qqxC2OxnuW5UYj8Jq61Mvcc9bmRiuzzwklbmk0ti43Sog78jcMx30y/3uO4xjxmqDW27BShAFxojy4/vqJ0Px8/guh+fDG9TsW50bO4T9kHtwQmk27z7t4ef67xQDtzX6JuNcszI1K+v88bGbDi6EFEHAvhOCrrzD3A7PpRujql0IzRgFqaDGwCPF+JUBRXgpzz319w6p/cJJInTSzAYAOLS4GKJoG7nDMvkyHMfdyWLhuNqC+rgtNClGHApSXXvZhbjsohrnJBTr70IIhZ24IsRAONmB7l33hZYX7G8T9VWBhMdZ8YDamVsyJ4JOwA14v7Qtjbh/itmPubylvKOQVfjQbtF/cQwFyRIo2JEmYDgSA2+uNATc2wm/tXnox5GtaKskZNTZKEjvtRfFeprPA/a3IDbcFQlTTShG/IdD9SWKnKS+Ot5obilEAIv7AbFpF12/6Qqok8QbAvQO4XoJ/076YzG0PA3hYsMrfiH0gNHvYUODBv0Eh4Ba/8iLuL/EShXsX7Y/MBpZ0IkBhl6MdCEmS6jz6qsdtp+lQwCKZ8qMQVmEvyFr6Yv67JfGrb3rcdrBDX9MKTRYHWRKSk4RaWFKEuEV9D9zfSNx2b2AxawUzvH4TvEQyQFqFvfLD/Hcr4pdfqblp7+LyQ/OXJnfSDCkGGFgSSVdAl4D70goWibhjMjgFATffxB/cDPeq5ILIubIUoBde/GH+f19cCPtCK5ciwP09LkFIy96Q/aHZ2MQjMJOQVCXppUtYS+FmeAlzL2WzscVLyFC+D8jcYZThD0zGhlUJfk3hKmn3Lr2IdImCOW3pZeB+eSlrj4VXLoGhfB/KKivTGzB9ZT4QfFAbcZKE7dQK5l6Jxey+lRckbrt96WXg/mYhK2d4mFr0mp0o12/CMpOwY9TKy0grqDBi7hdWEHc4/CVal0053nY6QAsmW/gjIRAI0LiVggQQuV8MwHi28Pjz+R8e43hn8Uifzfa4Kap56r8COh1Bege8yyI2CjLWCm3PCgLaPxHEIKOOUPFBbOFmO+FN4JaiDRPZksj9wqUAPB80pwkCvkvLTZu9MLmb2QAlY0OCvyiBPxYCIYi3LyY8fnklEI4NcNPmcrM3m4hbBgovSNxCdqE5Pz8vhJtNFP7lfm4fTcVeN5U7dTNLeRVse4yWViZwPwHun8JNAX//jTQ4yJWHos3mblLeHpA95g3RPhBwC8B9E7jRt74vtdx2c7lZDTekeAiKp7cpBBaffHH5p5iQhe+81Ld93ObnCaxLirb3gdsDqF8RmhT44+Wf4P+Qvurjppcpn8mF/qbQH29EHqMg6AJ4N3i4II6Yy1eufN1bmN5lyuwG5WGTosN2LXk2G16MNaHoPL4s0GgaevLzz4KKm6bMbghvCDDBq0Itwy3jkXgBVmeWXljIvvRSH7d3+WuTtzh/vOlbppT1RiF5vT7ELSomfJ4NUf+HuJV+ELjpprnYRAoMQ0kUCs1oAKvizoaffLH4y0ugJwo3TXvDN0zmJk4Eil6W4yjBUrEet93+E8ZWcVM+2uz0JojXobBQEpFP3jvxxXxLcrxp4WfM/ZMyp0G8m6YP9KzQpJWAK5s+ATn09lc+/+WXv/8dEvz/haycJnTW9DRB5xkUR4kFlhY0Csz39Ap+WcJen9f8NEEbEVmYd6QU0GIvPFZxf56Vsjv2yAobbY8EX5iSBgdKG/CQivsy4vbRy15rbGw+gAxXas9ApixSj7NN4ckrly9ffhLGWeKLmZ/dWDeEsI+mh6b4wsLSkrcZ9qHxIub1gZlY5HQgcwJTpFdK8Rg9iL2YbcakPAJ6s0finqBo+nrgWWpxYakX9RAVbsrWDUlCZ83tvPv0o9DsgaN2MCs7S6zZbCqFEjqCcOzECl4i6zqKOK2aIJbletm7CRwQktz8Stmn60IzHPZRSiu+jDbFFxcDPW64M7xsvVP0AG6H1amEHHKliSQ3JShHwvYTq2FjG4+F7T5v/7gpU3uBms5aok5qxT6CzilsD1N0/+QWpr1e9G/WUqe4VWJ+bGLHC/u8FNozRFrGX8JNsewj6+WILO71prRdjCooEvZGcL/swwdmww1RPJFINBp/+xW9m021FwixDmezT/+B/uxewlp/tivR2Ll169Zzsn57egJRz8bgf+ifpvD0n7899wfpzlu3dizyR8fiPWJJf3jut99+ffr0RBBOnv76z9960Ios8TcRINpaLmBXNHjfrR3LXAUAUntnB2XLLZ3nIOYHCA6xSJJoFAcl9ITuMBvuQhe60IUudKELzbD+BctylfSaG2GNAAAAAElFTkSuQmCC" id="152" name="Google Shape;152;p6"/>
          <p:cNvSpPr/>
          <p:nvPr/>
        </p:nvSpPr>
        <p:spPr>
          <a:xfrm>
            <a:off x="155575" y="-144463"/>
            <a:ext cx="304800" cy="304801"/>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 name="Shape 157"/>
        <p:cNvGrpSpPr/>
        <p:nvPr/>
      </p:nvGrpSpPr>
      <p:grpSpPr>
        <a:xfrm>
          <a:off x="0" y="0"/>
          <a:ext cx="0" cy="0"/>
          <a:chOff x="0" y="0"/>
          <a:chExt cx="0" cy="0"/>
        </a:xfrm>
      </p:grpSpPr>
      <p:sp>
        <p:nvSpPr>
          <p:cNvPr id="158" name="Google Shape;158;p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s-ES"/>
              <a:t> </a:t>
            </a:r>
            <a:endParaRPr/>
          </a:p>
        </p:txBody>
      </p:sp>
      <p:sp>
        <p:nvSpPr>
          <p:cNvPr id="159" name="Google Shape;159;p7"/>
          <p:cNvSpPr txBox="1"/>
          <p:nvPr/>
        </p:nvSpPr>
        <p:spPr>
          <a:xfrm>
            <a:off x="1018572" y="2013994"/>
            <a:ext cx="10023676" cy="923330"/>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rgbClr val="000000"/>
              </a:buClr>
              <a:buSzPts val="1800"/>
              <a:buFont typeface="Arial"/>
              <a:buNone/>
            </a:pPr>
            <a:r>
              <a:rPr b="0" i="0" lang="es-ES" sz="1800" u="none" cap="none" strike="noStrike">
                <a:solidFill>
                  <a:schemeClr val="dk1"/>
                </a:solidFill>
                <a:latin typeface="Palatino Linotype"/>
                <a:ea typeface="Palatino Linotype"/>
                <a:cs typeface="Palatino Linotype"/>
                <a:sym typeface="Palatino Linotype"/>
              </a:rPr>
              <a:t>A Psicologia, enquanto campo de conhecimento, se dedica </a:t>
            </a:r>
            <a:r>
              <a:rPr b="0" i="0" lang="es-ES" sz="1800" u="none" cap="none" strike="noStrike">
                <a:solidFill>
                  <a:srgbClr val="0070C0"/>
                </a:solidFill>
                <a:latin typeface="Palatino Linotype"/>
                <a:ea typeface="Palatino Linotype"/>
                <a:cs typeface="Palatino Linotype"/>
                <a:sym typeface="Palatino Linotype"/>
              </a:rPr>
              <a:t>a estudar o comportamento </a:t>
            </a:r>
            <a:r>
              <a:rPr b="0" i="0" lang="es-ES" sz="1800" u="none" cap="none" strike="noStrike">
                <a:solidFill>
                  <a:schemeClr val="dk1"/>
                </a:solidFill>
                <a:latin typeface="Palatino Linotype"/>
                <a:ea typeface="Palatino Linotype"/>
                <a:cs typeface="Palatino Linotype"/>
                <a:sym typeface="Palatino Linotype"/>
              </a:rPr>
              <a:t>(emoções, sentimentos, pensamentos e condutas). Isto é, a Psicologia busca </a:t>
            </a:r>
            <a:r>
              <a:rPr b="1" i="0" lang="es-ES" sz="1800" u="none" cap="none" strike="noStrike">
                <a:solidFill>
                  <a:schemeClr val="dk1"/>
                </a:solidFill>
                <a:latin typeface="Palatino Linotype"/>
                <a:ea typeface="Palatino Linotype"/>
                <a:cs typeface="Palatino Linotype"/>
                <a:sym typeface="Palatino Linotype"/>
              </a:rPr>
              <a:t>descrever</a:t>
            </a:r>
            <a:r>
              <a:rPr b="0" i="0" lang="es-ES" sz="1800" u="none" cap="none" strike="noStrike">
                <a:solidFill>
                  <a:schemeClr val="dk1"/>
                </a:solidFill>
                <a:latin typeface="Palatino Linotype"/>
                <a:ea typeface="Palatino Linotype"/>
                <a:cs typeface="Palatino Linotype"/>
                <a:sym typeface="Palatino Linotype"/>
              </a:rPr>
              <a:t>, </a:t>
            </a:r>
            <a:r>
              <a:rPr b="1" i="0" lang="es-ES" sz="1800" u="none" cap="none" strike="noStrike">
                <a:solidFill>
                  <a:schemeClr val="dk1"/>
                </a:solidFill>
                <a:latin typeface="Palatino Linotype"/>
                <a:ea typeface="Palatino Linotype"/>
                <a:cs typeface="Palatino Linotype"/>
                <a:sym typeface="Palatino Linotype"/>
              </a:rPr>
              <a:t>compreender</a:t>
            </a:r>
            <a:r>
              <a:rPr b="0" i="0" lang="es-ES" sz="1800" u="none" cap="none" strike="noStrike">
                <a:solidFill>
                  <a:schemeClr val="dk1"/>
                </a:solidFill>
                <a:latin typeface="Palatino Linotype"/>
                <a:ea typeface="Palatino Linotype"/>
                <a:cs typeface="Palatino Linotype"/>
                <a:sym typeface="Palatino Linotype"/>
              </a:rPr>
              <a:t>, </a:t>
            </a:r>
            <a:r>
              <a:rPr b="1" i="0" lang="es-ES" sz="1800" u="none" cap="none" strike="noStrike">
                <a:solidFill>
                  <a:schemeClr val="dk1"/>
                </a:solidFill>
                <a:latin typeface="Palatino Linotype"/>
                <a:ea typeface="Palatino Linotype"/>
                <a:cs typeface="Palatino Linotype"/>
                <a:sym typeface="Palatino Linotype"/>
              </a:rPr>
              <a:t>explicar</a:t>
            </a:r>
            <a:r>
              <a:rPr b="0" i="0" lang="es-ES" sz="1800" u="none" cap="none" strike="noStrike">
                <a:solidFill>
                  <a:schemeClr val="dk1"/>
                </a:solidFill>
                <a:latin typeface="Palatino Linotype"/>
                <a:ea typeface="Palatino Linotype"/>
                <a:cs typeface="Palatino Linotype"/>
                <a:sym typeface="Palatino Linotype"/>
              </a:rPr>
              <a:t> e </a:t>
            </a:r>
            <a:r>
              <a:rPr b="1" i="0" lang="es-ES" sz="1800" u="none" cap="none" strike="noStrike">
                <a:solidFill>
                  <a:schemeClr val="dk1"/>
                </a:solidFill>
                <a:latin typeface="Palatino Linotype"/>
                <a:ea typeface="Palatino Linotype"/>
                <a:cs typeface="Palatino Linotype"/>
                <a:sym typeface="Palatino Linotype"/>
              </a:rPr>
              <a:t>ser capaz de modificar </a:t>
            </a:r>
            <a:r>
              <a:rPr b="0" i="0" lang="es-ES" sz="1800" u="none" cap="none" strike="noStrike">
                <a:solidFill>
                  <a:schemeClr val="dk1"/>
                </a:solidFill>
                <a:latin typeface="Palatino Linotype"/>
                <a:ea typeface="Palatino Linotype"/>
                <a:cs typeface="Palatino Linotype"/>
                <a:sym typeface="Palatino Linotype"/>
              </a:rPr>
              <a:t>as emoções, sentimentos, pensamentos e condutas das pessoas.</a:t>
            </a:r>
            <a:endParaRPr b="0" i="0" sz="1400" u="none" cap="none" strike="noStrike">
              <a:solidFill>
                <a:srgbClr val="000000"/>
              </a:solidFill>
              <a:latin typeface="Arial"/>
              <a:ea typeface="Arial"/>
              <a:cs typeface="Arial"/>
              <a:sym typeface="Arial"/>
            </a:endParaRPr>
          </a:p>
        </p:txBody>
      </p:sp>
      <p:sp>
        <p:nvSpPr>
          <p:cNvPr id="160" name="Google Shape;160;p7"/>
          <p:cNvSpPr/>
          <p:nvPr/>
        </p:nvSpPr>
        <p:spPr>
          <a:xfrm>
            <a:off x="1018572" y="1429473"/>
            <a:ext cx="10023676" cy="584521"/>
          </a:xfrm>
          <a:prstGeom prst="rect">
            <a:avLst/>
          </a:prstGeom>
          <a:solidFill>
            <a:schemeClr val="dk1"/>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3500"/>
              <a:buFont typeface="Arial"/>
              <a:buNone/>
            </a:pPr>
            <a:r>
              <a:rPr b="0" i="0" lang="es-ES" sz="3500" u="none" cap="none" strike="noStrike">
                <a:solidFill>
                  <a:schemeClr val="lt1"/>
                </a:solidFill>
                <a:latin typeface="Palatino Linotype"/>
                <a:ea typeface="Palatino Linotype"/>
                <a:cs typeface="Palatino Linotype"/>
                <a:sym typeface="Palatino Linotype"/>
              </a:rPr>
              <a:t>Teorías Psicológicas e </a:t>
            </a:r>
            <a:r>
              <a:rPr b="0" i="0" lang="es-ES" sz="3500" u="none" cap="none" strike="noStrike">
                <a:solidFill>
                  <a:srgbClr val="FFC000"/>
                </a:solidFill>
                <a:latin typeface="Palatino Linotype"/>
                <a:ea typeface="Palatino Linotype"/>
                <a:cs typeface="Palatino Linotype"/>
                <a:sym typeface="Palatino Linotype"/>
              </a:rPr>
              <a:t>Poder</a:t>
            </a:r>
            <a:endParaRPr b="0" i="0" sz="1400" u="none" cap="none" strike="noStrike">
              <a:solidFill>
                <a:srgbClr val="000000"/>
              </a:solidFill>
              <a:latin typeface="Arial"/>
              <a:ea typeface="Arial"/>
              <a:cs typeface="Arial"/>
              <a:sym typeface="Arial"/>
            </a:endParaRPr>
          </a:p>
        </p:txBody>
      </p:sp>
      <p:sp>
        <p:nvSpPr>
          <p:cNvPr id="161" name="Google Shape;161;p7"/>
          <p:cNvSpPr txBox="1"/>
          <p:nvPr/>
        </p:nvSpPr>
        <p:spPr>
          <a:xfrm>
            <a:off x="1018572" y="3079758"/>
            <a:ext cx="10023676" cy="646331"/>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rgbClr val="000000"/>
              </a:buClr>
              <a:buSzPts val="1800"/>
              <a:buFont typeface="Arial"/>
              <a:buNone/>
            </a:pPr>
            <a:r>
              <a:rPr b="0" i="0" lang="es-ES" sz="1800" u="none" cap="none" strike="noStrike">
                <a:solidFill>
                  <a:schemeClr val="dk1"/>
                </a:solidFill>
                <a:latin typeface="Palatino Linotype"/>
                <a:ea typeface="Palatino Linotype"/>
                <a:cs typeface="Palatino Linotype"/>
                <a:sym typeface="Palatino Linotype"/>
              </a:rPr>
              <a:t>O poder se explicita nas relações sociais. Pode ser observado nas relações familiares, nas relações entre amigos, na relação entre desconhecidos e também no contexto organizacional.</a:t>
            </a:r>
            <a:endParaRPr b="0" i="0" sz="1400" u="none" cap="none" strike="noStrike">
              <a:solidFill>
                <a:srgbClr val="000000"/>
              </a:solidFill>
              <a:latin typeface="Arial"/>
              <a:ea typeface="Arial"/>
              <a:cs typeface="Arial"/>
              <a:sym typeface="Arial"/>
            </a:endParaRPr>
          </a:p>
        </p:txBody>
      </p:sp>
      <p:sp>
        <p:nvSpPr>
          <p:cNvPr id="162" name="Google Shape;162;p7"/>
          <p:cNvSpPr txBox="1"/>
          <p:nvPr/>
        </p:nvSpPr>
        <p:spPr>
          <a:xfrm>
            <a:off x="1018572" y="3868523"/>
            <a:ext cx="10023676" cy="923330"/>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rgbClr val="000000"/>
              </a:buClr>
              <a:buSzPts val="1800"/>
              <a:buFont typeface="Arial"/>
              <a:buNone/>
            </a:pPr>
            <a:r>
              <a:rPr b="0" i="0" lang="es-ES" sz="1800" u="none" cap="none" strike="noStrike">
                <a:solidFill>
                  <a:schemeClr val="dk1"/>
                </a:solidFill>
                <a:latin typeface="Palatino Linotype"/>
                <a:ea typeface="Palatino Linotype"/>
                <a:cs typeface="Palatino Linotype"/>
                <a:sym typeface="Palatino Linotype"/>
              </a:rPr>
              <a:t>Sendo a Psicologia a ciência dedicada ao estudo do comportamento, ela deve ser capaz de explicar </a:t>
            </a:r>
            <a:r>
              <a:rPr b="0" i="0" lang="es-ES" sz="1800" u="none" cap="none" strike="noStrike">
                <a:solidFill>
                  <a:srgbClr val="0070C0"/>
                </a:solidFill>
                <a:latin typeface="Palatino Linotype"/>
                <a:ea typeface="Palatino Linotype"/>
                <a:cs typeface="Palatino Linotype"/>
                <a:sym typeface="Palatino Linotype"/>
              </a:rPr>
              <a:t>como e por que as pessoas querem e/ou usam o poder</a:t>
            </a:r>
            <a:r>
              <a:rPr b="0" i="0" lang="es-ES" sz="1800" u="none" cap="none" strike="noStrike">
                <a:solidFill>
                  <a:schemeClr val="dk1"/>
                </a:solidFill>
                <a:latin typeface="Palatino Linotype"/>
                <a:ea typeface="Palatino Linotype"/>
                <a:cs typeface="Palatino Linotype"/>
                <a:sym typeface="Palatino Linotype"/>
              </a:rPr>
              <a:t>. E também </a:t>
            </a:r>
            <a:r>
              <a:rPr b="0" i="0" lang="es-ES" sz="1800" u="none" cap="none" strike="noStrike">
                <a:solidFill>
                  <a:srgbClr val="0070C0"/>
                </a:solidFill>
                <a:latin typeface="Palatino Linotype"/>
                <a:ea typeface="Palatino Linotype"/>
                <a:cs typeface="Palatino Linotype"/>
                <a:sym typeface="Palatino Linotype"/>
              </a:rPr>
              <a:t>como e porque outras pessoas se submetem ao poder</a:t>
            </a:r>
            <a:r>
              <a:rPr b="0" i="0" lang="es-ES" sz="1800" u="none" cap="none" strike="noStrike">
                <a:solidFill>
                  <a:schemeClr val="dk1"/>
                </a:solidFill>
                <a:latin typeface="Palatino Linotype"/>
                <a:ea typeface="Palatino Linotype"/>
                <a:cs typeface="Palatino Linotype"/>
                <a:sym typeface="Palatino Linotype"/>
              </a:rPr>
              <a:t>.</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7" name="Shape 167"/>
        <p:cNvGrpSpPr/>
        <p:nvPr/>
      </p:nvGrpSpPr>
      <p:grpSpPr>
        <a:xfrm>
          <a:off x="0" y="0"/>
          <a:ext cx="0" cy="0"/>
          <a:chOff x="0" y="0"/>
          <a:chExt cx="0" cy="0"/>
        </a:xfrm>
      </p:grpSpPr>
      <p:sp>
        <p:nvSpPr>
          <p:cNvPr id="168" name="Google Shape;168;p8"/>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s-ES"/>
              <a:t> </a:t>
            </a:r>
            <a:endParaRPr/>
          </a:p>
        </p:txBody>
      </p:sp>
      <p:sp>
        <p:nvSpPr>
          <p:cNvPr id="169" name="Google Shape;169;p8"/>
          <p:cNvSpPr txBox="1"/>
          <p:nvPr/>
        </p:nvSpPr>
        <p:spPr>
          <a:xfrm>
            <a:off x="1018572" y="2013994"/>
            <a:ext cx="10023676" cy="646331"/>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rgbClr val="000000"/>
              </a:buClr>
              <a:buSzPts val="1800"/>
              <a:buFont typeface="Arial"/>
              <a:buNone/>
            </a:pPr>
            <a:r>
              <a:rPr b="0" i="0" lang="es-ES" sz="1800" u="none" cap="none" strike="noStrike">
                <a:solidFill>
                  <a:schemeClr val="dk1"/>
                </a:solidFill>
                <a:latin typeface="Palatino Linotype"/>
                <a:ea typeface="Palatino Linotype"/>
                <a:cs typeface="Palatino Linotype"/>
                <a:sym typeface="Palatino Linotype"/>
              </a:rPr>
              <a:t>Por que existem tantas (e distintas) teorias em Psicologia? Qual o papel de uma teoria? O que faz uma teoria ser científica? </a:t>
            </a:r>
            <a:endParaRPr b="0" i="0" sz="1800" u="none" cap="none" strike="noStrike">
              <a:solidFill>
                <a:srgbClr val="0070C0"/>
              </a:solidFill>
              <a:latin typeface="Palatino Linotype"/>
              <a:ea typeface="Palatino Linotype"/>
              <a:cs typeface="Palatino Linotype"/>
              <a:sym typeface="Palatino Linotype"/>
            </a:endParaRPr>
          </a:p>
        </p:txBody>
      </p:sp>
      <p:sp>
        <p:nvSpPr>
          <p:cNvPr id="170" name="Google Shape;170;p8"/>
          <p:cNvSpPr/>
          <p:nvPr/>
        </p:nvSpPr>
        <p:spPr>
          <a:xfrm>
            <a:off x="1018572" y="1429473"/>
            <a:ext cx="10023676" cy="584521"/>
          </a:xfrm>
          <a:prstGeom prst="rect">
            <a:avLst/>
          </a:prstGeom>
          <a:solidFill>
            <a:schemeClr val="dk1"/>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3500"/>
              <a:buFont typeface="Arial"/>
              <a:buNone/>
            </a:pPr>
            <a:r>
              <a:rPr b="0" i="0" lang="es-ES" sz="3500" u="none" cap="none" strike="noStrike">
                <a:solidFill>
                  <a:schemeClr val="lt1"/>
                </a:solidFill>
                <a:latin typeface="Palatino Linotype"/>
                <a:ea typeface="Palatino Linotype"/>
                <a:cs typeface="Palatino Linotype"/>
                <a:sym typeface="Palatino Linotype"/>
              </a:rPr>
              <a:t>Teorías Psicológicas</a:t>
            </a:r>
            <a:endParaRPr b="0" i="0" sz="3500" u="none" cap="none" strike="noStrike">
              <a:solidFill>
                <a:srgbClr val="FFC000"/>
              </a:solidFill>
              <a:latin typeface="Palatino Linotype"/>
              <a:ea typeface="Palatino Linotype"/>
              <a:cs typeface="Palatino Linotype"/>
              <a:sym typeface="Palatino Linotype"/>
            </a:endParaRPr>
          </a:p>
        </p:txBody>
      </p:sp>
      <p:pic>
        <p:nvPicPr>
          <p:cNvPr id="171" name="Google Shape;171;p8"/>
          <p:cNvPicPr preferRelativeResize="0"/>
          <p:nvPr/>
        </p:nvPicPr>
        <p:blipFill rotWithShape="1">
          <a:blip r:embed="rId3">
            <a:alphaModFix/>
          </a:blip>
          <a:srcRect b="0" l="0" r="0" t="0"/>
          <a:stretch/>
        </p:blipFill>
        <p:spPr>
          <a:xfrm>
            <a:off x="3022724" y="2660324"/>
            <a:ext cx="5820349" cy="3469199"/>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6" name="Shape 176"/>
        <p:cNvGrpSpPr/>
        <p:nvPr/>
      </p:nvGrpSpPr>
      <p:grpSpPr>
        <a:xfrm>
          <a:off x="0" y="0"/>
          <a:ext cx="0" cy="0"/>
          <a:chOff x="0" y="0"/>
          <a:chExt cx="0" cy="0"/>
        </a:xfrm>
      </p:grpSpPr>
      <p:sp>
        <p:nvSpPr>
          <p:cNvPr id="177" name="Google Shape;177;g38c87ce9264_0_13"/>
          <p:cNvSpPr txBox="1"/>
          <p:nvPr>
            <p:ph type="title"/>
          </p:nvPr>
        </p:nvSpPr>
        <p:spPr>
          <a:xfrm>
            <a:off x="838200" y="365125"/>
            <a:ext cx="105156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s-ES"/>
              <a:t> </a:t>
            </a:r>
            <a:endParaRPr/>
          </a:p>
        </p:txBody>
      </p:sp>
      <p:sp>
        <p:nvSpPr>
          <p:cNvPr id="178" name="Google Shape;178;g38c87ce9264_0_13"/>
          <p:cNvSpPr txBox="1"/>
          <p:nvPr/>
        </p:nvSpPr>
        <p:spPr>
          <a:xfrm>
            <a:off x="1018572" y="2013994"/>
            <a:ext cx="10023600" cy="923400"/>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rgbClr val="000000"/>
              </a:buClr>
              <a:buSzPts val="1800"/>
              <a:buFont typeface="Arial"/>
              <a:buNone/>
            </a:pPr>
            <a:r>
              <a:rPr b="0" i="0" lang="es-ES" sz="2700" u="none" cap="none" strike="noStrike">
                <a:solidFill>
                  <a:schemeClr val="dk1"/>
                </a:solidFill>
                <a:latin typeface="Palatino Linotype"/>
                <a:ea typeface="Palatino Linotype"/>
                <a:cs typeface="Palatino Linotype"/>
                <a:sym typeface="Palatino Linotype"/>
              </a:rPr>
              <a:t>Por que as pessoas fazem coisas ruins quando estão em posição de poder?</a:t>
            </a:r>
            <a:endParaRPr b="0" i="0" sz="2700" u="none" cap="none" strike="noStrike">
              <a:solidFill>
                <a:srgbClr val="000000"/>
              </a:solidFill>
              <a:latin typeface="Arial"/>
              <a:ea typeface="Arial"/>
              <a:cs typeface="Arial"/>
              <a:sym typeface="Arial"/>
            </a:endParaRPr>
          </a:p>
        </p:txBody>
      </p:sp>
      <p:sp>
        <p:nvSpPr>
          <p:cNvPr id="179" name="Google Shape;179;g38c87ce9264_0_13"/>
          <p:cNvSpPr/>
          <p:nvPr/>
        </p:nvSpPr>
        <p:spPr>
          <a:xfrm>
            <a:off x="1018572" y="1429473"/>
            <a:ext cx="10023600" cy="584400"/>
          </a:xfrm>
          <a:prstGeom prst="rect">
            <a:avLst/>
          </a:prstGeom>
          <a:solidFill>
            <a:schemeClr val="dk1"/>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3500"/>
              <a:buFont typeface="Arial"/>
              <a:buNone/>
            </a:pPr>
            <a:r>
              <a:rPr b="0" i="0" lang="es-ES" sz="3500" u="none" cap="none" strike="noStrike">
                <a:solidFill>
                  <a:srgbClr val="FFC000"/>
                </a:solidFill>
                <a:latin typeface="Palatino Linotype"/>
                <a:ea typeface="Palatino Linotype"/>
                <a:cs typeface="Palatino Linotype"/>
                <a:sym typeface="Palatino Linotype"/>
              </a:rPr>
              <a:t>Reflexão</a:t>
            </a:r>
            <a:endParaRPr b="0" i="0" sz="1400" u="none" cap="none" strike="noStrike">
              <a:solidFill>
                <a:srgbClr val="000000"/>
              </a:solidFill>
              <a:latin typeface="Arial"/>
              <a:ea typeface="Arial"/>
              <a:cs typeface="Arial"/>
              <a:sym typeface="Arial"/>
            </a:endParaRPr>
          </a:p>
        </p:txBody>
      </p:sp>
      <p:sp>
        <p:nvSpPr>
          <p:cNvPr id="180" name="Google Shape;180;g38c87ce9264_0_13"/>
          <p:cNvSpPr txBox="1"/>
          <p:nvPr/>
        </p:nvSpPr>
        <p:spPr>
          <a:xfrm>
            <a:off x="1018575" y="2937401"/>
            <a:ext cx="10023600" cy="3001500"/>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rgbClr val="000000"/>
              </a:buClr>
              <a:buSzPts val="1800"/>
              <a:buFont typeface="Arial"/>
              <a:buNone/>
            </a:pPr>
            <a:r>
              <a:rPr b="0" i="0" lang="es-ES" sz="2700" u="none" cap="none" strike="noStrike">
                <a:solidFill>
                  <a:schemeClr val="dk1"/>
                </a:solidFill>
                <a:latin typeface="Palatino Linotype"/>
                <a:ea typeface="Palatino Linotype"/>
                <a:cs typeface="Palatino Linotype"/>
                <a:sym typeface="Palatino Linotype"/>
              </a:rPr>
              <a:t>Explicações mais comuns:</a:t>
            </a:r>
            <a:endParaRPr b="0" i="0" sz="2300" u="none" cap="none" strike="noStrike">
              <a:solidFill>
                <a:srgbClr val="000000"/>
              </a:solidFill>
              <a:latin typeface="Arial"/>
              <a:ea typeface="Arial"/>
              <a:cs typeface="Arial"/>
              <a:sym typeface="Arial"/>
            </a:endParaRPr>
          </a:p>
          <a:p>
            <a:pPr indent="-342900" lvl="0" marL="285750" marR="0" rtl="0" algn="just">
              <a:lnSpc>
                <a:spcPct val="100000"/>
              </a:lnSpc>
              <a:spcBef>
                <a:spcPts val="0"/>
              </a:spcBef>
              <a:spcAft>
                <a:spcPts val="0"/>
              </a:spcAft>
              <a:buClr>
                <a:schemeClr val="dk1"/>
              </a:buClr>
              <a:buSzPts val="2700"/>
              <a:buFont typeface="Noto Sans Symbols"/>
              <a:buChar char="▪"/>
            </a:pPr>
            <a:r>
              <a:rPr b="0" i="0" lang="es-ES" sz="2700" u="none" cap="none" strike="noStrike">
                <a:solidFill>
                  <a:schemeClr val="dk1"/>
                </a:solidFill>
                <a:latin typeface="Palatino Linotype"/>
                <a:ea typeface="Palatino Linotype"/>
                <a:cs typeface="Palatino Linotype"/>
                <a:sym typeface="Palatino Linotype"/>
              </a:rPr>
              <a:t>Criação familiar</a:t>
            </a:r>
            <a:endParaRPr b="0" i="0" sz="2300" u="none" cap="none" strike="noStrike">
              <a:solidFill>
                <a:srgbClr val="000000"/>
              </a:solidFill>
              <a:latin typeface="Arial"/>
              <a:ea typeface="Arial"/>
              <a:cs typeface="Arial"/>
              <a:sym typeface="Arial"/>
            </a:endParaRPr>
          </a:p>
          <a:p>
            <a:pPr indent="-342900" lvl="0" marL="285750" marR="0" rtl="0" algn="just">
              <a:lnSpc>
                <a:spcPct val="100000"/>
              </a:lnSpc>
              <a:spcBef>
                <a:spcPts val="0"/>
              </a:spcBef>
              <a:spcAft>
                <a:spcPts val="0"/>
              </a:spcAft>
              <a:buClr>
                <a:schemeClr val="dk1"/>
              </a:buClr>
              <a:buSzPts val="2700"/>
              <a:buFont typeface="Noto Sans Symbols"/>
              <a:buChar char="▪"/>
            </a:pPr>
            <a:r>
              <a:rPr b="0" i="0" lang="es-ES" sz="2700" u="none" cap="none" strike="noStrike">
                <a:solidFill>
                  <a:schemeClr val="dk1"/>
                </a:solidFill>
                <a:latin typeface="Palatino Linotype"/>
                <a:ea typeface="Palatino Linotype"/>
                <a:cs typeface="Palatino Linotype"/>
                <a:sym typeface="Palatino Linotype"/>
              </a:rPr>
              <a:t>Experiências de vida</a:t>
            </a:r>
            <a:endParaRPr b="0" i="0" sz="2300" u="none" cap="none" strike="noStrike">
              <a:solidFill>
                <a:srgbClr val="000000"/>
              </a:solidFill>
              <a:latin typeface="Arial"/>
              <a:ea typeface="Arial"/>
              <a:cs typeface="Arial"/>
              <a:sym typeface="Arial"/>
            </a:endParaRPr>
          </a:p>
          <a:p>
            <a:pPr indent="-342900" lvl="0" marL="285750" marR="0" rtl="0" algn="just">
              <a:lnSpc>
                <a:spcPct val="100000"/>
              </a:lnSpc>
              <a:spcBef>
                <a:spcPts val="0"/>
              </a:spcBef>
              <a:spcAft>
                <a:spcPts val="0"/>
              </a:spcAft>
              <a:buClr>
                <a:schemeClr val="dk1"/>
              </a:buClr>
              <a:buSzPts val="2700"/>
              <a:buFont typeface="Noto Sans Symbols"/>
              <a:buChar char="▪"/>
            </a:pPr>
            <a:r>
              <a:rPr b="0" i="0" lang="es-ES" sz="2700" u="none" cap="none" strike="noStrike">
                <a:solidFill>
                  <a:schemeClr val="dk1"/>
                </a:solidFill>
                <a:latin typeface="Palatino Linotype"/>
                <a:ea typeface="Palatino Linotype"/>
                <a:cs typeface="Palatino Linotype"/>
                <a:sym typeface="Palatino Linotype"/>
              </a:rPr>
              <a:t>Personalidade</a:t>
            </a:r>
            <a:endParaRPr b="0" i="0" sz="2300" u="none" cap="none" strike="noStrike">
              <a:solidFill>
                <a:srgbClr val="000000"/>
              </a:solidFill>
              <a:latin typeface="Arial"/>
              <a:ea typeface="Arial"/>
              <a:cs typeface="Arial"/>
              <a:sym typeface="Arial"/>
            </a:endParaRPr>
          </a:p>
          <a:p>
            <a:pPr indent="-342900" lvl="0" marL="285750" marR="0" rtl="0" algn="just">
              <a:lnSpc>
                <a:spcPct val="100000"/>
              </a:lnSpc>
              <a:spcBef>
                <a:spcPts val="0"/>
              </a:spcBef>
              <a:spcAft>
                <a:spcPts val="0"/>
              </a:spcAft>
              <a:buClr>
                <a:schemeClr val="dk1"/>
              </a:buClr>
              <a:buSzPts val="2700"/>
              <a:buFont typeface="Noto Sans Symbols"/>
              <a:buChar char="▪"/>
            </a:pPr>
            <a:r>
              <a:rPr b="0" i="0" lang="es-ES" sz="2700" u="none" cap="none" strike="noStrike">
                <a:solidFill>
                  <a:schemeClr val="dk1"/>
                </a:solidFill>
                <a:latin typeface="Palatino Linotype"/>
                <a:ea typeface="Palatino Linotype"/>
                <a:cs typeface="Palatino Linotype"/>
                <a:sym typeface="Palatino Linotype"/>
              </a:rPr>
              <a:t>Pressão de grupo</a:t>
            </a:r>
            <a:endParaRPr b="0" i="0" sz="2300" u="none" cap="none" strike="noStrike">
              <a:solidFill>
                <a:srgbClr val="000000"/>
              </a:solidFill>
              <a:latin typeface="Arial"/>
              <a:ea typeface="Arial"/>
              <a:cs typeface="Arial"/>
              <a:sym typeface="Arial"/>
            </a:endParaRPr>
          </a:p>
          <a:p>
            <a:pPr indent="-342900" lvl="0" marL="285750" marR="0" rtl="0" algn="just">
              <a:lnSpc>
                <a:spcPct val="100000"/>
              </a:lnSpc>
              <a:spcBef>
                <a:spcPts val="0"/>
              </a:spcBef>
              <a:spcAft>
                <a:spcPts val="0"/>
              </a:spcAft>
              <a:buClr>
                <a:schemeClr val="dk1"/>
              </a:buClr>
              <a:buSzPts val="2700"/>
              <a:buFont typeface="Noto Sans Symbols"/>
              <a:buChar char="▪"/>
            </a:pPr>
            <a:r>
              <a:rPr b="0" i="0" lang="es-ES" sz="2700" u="none" cap="none" strike="noStrike">
                <a:solidFill>
                  <a:schemeClr val="dk1"/>
                </a:solidFill>
                <a:latin typeface="Palatino Linotype"/>
                <a:ea typeface="Palatino Linotype"/>
                <a:cs typeface="Palatino Linotype"/>
                <a:sym typeface="Palatino Linotype"/>
              </a:rPr>
              <a:t>Contexto</a:t>
            </a:r>
            <a:endParaRPr b="0" i="0" sz="2300" u="none" cap="none" strike="noStrike">
              <a:solidFill>
                <a:srgbClr val="000000"/>
              </a:solidFill>
              <a:latin typeface="Arial"/>
              <a:ea typeface="Arial"/>
              <a:cs typeface="Arial"/>
              <a:sym typeface="Arial"/>
            </a:endParaRPr>
          </a:p>
          <a:p>
            <a:pPr indent="-342900" lvl="0" marL="285750" marR="0" rtl="0" algn="just">
              <a:lnSpc>
                <a:spcPct val="100000"/>
              </a:lnSpc>
              <a:spcBef>
                <a:spcPts val="0"/>
              </a:spcBef>
              <a:spcAft>
                <a:spcPts val="0"/>
              </a:spcAft>
              <a:buClr>
                <a:schemeClr val="dk1"/>
              </a:buClr>
              <a:buSzPts val="2700"/>
              <a:buFont typeface="Noto Sans Symbols"/>
              <a:buChar char="▪"/>
            </a:pPr>
            <a:r>
              <a:rPr b="0" i="0" lang="es-ES" sz="2700" u="none" cap="none" strike="noStrike">
                <a:solidFill>
                  <a:schemeClr val="dk1"/>
                </a:solidFill>
                <a:latin typeface="Palatino Linotype"/>
                <a:ea typeface="Palatino Linotype"/>
                <a:cs typeface="Palatino Linotype"/>
                <a:sym typeface="Palatino Linotype"/>
              </a:rPr>
              <a:t>Sistema político-econômico</a:t>
            </a:r>
            <a:endParaRPr b="0" i="0" sz="2300" u="none" cap="none" strike="noStrike">
              <a:solidFill>
                <a:srgbClr val="000000"/>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80"/>
                                        </p:tgtEl>
                                        <p:attrNameLst>
                                          <p:attrName>style.visibility</p:attrName>
                                        </p:attrNameLst>
                                      </p:cBhvr>
                                      <p:to>
                                        <p:strVal val="visible"/>
                                      </p:to>
                                    </p:set>
                                    <p:animEffect filter="fade" transition="in">
                                      <p:cBhvr>
                                        <p:cTn dur="500"/>
                                        <p:tgtEl>
                                          <p:spTgt spid="18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5" name="Shape 185"/>
        <p:cNvGrpSpPr/>
        <p:nvPr/>
      </p:nvGrpSpPr>
      <p:grpSpPr>
        <a:xfrm>
          <a:off x="0" y="0"/>
          <a:ext cx="0" cy="0"/>
          <a:chOff x="0" y="0"/>
          <a:chExt cx="0" cy="0"/>
        </a:xfrm>
      </p:grpSpPr>
      <p:sp>
        <p:nvSpPr>
          <p:cNvPr id="186" name="Google Shape;186;p10"/>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s-ES"/>
              <a:t> </a:t>
            </a:r>
            <a:endParaRPr/>
          </a:p>
        </p:txBody>
      </p:sp>
      <p:sp>
        <p:nvSpPr>
          <p:cNvPr id="187" name="Google Shape;187;p10"/>
          <p:cNvSpPr/>
          <p:nvPr/>
        </p:nvSpPr>
        <p:spPr>
          <a:xfrm>
            <a:off x="1018572" y="1429473"/>
            <a:ext cx="10023676" cy="584521"/>
          </a:xfrm>
          <a:prstGeom prst="rect">
            <a:avLst/>
          </a:prstGeom>
          <a:solidFill>
            <a:schemeClr val="dk1"/>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3500"/>
              <a:buFont typeface="Arial"/>
              <a:buNone/>
            </a:pPr>
            <a:r>
              <a:rPr b="0" i="0" lang="es-ES" sz="3500" u="none" cap="none" strike="noStrike">
                <a:solidFill>
                  <a:schemeClr val="lt1"/>
                </a:solidFill>
                <a:latin typeface="Palatino Linotype"/>
                <a:ea typeface="Palatino Linotype"/>
                <a:cs typeface="Palatino Linotype"/>
                <a:sym typeface="Palatino Linotype"/>
              </a:rPr>
              <a:t>Documentário: </a:t>
            </a:r>
            <a:r>
              <a:rPr b="0" i="0" lang="es-ES" sz="3500" u="none" cap="none" strike="noStrike">
                <a:solidFill>
                  <a:srgbClr val="FFC000"/>
                </a:solidFill>
                <a:latin typeface="Palatino Linotype"/>
                <a:ea typeface="Palatino Linotype"/>
                <a:cs typeface="Palatino Linotype"/>
                <a:sym typeface="Palatino Linotype"/>
              </a:rPr>
              <a:t>O poder da situação</a:t>
            </a:r>
            <a:endParaRPr b="0" i="0" sz="1400" u="none" cap="none" strike="noStrike">
              <a:solidFill>
                <a:srgbClr val="000000"/>
              </a:solidFill>
              <a:latin typeface="Arial"/>
              <a:ea typeface="Arial"/>
              <a:cs typeface="Arial"/>
              <a:sym typeface="Arial"/>
            </a:endParaRPr>
          </a:p>
        </p:txBody>
      </p:sp>
      <p:sp>
        <p:nvSpPr>
          <p:cNvPr id="188" name="Google Shape;188;p10"/>
          <p:cNvSpPr txBox="1"/>
          <p:nvPr/>
        </p:nvSpPr>
        <p:spPr>
          <a:xfrm>
            <a:off x="8038618" y="204802"/>
            <a:ext cx="3315182" cy="64633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0" i="0" lang="es-ES" sz="1200" u="none" cap="none" strike="noStrike">
                <a:solidFill>
                  <a:srgbClr val="BFBFBF"/>
                </a:solidFill>
                <a:latin typeface="Calibri"/>
                <a:ea typeface="Calibri"/>
                <a:cs typeface="Calibri"/>
                <a:sym typeface="Calibri"/>
              </a:rPr>
              <a:t>Komatsu, A. V. (2020). Teorias Psicológica e Poder. Slides da disciplina “Relações de poder nas organizações”.</a:t>
            </a:r>
            <a:endParaRPr b="0" i="0" sz="1200" u="none" cap="none" strike="noStrike">
              <a:solidFill>
                <a:srgbClr val="BFBFBF"/>
              </a:solidFill>
              <a:latin typeface="Calibri"/>
              <a:ea typeface="Calibri"/>
              <a:cs typeface="Calibri"/>
              <a:sym typeface="Calibri"/>
            </a:endParaRPr>
          </a:p>
        </p:txBody>
      </p:sp>
      <p:sp>
        <p:nvSpPr>
          <p:cNvPr id="189" name="Google Shape;189;p10"/>
          <p:cNvSpPr txBox="1"/>
          <p:nvPr/>
        </p:nvSpPr>
        <p:spPr>
          <a:xfrm>
            <a:off x="2354850" y="5908600"/>
            <a:ext cx="82230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s-ES" sz="1800" u="sng" cap="none" strike="noStrike">
                <a:solidFill>
                  <a:schemeClr val="hlink"/>
                </a:solidFill>
                <a:latin typeface="Calibri"/>
                <a:ea typeface="Calibri"/>
                <a:cs typeface="Calibri"/>
                <a:sym typeface="Calibri"/>
                <a:hlinkClick r:id="rId3"/>
              </a:rPr>
              <a:t>https://www.youtube.com/watch?v=UGxGDdQnC1Y&amp;ab_channel=CrashCourse</a:t>
            </a:r>
            <a:endParaRPr b="0" i="0" sz="1800" u="none" cap="none" strike="noStrike">
              <a:solidFill>
                <a:srgbClr val="00B0F0"/>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B0F0"/>
              </a:solidFill>
              <a:latin typeface="Calibri"/>
              <a:ea typeface="Calibri"/>
              <a:cs typeface="Calibri"/>
              <a:sym typeface="Calibri"/>
            </a:endParaRPr>
          </a:p>
        </p:txBody>
      </p:sp>
      <p:sp>
        <p:nvSpPr>
          <p:cNvPr id="190" name="Google Shape;190;p10"/>
          <p:cNvSpPr txBox="1"/>
          <p:nvPr/>
        </p:nvSpPr>
        <p:spPr>
          <a:xfrm>
            <a:off x="0" y="0"/>
            <a:ext cx="3000000" cy="8313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es-ES" sz="1400" u="none" cap="none" strike="noStrike">
                <a:solidFill>
                  <a:srgbClr val="000000"/>
                </a:solidFill>
                <a:latin typeface="Arial"/>
                <a:ea typeface="Arial"/>
                <a:cs typeface="Arial"/>
                <a:sym typeface="Arial"/>
              </a:rPr>
              <a:t>https://www.youtube.com/watch?v=UGxGDdQnC1Y&amp;ab_channel=CrashCourse</a:t>
            </a:r>
            <a:endParaRPr b="0" i="0" sz="1400" u="none" cap="none" strike="noStrike">
              <a:solidFill>
                <a:srgbClr val="000000"/>
              </a:solidFill>
              <a:latin typeface="Arial"/>
              <a:ea typeface="Arial"/>
              <a:cs typeface="Arial"/>
              <a:sym typeface="Arial"/>
            </a:endParaRPr>
          </a:p>
        </p:txBody>
      </p:sp>
      <p:pic>
        <p:nvPicPr>
          <p:cNvPr descr="Why do people sometimes do bad things just because someone else told them to? And what does the term Groupthink mean? In today's episode of Crash Course Psychology, Hank talks about the ideas of Social Influence and how it can affect our decisions to act or to not act. &#10;&#10;Want more videos about psychology? Check out our sister channel SciShow Psych at https://www.youtube.com/scishowpsych!  &#10;--&#10;Chapters:&#10;Introduction 00:00&#10;Milgram's Obedience Experiment 0:31&#10;Social Influence &amp; Conformity 3:22&#10;Asch's Conformity Experiment 4:08&#10;Cultural Expectations &amp; Normative Social Influence 5:21&#10;Social Facilitation 5:59&#10;Social Loafing 6:19&#10;Deindividuation &amp; Group Polarization 6:51&#10;Groupthink 7:58&#10;Review &amp; Credits 9:06&#10;&#10;--&#10;Crash Course is on Patreon! You can support us directly by signing up at http://www.patreon.com/crashcourse&#10;&#10;Want to find Crash Course elsewhere on the internet?&#10;Facebook - http://www.facebook.com/YouTubeCrashCourse&#10;Twitter - http://www.twitter.com/TheCrashCourse&#10;Instagram - https://www.instagram.com/thecrashcourse/&#10;&#10;CC Kids: http://www.youtube.com/crashcoursekids" id="191" name="Google Shape;191;p10" title="Social Influence: Crash Course Psychology #38">
            <a:hlinkClick r:id="rId4"/>
          </p:cNvPr>
          <p:cNvPicPr preferRelativeResize="0"/>
          <p:nvPr/>
        </p:nvPicPr>
        <p:blipFill rotWithShape="1">
          <a:blip r:embed="rId5">
            <a:alphaModFix/>
          </a:blip>
          <a:srcRect b="0" l="0" r="0" t="0"/>
          <a:stretch/>
        </p:blipFill>
        <p:spPr>
          <a:xfrm>
            <a:off x="0" y="-6476"/>
            <a:ext cx="12191897" cy="68580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1"/>
                                        </p:tgtEl>
                                        <p:attrNameLst>
                                          <p:attrName>style.visibility</p:attrName>
                                        </p:attrNameLst>
                                      </p:cBhvr>
                                      <p:to>
                                        <p:strVal val="visible"/>
                                      </p:to>
                                    </p:set>
                                    <p:animEffect filter="fade" transition="in">
                                      <p:cBhvr>
                                        <p:cTn dur="1000"/>
                                        <p:tgtEl>
                                          <p:spTgt spid="19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6" name="Shape 196"/>
        <p:cNvGrpSpPr/>
        <p:nvPr/>
      </p:nvGrpSpPr>
      <p:grpSpPr>
        <a:xfrm>
          <a:off x="0" y="0"/>
          <a:ext cx="0" cy="0"/>
          <a:chOff x="0" y="0"/>
          <a:chExt cx="0" cy="0"/>
        </a:xfrm>
      </p:grpSpPr>
      <p:sp>
        <p:nvSpPr>
          <p:cNvPr id="197" name="Google Shape;197;g356308ae9ff_0_7"/>
          <p:cNvSpPr txBox="1"/>
          <p:nvPr>
            <p:ph idx="1" type="body"/>
          </p:nvPr>
        </p:nvSpPr>
        <p:spPr>
          <a:xfrm>
            <a:off x="838200" y="2778950"/>
            <a:ext cx="10515600" cy="3397800"/>
          </a:xfrm>
          <a:prstGeom prst="rect">
            <a:avLst/>
          </a:prstGeom>
          <a:noFill/>
          <a:ln>
            <a:noFill/>
          </a:ln>
        </p:spPr>
        <p:txBody>
          <a:bodyPr anchorCtr="0" anchor="t" bIns="45700" lIns="91425" spcFirstLastPara="1" rIns="91425" wrap="square" tIns="45700">
            <a:normAutofit lnSpcReduction="20000"/>
          </a:bodyPr>
          <a:lstStyle/>
          <a:p>
            <a:pPr indent="0" lvl="0" marL="0" rtl="0" algn="l">
              <a:lnSpc>
                <a:spcPct val="90000"/>
              </a:lnSpc>
              <a:spcBef>
                <a:spcPts val="1000"/>
              </a:spcBef>
              <a:spcAft>
                <a:spcPts val="0"/>
              </a:spcAft>
              <a:buSzPts val="1800"/>
              <a:buNone/>
            </a:pPr>
            <a:r>
              <a:rPr lang="es-ES">
                <a:latin typeface="Palatino Linotype"/>
                <a:ea typeface="Palatino Linotype"/>
                <a:cs typeface="Palatino Linotype"/>
                <a:sym typeface="Palatino Linotype"/>
              </a:rPr>
              <a:t>Segundo Maximiniano (2000, p. 121), a liderança é definida como:</a:t>
            </a:r>
            <a:endParaRPr>
              <a:latin typeface="Palatino Linotype"/>
              <a:ea typeface="Palatino Linotype"/>
              <a:cs typeface="Palatino Linotype"/>
              <a:sym typeface="Palatino Linotype"/>
            </a:endParaRPr>
          </a:p>
          <a:p>
            <a:pPr indent="0" lvl="0" marL="0" rtl="0" algn="l">
              <a:lnSpc>
                <a:spcPct val="90000"/>
              </a:lnSpc>
              <a:spcBef>
                <a:spcPts val="1000"/>
              </a:spcBef>
              <a:spcAft>
                <a:spcPts val="0"/>
              </a:spcAft>
              <a:buClr>
                <a:schemeClr val="dk1"/>
              </a:buClr>
              <a:buSzPts val="1100"/>
              <a:buFont typeface="Arial"/>
              <a:buNone/>
            </a:pPr>
            <a:r>
              <a:rPr lang="es-ES">
                <a:latin typeface="Palatino Linotype"/>
                <a:ea typeface="Palatino Linotype"/>
                <a:cs typeface="Palatino Linotype"/>
                <a:sym typeface="Palatino Linotype"/>
              </a:rPr>
              <a:t> “o processo de conduzir e influenciar as ações para a realização dos objetivos estipulados pelas organizações”.</a:t>
            </a:r>
            <a:endParaRPr>
              <a:latin typeface="Palatino Linotype"/>
              <a:ea typeface="Palatino Linotype"/>
              <a:cs typeface="Palatino Linotype"/>
              <a:sym typeface="Palatino Linotype"/>
            </a:endParaRPr>
          </a:p>
          <a:p>
            <a:pPr indent="0" lvl="0" marL="0" rtl="0" algn="l">
              <a:lnSpc>
                <a:spcPct val="90000"/>
              </a:lnSpc>
              <a:spcBef>
                <a:spcPts val="1000"/>
              </a:spcBef>
              <a:spcAft>
                <a:spcPts val="0"/>
              </a:spcAft>
              <a:buSzPts val="1800"/>
              <a:buNone/>
            </a:pPr>
            <a:r>
              <a:t/>
            </a:r>
            <a:endParaRPr/>
          </a:p>
          <a:p>
            <a:pPr indent="0" lvl="0" marL="0" rtl="0" algn="l">
              <a:lnSpc>
                <a:spcPct val="90000"/>
              </a:lnSpc>
              <a:spcBef>
                <a:spcPts val="1000"/>
              </a:spcBef>
              <a:spcAft>
                <a:spcPts val="0"/>
              </a:spcAft>
              <a:buClr>
                <a:schemeClr val="dk1"/>
              </a:buClr>
              <a:buSzPts val="1100"/>
              <a:buFont typeface="Arial"/>
              <a:buNone/>
            </a:pPr>
            <a:r>
              <a:rPr lang="es-ES">
                <a:latin typeface="Palatino Linotype"/>
                <a:ea typeface="Palatino Linotype"/>
                <a:cs typeface="Palatino Linotype"/>
                <a:sym typeface="Palatino Linotype"/>
              </a:rPr>
              <a:t>Chiavenato (2003, p. 30) realça que: “liderança é a influência interpessoal exercitada em uma situação, dirigida pelo processo de comunicação humana ao conseguimento de um ou diversos objetivos específicos”.</a:t>
            </a:r>
            <a:endParaRPr>
              <a:latin typeface="Palatino Linotype"/>
              <a:ea typeface="Palatino Linotype"/>
              <a:cs typeface="Palatino Linotype"/>
              <a:sym typeface="Palatino Linotype"/>
            </a:endParaRPr>
          </a:p>
          <a:p>
            <a:pPr indent="0" lvl="0" marL="0" rtl="0" algn="l">
              <a:lnSpc>
                <a:spcPct val="90000"/>
              </a:lnSpc>
              <a:spcBef>
                <a:spcPts val="1000"/>
              </a:spcBef>
              <a:spcAft>
                <a:spcPts val="0"/>
              </a:spcAft>
              <a:buSzPts val="1800"/>
              <a:buNone/>
            </a:pPr>
            <a:r>
              <a:t/>
            </a:r>
            <a:endParaRPr/>
          </a:p>
        </p:txBody>
      </p:sp>
      <p:sp>
        <p:nvSpPr>
          <p:cNvPr id="198" name="Google Shape;198;g356308ae9ff_0_7"/>
          <p:cNvSpPr/>
          <p:nvPr/>
        </p:nvSpPr>
        <p:spPr>
          <a:xfrm>
            <a:off x="838197" y="1690823"/>
            <a:ext cx="10023600" cy="584400"/>
          </a:xfrm>
          <a:prstGeom prst="rect">
            <a:avLst/>
          </a:prstGeom>
          <a:solidFill>
            <a:schemeClr val="dk1"/>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3500"/>
              <a:buFont typeface="Arial"/>
              <a:buNone/>
            </a:pPr>
            <a:r>
              <a:rPr b="0" i="0" lang="es-ES" sz="3500" u="none" cap="none" strike="noStrike">
                <a:solidFill>
                  <a:schemeClr val="lt1"/>
                </a:solidFill>
                <a:latin typeface="Palatino Linotype"/>
                <a:ea typeface="Palatino Linotype"/>
                <a:cs typeface="Palatino Linotype"/>
                <a:sym typeface="Palatino Linotype"/>
              </a:rPr>
              <a:t>Liderança</a:t>
            </a:r>
            <a:endParaRPr b="0" i="0" sz="3500" u="none" cap="none" strike="noStrike">
              <a:solidFill>
                <a:srgbClr val="FFC000"/>
              </a:solidFill>
              <a:latin typeface="Palatino Linotype"/>
              <a:ea typeface="Palatino Linotype"/>
              <a:cs typeface="Palatino Linotype"/>
              <a:sym typeface="Palatino Linotype"/>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3" name="Shape 203"/>
        <p:cNvGrpSpPr/>
        <p:nvPr/>
      </p:nvGrpSpPr>
      <p:grpSpPr>
        <a:xfrm>
          <a:off x="0" y="0"/>
          <a:ext cx="0" cy="0"/>
          <a:chOff x="0" y="0"/>
          <a:chExt cx="0" cy="0"/>
        </a:xfrm>
      </p:grpSpPr>
      <p:sp>
        <p:nvSpPr>
          <p:cNvPr id="204" name="Google Shape;204;g356308ae9ff_0_23"/>
          <p:cNvSpPr txBox="1"/>
          <p:nvPr>
            <p:ph idx="1" type="body"/>
          </p:nvPr>
        </p:nvSpPr>
        <p:spPr>
          <a:xfrm>
            <a:off x="838200" y="2778950"/>
            <a:ext cx="10515600" cy="339780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1000"/>
              </a:spcBef>
              <a:spcAft>
                <a:spcPts val="0"/>
              </a:spcAft>
              <a:buSzPts val="1800"/>
              <a:buNone/>
            </a:pPr>
            <a:r>
              <a:rPr lang="es-ES"/>
              <a:t>Liderança versus Poder</a:t>
            </a:r>
            <a:endParaRPr/>
          </a:p>
          <a:p>
            <a:pPr indent="0" lvl="0" marL="0" rtl="0" algn="l">
              <a:lnSpc>
                <a:spcPct val="90000"/>
              </a:lnSpc>
              <a:spcBef>
                <a:spcPts val="1000"/>
              </a:spcBef>
              <a:spcAft>
                <a:spcPts val="0"/>
              </a:spcAft>
              <a:buSzPts val="1800"/>
              <a:buNone/>
            </a:pPr>
            <a:r>
              <a:rPr lang="es-ES"/>
              <a:t>Estilos de liderança</a:t>
            </a:r>
            <a:endParaRPr/>
          </a:p>
          <a:p>
            <a:pPr indent="0" lvl="0" marL="0" rtl="0" algn="l">
              <a:lnSpc>
                <a:spcPct val="90000"/>
              </a:lnSpc>
              <a:spcBef>
                <a:spcPts val="1000"/>
              </a:spcBef>
              <a:spcAft>
                <a:spcPts val="0"/>
              </a:spcAft>
              <a:buSzPts val="1800"/>
              <a:buNone/>
            </a:pPr>
            <a:r>
              <a:rPr lang="es-ES"/>
              <a:t>Tipos de líderes</a:t>
            </a:r>
            <a:endParaRPr/>
          </a:p>
          <a:p>
            <a:pPr indent="0" lvl="0" marL="0" rtl="0" algn="l">
              <a:lnSpc>
                <a:spcPct val="90000"/>
              </a:lnSpc>
              <a:spcBef>
                <a:spcPts val="1000"/>
              </a:spcBef>
              <a:spcAft>
                <a:spcPts val="0"/>
              </a:spcAft>
              <a:buSzPts val="1800"/>
              <a:buNone/>
            </a:pPr>
            <a:r>
              <a:rPr lang="es-ES"/>
              <a:t>Liderança: dom ou habilidade?</a:t>
            </a:r>
            <a:endParaRPr/>
          </a:p>
        </p:txBody>
      </p:sp>
      <p:sp>
        <p:nvSpPr>
          <p:cNvPr id="205" name="Google Shape;205;g356308ae9ff_0_23"/>
          <p:cNvSpPr/>
          <p:nvPr/>
        </p:nvSpPr>
        <p:spPr>
          <a:xfrm>
            <a:off x="838197" y="1690823"/>
            <a:ext cx="10023600" cy="584400"/>
          </a:xfrm>
          <a:prstGeom prst="rect">
            <a:avLst/>
          </a:prstGeom>
          <a:solidFill>
            <a:schemeClr val="dk1"/>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3500"/>
              <a:buFont typeface="Arial"/>
              <a:buNone/>
            </a:pPr>
            <a:r>
              <a:rPr b="0" i="0" lang="es-ES" sz="3500" u="none" cap="none" strike="noStrike">
                <a:solidFill>
                  <a:schemeClr val="lt1"/>
                </a:solidFill>
                <a:latin typeface="Palatino Linotype"/>
                <a:ea typeface="Palatino Linotype"/>
                <a:cs typeface="Palatino Linotype"/>
                <a:sym typeface="Palatino Linotype"/>
              </a:rPr>
              <a:t>Liderança</a:t>
            </a:r>
            <a:endParaRPr b="0" i="0" sz="3500" u="none" cap="none" strike="noStrike">
              <a:solidFill>
                <a:srgbClr val="FFC000"/>
              </a:solidFill>
              <a:latin typeface="Palatino Linotype"/>
              <a:ea typeface="Palatino Linotype"/>
              <a:cs typeface="Palatino Linotype"/>
              <a:sym typeface="Palatino Linotype"/>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0" name="Shape 210"/>
        <p:cNvGrpSpPr/>
        <p:nvPr/>
      </p:nvGrpSpPr>
      <p:grpSpPr>
        <a:xfrm>
          <a:off x="0" y="0"/>
          <a:ext cx="0" cy="0"/>
          <a:chOff x="0" y="0"/>
          <a:chExt cx="0" cy="0"/>
        </a:xfrm>
      </p:grpSpPr>
      <p:sp>
        <p:nvSpPr>
          <p:cNvPr id="211" name="Google Shape;211;p1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s-ES"/>
              <a:t> </a:t>
            </a:r>
            <a:endParaRPr/>
          </a:p>
        </p:txBody>
      </p:sp>
      <p:sp>
        <p:nvSpPr>
          <p:cNvPr id="212" name="Google Shape;212;p11"/>
          <p:cNvSpPr/>
          <p:nvPr/>
        </p:nvSpPr>
        <p:spPr>
          <a:xfrm>
            <a:off x="1018572" y="1429473"/>
            <a:ext cx="10023676" cy="584521"/>
          </a:xfrm>
          <a:prstGeom prst="rect">
            <a:avLst/>
          </a:prstGeom>
          <a:solidFill>
            <a:schemeClr val="dk1"/>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3500"/>
              <a:buFont typeface="Arial"/>
              <a:buNone/>
            </a:pPr>
            <a:r>
              <a:rPr b="0" i="0" lang="es-ES" sz="3500" u="none" cap="none" strike="noStrike">
                <a:solidFill>
                  <a:schemeClr val="lt1"/>
                </a:solidFill>
                <a:latin typeface="Palatino Linotype"/>
                <a:ea typeface="Palatino Linotype"/>
                <a:cs typeface="Palatino Linotype"/>
                <a:sym typeface="Palatino Linotype"/>
              </a:rPr>
              <a:t>Estilos de liderança</a:t>
            </a:r>
            <a:endParaRPr b="0" i="0" sz="3500" u="none" cap="none" strike="noStrike">
              <a:solidFill>
                <a:srgbClr val="FFC000"/>
              </a:solidFill>
              <a:latin typeface="Palatino Linotype"/>
              <a:ea typeface="Palatino Linotype"/>
              <a:cs typeface="Palatino Linotype"/>
              <a:sym typeface="Palatino Linotype"/>
            </a:endParaRPr>
          </a:p>
        </p:txBody>
      </p:sp>
      <p:sp>
        <p:nvSpPr>
          <p:cNvPr id="213" name="Google Shape;213;p11"/>
          <p:cNvSpPr txBox="1"/>
          <p:nvPr/>
        </p:nvSpPr>
        <p:spPr>
          <a:xfrm>
            <a:off x="1018572" y="2013994"/>
            <a:ext cx="10023676" cy="1477328"/>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rgbClr val="000000"/>
              </a:buClr>
              <a:buSzPts val="1800"/>
              <a:buFont typeface="Arial"/>
              <a:buNone/>
            </a:pPr>
            <a:r>
              <a:rPr b="0" i="0" lang="es-ES" sz="1800" u="none" cap="none" strike="noStrike">
                <a:solidFill>
                  <a:schemeClr val="dk1"/>
                </a:solidFill>
                <a:latin typeface="Palatino Linotype"/>
                <a:ea typeface="Palatino Linotype"/>
                <a:cs typeface="Palatino Linotype"/>
                <a:sym typeface="Palatino Linotype"/>
              </a:rPr>
              <a:t>Liderança Autocrática</a:t>
            </a:r>
            <a:endParaRPr b="0" i="0" sz="14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alatino Linotype"/>
              <a:ea typeface="Palatino Linotype"/>
              <a:cs typeface="Palatino Linotype"/>
              <a:sym typeface="Palatino Linotype"/>
            </a:endParaRPr>
          </a:p>
          <a:p>
            <a:pPr indent="0" lvl="0" marL="0" marR="0" rtl="0" algn="just">
              <a:lnSpc>
                <a:spcPct val="100000"/>
              </a:lnSpc>
              <a:spcBef>
                <a:spcPts val="0"/>
              </a:spcBef>
              <a:spcAft>
                <a:spcPts val="0"/>
              </a:spcAft>
              <a:buClr>
                <a:srgbClr val="000000"/>
              </a:buClr>
              <a:buSzPts val="1800"/>
              <a:buFont typeface="Arial"/>
              <a:buNone/>
            </a:pPr>
            <a:r>
              <a:rPr b="0" i="0" lang="es-ES" sz="1800" u="none" cap="none" strike="noStrike">
                <a:solidFill>
                  <a:schemeClr val="dk1"/>
                </a:solidFill>
                <a:latin typeface="Palatino Linotype"/>
                <a:ea typeface="Palatino Linotype"/>
                <a:cs typeface="Palatino Linotype"/>
                <a:sym typeface="Palatino Linotype"/>
              </a:rPr>
              <a:t>Liderança Democrática</a:t>
            </a:r>
            <a:endParaRPr b="0" i="0" sz="14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alatino Linotype"/>
              <a:ea typeface="Palatino Linotype"/>
              <a:cs typeface="Palatino Linotype"/>
              <a:sym typeface="Palatino Linotype"/>
            </a:endParaRPr>
          </a:p>
          <a:p>
            <a:pPr indent="0" lvl="0" marL="0" marR="0" rtl="0" algn="just">
              <a:lnSpc>
                <a:spcPct val="100000"/>
              </a:lnSpc>
              <a:spcBef>
                <a:spcPts val="0"/>
              </a:spcBef>
              <a:spcAft>
                <a:spcPts val="0"/>
              </a:spcAft>
              <a:buClr>
                <a:srgbClr val="000000"/>
              </a:buClr>
              <a:buSzPts val="1800"/>
              <a:buFont typeface="Arial"/>
              <a:buNone/>
            </a:pPr>
            <a:r>
              <a:rPr b="0" i="0" lang="es-ES" sz="1800" u="none" cap="none" strike="noStrike">
                <a:solidFill>
                  <a:schemeClr val="dk1"/>
                </a:solidFill>
                <a:latin typeface="Palatino Linotype"/>
                <a:ea typeface="Palatino Linotype"/>
                <a:cs typeface="Palatino Linotype"/>
                <a:sym typeface="Palatino Linotype"/>
              </a:rPr>
              <a:t>Liderança Laissez-Faire</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8" name="Shape 218"/>
        <p:cNvGrpSpPr/>
        <p:nvPr/>
      </p:nvGrpSpPr>
      <p:grpSpPr>
        <a:xfrm>
          <a:off x="0" y="0"/>
          <a:ext cx="0" cy="0"/>
          <a:chOff x="0" y="0"/>
          <a:chExt cx="0" cy="0"/>
        </a:xfrm>
      </p:grpSpPr>
      <p:sp>
        <p:nvSpPr>
          <p:cNvPr id="219" name="Google Shape;219;p1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s-ES"/>
              <a:t> </a:t>
            </a:r>
            <a:endParaRPr/>
          </a:p>
        </p:txBody>
      </p:sp>
      <p:sp>
        <p:nvSpPr>
          <p:cNvPr id="220" name="Google Shape;220;p12"/>
          <p:cNvSpPr/>
          <p:nvPr/>
        </p:nvSpPr>
        <p:spPr>
          <a:xfrm>
            <a:off x="1018572" y="1429473"/>
            <a:ext cx="10023676" cy="584521"/>
          </a:xfrm>
          <a:prstGeom prst="rect">
            <a:avLst/>
          </a:prstGeom>
          <a:solidFill>
            <a:schemeClr val="dk1"/>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3500"/>
              <a:buFont typeface="Arial"/>
              <a:buNone/>
            </a:pPr>
            <a:r>
              <a:rPr b="0" i="0" lang="es-ES" sz="3500" u="none" cap="none" strike="noStrike">
                <a:solidFill>
                  <a:schemeClr val="lt1"/>
                </a:solidFill>
                <a:latin typeface="Palatino Linotype"/>
                <a:ea typeface="Palatino Linotype"/>
                <a:cs typeface="Palatino Linotype"/>
                <a:sym typeface="Palatino Linotype"/>
              </a:rPr>
              <a:t>Estilos de liderança</a:t>
            </a:r>
            <a:endParaRPr b="0" i="0" sz="3500" u="none" cap="none" strike="noStrike">
              <a:solidFill>
                <a:srgbClr val="FFC000"/>
              </a:solidFill>
              <a:latin typeface="Palatino Linotype"/>
              <a:ea typeface="Palatino Linotype"/>
              <a:cs typeface="Palatino Linotype"/>
              <a:sym typeface="Palatino Linotype"/>
            </a:endParaRPr>
          </a:p>
        </p:txBody>
      </p:sp>
      <p:sp>
        <p:nvSpPr>
          <p:cNvPr id="221" name="Google Shape;221;p12"/>
          <p:cNvSpPr txBox="1"/>
          <p:nvPr/>
        </p:nvSpPr>
        <p:spPr>
          <a:xfrm>
            <a:off x="1018572" y="2013994"/>
            <a:ext cx="10023676" cy="4016484"/>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rgbClr val="000000"/>
              </a:buClr>
              <a:buSzPts val="1800"/>
              <a:buFont typeface="Arial"/>
              <a:buNone/>
            </a:pPr>
            <a:r>
              <a:rPr b="0" i="0" lang="es-ES" sz="1800" u="none" cap="none" strike="noStrike">
                <a:solidFill>
                  <a:schemeClr val="dk1"/>
                </a:solidFill>
                <a:latin typeface="Palatino Linotype"/>
                <a:ea typeface="Palatino Linotype"/>
                <a:cs typeface="Palatino Linotype"/>
                <a:sym typeface="Palatino Linotype"/>
              </a:rPr>
              <a:t>Liderança Autocrática: </a:t>
            </a:r>
            <a:endParaRPr b="0" i="0" sz="1400" u="none" cap="none" strike="noStrike">
              <a:solidFill>
                <a:srgbClr val="000000"/>
              </a:solidFill>
              <a:latin typeface="Arial"/>
              <a:ea typeface="Arial"/>
              <a:cs typeface="Arial"/>
              <a:sym typeface="Arial"/>
            </a:endParaRPr>
          </a:p>
          <a:p>
            <a:pPr indent="-285750" lvl="0" marL="285750" marR="0" rtl="0" algn="just">
              <a:lnSpc>
                <a:spcPct val="100000"/>
              </a:lnSpc>
              <a:spcBef>
                <a:spcPts val="0"/>
              </a:spcBef>
              <a:spcAft>
                <a:spcPts val="0"/>
              </a:spcAft>
              <a:buClr>
                <a:schemeClr val="dk1"/>
              </a:buClr>
              <a:buSzPts val="1500"/>
              <a:buFont typeface="Noto Sans Symbols"/>
              <a:buChar char="▪"/>
            </a:pPr>
            <a:r>
              <a:rPr b="0" i="0" lang="es-ES" sz="1500" u="none" cap="none" strike="noStrike">
                <a:solidFill>
                  <a:schemeClr val="dk1"/>
                </a:solidFill>
                <a:latin typeface="Palatino Linotype"/>
                <a:ea typeface="Palatino Linotype"/>
                <a:cs typeface="Palatino Linotype"/>
                <a:sym typeface="Palatino Linotype"/>
              </a:rPr>
              <a:t>o comportamento do líder é direcionado para o acompanhamento e orientação do subordinado, distribuição de recompensas, no papel de educador e motivador da equipe e no relacionamento entre as pessoas, </a:t>
            </a:r>
            <a:r>
              <a:rPr b="0" i="0" lang="es-ES" sz="1500" u="sng" cap="none" strike="noStrike">
                <a:solidFill>
                  <a:schemeClr val="dk1"/>
                </a:solidFill>
                <a:latin typeface="Palatino Linotype"/>
                <a:ea typeface="Palatino Linotype"/>
                <a:cs typeface="Palatino Linotype"/>
                <a:sym typeface="Palatino Linotype"/>
              </a:rPr>
              <a:t>visando atingir as metas e objetivos organizacionais</a:t>
            </a:r>
            <a:r>
              <a:rPr b="0" i="0" lang="es-ES" sz="1500" u="none" cap="none" strike="noStrike">
                <a:solidFill>
                  <a:schemeClr val="dk1"/>
                </a:solidFill>
                <a:latin typeface="Palatino Linotype"/>
                <a:ea typeface="Palatino Linotype"/>
                <a:cs typeface="Palatino Linotype"/>
                <a:sym typeface="Palatino Linotype"/>
              </a:rPr>
              <a:t>. O foco principal é os objetivos, esclarecendo a </a:t>
            </a:r>
            <a:r>
              <a:rPr b="0" i="0" lang="es-ES" sz="1500" u="sng" cap="none" strike="noStrike">
                <a:solidFill>
                  <a:schemeClr val="dk1"/>
                </a:solidFill>
                <a:latin typeface="Palatino Linotype"/>
                <a:ea typeface="Palatino Linotype"/>
                <a:cs typeface="Palatino Linotype"/>
                <a:sym typeface="Palatino Linotype"/>
              </a:rPr>
              <a:t>ligação entre desempenho e recompensas</a:t>
            </a:r>
            <a:r>
              <a:rPr b="0" i="0" lang="es-ES" sz="1500" u="none" cap="none" strike="noStrike">
                <a:solidFill>
                  <a:schemeClr val="dk1"/>
                </a:solidFill>
                <a:latin typeface="Palatino Linotype"/>
                <a:ea typeface="Palatino Linotype"/>
                <a:cs typeface="Palatino Linotype"/>
                <a:sym typeface="Palatino Linotype"/>
              </a:rPr>
              <a:t>, bem como no feedback construtivo para manter os seguidores na tarefa.</a:t>
            </a:r>
            <a:endParaRPr b="0" i="0" sz="14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alatino Linotype"/>
              <a:ea typeface="Palatino Linotype"/>
              <a:cs typeface="Palatino Linotype"/>
              <a:sym typeface="Palatino Linotype"/>
            </a:endParaRPr>
          </a:p>
          <a:p>
            <a:pPr indent="0" lvl="0" marL="0" marR="0" rtl="0" algn="just">
              <a:lnSpc>
                <a:spcPct val="100000"/>
              </a:lnSpc>
              <a:spcBef>
                <a:spcPts val="0"/>
              </a:spcBef>
              <a:spcAft>
                <a:spcPts val="0"/>
              </a:spcAft>
              <a:buClr>
                <a:srgbClr val="000000"/>
              </a:buClr>
              <a:buSzPts val="1800"/>
              <a:buFont typeface="Arial"/>
              <a:buNone/>
            </a:pPr>
            <a:r>
              <a:rPr b="0" i="0" lang="es-ES" sz="1800" u="none" cap="none" strike="noStrike">
                <a:solidFill>
                  <a:schemeClr val="dk1"/>
                </a:solidFill>
                <a:latin typeface="Palatino Linotype"/>
                <a:ea typeface="Palatino Linotype"/>
                <a:cs typeface="Palatino Linotype"/>
                <a:sym typeface="Palatino Linotype"/>
              </a:rPr>
              <a:t>Liderança Democrática</a:t>
            </a:r>
            <a:endParaRPr b="0" i="0" sz="1400" u="none" cap="none" strike="noStrike">
              <a:solidFill>
                <a:srgbClr val="000000"/>
              </a:solidFill>
              <a:latin typeface="Arial"/>
              <a:ea typeface="Arial"/>
              <a:cs typeface="Arial"/>
              <a:sym typeface="Arial"/>
            </a:endParaRPr>
          </a:p>
          <a:p>
            <a:pPr indent="-285750" lvl="0" marL="285750" marR="0" rtl="0" algn="just">
              <a:lnSpc>
                <a:spcPct val="100000"/>
              </a:lnSpc>
              <a:spcBef>
                <a:spcPts val="0"/>
              </a:spcBef>
              <a:spcAft>
                <a:spcPts val="0"/>
              </a:spcAft>
              <a:buClr>
                <a:schemeClr val="dk1"/>
              </a:buClr>
              <a:buSzPts val="1500"/>
              <a:buFont typeface="Noto Sans Symbols"/>
              <a:buChar char="▪"/>
            </a:pPr>
            <a:r>
              <a:rPr b="0" i="0" lang="es-ES" sz="1500" u="none" cap="none" strike="noStrike">
                <a:solidFill>
                  <a:schemeClr val="dk1"/>
                </a:solidFill>
                <a:latin typeface="Palatino Linotype"/>
                <a:ea typeface="Palatino Linotype"/>
                <a:cs typeface="Palatino Linotype"/>
                <a:sym typeface="Palatino Linotype"/>
              </a:rPr>
              <a:t>o líder encoraja os colaboradores a participarem, incentiva-os a darem sugestões e opiniões. O líder </a:t>
            </a:r>
            <a:r>
              <a:rPr b="0" i="0" lang="es-ES" sz="1500" u="sng" cap="none" strike="noStrike">
                <a:solidFill>
                  <a:schemeClr val="dk1"/>
                </a:solidFill>
                <a:latin typeface="Palatino Linotype"/>
                <a:ea typeface="Palatino Linotype"/>
                <a:cs typeface="Palatino Linotype"/>
                <a:sym typeface="Palatino Linotype"/>
              </a:rPr>
              <a:t>se preocupa com a execução do trabalho, mas também com a qualidade de vida e satisfação do time</a:t>
            </a:r>
            <a:r>
              <a:rPr b="0" i="0" lang="es-ES" sz="1500" u="none" cap="none" strike="noStrike">
                <a:solidFill>
                  <a:schemeClr val="dk1"/>
                </a:solidFill>
                <a:latin typeface="Palatino Linotype"/>
                <a:ea typeface="Palatino Linotype"/>
                <a:cs typeface="Palatino Linotype"/>
                <a:sym typeface="Palatino Linotype"/>
              </a:rPr>
              <a:t>, ouvindo, oferecendo dicas e ideias quando necessário, esclarecendo dúvidas, dando feedbacks e auxiliando os membros do grupo a se desenvolverem e melhorarem no desempenho das tarefas.</a:t>
            </a:r>
            <a:endParaRPr b="0" i="0" sz="14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alatino Linotype"/>
              <a:ea typeface="Palatino Linotype"/>
              <a:cs typeface="Palatino Linotype"/>
              <a:sym typeface="Palatino Linotype"/>
            </a:endParaRPr>
          </a:p>
          <a:p>
            <a:pPr indent="0" lvl="0" marL="0" marR="0" rtl="0" algn="just">
              <a:lnSpc>
                <a:spcPct val="100000"/>
              </a:lnSpc>
              <a:spcBef>
                <a:spcPts val="0"/>
              </a:spcBef>
              <a:spcAft>
                <a:spcPts val="0"/>
              </a:spcAft>
              <a:buClr>
                <a:srgbClr val="000000"/>
              </a:buClr>
              <a:buSzPts val="1800"/>
              <a:buFont typeface="Arial"/>
              <a:buNone/>
            </a:pPr>
            <a:r>
              <a:rPr b="0" i="0" lang="es-ES" sz="1800" u="none" cap="none" strike="noStrike">
                <a:solidFill>
                  <a:schemeClr val="dk1"/>
                </a:solidFill>
                <a:latin typeface="Palatino Linotype"/>
                <a:ea typeface="Palatino Linotype"/>
                <a:cs typeface="Palatino Linotype"/>
                <a:sym typeface="Palatino Linotype"/>
              </a:rPr>
              <a:t>Liderança Laissez-Faire</a:t>
            </a:r>
            <a:endParaRPr b="0" i="0" sz="1400" u="none" cap="none" strike="noStrike">
              <a:solidFill>
                <a:srgbClr val="000000"/>
              </a:solidFill>
              <a:latin typeface="Arial"/>
              <a:ea typeface="Arial"/>
              <a:cs typeface="Arial"/>
              <a:sym typeface="Arial"/>
            </a:endParaRPr>
          </a:p>
          <a:p>
            <a:pPr indent="-285750" lvl="0" marL="285750" marR="0" rtl="0" algn="just">
              <a:lnSpc>
                <a:spcPct val="100000"/>
              </a:lnSpc>
              <a:spcBef>
                <a:spcPts val="0"/>
              </a:spcBef>
              <a:spcAft>
                <a:spcPts val="0"/>
              </a:spcAft>
              <a:buClr>
                <a:schemeClr val="dk1"/>
              </a:buClr>
              <a:buSzPts val="1500"/>
              <a:buFont typeface="Noto Sans Symbols"/>
              <a:buChar char="▪"/>
            </a:pPr>
            <a:r>
              <a:rPr b="0" i="0" lang="es-ES" sz="1500" u="none" cap="none" strike="noStrike">
                <a:solidFill>
                  <a:schemeClr val="dk1"/>
                </a:solidFill>
                <a:latin typeface="Palatino Linotype"/>
                <a:ea typeface="Palatino Linotype"/>
                <a:cs typeface="Palatino Linotype"/>
                <a:sym typeface="Palatino Linotype"/>
              </a:rPr>
              <a:t>caracteriza-se pelo fato do líder interferir pouco nas decisões do grupo, dando liberdade para que os colaboradores tomem as decisões. O líder evita esclarecer suas expectativas e resolver os conflitos, bem como </a:t>
            </a:r>
            <a:r>
              <a:rPr b="0" i="0" lang="es-ES" sz="1500" u="sng" cap="none" strike="noStrike">
                <a:solidFill>
                  <a:schemeClr val="dk1"/>
                </a:solidFill>
                <a:latin typeface="Palatino Linotype"/>
                <a:ea typeface="Palatino Linotype"/>
                <a:cs typeface="Palatino Linotype"/>
                <a:sym typeface="Palatino Linotype"/>
              </a:rPr>
              <a:t>transfere sua autoridade para os liderados, abdicando deliberadamente do poder de tomar decisões.</a:t>
            </a:r>
            <a:endParaRPr b="0" i="0" sz="1800" u="none" cap="none" strike="noStrike">
              <a:solidFill>
                <a:schemeClr val="dk1"/>
              </a:solidFill>
              <a:latin typeface="Palatino Linotype"/>
              <a:ea typeface="Palatino Linotype"/>
              <a:cs typeface="Palatino Linotype"/>
              <a:sym typeface="Palatino Linotype"/>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6" name="Shape 226"/>
        <p:cNvGrpSpPr/>
        <p:nvPr/>
      </p:nvGrpSpPr>
      <p:grpSpPr>
        <a:xfrm>
          <a:off x="0" y="0"/>
          <a:ext cx="0" cy="0"/>
          <a:chOff x="0" y="0"/>
          <a:chExt cx="0" cy="0"/>
        </a:xfrm>
      </p:grpSpPr>
      <p:sp>
        <p:nvSpPr>
          <p:cNvPr id="227" name="Google Shape;227;p1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s-ES"/>
              <a:t> </a:t>
            </a:r>
            <a:endParaRPr/>
          </a:p>
        </p:txBody>
      </p:sp>
      <p:sp>
        <p:nvSpPr>
          <p:cNvPr id="228" name="Google Shape;228;p13"/>
          <p:cNvSpPr/>
          <p:nvPr/>
        </p:nvSpPr>
        <p:spPr>
          <a:xfrm>
            <a:off x="1018572" y="1429473"/>
            <a:ext cx="10023676" cy="584521"/>
          </a:xfrm>
          <a:prstGeom prst="rect">
            <a:avLst/>
          </a:prstGeom>
          <a:solidFill>
            <a:schemeClr val="dk1"/>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3500"/>
              <a:buFont typeface="Arial"/>
              <a:buNone/>
            </a:pPr>
            <a:r>
              <a:rPr b="0" i="0" lang="es-ES" sz="3500" u="none" cap="none" strike="noStrike">
                <a:solidFill>
                  <a:schemeClr val="lt1"/>
                </a:solidFill>
                <a:latin typeface="Palatino Linotype"/>
                <a:ea typeface="Palatino Linotype"/>
                <a:cs typeface="Palatino Linotype"/>
                <a:sym typeface="Palatino Linotype"/>
              </a:rPr>
              <a:t>O poder da situação</a:t>
            </a:r>
            <a:endParaRPr b="0" i="0" sz="3500" u="none" cap="none" strike="noStrike">
              <a:solidFill>
                <a:srgbClr val="FFC000"/>
              </a:solidFill>
              <a:latin typeface="Palatino Linotype"/>
              <a:ea typeface="Palatino Linotype"/>
              <a:cs typeface="Palatino Linotype"/>
              <a:sym typeface="Palatino Linotype"/>
            </a:endParaRPr>
          </a:p>
        </p:txBody>
      </p:sp>
      <p:sp>
        <p:nvSpPr>
          <p:cNvPr id="229" name="Google Shape;229;p13"/>
          <p:cNvSpPr txBox="1"/>
          <p:nvPr/>
        </p:nvSpPr>
        <p:spPr>
          <a:xfrm>
            <a:off x="1018572" y="2013994"/>
            <a:ext cx="10023676" cy="646331"/>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rgbClr val="000000"/>
              </a:buClr>
              <a:buSzPts val="1800"/>
              <a:buFont typeface="Arial"/>
              <a:buNone/>
            </a:pPr>
            <a:r>
              <a:rPr b="0" i="0" lang="es-ES" sz="1800" u="none" cap="none" strike="noStrike">
                <a:solidFill>
                  <a:schemeClr val="dk1"/>
                </a:solidFill>
                <a:latin typeface="Palatino Linotype"/>
                <a:ea typeface="Palatino Linotype"/>
                <a:cs typeface="Palatino Linotype"/>
                <a:sym typeface="Palatino Linotype"/>
              </a:rPr>
              <a:t>“O melhor e o pior da natureza humana pode se manifestar através da manipulação de alguns aspectos do ambiente social"</a:t>
            </a:r>
            <a:endParaRPr b="0" i="0" sz="1400" u="none" cap="none" strike="noStrike">
              <a:solidFill>
                <a:srgbClr val="000000"/>
              </a:solidFill>
              <a:latin typeface="Arial"/>
              <a:ea typeface="Arial"/>
              <a:cs typeface="Arial"/>
              <a:sym typeface="Arial"/>
            </a:endParaRPr>
          </a:p>
        </p:txBody>
      </p:sp>
      <p:pic>
        <p:nvPicPr>
          <p:cNvPr id="230" name="Google Shape;230;p13"/>
          <p:cNvPicPr preferRelativeResize="0"/>
          <p:nvPr/>
        </p:nvPicPr>
        <p:blipFill rotWithShape="1">
          <a:blip r:embed="rId3">
            <a:alphaModFix/>
          </a:blip>
          <a:srcRect b="0" l="0" r="0" t="0"/>
          <a:stretch/>
        </p:blipFill>
        <p:spPr>
          <a:xfrm>
            <a:off x="2871984" y="2850466"/>
            <a:ext cx="2308428" cy="2928239"/>
          </a:xfrm>
          <a:prstGeom prst="rect">
            <a:avLst/>
          </a:prstGeom>
          <a:noFill/>
          <a:ln>
            <a:noFill/>
          </a:ln>
        </p:spPr>
      </p:pic>
      <p:sp>
        <p:nvSpPr>
          <p:cNvPr id="231" name="Google Shape;231;p13"/>
          <p:cNvSpPr txBox="1"/>
          <p:nvPr/>
        </p:nvSpPr>
        <p:spPr>
          <a:xfrm>
            <a:off x="2871985" y="5808258"/>
            <a:ext cx="2308427" cy="400110"/>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rgbClr val="000000"/>
              </a:buClr>
              <a:buSzPts val="1000"/>
              <a:buFont typeface="Arial"/>
              <a:buNone/>
            </a:pPr>
            <a:r>
              <a:rPr b="0" i="0" lang="es-ES" sz="1000" u="none" cap="none" strike="noStrike">
                <a:solidFill>
                  <a:schemeClr val="dk1"/>
                </a:solidFill>
                <a:latin typeface="Palatino Linotype"/>
                <a:ea typeface="Palatino Linotype"/>
                <a:cs typeface="Palatino Linotype"/>
                <a:sym typeface="Palatino Linotype"/>
              </a:rPr>
              <a:t>Experimento de Stanley Milgram. E = experimentador; S = sujeito; A = ator</a:t>
            </a:r>
            <a:endParaRPr b="0" i="0" sz="1400" u="none" cap="none" strike="noStrike">
              <a:solidFill>
                <a:srgbClr val="000000"/>
              </a:solidFill>
              <a:latin typeface="Arial"/>
              <a:ea typeface="Arial"/>
              <a:cs typeface="Arial"/>
              <a:sym typeface="Arial"/>
            </a:endParaRPr>
          </a:p>
        </p:txBody>
      </p:sp>
      <p:pic>
        <p:nvPicPr>
          <p:cNvPr id="232" name="Google Shape;232;p13"/>
          <p:cNvPicPr preferRelativeResize="0"/>
          <p:nvPr/>
        </p:nvPicPr>
        <p:blipFill rotWithShape="1">
          <a:blip r:embed="rId4">
            <a:alphaModFix/>
          </a:blip>
          <a:srcRect b="0" l="0" r="0" t="0"/>
          <a:stretch/>
        </p:blipFill>
        <p:spPr>
          <a:xfrm>
            <a:off x="6096000" y="2850466"/>
            <a:ext cx="2078313" cy="2933131"/>
          </a:xfrm>
          <a:prstGeom prst="rect">
            <a:avLst/>
          </a:prstGeom>
          <a:noFill/>
          <a:ln cap="flat" cmpd="sng" w="9525">
            <a:solidFill>
              <a:schemeClr val="dk1"/>
            </a:solidFill>
            <a:prstDash val="solid"/>
            <a:round/>
            <a:headEnd len="sm" w="sm" type="none"/>
            <a:tailEnd len="sm" w="sm" type="none"/>
          </a:ln>
        </p:spPr>
      </p:pic>
      <p:sp>
        <p:nvSpPr>
          <p:cNvPr id="233" name="Google Shape;233;p13"/>
          <p:cNvSpPr txBox="1"/>
          <p:nvPr/>
        </p:nvSpPr>
        <p:spPr>
          <a:xfrm>
            <a:off x="6096000" y="5808258"/>
            <a:ext cx="2078313" cy="400110"/>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rgbClr val="000000"/>
              </a:buClr>
              <a:buSzPts val="1000"/>
              <a:buFont typeface="Arial"/>
              <a:buNone/>
            </a:pPr>
            <a:r>
              <a:rPr b="0" i="0" lang="es-ES" sz="1000" u="none" cap="none" strike="noStrike">
                <a:solidFill>
                  <a:schemeClr val="dk1"/>
                </a:solidFill>
                <a:latin typeface="Palatino Linotype"/>
                <a:ea typeface="Palatino Linotype"/>
                <a:cs typeface="Palatino Linotype"/>
                <a:sym typeface="Palatino Linotype"/>
              </a:rPr>
              <a:t>Experimento da Prisão de Stanford</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8" name="Shape 238"/>
        <p:cNvGrpSpPr/>
        <p:nvPr/>
      </p:nvGrpSpPr>
      <p:grpSpPr>
        <a:xfrm>
          <a:off x="0" y="0"/>
          <a:ext cx="0" cy="0"/>
          <a:chOff x="0" y="0"/>
          <a:chExt cx="0" cy="0"/>
        </a:xfrm>
      </p:grpSpPr>
      <p:sp>
        <p:nvSpPr>
          <p:cNvPr id="239" name="Google Shape;239;p1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s-ES"/>
              <a:t> </a:t>
            </a:r>
            <a:endParaRPr/>
          </a:p>
        </p:txBody>
      </p:sp>
      <p:sp>
        <p:nvSpPr>
          <p:cNvPr id="240" name="Google Shape;240;p14"/>
          <p:cNvSpPr/>
          <p:nvPr/>
        </p:nvSpPr>
        <p:spPr>
          <a:xfrm>
            <a:off x="1018572" y="1429473"/>
            <a:ext cx="10023676" cy="584521"/>
          </a:xfrm>
          <a:prstGeom prst="rect">
            <a:avLst/>
          </a:prstGeom>
          <a:solidFill>
            <a:schemeClr val="dk1"/>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3500"/>
              <a:buFont typeface="Arial"/>
              <a:buNone/>
            </a:pPr>
            <a:r>
              <a:rPr b="0" i="0" lang="es-ES" sz="3500" u="none" cap="none" strike="noStrike">
                <a:solidFill>
                  <a:schemeClr val="lt1"/>
                </a:solidFill>
                <a:latin typeface="Palatino Linotype"/>
                <a:ea typeface="Palatino Linotype"/>
                <a:cs typeface="Palatino Linotype"/>
                <a:sym typeface="Palatino Linotype"/>
              </a:rPr>
              <a:t>Erro fundamental de atribuição</a:t>
            </a:r>
            <a:endParaRPr b="0" i="0" sz="3500" u="none" cap="none" strike="noStrike">
              <a:solidFill>
                <a:srgbClr val="FFC000"/>
              </a:solidFill>
              <a:latin typeface="Palatino Linotype"/>
              <a:ea typeface="Palatino Linotype"/>
              <a:cs typeface="Palatino Linotype"/>
              <a:sym typeface="Palatino Linotype"/>
            </a:endParaRPr>
          </a:p>
        </p:txBody>
      </p:sp>
      <p:sp>
        <p:nvSpPr>
          <p:cNvPr id="241" name="Google Shape;241;p14"/>
          <p:cNvSpPr txBox="1"/>
          <p:nvPr/>
        </p:nvSpPr>
        <p:spPr>
          <a:xfrm>
            <a:off x="1018572" y="2013994"/>
            <a:ext cx="10023676" cy="1754326"/>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rgbClr val="000000"/>
              </a:buClr>
              <a:buSzPts val="1800"/>
              <a:buFont typeface="Arial"/>
              <a:buNone/>
            </a:pPr>
            <a:r>
              <a:rPr b="0" i="0" lang="es-ES" sz="1800" u="none" cap="none" strike="noStrike">
                <a:solidFill>
                  <a:schemeClr val="dk1"/>
                </a:solidFill>
                <a:latin typeface="Palatino Linotype"/>
                <a:ea typeface="Palatino Linotype"/>
                <a:cs typeface="Palatino Linotype"/>
                <a:sym typeface="Palatino Linotype"/>
              </a:rPr>
              <a:t>Erro fundamental de atribuição (também conhecido como “viés de correspondência”) é um conceito da psicologia social que descreve a </a:t>
            </a:r>
            <a:r>
              <a:rPr b="0" i="0" lang="es-ES" sz="1800" u="sng" cap="none" strike="noStrike">
                <a:solidFill>
                  <a:schemeClr val="dk1"/>
                </a:solidFill>
                <a:latin typeface="Palatino Linotype"/>
                <a:ea typeface="Palatino Linotype"/>
                <a:cs typeface="Palatino Linotype"/>
                <a:sym typeface="Palatino Linotype"/>
              </a:rPr>
              <a:t>tendência das pessoas superestimarem as características pessoais ou disposicionais</a:t>
            </a:r>
            <a:r>
              <a:rPr b="0" i="0" lang="es-ES" sz="1800" u="none" cap="none" strike="noStrike">
                <a:solidFill>
                  <a:schemeClr val="dk1"/>
                </a:solidFill>
                <a:latin typeface="Palatino Linotype"/>
                <a:ea typeface="Palatino Linotype"/>
                <a:cs typeface="Palatino Linotype"/>
                <a:sym typeface="Palatino Linotype"/>
              </a:rPr>
              <a:t> (tais como a personalidade, força ou a inteligência) de indivíduos na obtenção de determinado resultado, </a:t>
            </a:r>
            <a:r>
              <a:rPr b="0" i="0" lang="es-ES" sz="1800" u="sng" cap="none" strike="noStrike">
                <a:solidFill>
                  <a:schemeClr val="dk1"/>
                </a:solidFill>
                <a:latin typeface="Palatino Linotype"/>
                <a:ea typeface="Palatino Linotype"/>
                <a:cs typeface="Palatino Linotype"/>
                <a:sym typeface="Palatino Linotype"/>
              </a:rPr>
              <a:t>enquanto ignora ou subestima características da situação ou contexto</a:t>
            </a:r>
            <a:r>
              <a:rPr b="0" i="0" lang="es-ES" sz="1800" u="none" cap="none" strike="noStrike">
                <a:solidFill>
                  <a:schemeClr val="dk1"/>
                </a:solidFill>
                <a:latin typeface="Palatino Linotype"/>
                <a:ea typeface="Palatino Linotype"/>
                <a:cs typeface="Palatino Linotype"/>
                <a:sym typeface="Palatino Linotype"/>
              </a:rPr>
              <a:t> (tais como o clima, as regras ou dificuldades da tarefa em si ou a influência de outras pessoas por exemplo).</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6" name="Shape 246"/>
        <p:cNvGrpSpPr/>
        <p:nvPr/>
      </p:nvGrpSpPr>
      <p:grpSpPr>
        <a:xfrm>
          <a:off x="0" y="0"/>
          <a:ext cx="0" cy="0"/>
          <a:chOff x="0" y="0"/>
          <a:chExt cx="0" cy="0"/>
        </a:xfrm>
      </p:grpSpPr>
      <p:sp>
        <p:nvSpPr>
          <p:cNvPr id="247" name="Google Shape;247;p1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s-ES"/>
              <a:t> </a:t>
            </a:r>
            <a:endParaRPr/>
          </a:p>
        </p:txBody>
      </p:sp>
      <p:sp>
        <p:nvSpPr>
          <p:cNvPr id="248" name="Google Shape;248;p15"/>
          <p:cNvSpPr/>
          <p:nvPr/>
        </p:nvSpPr>
        <p:spPr>
          <a:xfrm>
            <a:off x="422053" y="328451"/>
            <a:ext cx="11093700" cy="825000"/>
          </a:xfrm>
          <a:prstGeom prst="rect">
            <a:avLst/>
          </a:prstGeom>
          <a:solidFill>
            <a:schemeClr val="dk1"/>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3500"/>
              <a:buFont typeface="Arial"/>
              <a:buNone/>
            </a:pPr>
            <a:r>
              <a:rPr b="0" i="0" lang="es-ES" sz="3500" u="none" cap="none" strike="noStrike">
                <a:solidFill>
                  <a:schemeClr val="lt1"/>
                </a:solidFill>
                <a:latin typeface="Palatino Linotype"/>
                <a:ea typeface="Palatino Linotype"/>
                <a:cs typeface="Palatino Linotype"/>
                <a:sym typeface="Palatino Linotype"/>
              </a:rPr>
              <a:t>O comportamento humano</a:t>
            </a:r>
            <a:endParaRPr b="0" i="0" sz="3500" u="none" cap="none" strike="noStrike">
              <a:solidFill>
                <a:srgbClr val="FFC000"/>
              </a:solidFill>
              <a:latin typeface="Palatino Linotype"/>
              <a:ea typeface="Palatino Linotype"/>
              <a:cs typeface="Palatino Linotype"/>
              <a:sym typeface="Palatino Linotype"/>
            </a:endParaRPr>
          </a:p>
        </p:txBody>
      </p:sp>
      <p:pic>
        <p:nvPicPr>
          <p:cNvPr id="249" name="Google Shape;249;p15"/>
          <p:cNvPicPr preferRelativeResize="0"/>
          <p:nvPr/>
        </p:nvPicPr>
        <p:blipFill rotWithShape="1">
          <a:blip r:embed="rId3">
            <a:alphaModFix/>
          </a:blip>
          <a:srcRect b="0" l="0" r="0" t="0"/>
          <a:stretch/>
        </p:blipFill>
        <p:spPr>
          <a:xfrm>
            <a:off x="2669793" y="1314750"/>
            <a:ext cx="6576680" cy="5543250"/>
          </a:xfrm>
          <a:prstGeom prst="rect">
            <a:avLst/>
          </a:prstGeom>
          <a:noFill/>
          <a:ln>
            <a:noFill/>
          </a:ln>
        </p:spPr>
      </p:pic>
      <p:pic>
        <p:nvPicPr>
          <p:cNvPr id="250" name="Google Shape;250;p15"/>
          <p:cNvPicPr preferRelativeResize="0"/>
          <p:nvPr/>
        </p:nvPicPr>
        <p:blipFill rotWithShape="1">
          <a:blip r:embed="rId4">
            <a:alphaModFix/>
          </a:blip>
          <a:srcRect b="0" l="0" r="0" t="0"/>
          <a:stretch/>
        </p:blipFill>
        <p:spPr>
          <a:xfrm>
            <a:off x="9889131" y="4520351"/>
            <a:ext cx="1153116" cy="1117780"/>
          </a:xfrm>
          <a:prstGeom prst="rect">
            <a:avLst/>
          </a:prstGeom>
          <a:noFill/>
          <a:ln>
            <a:noFill/>
          </a:ln>
        </p:spPr>
      </p:pic>
      <p:sp>
        <p:nvSpPr>
          <p:cNvPr id="251" name="Google Shape;251;p15"/>
          <p:cNvSpPr txBox="1"/>
          <p:nvPr/>
        </p:nvSpPr>
        <p:spPr>
          <a:xfrm>
            <a:off x="10087489" y="4243450"/>
            <a:ext cx="1153200" cy="2769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0" i="0" lang="es-ES" sz="1200" u="none" cap="none" strike="noStrike">
                <a:solidFill>
                  <a:schemeClr val="dk1"/>
                </a:solidFill>
                <a:latin typeface="Calibri"/>
                <a:ea typeface="Calibri"/>
                <a:cs typeface="Calibri"/>
                <a:sym typeface="Calibri"/>
              </a:rPr>
              <a:t>Indivíduo</a:t>
            </a:r>
            <a:endParaRPr b="0" i="0" sz="1400" u="none" cap="none" strike="noStrike">
              <a:solidFill>
                <a:srgbClr val="000000"/>
              </a:solidFill>
              <a:latin typeface="Arial"/>
              <a:ea typeface="Arial"/>
              <a:cs typeface="Arial"/>
              <a:sym typeface="Arial"/>
            </a:endParaRPr>
          </a:p>
        </p:txBody>
      </p:sp>
      <p:sp>
        <p:nvSpPr>
          <p:cNvPr id="252" name="Google Shape;252;p15"/>
          <p:cNvSpPr txBox="1"/>
          <p:nvPr/>
        </p:nvSpPr>
        <p:spPr>
          <a:xfrm>
            <a:off x="10094171" y="5834000"/>
            <a:ext cx="743100" cy="2769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0" i="0" lang="es-ES" sz="1200" u="none" cap="none" strike="noStrike">
                <a:solidFill>
                  <a:schemeClr val="dk1"/>
                </a:solidFill>
                <a:latin typeface="Calibri"/>
                <a:ea typeface="Calibri"/>
                <a:cs typeface="Calibri"/>
                <a:sym typeface="Calibri"/>
              </a:rPr>
              <a:t>Contexto</a:t>
            </a:r>
            <a:endParaRPr b="0" i="0" sz="1400" u="none" cap="none" strike="noStrike">
              <a:solidFill>
                <a:srgbClr val="000000"/>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252"/>
                                        </p:tgtEl>
                                        <p:attrNameLst>
                                          <p:attrName>style.visibility</p:attrName>
                                        </p:attrNameLst>
                                      </p:cBhvr>
                                      <p:to>
                                        <p:strVal val="visible"/>
                                      </p:to>
                                    </p:set>
                                    <p:animEffect filter="fade" transition="in">
                                      <p:cBhvr>
                                        <p:cTn dur="500"/>
                                        <p:tgtEl>
                                          <p:spTgt spid="25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7" name="Shape 257"/>
        <p:cNvGrpSpPr/>
        <p:nvPr/>
      </p:nvGrpSpPr>
      <p:grpSpPr>
        <a:xfrm>
          <a:off x="0" y="0"/>
          <a:ext cx="0" cy="0"/>
          <a:chOff x="0" y="0"/>
          <a:chExt cx="0" cy="0"/>
        </a:xfrm>
      </p:grpSpPr>
      <p:sp>
        <p:nvSpPr>
          <p:cNvPr id="258" name="Google Shape;258;g3d8f21f41fc_0_338"/>
          <p:cNvSpPr txBox="1"/>
          <p:nvPr>
            <p:ph type="title"/>
          </p:nvPr>
        </p:nvSpPr>
        <p:spPr>
          <a:xfrm>
            <a:off x="838200" y="365125"/>
            <a:ext cx="105156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s-ES"/>
              <a:t> </a:t>
            </a:r>
            <a:endParaRPr/>
          </a:p>
        </p:txBody>
      </p:sp>
      <p:sp>
        <p:nvSpPr>
          <p:cNvPr id="259" name="Google Shape;259;g3d8f21f41fc_0_338"/>
          <p:cNvSpPr/>
          <p:nvPr/>
        </p:nvSpPr>
        <p:spPr>
          <a:xfrm>
            <a:off x="1018572" y="1429473"/>
            <a:ext cx="10023600" cy="584400"/>
          </a:xfrm>
          <a:prstGeom prst="rect">
            <a:avLst/>
          </a:prstGeom>
          <a:solidFill>
            <a:schemeClr val="dk1"/>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3500"/>
              <a:buFont typeface="Arial"/>
              <a:buNone/>
            </a:pPr>
            <a:r>
              <a:rPr b="0" i="0" lang="es-ES" sz="3500" u="none" cap="none" strike="noStrike">
                <a:solidFill>
                  <a:srgbClr val="FFC000"/>
                </a:solidFill>
                <a:latin typeface="Palatino Linotype"/>
                <a:ea typeface="Palatino Linotype"/>
                <a:cs typeface="Palatino Linotype"/>
                <a:sym typeface="Palatino Linotype"/>
              </a:rPr>
              <a:t>Personalidade Big-5</a:t>
            </a:r>
            <a:endParaRPr b="0" i="0" sz="1400" u="none" cap="none" strike="noStrike">
              <a:solidFill>
                <a:srgbClr val="000000"/>
              </a:solidFill>
              <a:latin typeface="Arial"/>
              <a:ea typeface="Arial"/>
              <a:cs typeface="Arial"/>
              <a:sym typeface="Arial"/>
            </a:endParaRPr>
          </a:p>
        </p:txBody>
      </p:sp>
      <p:sp>
        <p:nvSpPr>
          <p:cNvPr id="260" name="Google Shape;260;g3d8f21f41fc_0_338"/>
          <p:cNvSpPr txBox="1"/>
          <p:nvPr/>
        </p:nvSpPr>
        <p:spPr>
          <a:xfrm>
            <a:off x="1018575" y="2755023"/>
            <a:ext cx="10023600" cy="2670600"/>
          </a:xfrm>
          <a:prstGeom prst="rect">
            <a:avLst/>
          </a:prstGeom>
          <a:noFill/>
          <a:ln>
            <a:noFill/>
          </a:ln>
        </p:spPr>
        <p:txBody>
          <a:bodyPr anchorCtr="0" anchor="t" bIns="45700" lIns="91425" spcFirstLastPara="1" rIns="91425" wrap="square" tIns="45700">
            <a:spAutoFit/>
          </a:bodyPr>
          <a:lstStyle/>
          <a:p>
            <a:pPr indent="-393700" lvl="0" marL="457200" marR="0" rtl="0" algn="just">
              <a:lnSpc>
                <a:spcPct val="115000"/>
              </a:lnSpc>
              <a:spcBef>
                <a:spcPts val="0"/>
              </a:spcBef>
              <a:spcAft>
                <a:spcPts val="0"/>
              </a:spcAft>
              <a:buClr>
                <a:schemeClr val="dk1"/>
              </a:buClr>
              <a:buSzPts val="2600"/>
              <a:buFont typeface="Palatino Linotype"/>
              <a:buAutoNum type="arabicPeriod"/>
            </a:pPr>
            <a:r>
              <a:rPr b="0" i="0" lang="es-ES" sz="2600" u="none" cap="none" strike="noStrike">
                <a:solidFill>
                  <a:schemeClr val="dk1"/>
                </a:solidFill>
                <a:latin typeface="Palatino Linotype"/>
                <a:ea typeface="Palatino Linotype"/>
                <a:cs typeface="Palatino Linotype"/>
                <a:sym typeface="Palatino Linotype"/>
              </a:rPr>
              <a:t>Agradabilidade x Agrassividade</a:t>
            </a:r>
            <a:endParaRPr b="0" i="0" sz="2600" u="none" cap="none" strike="noStrike">
              <a:solidFill>
                <a:schemeClr val="dk1"/>
              </a:solidFill>
              <a:latin typeface="Palatino Linotype"/>
              <a:ea typeface="Palatino Linotype"/>
              <a:cs typeface="Palatino Linotype"/>
              <a:sym typeface="Palatino Linotype"/>
            </a:endParaRPr>
          </a:p>
          <a:p>
            <a:pPr indent="-393700" lvl="0" marL="457200" marR="0" rtl="0" algn="just">
              <a:lnSpc>
                <a:spcPct val="115000"/>
              </a:lnSpc>
              <a:spcBef>
                <a:spcPts val="0"/>
              </a:spcBef>
              <a:spcAft>
                <a:spcPts val="0"/>
              </a:spcAft>
              <a:buClr>
                <a:schemeClr val="dk1"/>
              </a:buClr>
              <a:buSzPts val="2600"/>
              <a:buFont typeface="Palatino Linotype"/>
              <a:buAutoNum type="arabicPeriod"/>
            </a:pPr>
            <a:r>
              <a:rPr b="0" i="0" lang="es-ES" sz="2600" u="none" cap="none" strike="noStrike">
                <a:solidFill>
                  <a:schemeClr val="dk1"/>
                </a:solidFill>
                <a:latin typeface="Palatino Linotype"/>
                <a:ea typeface="Palatino Linotype"/>
                <a:cs typeface="Palatino Linotype"/>
                <a:sym typeface="Palatino Linotype"/>
              </a:rPr>
              <a:t>Introversão x Extroversão</a:t>
            </a:r>
            <a:endParaRPr b="0" i="0" sz="2600" u="none" cap="none" strike="noStrike">
              <a:solidFill>
                <a:schemeClr val="dk1"/>
              </a:solidFill>
              <a:latin typeface="Palatino Linotype"/>
              <a:ea typeface="Palatino Linotype"/>
              <a:cs typeface="Palatino Linotype"/>
              <a:sym typeface="Palatino Linotype"/>
            </a:endParaRPr>
          </a:p>
          <a:p>
            <a:pPr indent="-393700" lvl="0" marL="457200" marR="0" rtl="0" algn="just">
              <a:lnSpc>
                <a:spcPct val="115000"/>
              </a:lnSpc>
              <a:spcBef>
                <a:spcPts val="0"/>
              </a:spcBef>
              <a:spcAft>
                <a:spcPts val="0"/>
              </a:spcAft>
              <a:buClr>
                <a:schemeClr val="dk1"/>
              </a:buClr>
              <a:buSzPts val="2600"/>
              <a:buFont typeface="Palatino Linotype"/>
              <a:buAutoNum type="arabicPeriod"/>
            </a:pPr>
            <a:r>
              <a:rPr b="0" i="0" lang="es-ES" sz="2600" u="none" cap="none" strike="noStrike">
                <a:solidFill>
                  <a:schemeClr val="dk1"/>
                </a:solidFill>
                <a:latin typeface="Palatino Linotype"/>
                <a:ea typeface="Palatino Linotype"/>
                <a:cs typeface="Palatino Linotype"/>
                <a:sym typeface="Palatino Linotype"/>
              </a:rPr>
              <a:t>Neuroticismo x Estabilidade</a:t>
            </a:r>
            <a:endParaRPr b="0" i="0" sz="2600" u="none" cap="none" strike="noStrike">
              <a:solidFill>
                <a:schemeClr val="dk1"/>
              </a:solidFill>
              <a:latin typeface="Palatino Linotype"/>
              <a:ea typeface="Palatino Linotype"/>
              <a:cs typeface="Palatino Linotype"/>
              <a:sym typeface="Palatino Linotype"/>
            </a:endParaRPr>
          </a:p>
          <a:p>
            <a:pPr indent="-393700" lvl="0" marL="457200" marR="0" rtl="0" algn="just">
              <a:lnSpc>
                <a:spcPct val="115000"/>
              </a:lnSpc>
              <a:spcBef>
                <a:spcPts val="0"/>
              </a:spcBef>
              <a:spcAft>
                <a:spcPts val="0"/>
              </a:spcAft>
              <a:buClr>
                <a:schemeClr val="dk1"/>
              </a:buClr>
              <a:buSzPts val="2600"/>
              <a:buFont typeface="Palatino Linotype"/>
              <a:buAutoNum type="arabicPeriod"/>
            </a:pPr>
            <a:r>
              <a:rPr b="0" i="0" lang="es-ES" sz="2600" u="none" cap="none" strike="noStrike">
                <a:solidFill>
                  <a:schemeClr val="dk1"/>
                </a:solidFill>
                <a:latin typeface="Palatino Linotype"/>
                <a:ea typeface="Palatino Linotype"/>
                <a:cs typeface="Palatino Linotype"/>
                <a:sym typeface="Palatino Linotype"/>
              </a:rPr>
              <a:t>Conscienciosidade x Negligencia</a:t>
            </a:r>
            <a:endParaRPr b="0" i="0" sz="2600" u="none" cap="none" strike="noStrike">
              <a:solidFill>
                <a:schemeClr val="dk1"/>
              </a:solidFill>
              <a:latin typeface="Palatino Linotype"/>
              <a:ea typeface="Palatino Linotype"/>
              <a:cs typeface="Palatino Linotype"/>
              <a:sym typeface="Palatino Linotype"/>
            </a:endParaRPr>
          </a:p>
          <a:p>
            <a:pPr indent="-393700" lvl="0" marL="457200" marR="0" rtl="0" algn="just">
              <a:lnSpc>
                <a:spcPct val="115000"/>
              </a:lnSpc>
              <a:spcBef>
                <a:spcPts val="0"/>
              </a:spcBef>
              <a:spcAft>
                <a:spcPts val="0"/>
              </a:spcAft>
              <a:buClr>
                <a:schemeClr val="dk1"/>
              </a:buClr>
              <a:buSzPts val="2600"/>
              <a:buFont typeface="Palatino Linotype"/>
              <a:buAutoNum type="arabicPeriod"/>
            </a:pPr>
            <a:r>
              <a:rPr b="0" i="0" lang="es-ES" sz="2600" u="none" cap="none" strike="noStrike">
                <a:solidFill>
                  <a:schemeClr val="dk1"/>
                </a:solidFill>
                <a:latin typeface="Palatino Linotype"/>
                <a:ea typeface="Palatino Linotype"/>
                <a:cs typeface="Palatino Linotype"/>
                <a:sym typeface="Palatino Linotype"/>
              </a:rPr>
              <a:t>Abertura x Fechamento</a:t>
            </a:r>
            <a:endParaRPr b="0" i="0" sz="2600" u="none" cap="none" strike="noStrike">
              <a:solidFill>
                <a:schemeClr val="dk1"/>
              </a:solidFill>
              <a:latin typeface="Palatino Linotype"/>
              <a:ea typeface="Palatino Linotype"/>
              <a:cs typeface="Palatino Linotype"/>
              <a:sym typeface="Palatino Linotype"/>
            </a:endParaRPr>
          </a:p>
          <a:p>
            <a:pPr indent="0" lvl="0" marL="0" marR="0" rtl="0" algn="just">
              <a:lnSpc>
                <a:spcPct val="100000"/>
              </a:lnSpc>
              <a:spcBef>
                <a:spcPts val="0"/>
              </a:spcBef>
              <a:spcAft>
                <a:spcPts val="0"/>
              </a:spcAft>
              <a:buNone/>
            </a:pPr>
            <a:r>
              <a:t/>
            </a:r>
            <a:endParaRPr b="0" i="0" sz="1800" u="none" cap="none" strike="noStrike">
              <a:solidFill>
                <a:schemeClr val="dk1"/>
              </a:solidFill>
              <a:latin typeface="Palatino Linotype"/>
              <a:ea typeface="Palatino Linotype"/>
              <a:cs typeface="Palatino Linotype"/>
              <a:sym typeface="Palatino Linotype"/>
            </a:endParaRPr>
          </a:p>
        </p:txBody>
      </p:sp>
      <p:pic>
        <p:nvPicPr>
          <p:cNvPr id="261" name="Google Shape;261;g3d8f21f41fc_0_338"/>
          <p:cNvPicPr preferRelativeResize="0"/>
          <p:nvPr/>
        </p:nvPicPr>
        <p:blipFill rotWithShape="1">
          <a:blip r:embed="rId3">
            <a:alphaModFix/>
          </a:blip>
          <a:srcRect b="0" l="0" r="0" t="0"/>
          <a:stretch/>
        </p:blipFill>
        <p:spPr>
          <a:xfrm>
            <a:off x="7245925" y="2105701"/>
            <a:ext cx="3609273" cy="3609273"/>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0"/>
                                        </p:tgtEl>
                                        <p:attrNameLst>
                                          <p:attrName>style.visibility</p:attrName>
                                        </p:attrNameLst>
                                      </p:cBhvr>
                                      <p:to>
                                        <p:strVal val="visible"/>
                                      </p:to>
                                    </p:set>
                                    <p:animEffect filter="fade" transition="in">
                                      <p:cBhvr>
                                        <p:cTn dur="500"/>
                                        <p:tgtEl>
                                          <p:spTgt spid="26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5" name="Shape 265"/>
        <p:cNvGrpSpPr/>
        <p:nvPr/>
      </p:nvGrpSpPr>
      <p:grpSpPr>
        <a:xfrm>
          <a:off x="0" y="0"/>
          <a:ext cx="0" cy="0"/>
          <a:chOff x="0" y="0"/>
          <a:chExt cx="0" cy="0"/>
        </a:xfrm>
      </p:grpSpPr>
      <p:sp>
        <p:nvSpPr>
          <p:cNvPr id="266" name="Google Shape;266;g3d8f21f41fc_0_290"/>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r">
              <a:spcBef>
                <a:spcPts val="0"/>
              </a:spcBef>
              <a:spcAft>
                <a:spcPts val="0"/>
              </a:spcAft>
              <a:buNone/>
            </a:pPr>
            <a:r>
              <a:rPr b="1" lang="es-ES"/>
              <a:t>Cinco Fatores</a:t>
            </a:r>
            <a:endParaRPr b="1"/>
          </a:p>
        </p:txBody>
      </p:sp>
      <p:sp>
        <p:nvSpPr>
          <p:cNvPr id="267" name="Google Shape;267;g3d8f21f41fc_0_290"/>
          <p:cNvSpPr txBox="1"/>
          <p:nvPr>
            <p:ph idx="1" type="body"/>
          </p:nvPr>
        </p:nvSpPr>
        <p:spPr>
          <a:xfrm>
            <a:off x="1143000" y="2057400"/>
            <a:ext cx="10200300" cy="4038600"/>
          </a:xfrm>
          <a:prstGeom prst="rect">
            <a:avLst/>
          </a:prstGeom>
        </p:spPr>
        <p:txBody>
          <a:bodyPr anchorCtr="0" anchor="t" bIns="45700" lIns="91425" spcFirstLastPara="1" rIns="91425" wrap="square" tIns="45700">
            <a:noAutofit/>
          </a:bodyPr>
          <a:lstStyle/>
          <a:p>
            <a:pPr indent="0" lvl="0" marL="0" rtl="0" algn="just">
              <a:spcBef>
                <a:spcPts val="1000"/>
              </a:spcBef>
              <a:spcAft>
                <a:spcPts val="0"/>
              </a:spcAft>
              <a:buNone/>
            </a:pPr>
            <a:r>
              <a:rPr lang="es-ES" sz="3200">
                <a:solidFill>
                  <a:schemeClr val="dk1"/>
                </a:solidFill>
                <a:latin typeface="Times New Roman"/>
                <a:ea typeface="Times New Roman"/>
                <a:cs typeface="Times New Roman"/>
                <a:sym typeface="Times New Roman"/>
              </a:rPr>
              <a:t>Os </a:t>
            </a:r>
            <a:r>
              <a:rPr b="1" lang="es-ES" sz="3200">
                <a:solidFill>
                  <a:schemeClr val="dk1"/>
                </a:solidFill>
                <a:latin typeface="Times New Roman"/>
                <a:ea typeface="Times New Roman"/>
                <a:cs typeface="Times New Roman"/>
                <a:sym typeface="Times New Roman"/>
              </a:rPr>
              <a:t>cinco grandes</a:t>
            </a:r>
            <a:r>
              <a:rPr lang="es-ES" sz="3200">
                <a:solidFill>
                  <a:schemeClr val="dk1"/>
                </a:solidFill>
                <a:latin typeface="Times New Roman"/>
                <a:ea typeface="Times New Roman"/>
                <a:cs typeface="Times New Roman"/>
                <a:sym typeface="Times New Roman"/>
              </a:rPr>
              <a:t>, </a:t>
            </a:r>
            <a:r>
              <a:rPr b="1" lang="es-ES" sz="3200">
                <a:solidFill>
                  <a:schemeClr val="dk1"/>
                </a:solidFill>
                <a:latin typeface="Times New Roman"/>
                <a:ea typeface="Times New Roman"/>
                <a:cs typeface="Times New Roman"/>
                <a:sym typeface="Times New Roman"/>
              </a:rPr>
              <a:t>modelo de cinco Fatores (MCF),</a:t>
            </a:r>
            <a:r>
              <a:rPr baseline="30000" lang="es-ES" sz="3600">
                <a:solidFill>
                  <a:schemeClr val="dk1"/>
                </a:solidFill>
                <a:uFill>
                  <a:noFill/>
                </a:uFill>
                <a:latin typeface="Times New Roman"/>
                <a:ea typeface="Times New Roman"/>
                <a:cs typeface="Times New Roman"/>
                <a:sym typeface="Times New Roman"/>
                <a:hlinkClick r:id="rId3">
                  <a:extLst>
                    <a:ext uri="{A12FA001-AC4F-418D-AE19-62706E023703}">
                      <ahyp:hlinkClr val="tx"/>
                    </a:ext>
                  </a:extLst>
                </a:hlinkClick>
              </a:rPr>
              <a:t>[1]</a:t>
            </a:r>
            <a:r>
              <a:rPr b="1" lang="es-ES" sz="3200">
                <a:solidFill>
                  <a:schemeClr val="dk1"/>
                </a:solidFill>
                <a:latin typeface="Times New Roman"/>
                <a:ea typeface="Times New Roman"/>
                <a:cs typeface="Times New Roman"/>
                <a:sym typeface="Times New Roman"/>
              </a:rPr>
              <a:t> fatores globais de personalidade</a:t>
            </a:r>
            <a:r>
              <a:rPr lang="es-ES" sz="3200">
                <a:solidFill>
                  <a:schemeClr val="dk1"/>
                </a:solidFill>
                <a:latin typeface="Times New Roman"/>
                <a:ea typeface="Times New Roman"/>
                <a:cs typeface="Times New Roman"/>
                <a:sym typeface="Times New Roman"/>
              </a:rPr>
              <a:t> (em </a:t>
            </a:r>
            <a:r>
              <a:rPr lang="es-ES" sz="3200">
                <a:solidFill>
                  <a:schemeClr val="dk1"/>
                </a:solidFill>
                <a:uFill>
                  <a:noFill/>
                </a:uFill>
                <a:latin typeface="Times New Roman"/>
                <a:ea typeface="Times New Roman"/>
                <a:cs typeface="Times New Roman"/>
                <a:sym typeface="Times New Roman"/>
                <a:hlinkClick r:id="rId4">
                  <a:extLst>
                    <a:ext uri="{A12FA001-AC4F-418D-AE19-62706E023703}">
                      <ahyp:hlinkClr val="tx"/>
                    </a:ext>
                  </a:extLst>
                </a:hlinkClick>
              </a:rPr>
              <a:t>inglês</a:t>
            </a:r>
            <a:r>
              <a:rPr lang="es-ES" sz="3200">
                <a:solidFill>
                  <a:schemeClr val="dk1"/>
                </a:solidFill>
                <a:latin typeface="Times New Roman"/>
                <a:ea typeface="Times New Roman"/>
                <a:cs typeface="Times New Roman"/>
                <a:sym typeface="Times New Roman"/>
              </a:rPr>
              <a:t>: </a:t>
            </a:r>
            <a:r>
              <a:rPr i="1" lang="es-ES" sz="3200">
                <a:solidFill>
                  <a:schemeClr val="dk1"/>
                </a:solidFill>
                <a:latin typeface="Times New Roman"/>
                <a:ea typeface="Times New Roman"/>
                <a:cs typeface="Times New Roman"/>
                <a:sym typeface="Times New Roman"/>
              </a:rPr>
              <a:t>big five</a:t>
            </a:r>
            <a:r>
              <a:rPr lang="es-ES" sz="3200">
                <a:solidFill>
                  <a:schemeClr val="dk1"/>
                </a:solidFill>
                <a:latin typeface="Times New Roman"/>
                <a:ea typeface="Times New Roman"/>
                <a:cs typeface="Times New Roman"/>
                <a:sym typeface="Times New Roman"/>
              </a:rPr>
              <a:t>) refere-se na </a:t>
            </a:r>
            <a:r>
              <a:rPr lang="es-ES" sz="3200">
                <a:solidFill>
                  <a:schemeClr val="dk1"/>
                </a:solidFill>
                <a:uFill>
                  <a:noFill/>
                </a:uFill>
                <a:latin typeface="Times New Roman"/>
                <a:ea typeface="Times New Roman"/>
                <a:cs typeface="Times New Roman"/>
                <a:sym typeface="Times New Roman"/>
                <a:hlinkClick r:id="rId5">
                  <a:extLst>
                    <a:ext uri="{A12FA001-AC4F-418D-AE19-62706E023703}">
                      <ahyp:hlinkClr val="tx"/>
                    </a:ext>
                  </a:extLst>
                </a:hlinkClick>
              </a:rPr>
              <a:t>psicologia</a:t>
            </a:r>
            <a:r>
              <a:rPr lang="es-ES" sz="3200">
                <a:solidFill>
                  <a:schemeClr val="dk1"/>
                </a:solidFill>
                <a:latin typeface="Times New Roman"/>
                <a:ea typeface="Times New Roman"/>
                <a:cs typeface="Times New Roman"/>
                <a:sym typeface="Times New Roman"/>
              </a:rPr>
              <a:t> aos cinco fatores da </a:t>
            </a:r>
            <a:r>
              <a:rPr lang="es-ES" sz="3200">
                <a:solidFill>
                  <a:schemeClr val="dk1"/>
                </a:solidFill>
                <a:uFill>
                  <a:noFill/>
                </a:uFill>
                <a:latin typeface="Times New Roman"/>
                <a:ea typeface="Times New Roman"/>
                <a:cs typeface="Times New Roman"/>
                <a:sym typeface="Times New Roman"/>
                <a:hlinkClick r:id="rId6">
                  <a:extLst>
                    <a:ext uri="{A12FA001-AC4F-418D-AE19-62706E023703}">
                      <ahyp:hlinkClr val="tx"/>
                    </a:ext>
                  </a:extLst>
                </a:hlinkClick>
              </a:rPr>
              <a:t>personalidade</a:t>
            </a:r>
            <a:r>
              <a:rPr lang="es-ES" sz="3200">
                <a:solidFill>
                  <a:schemeClr val="dk1"/>
                </a:solidFill>
                <a:latin typeface="Times New Roman"/>
                <a:ea typeface="Times New Roman"/>
                <a:cs typeface="Times New Roman"/>
                <a:sym typeface="Times New Roman"/>
              </a:rPr>
              <a:t> descritos pelo método lexical, ou seja, baseado em uma análise linguística</a:t>
            </a:r>
            <a:r>
              <a:rPr baseline="30000" lang="es-ES" sz="3600">
                <a:solidFill>
                  <a:schemeClr val="dk1"/>
                </a:solidFill>
                <a:uFill>
                  <a:noFill/>
                </a:uFill>
                <a:latin typeface="Times New Roman"/>
                <a:ea typeface="Times New Roman"/>
                <a:cs typeface="Times New Roman"/>
                <a:sym typeface="Times New Roman"/>
                <a:hlinkClick r:id="rId7">
                  <a:extLst>
                    <a:ext uri="{A12FA001-AC4F-418D-AE19-62706E023703}">
                      <ahyp:hlinkClr val="tx"/>
                    </a:ext>
                  </a:extLst>
                </a:hlinkClick>
              </a:rPr>
              <a:t>[2]</a:t>
            </a:r>
            <a:r>
              <a:rPr lang="es-ES" sz="3200">
                <a:solidFill>
                  <a:schemeClr val="dk1"/>
                </a:solidFill>
                <a:latin typeface="Times New Roman"/>
                <a:ea typeface="Times New Roman"/>
                <a:cs typeface="Times New Roman"/>
                <a:sym typeface="Times New Roman"/>
              </a:rPr>
              <a:t>: 1) </a:t>
            </a:r>
            <a:r>
              <a:rPr lang="es-ES" sz="3200">
                <a:solidFill>
                  <a:schemeClr val="dk1"/>
                </a:solidFill>
                <a:uFill>
                  <a:noFill/>
                </a:uFill>
                <a:latin typeface="Times New Roman"/>
                <a:ea typeface="Times New Roman"/>
                <a:cs typeface="Times New Roman"/>
                <a:sym typeface="Times New Roman"/>
                <a:hlinkClick r:id="rId8">
                  <a:extLst>
                    <a:ext uri="{A12FA001-AC4F-418D-AE19-62706E023703}">
                      <ahyp:hlinkClr val="tx"/>
                    </a:ext>
                  </a:extLst>
                </a:hlinkClick>
              </a:rPr>
              <a:t>Abertura para a experiência</a:t>
            </a:r>
            <a:r>
              <a:rPr lang="es-ES" sz="3200">
                <a:solidFill>
                  <a:schemeClr val="dk1"/>
                </a:solidFill>
                <a:latin typeface="Times New Roman"/>
                <a:ea typeface="Times New Roman"/>
                <a:cs typeface="Times New Roman"/>
                <a:sym typeface="Times New Roman"/>
              </a:rPr>
              <a:t> (</a:t>
            </a:r>
            <a:r>
              <a:rPr i="1" lang="es-ES" sz="3200">
                <a:solidFill>
                  <a:schemeClr val="dk1"/>
                </a:solidFill>
                <a:latin typeface="Times New Roman"/>
                <a:ea typeface="Times New Roman"/>
                <a:cs typeface="Times New Roman"/>
                <a:sym typeface="Times New Roman"/>
              </a:rPr>
              <a:t>openness to experience</a:t>
            </a:r>
            <a:r>
              <a:rPr lang="es-ES" sz="3200">
                <a:solidFill>
                  <a:schemeClr val="dk1"/>
                </a:solidFill>
                <a:latin typeface="Times New Roman"/>
                <a:ea typeface="Times New Roman"/>
                <a:cs typeface="Times New Roman"/>
                <a:sym typeface="Times New Roman"/>
              </a:rPr>
              <a:t>); 2) </a:t>
            </a:r>
            <a:r>
              <a:rPr lang="es-ES" sz="3200">
                <a:solidFill>
                  <a:schemeClr val="dk1"/>
                </a:solidFill>
                <a:uFill>
                  <a:noFill/>
                </a:uFill>
                <a:latin typeface="Times New Roman"/>
                <a:ea typeface="Times New Roman"/>
                <a:cs typeface="Times New Roman"/>
                <a:sym typeface="Times New Roman"/>
                <a:hlinkClick r:id="rId9">
                  <a:extLst>
                    <a:ext uri="{A12FA001-AC4F-418D-AE19-62706E023703}">
                      <ahyp:hlinkClr val="tx"/>
                    </a:ext>
                  </a:extLst>
                </a:hlinkClick>
              </a:rPr>
              <a:t>Conscienciosidade</a:t>
            </a:r>
            <a:r>
              <a:rPr lang="es-ES" sz="3200">
                <a:solidFill>
                  <a:schemeClr val="dk1"/>
                </a:solidFill>
                <a:latin typeface="Times New Roman"/>
                <a:ea typeface="Times New Roman"/>
                <a:cs typeface="Times New Roman"/>
                <a:sym typeface="Times New Roman"/>
              </a:rPr>
              <a:t> (</a:t>
            </a:r>
            <a:r>
              <a:rPr i="1" lang="es-ES" sz="3200">
                <a:solidFill>
                  <a:schemeClr val="dk1"/>
                </a:solidFill>
                <a:latin typeface="Times New Roman"/>
                <a:ea typeface="Times New Roman"/>
                <a:cs typeface="Times New Roman"/>
                <a:sym typeface="Times New Roman"/>
              </a:rPr>
              <a:t>conscientiousness</a:t>
            </a:r>
            <a:r>
              <a:rPr lang="es-ES" sz="3200">
                <a:solidFill>
                  <a:schemeClr val="dk1"/>
                </a:solidFill>
                <a:latin typeface="Times New Roman"/>
                <a:ea typeface="Times New Roman"/>
                <a:cs typeface="Times New Roman"/>
                <a:sym typeface="Times New Roman"/>
              </a:rPr>
              <a:t>) 3) </a:t>
            </a:r>
            <a:r>
              <a:rPr lang="es-ES" sz="3200">
                <a:solidFill>
                  <a:schemeClr val="dk1"/>
                </a:solidFill>
                <a:uFill>
                  <a:noFill/>
                </a:uFill>
                <a:latin typeface="Times New Roman"/>
                <a:ea typeface="Times New Roman"/>
                <a:cs typeface="Times New Roman"/>
                <a:sym typeface="Times New Roman"/>
                <a:hlinkClick r:id="rId10">
                  <a:extLst>
                    <a:ext uri="{A12FA001-AC4F-418D-AE19-62706E023703}">
                      <ahyp:hlinkClr val="tx"/>
                    </a:ext>
                  </a:extLst>
                </a:hlinkClick>
              </a:rPr>
              <a:t>Extroversão</a:t>
            </a:r>
            <a:r>
              <a:rPr lang="es-ES" sz="3200">
                <a:solidFill>
                  <a:schemeClr val="dk1"/>
                </a:solidFill>
                <a:latin typeface="Times New Roman"/>
                <a:ea typeface="Times New Roman"/>
                <a:cs typeface="Times New Roman"/>
                <a:sym typeface="Times New Roman"/>
              </a:rPr>
              <a:t> (</a:t>
            </a:r>
            <a:r>
              <a:rPr i="1" lang="es-ES" sz="3200">
                <a:solidFill>
                  <a:schemeClr val="dk1"/>
                </a:solidFill>
                <a:latin typeface="Times New Roman"/>
                <a:ea typeface="Times New Roman"/>
                <a:cs typeface="Times New Roman"/>
                <a:sym typeface="Times New Roman"/>
              </a:rPr>
              <a:t>extraversion</a:t>
            </a:r>
            <a:r>
              <a:rPr lang="es-ES" sz="3200">
                <a:solidFill>
                  <a:schemeClr val="dk1"/>
                </a:solidFill>
                <a:latin typeface="Times New Roman"/>
                <a:ea typeface="Times New Roman"/>
                <a:cs typeface="Times New Roman"/>
                <a:sym typeface="Times New Roman"/>
              </a:rPr>
              <a:t>); 4) </a:t>
            </a:r>
            <a:r>
              <a:rPr lang="es-ES" sz="3200">
                <a:solidFill>
                  <a:schemeClr val="dk1"/>
                </a:solidFill>
                <a:uFill>
                  <a:noFill/>
                </a:uFill>
                <a:latin typeface="Times New Roman"/>
                <a:ea typeface="Times New Roman"/>
                <a:cs typeface="Times New Roman"/>
                <a:sym typeface="Times New Roman"/>
                <a:hlinkClick r:id="rId11">
                  <a:extLst>
                    <a:ext uri="{A12FA001-AC4F-418D-AE19-62706E023703}">
                      <ahyp:hlinkClr val="tx"/>
                    </a:ext>
                  </a:extLst>
                </a:hlinkClick>
              </a:rPr>
              <a:t>Neuroticismo</a:t>
            </a:r>
            <a:r>
              <a:rPr lang="es-ES" sz="3200">
                <a:solidFill>
                  <a:schemeClr val="dk1"/>
                </a:solidFill>
                <a:latin typeface="Times New Roman"/>
                <a:ea typeface="Times New Roman"/>
                <a:cs typeface="Times New Roman"/>
                <a:sym typeface="Times New Roman"/>
              </a:rPr>
              <a:t> ou </a:t>
            </a:r>
            <a:r>
              <a:rPr lang="es-ES" sz="3200">
                <a:solidFill>
                  <a:schemeClr val="dk1"/>
                </a:solidFill>
                <a:uFill>
                  <a:noFill/>
                </a:uFill>
                <a:latin typeface="Times New Roman"/>
                <a:ea typeface="Times New Roman"/>
                <a:cs typeface="Times New Roman"/>
                <a:sym typeface="Times New Roman"/>
                <a:hlinkClick r:id="rId12">
                  <a:extLst>
                    <a:ext uri="{A12FA001-AC4F-418D-AE19-62706E023703}">
                      <ahyp:hlinkClr val="tx"/>
                    </a:ext>
                  </a:extLst>
                </a:hlinkClick>
              </a:rPr>
              <a:t>Instabilidade Emocional</a:t>
            </a:r>
            <a:r>
              <a:rPr lang="es-ES" sz="3200">
                <a:solidFill>
                  <a:schemeClr val="dk1"/>
                </a:solidFill>
                <a:latin typeface="Times New Roman"/>
                <a:ea typeface="Times New Roman"/>
                <a:cs typeface="Times New Roman"/>
                <a:sym typeface="Times New Roman"/>
              </a:rPr>
              <a:t> (</a:t>
            </a:r>
            <a:r>
              <a:rPr i="1" lang="es-ES" sz="3200">
                <a:solidFill>
                  <a:schemeClr val="dk1"/>
                </a:solidFill>
                <a:latin typeface="Times New Roman"/>
                <a:ea typeface="Times New Roman"/>
                <a:cs typeface="Times New Roman"/>
                <a:sym typeface="Times New Roman"/>
              </a:rPr>
              <a:t>neuroticism</a:t>
            </a:r>
            <a:r>
              <a:rPr lang="es-ES" sz="3200">
                <a:solidFill>
                  <a:schemeClr val="dk1"/>
                </a:solidFill>
                <a:latin typeface="Times New Roman"/>
                <a:ea typeface="Times New Roman"/>
                <a:cs typeface="Times New Roman"/>
                <a:sym typeface="Times New Roman"/>
              </a:rPr>
              <a:t>); e 5) </a:t>
            </a:r>
            <a:r>
              <a:rPr lang="es-ES" sz="3200">
                <a:solidFill>
                  <a:schemeClr val="dk1"/>
                </a:solidFill>
                <a:uFill>
                  <a:noFill/>
                </a:uFill>
                <a:latin typeface="Times New Roman"/>
                <a:ea typeface="Times New Roman"/>
                <a:cs typeface="Times New Roman"/>
                <a:sym typeface="Times New Roman"/>
                <a:hlinkClick r:id="rId13">
                  <a:extLst>
                    <a:ext uri="{A12FA001-AC4F-418D-AE19-62706E023703}">
                      <ahyp:hlinkClr val="tx"/>
                    </a:ext>
                  </a:extLst>
                </a:hlinkClick>
              </a:rPr>
              <a:t>Amabilidade</a:t>
            </a:r>
            <a:r>
              <a:rPr lang="es-ES" sz="3200">
                <a:solidFill>
                  <a:schemeClr val="dk1"/>
                </a:solidFill>
                <a:latin typeface="Times New Roman"/>
                <a:ea typeface="Times New Roman"/>
                <a:cs typeface="Times New Roman"/>
                <a:sym typeface="Times New Roman"/>
              </a:rPr>
              <a:t> (</a:t>
            </a:r>
            <a:r>
              <a:rPr i="1" lang="es-ES" sz="3200">
                <a:solidFill>
                  <a:schemeClr val="dk1"/>
                </a:solidFill>
                <a:latin typeface="Times New Roman"/>
                <a:ea typeface="Times New Roman"/>
                <a:cs typeface="Times New Roman"/>
                <a:sym typeface="Times New Roman"/>
              </a:rPr>
              <a:t>agreeableness</a:t>
            </a:r>
            <a:r>
              <a:rPr lang="es-ES" sz="3200">
                <a:solidFill>
                  <a:schemeClr val="dk1"/>
                </a:solidFill>
                <a:latin typeface="Times New Roman"/>
                <a:ea typeface="Times New Roman"/>
                <a:cs typeface="Times New Roman"/>
                <a:sym typeface="Times New Roman"/>
              </a:rPr>
              <a:t>)</a:t>
            </a:r>
            <a:endParaRPr sz="4400">
              <a:solidFill>
                <a:schemeClr val="dk1"/>
              </a:solidFill>
              <a:latin typeface="Times New Roman"/>
              <a:ea typeface="Times New Roman"/>
              <a:cs typeface="Times New Roman"/>
              <a:sym typeface="Times New Roman"/>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71" name="Shape 271"/>
        <p:cNvGrpSpPr/>
        <p:nvPr/>
      </p:nvGrpSpPr>
      <p:grpSpPr>
        <a:xfrm>
          <a:off x="0" y="0"/>
          <a:ext cx="0" cy="0"/>
          <a:chOff x="0" y="0"/>
          <a:chExt cx="0" cy="0"/>
        </a:xfrm>
      </p:grpSpPr>
      <p:sp>
        <p:nvSpPr>
          <p:cNvPr id="272" name="Google Shape;272;g3d8f21f41fc_0_295"/>
          <p:cNvSpPr txBox="1"/>
          <p:nvPr>
            <p:ph type="title"/>
          </p:nvPr>
        </p:nvSpPr>
        <p:spPr>
          <a:xfrm>
            <a:off x="396875" y="715054"/>
            <a:ext cx="11139900" cy="1272600"/>
          </a:xfrm>
          <a:prstGeom prst="rect">
            <a:avLst/>
          </a:prstGeom>
          <a:noFill/>
          <a:ln>
            <a:noFill/>
          </a:ln>
        </p:spPr>
        <p:txBody>
          <a:bodyPr anchorCtr="0" anchor="b" bIns="45700" lIns="91425" spcFirstLastPara="1" rIns="91425" wrap="square" tIns="45700">
            <a:noAutofit/>
          </a:bodyPr>
          <a:lstStyle/>
          <a:p>
            <a:pPr indent="0" lvl="0" marL="0" rtl="0" algn="ctr">
              <a:lnSpc>
                <a:spcPct val="90000"/>
              </a:lnSpc>
              <a:spcBef>
                <a:spcPts val="0"/>
              </a:spcBef>
              <a:spcAft>
                <a:spcPts val="0"/>
              </a:spcAft>
              <a:buClr>
                <a:schemeClr val="dk1"/>
              </a:buClr>
              <a:buSzPts val="3000"/>
              <a:buFont typeface="Corbel"/>
              <a:buNone/>
            </a:pPr>
            <a:r>
              <a:t/>
            </a:r>
            <a:endParaRPr b="1" sz="3000"/>
          </a:p>
          <a:p>
            <a:pPr indent="0" lvl="0" marL="0" rtl="0" algn="ctr">
              <a:lnSpc>
                <a:spcPct val="90000"/>
              </a:lnSpc>
              <a:spcBef>
                <a:spcPts val="0"/>
              </a:spcBef>
              <a:spcAft>
                <a:spcPts val="0"/>
              </a:spcAft>
              <a:buClr>
                <a:schemeClr val="dk1"/>
              </a:buClr>
              <a:buSzPts val="3000"/>
              <a:buFont typeface="Corbel"/>
              <a:buNone/>
            </a:pPr>
            <a:r>
              <a:t/>
            </a:r>
            <a:endParaRPr b="1" sz="3000"/>
          </a:p>
          <a:p>
            <a:pPr indent="0" lvl="0" marL="0" rtl="0" algn="ctr">
              <a:lnSpc>
                <a:spcPct val="90000"/>
              </a:lnSpc>
              <a:spcBef>
                <a:spcPts val="0"/>
              </a:spcBef>
              <a:spcAft>
                <a:spcPts val="0"/>
              </a:spcAft>
              <a:buClr>
                <a:schemeClr val="dk1"/>
              </a:buClr>
              <a:buSzPts val="3000"/>
              <a:buFont typeface="Corbel"/>
              <a:buNone/>
            </a:pPr>
            <a:r>
              <a:t/>
            </a:r>
            <a:endParaRPr b="1" sz="3000"/>
          </a:p>
          <a:p>
            <a:pPr indent="0" lvl="0" marL="0" rtl="0" algn="ctr">
              <a:lnSpc>
                <a:spcPct val="90000"/>
              </a:lnSpc>
              <a:spcBef>
                <a:spcPts val="0"/>
              </a:spcBef>
              <a:spcAft>
                <a:spcPts val="0"/>
              </a:spcAft>
              <a:buClr>
                <a:schemeClr val="dk1"/>
              </a:buClr>
              <a:buSzPts val="3000"/>
              <a:buFont typeface="Corbel"/>
              <a:buNone/>
            </a:pPr>
            <a:r>
              <a:t/>
            </a:r>
            <a:endParaRPr b="1" sz="3000"/>
          </a:p>
          <a:p>
            <a:pPr indent="0" lvl="0" marL="0" rtl="0" algn="ctr">
              <a:lnSpc>
                <a:spcPct val="90000"/>
              </a:lnSpc>
              <a:spcBef>
                <a:spcPts val="0"/>
              </a:spcBef>
              <a:spcAft>
                <a:spcPts val="0"/>
              </a:spcAft>
              <a:buClr>
                <a:schemeClr val="dk1"/>
              </a:buClr>
              <a:buSzPts val="3000"/>
              <a:buFont typeface="Corbel"/>
              <a:buNone/>
            </a:pPr>
            <a:r>
              <a:rPr b="1" lang="es-ES" sz="3000">
                <a:solidFill>
                  <a:schemeClr val="dk1"/>
                </a:solidFill>
              </a:rPr>
              <a:t>Agradabilidade</a:t>
            </a:r>
            <a:br>
              <a:rPr b="1" lang="es-ES" sz="3000">
                <a:solidFill>
                  <a:schemeClr val="dk1"/>
                </a:solidFill>
              </a:rPr>
            </a:br>
            <a:r>
              <a:rPr b="1" lang="es-ES" sz="3000">
                <a:solidFill>
                  <a:schemeClr val="dk1"/>
                </a:solidFill>
              </a:rPr>
              <a:t>(Desafiador x Colaborativo)</a:t>
            </a:r>
            <a:br>
              <a:rPr b="1" lang="es-ES" sz="3000">
                <a:solidFill>
                  <a:schemeClr val="dk1"/>
                </a:solidFill>
              </a:rPr>
            </a:br>
            <a:br>
              <a:rPr b="1" lang="es-ES" sz="3000">
                <a:solidFill>
                  <a:schemeClr val="dk1"/>
                </a:solidFill>
              </a:rPr>
            </a:br>
            <a:endParaRPr b="1" sz="3000">
              <a:solidFill>
                <a:schemeClr val="dk1"/>
              </a:solidFill>
            </a:endParaRPr>
          </a:p>
        </p:txBody>
      </p:sp>
      <p:pic>
        <p:nvPicPr>
          <p:cNvPr id="273" name="Google Shape;273;g3d8f21f41fc_0_295"/>
          <p:cNvPicPr preferRelativeResize="0"/>
          <p:nvPr/>
        </p:nvPicPr>
        <p:blipFill rotWithShape="1">
          <a:blip r:embed="rId3">
            <a:alphaModFix/>
          </a:blip>
          <a:srcRect b="0" l="0" r="0" t="0"/>
          <a:stretch/>
        </p:blipFill>
        <p:spPr>
          <a:xfrm>
            <a:off x="2174973" y="1403250"/>
            <a:ext cx="2879151" cy="5165273"/>
          </a:xfrm>
          <a:prstGeom prst="rect">
            <a:avLst/>
          </a:prstGeom>
          <a:noFill/>
          <a:ln>
            <a:noFill/>
          </a:ln>
        </p:spPr>
      </p:pic>
      <p:pic>
        <p:nvPicPr>
          <p:cNvPr id="274" name="Google Shape;274;g3d8f21f41fc_0_295"/>
          <p:cNvPicPr preferRelativeResize="0"/>
          <p:nvPr/>
        </p:nvPicPr>
        <p:blipFill rotWithShape="1">
          <a:blip r:embed="rId4">
            <a:alphaModFix/>
          </a:blip>
          <a:srcRect b="0" l="0" r="0" t="0"/>
          <a:stretch/>
        </p:blipFill>
        <p:spPr>
          <a:xfrm>
            <a:off x="6285225" y="1327050"/>
            <a:ext cx="3580024" cy="5241475"/>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8" name="Shape 278"/>
        <p:cNvGrpSpPr/>
        <p:nvPr/>
      </p:nvGrpSpPr>
      <p:grpSpPr>
        <a:xfrm>
          <a:off x="0" y="0"/>
          <a:ext cx="0" cy="0"/>
          <a:chOff x="0" y="0"/>
          <a:chExt cx="0" cy="0"/>
        </a:xfrm>
      </p:grpSpPr>
      <p:sp>
        <p:nvSpPr>
          <p:cNvPr id="279" name="Google Shape;279;g3d8f21f41fc_0_301"/>
          <p:cNvSpPr txBox="1"/>
          <p:nvPr>
            <p:ph type="title"/>
          </p:nvPr>
        </p:nvSpPr>
        <p:spPr>
          <a:xfrm>
            <a:off x="1240500" y="268325"/>
            <a:ext cx="10330500" cy="1828200"/>
          </a:xfrm>
          <a:prstGeom prst="rect">
            <a:avLst/>
          </a:prstGeom>
          <a:noFill/>
          <a:ln>
            <a:noFill/>
          </a:ln>
        </p:spPr>
        <p:txBody>
          <a:bodyPr anchorCtr="0" anchor="ctr" bIns="45700" lIns="91425" spcFirstLastPara="1" rIns="91425" wrap="square" tIns="45700">
            <a:normAutofit/>
          </a:bodyPr>
          <a:lstStyle/>
          <a:p>
            <a:pPr indent="0" lvl="0" marL="0" rtl="0" algn="r">
              <a:lnSpc>
                <a:spcPct val="90000"/>
              </a:lnSpc>
              <a:spcBef>
                <a:spcPts val="0"/>
              </a:spcBef>
              <a:spcAft>
                <a:spcPts val="0"/>
              </a:spcAft>
              <a:buSzPts val="1800"/>
              <a:buNone/>
            </a:pPr>
            <a:r>
              <a:rPr b="1" lang="es-ES"/>
              <a:t>Neuroticismo</a:t>
            </a:r>
            <a:endParaRPr b="1"/>
          </a:p>
          <a:p>
            <a:pPr indent="0" lvl="0" marL="0" rtl="0" algn="r">
              <a:lnSpc>
                <a:spcPct val="90000"/>
              </a:lnSpc>
              <a:spcBef>
                <a:spcPts val="0"/>
              </a:spcBef>
              <a:spcAft>
                <a:spcPts val="0"/>
              </a:spcAft>
              <a:buSzPts val="1800"/>
              <a:buNone/>
            </a:pPr>
            <a:r>
              <a:rPr b="1" lang="es-ES" sz="3200"/>
              <a:t>Instabilidade Emocional  x Estabilidade Emocional</a:t>
            </a:r>
            <a:endParaRPr b="1" sz="3200"/>
          </a:p>
        </p:txBody>
      </p:sp>
      <p:pic>
        <p:nvPicPr>
          <p:cNvPr id="280" name="Google Shape;280;g3d8f21f41fc_0_301"/>
          <p:cNvPicPr preferRelativeResize="0"/>
          <p:nvPr/>
        </p:nvPicPr>
        <p:blipFill rotWithShape="1">
          <a:blip r:embed="rId3">
            <a:alphaModFix/>
          </a:blip>
          <a:srcRect b="0" l="0" r="0" t="0"/>
          <a:stretch/>
        </p:blipFill>
        <p:spPr>
          <a:xfrm>
            <a:off x="2167550" y="1988900"/>
            <a:ext cx="2507732" cy="4456676"/>
          </a:xfrm>
          <a:prstGeom prst="rect">
            <a:avLst/>
          </a:prstGeom>
          <a:noFill/>
          <a:ln>
            <a:noFill/>
          </a:ln>
        </p:spPr>
      </p:pic>
      <p:pic>
        <p:nvPicPr>
          <p:cNvPr id="281" name="Google Shape;281;g3d8f21f41fc_0_301"/>
          <p:cNvPicPr preferRelativeResize="0"/>
          <p:nvPr/>
        </p:nvPicPr>
        <p:blipFill rotWithShape="1">
          <a:blip r:embed="rId4">
            <a:alphaModFix/>
          </a:blip>
          <a:srcRect b="0" l="0" r="0" t="0"/>
          <a:stretch/>
        </p:blipFill>
        <p:spPr>
          <a:xfrm>
            <a:off x="7056182" y="1894800"/>
            <a:ext cx="3119672" cy="4456675"/>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85" name="Shape 285"/>
        <p:cNvGrpSpPr/>
        <p:nvPr/>
      </p:nvGrpSpPr>
      <p:grpSpPr>
        <a:xfrm>
          <a:off x="0" y="0"/>
          <a:ext cx="0" cy="0"/>
          <a:chOff x="0" y="0"/>
          <a:chExt cx="0" cy="0"/>
        </a:xfrm>
      </p:grpSpPr>
      <p:sp>
        <p:nvSpPr>
          <p:cNvPr id="286" name="Google Shape;286;g3d8f21f41fc_0_307"/>
          <p:cNvSpPr txBox="1"/>
          <p:nvPr>
            <p:ph type="title"/>
          </p:nvPr>
        </p:nvSpPr>
        <p:spPr>
          <a:xfrm>
            <a:off x="841250" y="4822599"/>
            <a:ext cx="10506600" cy="1901700"/>
          </a:xfrm>
          <a:prstGeom prst="rect">
            <a:avLst/>
          </a:prstGeom>
          <a:noFill/>
          <a:ln>
            <a:noFill/>
          </a:ln>
        </p:spPr>
        <p:txBody>
          <a:bodyPr anchorCtr="0" anchor="b" bIns="45700" lIns="91425" spcFirstLastPara="1" rIns="91425" wrap="square" tIns="45700">
            <a:normAutofit/>
          </a:bodyPr>
          <a:lstStyle/>
          <a:p>
            <a:pPr indent="0" lvl="0" marL="0" rtl="0" algn="ctr">
              <a:lnSpc>
                <a:spcPct val="90000"/>
              </a:lnSpc>
              <a:spcBef>
                <a:spcPts val="0"/>
              </a:spcBef>
              <a:spcAft>
                <a:spcPts val="0"/>
              </a:spcAft>
              <a:buClr>
                <a:schemeClr val="dk1"/>
              </a:buClr>
              <a:buSzPts val="3300"/>
              <a:buFont typeface="Corbel"/>
              <a:buNone/>
            </a:pPr>
            <a:r>
              <a:rPr b="1" lang="es-ES" sz="3300">
                <a:solidFill>
                  <a:schemeClr val="dk1"/>
                </a:solidFill>
                <a:latin typeface="Corbel"/>
                <a:ea typeface="Corbel"/>
                <a:cs typeface="Corbel"/>
                <a:sym typeface="Corbel"/>
              </a:rPr>
              <a:t>CONSCIENCIOSIDADE </a:t>
            </a:r>
            <a:br>
              <a:rPr b="1" lang="es-ES" sz="5400">
                <a:solidFill>
                  <a:schemeClr val="dk1"/>
                </a:solidFill>
                <a:latin typeface="Corbel"/>
                <a:ea typeface="Corbel"/>
                <a:cs typeface="Corbel"/>
                <a:sym typeface="Corbel"/>
              </a:rPr>
            </a:br>
            <a:endParaRPr b="1" sz="5400">
              <a:solidFill>
                <a:schemeClr val="dk1"/>
              </a:solidFill>
              <a:latin typeface="Corbel"/>
              <a:ea typeface="Corbel"/>
              <a:cs typeface="Corbel"/>
              <a:sym typeface="Corbel"/>
            </a:endParaRPr>
          </a:p>
        </p:txBody>
      </p:sp>
      <p:pic>
        <p:nvPicPr>
          <p:cNvPr descr="Resultado de imagem para julius" id="287" name="Google Shape;287;g3d8f21f41fc_0_307"/>
          <p:cNvPicPr preferRelativeResize="0"/>
          <p:nvPr>
            <p:ph idx="1" type="body"/>
          </p:nvPr>
        </p:nvPicPr>
        <p:blipFill rotWithShape="1">
          <a:blip r:embed="rId3">
            <a:alphaModFix/>
          </a:blip>
          <a:srcRect b="0" l="20469" r="13965" t="0"/>
          <a:stretch/>
        </p:blipFill>
        <p:spPr>
          <a:xfrm>
            <a:off x="6296508" y="1107720"/>
            <a:ext cx="5054400" cy="3623100"/>
          </a:xfrm>
          <a:prstGeom prst="rect">
            <a:avLst/>
          </a:prstGeom>
          <a:noFill/>
          <a:ln>
            <a:noFill/>
          </a:ln>
        </p:spPr>
      </p:pic>
      <p:pic>
        <p:nvPicPr>
          <p:cNvPr descr="Resultado de imagem para thor jogando fortnite" id="288" name="Google Shape;288;g3d8f21f41fc_0_307"/>
          <p:cNvPicPr preferRelativeResize="0"/>
          <p:nvPr/>
        </p:nvPicPr>
        <p:blipFill rotWithShape="1">
          <a:blip r:embed="rId4">
            <a:alphaModFix/>
          </a:blip>
          <a:srcRect b="0" l="22213" r="364" t="0"/>
          <a:stretch/>
        </p:blipFill>
        <p:spPr>
          <a:xfrm>
            <a:off x="841248" y="1107721"/>
            <a:ext cx="5054247" cy="3623117"/>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92" name="Shape 292"/>
        <p:cNvGrpSpPr/>
        <p:nvPr/>
      </p:nvGrpSpPr>
      <p:grpSpPr>
        <a:xfrm>
          <a:off x="0" y="0"/>
          <a:ext cx="0" cy="0"/>
          <a:chOff x="0" y="0"/>
          <a:chExt cx="0" cy="0"/>
        </a:xfrm>
      </p:grpSpPr>
      <p:sp>
        <p:nvSpPr>
          <p:cNvPr id="293" name="Google Shape;293;g3d8f21f41fc_0_313"/>
          <p:cNvSpPr txBox="1"/>
          <p:nvPr>
            <p:ph type="title"/>
          </p:nvPr>
        </p:nvSpPr>
        <p:spPr>
          <a:xfrm>
            <a:off x="526073" y="629641"/>
            <a:ext cx="11139900" cy="930300"/>
          </a:xfrm>
          <a:prstGeom prst="rect">
            <a:avLst/>
          </a:prstGeom>
          <a:noFill/>
          <a:ln>
            <a:noFill/>
          </a:ln>
        </p:spPr>
        <p:txBody>
          <a:bodyPr anchorCtr="0" anchor="b" bIns="45700" lIns="91425" spcFirstLastPara="1" rIns="91425" wrap="square" tIns="45700">
            <a:normAutofit/>
          </a:bodyPr>
          <a:lstStyle/>
          <a:p>
            <a:pPr indent="0" lvl="0" marL="0" rtl="0" algn="ctr">
              <a:lnSpc>
                <a:spcPct val="90000"/>
              </a:lnSpc>
              <a:spcBef>
                <a:spcPts val="0"/>
              </a:spcBef>
              <a:spcAft>
                <a:spcPts val="0"/>
              </a:spcAft>
              <a:buClr>
                <a:schemeClr val="dk1"/>
              </a:buClr>
              <a:buSzPts val="3000"/>
              <a:buFont typeface="Corbel"/>
              <a:buNone/>
            </a:pPr>
            <a:r>
              <a:rPr b="1" lang="es-ES" sz="3000">
                <a:solidFill>
                  <a:schemeClr val="dk1"/>
                </a:solidFill>
              </a:rPr>
              <a:t>EXTROVERSÃO X INTROVERSÃO</a:t>
            </a:r>
            <a:endParaRPr/>
          </a:p>
        </p:txBody>
      </p:sp>
      <p:pic>
        <p:nvPicPr>
          <p:cNvPr id="294" name="Google Shape;294;g3d8f21f41fc_0_313"/>
          <p:cNvPicPr preferRelativeResize="0"/>
          <p:nvPr/>
        </p:nvPicPr>
        <p:blipFill rotWithShape="1">
          <a:blip r:embed="rId3">
            <a:alphaModFix/>
          </a:blip>
          <a:srcRect b="0" l="0" r="0" t="0"/>
          <a:stretch/>
        </p:blipFill>
        <p:spPr>
          <a:xfrm>
            <a:off x="6105968" y="2357925"/>
            <a:ext cx="5773007" cy="3448400"/>
          </a:xfrm>
          <a:prstGeom prst="rect">
            <a:avLst/>
          </a:prstGeom>
          <a:noFill/>
          <a:ln>
            <a:noFill/>
          </a:ln>
        </p:spPr>
      </p:pic>
      <p:pic>
        <p:nvPicPr>
          <p:cNvPr id="295" name="Google Shape;295;g3d8f21f41fc_0_313"/>
          <p:cNvPicPr preferRelativeResize="0"/>
          <p:nvPr/>
        </p:nvPicPr>
        <p:blipFill rotWithShape="1">
          <a:blip r:embed="rId4">
            <a:alphaModFix/>
          </a:blip>
          <a:srcRect b="0" l="0" r="0" t="0"/>
          <a:stretch/>
        </p:blipFill>
        <p:spPr>
          <a:xfrm>
            <a:off x="782800" y="2357913"/>
            <a:ext cx="5147500" cy="3448423"/>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99" name="Shape 299"/>
        <p:cNvGrpSpPr/>
        <p:nvPr/>
      </p:nvGrpSpPr>
      <p:grpSpPr>
        <a:xfrm>
          <a:off x="0" y="0"/>
          <a:ext cx="0" cy="0"/>
          <a:chOff x="0" y="0"/>
          <a:chExt cx="0" cy="0"/>
        </a:xfrm>
      </p:grpSpPr>
      <p:sp>
        <p:nvSpPr>
          <p:cNvPr id="300" name="Google Shape;300;g3d8f21f41fc_0_319"/>
          <p:cNvSpPr txBox="1"/>
          <p:nvPr>
            <p:ph type="title"/>
          </p:nvPr>
        </p:nvSpPr>
        <p:spPr>
          <a:xfrm>
            <a:off x="704087" y="5473520"/>
            <a:ext cx="10783800" cy="11850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accent1"/>
              </a:buClr>
              <a:buSzPts val="3200"/>
              <a:buFont typeface="Corbel"/>
              <a:buNone/>
            </a:pPr>
            <a:r>
              <a:rPr b="1" lang="es-ES" sz="3200"/>
              <a:t>ABERTURA À EXPERIÊNCIA. </a:t>
            </a:r>
            <a:br>
              <a:rPr b="1" lang="es-ES" sz="3200"/>
            </a:br>
            <a:endParaRPr b="1" sz="3200"/>
          </a:p>
        </p:txBody>
      </p:sp>
      <p:pic>
        <p:nvPicPr>
          <p:cNvPr descr="Resultado de imagem para frida kahlo" id="301" name="Google Shape;301;g3d8f21f41fc_0_319"/>
          <p:cNvPicPr preferRelativeResize="0"/>
          <p:nvPr/>
        </p:nvPicPr>
        <p:blipFill rotWithShape="1">
          <a:blip r:embed="rId3">
            <a:alphaModFix/>
          </a:blip>
          <a:srcRect b="23205" l="0" r="0" t="2704"/>
          <a:stretch/>
        </p:blipFill>
        <p:spPr>
          <a:xfrm>
            <a:off x="2300719" y="755917"/>
            <a:ext cx="3649704" cy="4051010"/>
          </a:xfrm>
          <a:prstGeom prst="rect">
            <a:avLst/>
          </a:prstGeom>
          <a:noFill/>
          <a:ln>
            <a:noFill/>
          </a:ln>
        </p:spPr>
      </p:pic>
      <p:pic>
        <p:nvPicPr>
          <p:cNvPr id="302" name="Google Shape;302;g3d8f21f41fc_0_319"/>
          <p:cNvPicPr preferRelativeResize="0"/>
          <p:nvPr/>
        </p:nvPicPr>
        <p:blipFill rotWithShape="1">
          <a:blip r:embed="rId4">
            <a:alphaModFix/>
          </a:blip>
          <a:srcRect b="0" l="0" r="0" t="0"/>
          <a:stretch/>
        </p:blipFill>
        <p:spPr>
          <a:xfrm>
            <a:off x="6939576" y="320425"/>
            <a:ext cx="3111600" cy="4922000"/>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7" name="Shape 307"/>
        <p:cNvGrpSpPr/>
        <p:nvPr/>
      </p:nvGrpSpPr>
      <p:grpSpPr>
        <a:xfrm>
          <a:off x="0" y="0"/>
          <a:ext cx="0" cy="0"/>
          <a:chOff x="0" y="0"/>
          <a:chExt cx="0" cy="0"/>
        </a:xfrm>
      </p:grpSpPr>
      <p:pic>
        <p:nvPicPr>
          <p:cNvPr descr="What are your results on The Big Five personality test? - Quora" id="308" name="Google Shape;308;g3d8f21f41fc_0_325"/>
          <p:cNvPicPr preferRelativeResize="0"/>
          <p:nvPr/>
        </p:nvPicPr>
        <p:blipFill rotWithShape="1">
          <a:blip r:embed="rId3">
            <a:alphaModFix/>
          </a:blip>
          <a:srcRect b="0" l="0" r="0" t="0"/>
          <a:stretch/>
        </p:blipFill>
        <p:spPr>
          <a:xfrm>
            <a:off x="1131574" y="1485581"/>
            <a:ext cx="4518600" cy="4691244"/>
          </a:xfrm>
          <a:prstGeom prst="rect">
            <a:avLst/>
          </a:prstGeom>
          <a:noFill/>
          <a:ln>
            <a:noFill/>
          </a:ln>
        </p:spPr>
      </p:pic>
      <p:pic>
        <p:nvPicPr>
          <p:cNvPr id="309" name="Google Shape;309;g3d8f21f41fc_0_325"/>
          <p:cNvPicPr preferRelativeResize="0"/>
          <p:nvPr/>
        </p:nvPicPr>
        <p:blipFill>
          <a:blip r:embed="rId4">
            <a:alphaModFix/>
          </a:blip>
          <a:stretch>
            <a:fillRect/>
          </a:stretch>
        </p:blipFill>
        <p:spPr>
          <a:xfrm>
            <a:off x="6499376" y="965538"/>
            <a:ext cx="5101750" cy="4926925"/>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4" name="Shape 314"/>
        <p:cNvGrpSpPr/>
        <p:nvPr/>
      </p:nvGrpSpPr>
      <p:grpSpPr>
        <a:xfrm>
          <a:off x="0" y="0"/>
          <a:ext cx="0" cy="0"/>
          <a:chOff x="0" y="0"/>
          <a:chExt cx="0" cy="0"/>
        </a:xfrm>
      </p:grpSpPr>
      <p:sp>
        <p:nvSpPr>
          <p:cNvPr id="315" name="Google Shape;315;p1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s-ES"/>
              <a:t> </a:t>
            </a:r>
            <a:endParaRPr/>
          </a:p>
        </p:txBody>
      </p:sp>
      <p:sp>
        <p:nvSpPr>
          <p:cNvPr id="316" name="Google Shape;316;p16"/>
          <p:cNvSpPr/>
          <p:nvPr/>
        </p:nvSpPr>
        <p:spPr>
          <a:xfrm>
            <a:off x="1018572" y="1429473"/>
            <a:ext cx="10023676" cy="584521"/>
          </a:xfrm>
          <a:prstGeom prst="rect">
            <a:avLst/>
          </a:prstGeom>
          <a:solidFill>
            <a:schemeClr val="dk1"/>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3500"/>
              <a:buFont typeface="Arial"/>
              <a:buNone/>
            </a:pPr>
            <a:r>
              <a:rPr b="0" i="0" lang="es-ES" sz="3500" u="none" cap="none" strike="noStrike">
                <a:solidFill>
                  <a:schemeClr val="lt1"/>
                </a:solidFill>
                <a:latin typeface="Palatino Linotype"/>
                <a:ea typeface="Palatino Linotype"/>
                <a:cs typeface="Palatino Linotype"/>
                <a:sym typeface="Palatino Linotype"/>
              </a:rPr>
              <a:t>Diferenças individuais e a relação com o poder</a:t>
            </a:r>
            <a:endParaRPr b="0" i="0" sz="3500" u="none" cap="none" strike="noStrike">
              <a:solidFill>
                <a:srgbClr val="FFC000"/>
              </a:solidFill>
              <a:latin typeface="Palatino Linotype"/>
              <a:ea typeface="Palatino Linotype"/>
              <a:cs typeface="Palatino Linotype"/>
              <a:sym typeface="Palatino Linotype"/>
            </a:endParaRPr>
          </a:p>
        </p:txBody>
      </p:sp>
      <p:sp>
        <p:nvSpPr>
          <p:cNvPr id="317" name="Google Shape;317;p16"/>
          <p:cNvSpPr txBox="1"/>
          <p:nvPr/>
        </p:nvSpPr>
        <p:spPr>
          <a:xfrm>
            <a:off x="1018572" y="2013994"/>
            <a:ext cx="10023676" cy="2862322"/>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rgbClr val="000000"/>
              </a:buClr>
              <a:buSzPts val="1800"/>
              <a:buFont typeface="Arial"/>
              <a:buNone/>
            </a:pPr>
            <a:r>
              <a:rPr b="0" i="0" lang="es-ES" sz="1800" u="none" cap="none" strike="noStrike">
                <a:solidFill>
                  <a:schemeClr val="dk1"/>
                </a:solidFill>
                <a:latin typeface="Palatino Linotype"/>
                <a:ea typeface="Palatino Linotype"/>
                <a:cs typeface="Palatino Linotype"/>
                <a:sym typeface="Palatino Linotype"/>
              </a:rPr>
              <a:t>A partir de características pessoais, das experiências/oportunidades de vida e das situações (contexto), as pessoas vão diferir em:</a:t>
            </a:r>
            <a:endParaRPr b="0" i="0" sz="14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alatino Linotype"/>
              <a:ea typeface="Palatino Linotype"/>
              <a:cs typeface="Palatino Linotype"/>
              <a:sym typeface="Palatino Linotype"/>
            </a:endParaRPr>
          </a:p>
          <a:p>
            <a:pPr indent="-285750" lvl="0" marL="285750" marR="0" rtl="0" algn="just">
              <a:lnSpc>
                <a:spcPct val="100000"/>
              </a:lnSpc>
              <a:spcBef>
                <a:spcPts val="0"/>
              </a:spcBef>
              <a:spcAft>
                <a:spcPts val="0"/>
              </a:spcAft>
              <a:buClr>
                <a:schemeClr val="dk1"/>
              </a:buClr>
              <a:buSzPts val="1800"/>
              <a:buFont typeface="Noto Sans Symbols"/>
              <a:buChar char="▪"/>
            </a:pPr>
            <a:r>
              <a:rPr b="0" i="0" lang="es-ES" sz="1800" u="none" cap="none" strike="noStrike">
                <a:solidFill>
                  <a:schemeClr val="dk1"/>
                </a:solidFill>
                <a:latin typeface="Palatino Linotype"/>
                <a:ea typeface="Palatino Linotype"/>
                <a:cs typeface="Palatino Linotype"/>
                <a:sym typeface="Palatino Linotype"/>
              </a:rPr>
              <a:t>Ambições pelo poder</a:t>
            </a:r>
            <a:endParaRPr b="0" i="0" sz="1400" u="none" cap="none" strike="noStrike">
              <a:solidFill>
                <a:srgbClr val="000000"/>
              </a:solidFill>
              <a:latin typeface="Arial"/>
              <a:ea typeface="Arial"/>
              <a:cs typeface="Arial"/>
              <a:sym typeface="Arial"/>
            </a:endParaRPr>
          </a:p>
          <a:p>
            <a:pPr indent="-171450" lvl="0" marL="285750" marR="0" rtl="0" algn="just">
              <a:lnSpc>
                <a:spcPct val="100000"/>
              </a:lnSpc>
              <a:spcBef>
                <a:spcPts val="0"/>
              </a:spcBef>
              <a:spcAft>
                <a:spcPts val="0"/>
              </a:spcAft>
              <a:buClr>
                <a:schemeClr val="dk1"/>
              </a:buClr>
              <a:buSzPts val="1800"/>
              <a:buFont typeface="Noto Sans Symbols"/>
              <a:buNone/>
            </a:pPr>
            <a:r>
              <a:t/>
            </a:r>
            <a:endParaRPr b="0" i="0" sz="1800" u="none" cap="none" strike="noStrike">
              <a:solidFill>
                <a:schemeClr val="dk1"/>
              </a:solidFill>
              <a:latin typeface="Palatino Linotype"/>
              <a:ea typeface="Palatino Linotype"/>
              <a:cs typeface="Palatino Linotype"/>
              <a:sym typeface="Palatino Linotype"/>
            </a:endParaRPr>
          </a:p>
          <a:p>
            <a:pPr indent="-285750" lvl="0" marL="285750" marR="0" rtl="0" algn="just">
              <a:lnSpc>
                <a:spcPct val="100000"/>
              </a:lnSpc>
              <a:spcBef>
                <a:spcPts val="0"/>
              </a:spcBef>
              <a:spcAft>
                <a:spcPts val="0"/>
              </a:spcAft>
              <a:buClr>
                <a:schemeClr val="dk1"/>
              </a:buClr>
              <a:buSzPts val="1800"/>
              <a:buFont typeface="Noto Sans Symbols"/>
              <a:buChar char="▪"/>
            </a:pPr>
            <a:r>
              <a:rPr b="0" i="0" lang="es-ES" sz="1800" u="none" cap="none" strike="noStrike">
                <a:solidFill>
                  <a:schemeClr val="dk1"/>
                </a:solidFill>
                <a:latin typeface="Palatino Linotype"/>
                <a:ea typeface="Palatino Linotype"/>
                <a:cs typeface="Palatino Linotype"/>
                <a:sym typeface="Palatino Linotype"/>
              </a:rPr>
              <a:t>Capacidade de conquistar o poder</a:t>
            </a:r>
            <a:endParaRPr b="0" i="0" sz="1400" u="none" cap="none" strike="noStrike">
              <a:solidFill>
                <a:srgbClr val="000000"/>
              </a:solidFill>
              <a:latin typeface="Arial"/>
              <a:ea typeface="Arial"/>
              <a:cs typeface="Arial"/>
              <a:sym typeface="Arial"/>
            </a:endParaRPr>
          </a:p>
          <a:p>
            <a:pPr indent="-171450" lvl="0" marL="285750" marR="0" rtl="0" algn="just">
              <a:lnSpc>
                <a:spcPct val="100000"/>
              </a:lnSpc>
              <a:spcBef>
                <a:spcPts val="0"/>
              </a:spcBef>
              <a:spcAft>
                <a:spcPts val="0"/>
              </a:spcAft>
              <a:buClr>
                <a:schemeClr val="dk1"/>
              </a:buClr>
              <a:buSzPts val="1800"/>
              <a:buFont typeface="Noto Sans Symbols"/>
              <a:buNone/>
            </a:pPr>
            <a:r>
              <a:t/>
            </a:r>
            <a:endParaRPr b="0" i="0" sz="1800" u="none" cap="none" strike="noStrike">
              <a:solidFill>
                <a:schemeClr val="dk1"/>
              </a:solidFill>
              <a:latin typeface="Palatino Linotype"/>
              <a:ea typeface="Palatino Linotype"/>
              <a:cs typeface="Palatino Linotype"/>
              <a:sym typeface="Palatino Linotype"/>
            </a:endParaRPr>
          </a:p>
          <a:p>
            <a:pPr indent="-285750" lvl="0" marL="285750" marR="0" rtl="0" algn="just">
              <a:lnSpc>
                <a:spcPct val="100000"/>
              </a:lnSpc>
              <a:spcBef>
                <a:spcPts val="0"/>
              </a:spcBef>
              <a:spcAft>
                <a:spcPts val="0"/>
              </a:spcAft>
              <a:buClr>
                <a:schemeClr val="dk1"/>
              </a:buClr>
              <a:buSzPts val="1800"/>
              <a:buFont typeface="Noto Sans Symbols"/>
              <a:buChar char="▪"/>
            </a:pPr>
            <a:r>
              <a:rPr b="0" i="0" lang="es-ES" sz="1800" u="none" cap="none" strike="noStrike">
                <a:solidFill>
                  <a:schemeClr val="dk1"/>
                </a:solidFill>
                <a:latin typeface="Palatino Linotype"/>
                <a:ea typeface="Palatino Linotype"/>
                <a:cs typeface="Palatino Linotype"/>
                <a:sym typeface="Palatino Linotype"/>
              </a:rPr>
              <a:t>Competências em exercer o poder</a:t>
            </a:r>
            <a:endParaRPr b="0" i="0" sz="1400" u="none" cap="none" strike="noStrike">
              <a:solidFill>
                <a:srgbClr val="000000"/>
              </a:solidFill>
              <a:latin typeface="Arial"/>
              <a:ea typeface="Arial"/>
              <a:cs typeface="Arial"/>
              <a:sym typeface="Arial"/>
            </a:endParaRPr>
          </a:p>
          <a:p>
            <a:pPr indent="-171450" lvl="0" marL="285750" marR="0" rtl="0" algn="just">
              <a:lnSpc>
                <a:spcPct val="100000"/>
              </a:lnSpc>
              <a:spcBef>
                <a:spcPts val="0"/>
              </a:spcBef>
              <a:spcAft>
                <a:spcPts val="0"/>
              </a:spcAft>
              <a:buClr>
                <a:schemeClr val="dk1"/>
              </a:buClr>
              <a:buSzPts val="1800"/>
              <a:buFont typeface="Noto Sans Symbols"/>
              <a:buNone/>
            </a:pPr>
            <a:r>
              <a:t/>
            </a:r>
            <a:endParaRPr b="0" i="0" sz="1800" u="none" cap="none" strike="noStrike">
              <a:solidFill>
                <a:schemeClr val="dk1"/>
              </a:solidFill>
              <a:latin typeface="Palatino Linotype"/>
              <a:ea typeface="Palatino Linotype"/>
              <a:cs typeface="Palatino Linotype"/>
              <a:sym typeface="Palatino Linotype"/>
            </a:endParaRPr>
          </a:p>
          <a:p>
            <a:pPr indent="-285750" lvl="0" marL="285750" marR="0" rtl="0" algn="just">
              <a:lnSpc>
                <a:spcPct val="100000"/>
              </a:lnSpc>
              <a:spcBef>
                <a:spcPts val="0"/>
              </a:spcBef>
              <a:spcAft>
                <a:spcPts val="0"/>
              </a:spcAft>
              <a:buClr>
                <a:schemeClr val="dk1"/>
              </a:buClr>
              <a:buSzPts val="1800"/>
              <a:buFont typeface="Noto Sans Symbols"/>
              <a:buChar char="▪"/>
            </a:pPr>
            <a:r>
              <a:rPr b="0" i="0" lang="es-ES" sz="1800" u="none" cap="none" strike="noStrike">
                <a:solidFill>
                  <a:schemeClr val="dk1"/>
                </a:solidFill>
                <a:latin typeface="Palatino Linotype"/>
                <a:ea typeface="Palatino Linotype"/>
                <a:cs typeface="Palatino Linotype"/>
                <a:sym typeface="Palatino Linotype"/>
              </a:rPr>
              <a:t>Disposição para obedecer figuras de autoridade</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2" name="Shape 322"/>
        <p:cNvGrpSpPr/>
        <p:nvPr/>
      </p:nvGrpSpPr>
      <p:grpSpPr>
        <a:xfrm>
          <a:off x="0" y="0"/>
          <a:ext cx="0" cy="0"/>
          <a:chOff x="0" y="0"/>
          <a:chExt cx="0" cy="0"/>
        </a:xfrm>
      </p:grpSpPr>
      <p:sp>
        <p:nvSpPr>
          <p:cNvPr id="323" name="Google Shape;323;p1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s-ES"/>
              <a:t> </a:t>
            </a:r>
            <a:endParaRPr/>
          </a:p>
        </p:txBody>
      </p:sp>
      <p:sp>
        <p:nvSpPr>
          <p:cNvPr id="324" name="Google Shape;324;p17"/>
          <p:cNvSpPr/>
          <p:nvPr/>
        </p:nvSpPr>
        <p:spPr>
          <a:xfrm>
            <a:off x="1018572" y="1429473"/>
            <a:ext cx="10023676" cy="584521"/>
          </a:xfrm>
          <a:prstGeom prst="rect">
            <a:avLst/>
          </a:prstGeom>
          <a:solidFill>
            <a:schemeClr val="dk1"/>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3500"/>
              <a:buFont typeface="Arial"/>
              <a:buNone/>
            </a:pPr>
            <a:r>
              <a:rPr b="0" i="0" lang="es-ES" sz="3500" u="none" cap="none" strike="noStrike">
                <a:solidFill>
                  <a:schemeClr val="lt1"/>
                </a:solidFill>
                <a:latin typeface="Palatino Linotype"/>
                <a:ea typeface="Palatino Linotype"/>
                <a:cs typeface="Palatino Linotype"/>
                <a:sym typeface="Palatino Linotype"/>
              </a:rPr>
              <a:t>Atividade</a:t>
            </a:r>
            <a:endParaRPr b="0" i="0" sz="3500" u="none" cap="none" strike="noStrike">
              <a:solidFill>
                <a:srgbClr val="FFC000"/>
              </a:solidFill>
              <a:latin typeface="Palatino Linotype"/>
              <a:ea typeface="Palatino Linotype"/>
              <a:cs typeface="Palatino Linotype"/>
              <a:sym typeface="Palatino Linotype"/>
            </a:endParaRPr>
          </a:p>
        </p:txBody>
      </p:sp>
      <p:sp>
        <p:nvSpPr>
          <p:cNvPr id="325" name="Google Shape;325;p17"/>
          <p:cNvSpPr txBox="1"/>
          <p:nvPr/>
        </p:nvSpPr>
        <p:spPr>
          <a:xfrm>
            <a:off x="8038618" y="204802"/>
            <a:ext cx="3315182" cy="64633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0" i="0" lang="es-ES" sz="1200" u="none" cap="none" strike="noStrike">
                <a:solidFill>
                  <a:srgbClr val="BFBFBF"/>
                </a:solidFill>
                <a:latin typeface="Calibri"/>
                <a:ea typeface="Calibri"/>
                <a:cs typeface="Calibri"/>
                <a:sym typeface="Calibri"/>
              </a:rPr>
              <a:t>Komatsu, A. V. (2020). Teorias Psicológica e Poder. Slides da disciplina “Relações de poder nas organizações”.</a:t>
            </a:r>
            <a:endParaRPr b="0" i="0" sz="1200" u="none" cap="none" strike="noStrike">
              <a:solidFill>
                <a:srgbClr val="BFBFBF"/>
              </a:solidFill>
              <a:latin typeface="Calibri"/>
              <a:ea typeface="Calibri"/>
              <a:cs typeface="Calibri"/>
              <a:sym typeface="Calibri"/>
            </a:endParaRPr>
          </a:p>
        </p:txBody>
      </p:sp>
      <p:sp>
        <p:nvSpPr>
          <p:cNvPr id="326" name="Google Shape;326;p17"/>
          <p:cNvSpPr txBox="1"/>
          <p:nvPr/>
        </p:nvSpPr>
        <p:spPr>
          <a:xfrm>
            <a:off x="623450" y="2014000"/>
            <a:ext cx="11038800" cy="4402200"/>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rgbClr val="000000"/>
              </a:buClr>
              <a:buSzPts val="1800"/>
              <a:buFont typeface="Arial"/>
              <a:buNone/>
            </a:pPr>
            <a:r>
              <a:rPr b="0" i="0" lang="es-ES" sz="2000" u="none" cap="none" strike="noStrike">
                <a:solidFill>
                  <a:schemeClr val="dk1"/>
                </a:solidFill>
                <a:latin typeface="Palatino Linotype"/>
                <a:ea typeface="Palatino Linotype"/>
                <a:cs typeface="Palatino Linotype"/>
                <a:sym typeface="Palatino Linotype"/>
              </a:rPr>
              <a:t>Todos temos um pouco de cada um dos tipos de poder (bases de poder). Mesmo que às vezes não conseguimos identificar de imediato, nós temos! Pense nos seis tipos de poder que vimos nas aulas e responda:</a:t>
            </a:r>
            <a:endParaRPr b="0" i="0" sz="1600" u="none" cap="none" strike="noStrike">
              <a:solidFill>
                <a:srgbClr val="000000"/>
              </a:solidFill>
              <a:latin typeface="Arial"/>
              <a:ea typeface="Arial"/>
              <a:cs typeface="Arial"/>
              <a:sym typeface="Arial"/>
            </a:endParaRPr>
          </a:p>
          <a:p>
            <a:pPr indent="-355600" lvl="0" marL="342900" marR="0" rtl="0" algn="just">
              <a:lnSpc>
                <a:spcPct val="100000"/>
              </a:lnSpc>
              <a:spcBef>
                <a:spcPts val="0"/>
              </a:spcBef>
              <a:spcAft>
                <a:spcPts val="0"/>
              </a:spcAft>
              <a:buClr>
                <a:schemeClr val="dk1"/>
              </a:buClr>
              <a:buSzPts val="2000"/>
              <a:buFont typeface="Palatino Linotype"/>
              <a:buAutoNum type="arabicPeriod"/>
            </a:pPr>
            <a:r>
              <a:rPr b="0" i="0" lang="es-ES" sz="2000" u="none" cap="none" strike="noStrike">
                <a:solidFill>
                  <a:schemeClr val="dk1"/>
                </a:solidFill>
                <a:latin typeface="Palatino Linotype"/>
                <a:ea typeface="Palatino Linotype"/>
                <a:cs typeface="Palatino Linotype"/>
                <a:sym typeface="Palatino Linotype"/>
              </a:rPr>
              <a:t>Qual tipo de poder você </a:t>
            </a:r>
            <a:r>
              <a:rPr b="0" i="0" lang="es-ES" sz="2000" u="sng" cap="none" strike="noStrike">
                <a:solidFill>
                  <a:schemeClr val="dk1"/>
                </a:solidFill>
                <a:latin typeface="Palatino Linotype"/>
                <a:ea typeface="Palatino Linotype"/>
                <a:cs typeface="Palatino Linotype"/>
                <a:sym typeface="Palatino Linotype"/>
              </a:rPr>
              <a:t>menos</a:t>
            </a:r>
            <a:r>
              <a:rPr b="0" i="0" lang="es-ES" sz="2000" u="none" cap="none" strike="noStrike">
                <a:solidFill>
                  <a:schemeClr val="dk1"/>
                </a:solidFill>
                <a:latin typeface="Palatino Linotype"/>
                <a:ea typeface="Palatino Linotype"/>
                <a:cs typeface="Palatino Linotype"/>
                <a:sym typeface="Palatino Linotype"/>
              </a:rPr>
              <a:t> tem no seu trabalho? Descreva ese poder. (pode escolher outro contexto como: na sua casa/familia, no seu grupo de amigos, no seu relacionamento etc)</a:t>
            </a:r>
            <a:endParaRPr b="0" i="0" sz="1600" u="none" cap="none" strike="noStrike">
              <a:solidFill>
                <a:srgbClr val="000000"/>
              </a:solidFill>
              <a:latin typeface="Arial"/>
              <a:ea typeface="Arial"/>
              <a:cs typeface="Arial"/>
              <a:sym typeface="Arial"/>
            </a:endParaRPr>
          </a:p>
          <a:p>
            <a:pPr indent="-228600" lvl="0" marL="342900" marR="0" rtl="0" algn="just">
              <a:lnSpc>
                <a:spcPct val="100000"/>
              </a:lnSpc>
              <a:spcBef>
                <a:spcPts val="0"/>
              </a:spcBef>
              <a:spcAft>
                <a:spcPts val="0"/>
              </a:spcAft>
              <a:buClr>
                <a:schemeClr val="dk1"/>
              </a:buClr>
              <a:buSzPts val="1800"/>
              <a:buFont typeface="Calibri"/>
              <a:buNone/>
            </a:pPr>
            <a:r>
              <a:t/>
            </a:r>
            <a:endParaRPr b="0" i="0" sz="2000" u="none" cap="none" strike="noStrike">
              <a:solidFill>
                <a:schemeClr val="dk1"/>
              </a:solidFill>
              <a:latin typeface="Palatino Linotype"/>
              <a:ea typeface="Palatino Linotype"/>
              <a:cs typeface="Palatino Linotype"/>
              <a:sym typeface="Palatino Linotype"/>
            </a:endParaRPr>
          </a:p>
          <a:p>
            <a:pPr indent="-355600" lvl="0" marL="342900" marR="0" rtl="0" algn="just">
              <a:lnSpc>
                <a:spcPct val="100000"/>
              </a:lnSpc>
              <a:spcBef>
                <a:spcPts val="0"/>
              </a:spcBef>
              <a:spcAft>
                <a:spcPts val="0"/>
              </a:spcAft>
              <a:buClr>
                <a:schemeClr val="dk1"/>
              </a:buClr>
              <a:buSzPts val="2000"/>
              <a:buFont typeface="Palatino Linotype"/>
              <a:buAutoNum type="arabicPeriod"/>
            </a:pPr>
            <a:r>
              <a:rPr b="0" i="0" lang="es-ES" sz="2000" u="none" cap="none" strike="noStrike">
                <a:solidFill>
                  <a:schemeClr val="dk1"/>
                </a:solidFill>
                <a:latin typeface="Palatino Linotype"/>
                <a:ea typeface="Palatino Linotype"/>
                <a:cs typeface="Palatino Linotype"/>
                <a:sym typeface="Palatino Linotype"/>
              </a:rPr>
              <a:t>Qual tipo de poder você </a:t>
            </a:r>
            <a:r>
              <a:rPr b="0" i="0" lang="es-ES" sz="2000" u="sng" cap="none" strike="noStrike">
                <a:solidFill>
                  <a:schemeClr val="dk1"/>
                </a:solidFill>
                <a:latin typeface="Palatino Linotype"/>
                <a:ea typeface="Palatino Linotype"/>
                <a:cs typeface="Palatino Linotype"/>
                <a:sym typeface="Palatino Linotype"/>
              </a:rPr>
              <a:t>mais</a:t>
            </a:r>
            <a:r>
              <a:rPr b="0" i="0" lang="es-ES" sz="2000" u="none" cap="none" strike="noStrike">
                <a:solidFill>
                  <a:schemeClr val="dk1"/>
                </a:solidFill>
                <a:latin typeface="Palatino Linotype"/>
                <a:ea typeface="Palatino Linotype"/>
                <a:cs typeface="Palatino Linotype"/>
                <a:sym typeface="Palatino Linotype"/>
              </a:rPr>
              <a:t> tem no seu trabalho? Descreva esse poder.</a:t>
            </a:r>
            <a:endParaRPr b="0" i="0" sz="1600" u="none" cap="none" strike="noStrike">
              <a:solidFill>
                <a:srgbClr val="000000"/>
              </a:solidFill>
              <a:latin typeface="Arial"/>
              <a:ea typeface="Arial"/>
              <a:cs typeface="Arial"/>
              <a:sym typeface="Arial"/>
            </a:endParaRPr>
          </a:p>
          <a:p>
            <a:pPr indent="-228600" lvl="0" marL="342900" marR="0" rtl="0" algn="just">
              <a:lnSpc>
                <a:spcPct val="100000"/>
              </a:lnSpc>
              <a:spcBef>
                <a:spcPts val="0"/>
              </a:spcBef>
              <a:spcAft>
                <a:spcPts val="0"/>
              </a:spcAft>
              <a:buClr>
                <a:schemeClr val="dk1"/>
              </a:buClr>
              <a:buSzPts val="1800"/>
              <a:buFont typeface="Calibri"/>
              <a:buNone/>
            </a:pPr>
            <a:r>
              <a:t/>
            </a:r>
            <a:endParaRPr b="0" i="0" sz="2000" u="none" cap="none" strike="noStrike">
              <a:solidFill>
                <a:schemeClr val="dk1"/>
              </a:solidFill>
              <a:latin typeface="Palatino Linotype"/>
              <a:ea typeface="Palatino Linotype"/>
              <a:cs typeface="Palatino Linotype"/>
              <a:sym typeface="Palatino Linotype"/>
            </a:endParaRPr>
          </a:p>
          <a:p>
            <a:pPr indent="-355600" lvl="0" marL="342900" marR="0" rtl="0" algn="just">
              <a:lnSpc>
                <a:spcPct val="100000"/>
              </a:lnSpc>
              <a:spcBef>
                <a:spcPts val="0"/>
              </a:spcBef>
              <a:spcAft>
                <a:spcPts val="0"/>
              </a:spcAft>
              <a:buClr>
                <a:schemeClr val="dk1"/>
              </a:buClr>
              <a:buSzPts val="2000"/>
              <a:buFont typeface="Palatino Linotype"/>
              <a:buAutoNum type="arabicPeriod"/>
            </a:pPr>
            <a:r>
              <a:rPr b="0" i="0" lang="es-ES" sz="2000" u="none" cap="none" strike="noStrike">
                <a:solidFill>
                  <a:schemeClr val="dk1"/>
                </a:solidFill>
                <a:latin typeface="Palatino Linotype"/>
                <a:ea typeface="Palatino Linotype"/>
                <a:cs typeface="Palatino Linotype"/>
                <a:sym typeface="Palatino Linotype"/>
              </a:rPr>
              <a:t>Qual tipo de poder você precisaria ter um pouco mais para poder se sentir mais satisfeita(o) ou realizar seu trabalho de forma melhor? Justifique.</a:t>
            </a:r>
            <a:endParaRPr b="0" i="0" sz="1600" u="none" cap="none" strike="noStrike">
              <a:solidFill>
                <a:srgbClr val="000000"/>
              </a:solidFill>
              <a:latin typeface="Arial"/>
              <a:ea typeface="Arial"/>
              <a:cs typeface="Arial"/>
              <a:sym typeface="Arial"/>
            </a:endParaRPr>
          </a:p>
          <a:p>
            <a:pPr indent="-228600" lvl="0" marL="342900" marR="0" rtl="0" algn="just">
              <a:lnSpc>
                <a:spcPct val="100000"/>
              </a:lnSpc>
              <a:spcBef>
                <a:spcPts val="0"/>
              </a:spcBef>
              <a:spcAft>
                <a:spcPts val="0"/>
              </a:spcAft>
              <a:buClr>
                <a:schemeClr val="dk1"/>
              </a:buClr>
              <a:buSzPts val="1800"/>
              <a:buFont typeface="Calibri"/>
              <a:buNone/>
            </a:pPr>
            <a:r>
              <a:t/>
            </a:r>
            <a:endParaRPr b="0" i="0" sz="2000" u="none" cap="none" strike="noStrike">
              <a:solidFill>
                <a:schemeClr val="dk1"/>
              </a:solidFill>
              <a:latin typeface="Palatino Linotype"/>
              <a:ea typeface="Palatino Linotype"/>
              <a:cs typeface="Palatino Linotype"/>
              <a:sym typeface="Palatino Linotype"/>
            </a:endParaRPr>
          </a:p>
          <a:p>
            <a:pPr indent="-355600" lvl="0" marL="342900" marR="0" rtl="0" algn="just">
              <a:lnSpc>
                <a:spcPct val="100000"/>
              </a:lnSpc>
              <a:spcBef>
                <a:spcPts val="0"/>
              </a:spcBef>
              <a:spcAft>
                <a:spcPts val="0"/>
              </a:spcAft>
              <a:buClr>
                <a:schemeClr val="dk1"/>
              </a:buClr>
              <a:buSzPts val="2000"/>
              <a:buFont typeface="Palatino Linotype"/>
              <a:buAutoNum type="arabicPeriod"/>
            </a:pPr>
            <a:r>
              <a:rPr b="0" i="0" lang="es-ES" sz="2000" u="none" cap="none" strike="noStrike">
                <a:solidFill>
                  <a:schemeClr val="dk1"/>
                </a:solidFill>
                <a:latin typeface="Palatino Linotype"/>
                <a:ea typeface="Palatino Linotype"/>
                <a:cs typeface="Palatino Linotype"/>
                <a:sym typeface="Palatino Linotype"/>
              </a:rPr>
              <a:t>Descreva uma situação em que você agiu ccontrário aos seus valores, mas que agora você entende que foi por </a:t>
            </a:r>
            <a:r>
              <a:rPr b="0" i="0" lang="es-ES" sz="2000" u="sng" cap="none" strike="noStrike">
                <a:solidFill>
                  <a:schemeClr val="dk1"/>
                </a:solidFill>
                <a:latin typeface="Palatino Linotype"/>
                <a:ea typeface="Palatino Linotype"/>
                <a:cs typeface="Palatino Linotype"/>
                <a:sym typeface="Palatino Linotype"/>
              </a:rPr>
              <a:t>pressão da situação</a:t>
            </a:r>
            <a:r>
              <a:rPr b="0" i="0" lang="es-ES" sz="2000" u="none" cap="none" strike="noStrike">
                <a:solidFill>
                  <a:schemeClr val="dk1"/>
                </a:solidFill>
                <a:latin typeface="Palatino Linotype"/>
                <a:ea typeface="Palatino Linotype"/>
                <a:cs typeface="Palatino Linotype"/>
                <a:sym typeface="Palatino Linotype"/>
              </a:rPr>
              <a:t>.</a:t>
            </a:r>
            <a:endParaRPr b="0" i="0" sz="2000" u="none" cap="none" strike="noStrike">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Tema do Offic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Tema do Offic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2019-11-26T14:32:53Z</dcterms:created>
  <dc:creator>FABRICIO ISHIGA</dc:creator>
</cp:coreProperties>
</file>
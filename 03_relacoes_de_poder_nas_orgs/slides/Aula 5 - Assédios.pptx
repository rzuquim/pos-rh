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embeddedFontLst>
    <p:embeddedFont>
      <p:font typeface="Palatino Linotype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Rq35XCEMx8i5GMekLJ7wNFR9L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alatinoLinotype-regular.fntdata"/><Relationship Id="rId20" Type="http://schemas.openxmlformats.org/officeDocument/2006/relationships/slide" Target="slides/slide16.xml"/><Relationship Id="rId42" Type="http://schemas.openxmlformats.org/officeDocument/2006/relationships/font" Target="fonts/PalatinoLinotype-italic.fntdata"/><Relationship Id="rId41" Type="http://schemas.openxmlformats.org/officeDocument/2006/relationships/font" Target="fonts/PalatinoLinotype-bold.fntdata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font" Target="fonts/PalatinoLinotype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wNY2c_tcuA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89" name="Google Shape;1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198" name="Google Shape;1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09" name="Google Shape;2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18" name="Google Shape;21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30" name="Google Shape;2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41" name="Google Shape;24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53" name="Google Shape;25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65" name="Google Shape;26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77" name="Google Shape;27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88" name="Google Shape;28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297" name="Google Shape;29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07" name="Google Shape;30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15" name="Google Shape;31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5f09261e9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5f09261e9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23" name="Google Shape;323;g35f09261e9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31" name="Google Shape;33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40" name="Google Shape;34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49" name="Google Shape;34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58" name="Google Shape;35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69" name="Google Shape;36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78" name="Google Shape;37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87" name="Google Shape;38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396" name="Google Shape;39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405" name="Google Shape;40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416" name="Google Shape;41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2"/>
              </a:rPr>
              <a:t>https://www.youtube.com/watch?v=wwNY2c_tcuA</a:t>
            </a:r>
            <a:r>
              <a:rPr lang="pt-BR" sz="1200"/>
              <a:t> </a:t>
            </a:r>
            <a:endParaRPr/>
          </a:p>
        </p:txBody>
      </p:sp>
      <p:sp>
        <p:nvSpPr>
          <p:cNvPr id="425" name="Google Shape;42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amara.leg.br/proposicoesWeb/fichadetramitacao?idProposicao=28692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youtube.com/watch?v=M_nGxBoVEeY" TargetMode="External"/><Relationship Id="rId4" Type="http://schemas.openxmlformats.org/officeDocument/2006/relationships/hyperlink" Target="https://www.youtube.com/watch?v=TFS6qbP2oo8" TargetMode="External"/><Relationship Id="rId5" Type="http://schemas.openxmlformats.org/officeDocument/2006/relationships/hyperlink" Target="https://www.youtube.com/watch?v=60BMgdV6GAA" TargetMode="External"/><Relationship Id="rId6" Type="http://schemas.openxmlformats.org/officeDocument/2006/relationships/hyperlink" Target="https://www.youtube.com/watch?v=JLy2ISUcCeI" TargetMode="External"/><Relationship Id="rId7" Type="http://schemas.openxmlformats.org/officeDocument/2006/relationships/hyperlink" Target="https://www.youtube.com/watch?v=0Hu4fPTR_4A" TargetMode="External"/><Relationship Id="rId8" Type="http://schemas.openxmlformats.org/officeDocument/2006/relationships/hyperlink" Target="https://www.youtube.com/watch?v=lvNffbdzn70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463039" y="1628834"/>
            <a:ext cx="90642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Especialização em Psicologia Organizacional e do Trabalho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Disciplina: Relações de Poder nas Organizações</a:t>
            </a:r>
            <a:endParaRPr b="1" i="0" sz="2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Aula 5: Assédios</a:t>
            </a:r>
            <a:endParaRPr b="1" i="0" sz="2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149190" y="3906456"/>
            <a:ext cx="1828124" cy="2401746"/>
          </a:xfrm>
          <a:custGeom>
            <a:rect b="b" l="l" r="r" t="t"/>
            <a:pathLst>
              <a:path extrusionOk="0" h="2401746" w="1828124">
                <a:moveTo>
                  <a:pt x="1765474" y="300941"/>
                </a:moveTo>
                <a:cubicBezTo>
                  <a:pt x="1793446" y="291295"/>
                  <a:pt x="1763059" y="277456"/>
                  <a:pt x="1759687" y="266217"/>
                </a:cubicBezTo>
                <a:cubicBezTo>
                  <a:pt x="1757208" y="257954"/>
                  <a:pt x="1749065" y="251642"/>
                  <a:pt x="1748112" y="243068"/>
                </a:cubicBezTo>
                <a:cubicBezTo>
                  <a:pt x="1741281" y="181594"/>
                  <a:pt x="1746705" y="118884"/>
                  <a:pt x="1736537" y="57873"/>
                </a:cubicBezTo>
                <a:cubicBezTo>
                  <a:pt x="1734743" y="47109"/>
                  <a:pt x="1722468" y="40777"/>
                  <a:pt x="1713388" y="34724"/>
                </a:cubicBezTo>
                <a:cubicBezTo>
                  <a:pt x="1677069" y="10511"/>
                  <a:pt x="1661509" y="10179"/>
                  <a:pt x="1620790" y="0"/>
                </a:cubicBezTo>
                <a:cubicBezTo>
                  <a:pt x="1485752" y="1929"/>
                  <a:pt x="1350564" y="-874"/>
                  <a:pt x="1215677" y="5787"/>
                </a:cubicBezTo>
                <a:cubicBezTo>
                  <a:pt x="1193708" y="6872"/>
                  <a:pt x="1173665" y="19263"/>
                  <a:pt x="1152016" y="23149"/>
                </a:cubicBezTo>
                <a:cubicBezTo>
                  <a:pt x="1098310" y="32788"/>
                  <a:pt x="989970" y="46298"/>
                  <a:pt x="989970" y="46298"/>
                </a:cubicBezTo>
                <a:cubicBezTo>
                  <a:pt x="982254" y="52085"/>
                  <a:pt x="975253" y="58976"/>
                  <a:pt x="966821" y="63660"/>
                </a:cubicBezTo>
                <a:cubicBezTo>
                  <a:pt x="938830" y="79211"/>
                  <a:pt x="904566" y="81753"/>
                  <a:pt x="874223" y="86810"/>
                </a:cubicBezTo>
                <a:cubicBezTo>
                  <a:pt x="702524" y="115426"/>
                  <a:pt x="904902" y="78525"/>
                  <a:pt x="706390" y="115746"/>
                </a:cubicBezTo>
                <a:cubicBezTo>
                  <a:pt x="689028" y="123463"/>
                  <a:pt x="671033" y="129888"/>
                  <a:pt x="654304" y="138896"/>
                </a:cubicBezTo>
                <a:cubicBezTo>
                  <a:pt x="645811" y="143469"/>
                  <a:pt x="639587" y="151574"/>
                  <a:pt x="631155" y="156258"/>
                </a:cubicBezTo>
                <a:cubicBezTo>
                  <a:pt x="606914" y="169726"/>
                  <a:pt x="576050" y="173648"/>
                  <a:pt x="550132" y="179407"/>
                </a:cubicBezTo>
                <a:cubicBezTo>
                  <a:pt x="534699" y="187124"/>
                  <a:pt x="518629" y="193679"/>
                  <a:pt x="503833" y="202557"/>
                </a:cubicBezTo>
                <a:cubicBezTo>
                  <a:pt x="494188" y="208344"/>
                  <a:pt x="485298" y="215636"/>
                  <a:pt x="474897" y="219919"/>
                </a:cubicBezTo>
                <a:cubicBezTo>
                  <a:pt x="452333" y="229210"/>
                  <a:pt x="427274" y="232156"/>
                  <a:pt x="405449" y="243068"/>
                </a:cubicBezTo>
                <a:cubicBezTo>
                  <a:pt x="390016" y="250784"/>
                  <a:pt x="375170" y="259809"/>
                  <a:pt x="359150" y="266217"/>
                </a:cubicBezTo>
                <a:cubicBezTo>
                  <a:pt x="318885" y="282323"/>
                  <a:pt x="340069" y="274507"/>
                  <a:pt x="295489" y="289367"/>
                </a:cubicBezTo>
                <a:cubicBezTo>
                  <a:pt x="291631" y="299012"/>
                  <a:pt x="290248" y="310069"/>
                  <a:pt x="283914" y="318303"/>
                </a:cubicBezTo>
                <a:cubicBezTo>
                  <a:pt x="270607" y="335602"/>
                  <a:pt x="251588" y="347835"/>
                  <a:pt x="237616" y="364602"/>
                </a:cubicBezTo>
                <a:lnTo>
                  <a:pt x="208679" y="399326"/>
                </a:lnTo>
                <a:cubicBezTo>
                  <a:pt x="200963" y="418617"/>
                  <a:pt x="193061" y="437835"/>
                  <a:pt x="185530" y="457200"/>
                </a:cubicBezTo>
                <a:cubicBezTo>
                  <a:pt x="179556" y="472561"/>
                  <a:pt x="179823" y="491843"/>
                  <a:pt x="168168" y="503498"/>
                </a:cubicBezTo>
                <a:lnTo>
                  <a:pt x="139231" y="532435"/>
                </a:lnTo>
                <a:cubicBezTo>
                  <a:pt x="102698" y="617677"/>
                  <a:pt x="139405" y="526091"/>
                  <a:pt x="110294" y="619245"/>
                </a:cubicBezTo>
                <a:cubicBezTo>
                  <a:pt x="105378" y="634977"/>
                  <a:pt x="98144" y="649907"/>
                  <a:pt x="92932" y="665544"/>
                </a:cubicBezTo>
                <a:cubicBezTo>
                  <a:pt x="88491" y="678867"/>
                  <a:pt x="85799" y="692732"/>
                  <a:pt x="81358" y="706055"/>
                </a:cubicBezTo>
                <a:cubicBezTo>
                  <a:pt x="76146" y="721692"/>
                  <a:pt x="68911" y="736622"/>
                  <a:pt x="63995" y="752354"/>
                </a:cubicBezTo>
                <a:cubicBezTo>
                  <a:pt x="42229" y="822006"/>
                  <a:pt x="65884" y="776216"/>
                  <a:pt x="35059" y="827589"/>
                </a:cubicBezTo>
                <a:cubicBezTo>
                  <a:pt x="-30671" y="1221960"/>
                  <a:pt x="13207" y="934416"/>
                  <a:pt x="29271" y="1898248"/>
                </a:cubicBezTo>
                <a:cubicBezTo>
                  <a:pt x="29888" y="1935296"/>
                  <a:pt x="41759" y="1939672"/>
                  <a:pt x="63995" y="1961908"/>
                </a:cubicBezTo>
                <a:cubicBezTo>
                  <a:pt x="96786" y="2060282"/>
                  <a:pt x="51053" y="1940337"/>
                  <a:pt x="98720" y="2019782"/>
                </a:cubicBezTo>
                <a:cubicBezTo>
                  <a:pt x="104997" y="2030244"/>
                  <a:pt x="104017" y="2044044"/>
                  <a:pt x="110294" y="2054506"/>
                </a:cubicBezTo>
                <a:cubicBezTo>
                  <a:pt x="125499" y="2079847"/>
                  <a:pt x="140475" y="2077979"/>
                  <a:pt x="162380" y="2095017"/>
                </a:cubicBezTo>
                <a:cubicBezTo>
                  <a:pt x="170994" y="2101717"/>
                  <a:pt x="176172" y="2112552"/>
                  <a:pt x="185530" y="2118167"/>
                </a:cubicBezTo>
                <a:cubicBezTo>
                  <a:pt x="195992" y="2124444"/>
                  <a:pt x="208788" y="2125572"/>
                  <a:pt x="220254" y="2129741"/>
                </a:cubicBezTo>
                <a:cubicBezTo>
                  <a:pt x="230017" y="2133291"/>
                  <a:pt x="239407" y="2137822"/>
                  <a:pt x="249190" y="2141316"/>
                </a:cubicBezTo>
                <a:cubicBezTo>
                  <a:pt x="299442" y="2159263"/>
                  <a:pt x="290920" y="2153413"/>
                  <a:pt x="330213" y="2170253"/>
                </a:cubicBezTo>
                <a:cubicBezTo>
                  <a:pt x="347676" y="2177737"/>
                  <a:pt x="364658" y="2186346"/>
                  <a:pt x="382299" y="2193402"/>
                </a:cubicBezTo>
                <a:cubicBezTo>
                  <a:pt x="450971" y="2220871"/>
                  <a:pt x="380862" y="2186263"/>
                  <a:pt x="463322" y="2222339"/>
                </a:cubicBezTo>
                <a:cubicBezTo>
                  <a:pt x="497891" y="2237463"/>
                  <a:pt x="514938" y="2251118"/>
                  <a:pt x="550132" y="2262850"/>
                </a:cubicBezTo>
                <a:cubicBezTo>
                  <a:pt x="565224" y="2267881"/>
                  <a:pt x="581135" y="2270055"/>
                  <a:pt x="596431" y="2274425"/>
                </a:cubicBezTo>
                <a:cubicBezTo>
                  <a:pt x="608162" y="2277777"/>
                  <a:pt x="620048" y="2280951"/>
                  <a:pt x="631155" y="2286000"/>
                </a:cubicBezTo>
                <a:cubicBezTo>
                  <a:pt x="641395" y="2290655"/>
                  <a:pt x="649214" y="2300499"/>
                  <a:pt x="660092" y="2303362"/>
                </a:cubicBezTo>
                <a:cubicBezTo>
                  <a:pt x="686475" y="2310305"/>
                  <a:pt x="714362" y="2309586"/>
                  <a:pt x="741114" y="2314936"/>
                </a:cubicBezTo>
                <a:cubicBezTo>
                  <a:pt x="762682" y="2319250"/>
                  <a:pt x="783207" y="2327984"/>
                  <a:pt x="804775" y="2332298"/>
                </a:cubicBezTo>
                <a:cubicBezTo>
                  <a:pt x="831527" y="2337648"/>
                  <a:pt x="858864" y="2339529"/>
                  <a:pt x="885798" y="2343873"/>
                </a:cubicBezTo>
                <a:cubicBezTo>
                  <a:pt x="918675" y="2349176"/>
                  <a:pt x="951388" y="2355448"/>
                  <a:pt x="984183" y="2361235"/>
                </a:cubicBezTo>
                <a:cubicBezTo>
                  <a:pt x="993829" y="2365093"/>
                  <a:pt x="1003131" y="2369956"/>
                  <a:pt x="1013120" y="2372810"/>
                </a:cubicBezTo>
                <a:cubicBezTo>
                  <a:pt x="1042363" y="2381165"/>
                  <a:pt x="1142188" y="2398818"/>
                  <a:pt x="1157803" y="2401746"/>
                </a:cubicBezTo>
                <a:cubicBezTo>
                  <a:pt x="1304416" y="2397888"/>
                  <a:pt x="1451148" y="2397232"/>
                  <a:pt x="1597641" y="2390172"/>
                </a:cubicBezTo>
                <a:cubicBezTo>
                  <a:pt x="1607101" y="2389716"/>
                  <a:pt x="1655471" y="2373477"/>
                  <a:pt x="1667089" y="2367022"/>
                </a:cubicBezTo>
                <a:cubicBezTo>
                  <a:pt x="1802280" y="2291917"/>
                  <a:pt x="1587576" y="2400989"/>
                  <a:pt x="1713388" y="2338086"/>
                </a:cubicBezTo>
                <a:cubicBezTo>
                  <a:pt x="1791758" y="2259712"/>
                  <a:pt x="1667757" y="2376223"/>
                  <a:pt x="1777049" y="2303362"/>
                </a:cubicBezTo>
                <a:cubicBezTo>
                  <a:pt x="1784227" y="2298576"/>
                  <a:pt x="1785895" y="2288397"/>
                  <a:pt x="1788623" y="2280212"/>
                </a:cubicBezTo>
                <a:cubicBezTo>
                  <a:pt x="1815955" y="2198216"/>
                  <a:pt x="1785673" y="2262964"/>
                  <a:pt x="1811773" y="2210764"/>
                </a:cubicBezTo>
                <a:cubicBezTo>
                  <a:pt x="1811257" y="2193225"/>
                  <a:pt x="1863949" y="2018643"/>
                  <a:pt x="1782836" y="2002420"/>
                </a:cubicBezTo>
                <a:cubicBezTo>
                  <a:pt x="1752334" y="1996319"/>
                  <a:pt x="1721105" y="1994703"/>
                  <a:pt x="1690239" y="1990845"/>
                </a:cubicBezTo>
                <a:cubicBezTo>
                  <a:pt x="1635944" y="1963698"/>
                  <a:pt x="1703885" y="1996304"/>
                  <a:pt x="1632365" y="1967696"/>
                </a:cubicBezTo>
                <a:cubicBezTo>
                  <a:pt x="1624355" y="1964492"/>
                  <a:pt x="1617756" y="1957341"/>
                  <a:pt x="1609216" y="1956121"/>
                </a:cubicBezTo>
                <a:cubicBezTo>
                  <a:pt x="1563224" y="1949550"/>
                  <a:pt x="1516619" y="1948404"/>
                  <a:pt x="1470320" y="1944546"/>
                </a:cubicBezTo>
                <a:cubicBezTo>
                  <a:pt x="1466462" y="1936830"/>
                  <a:pt x="1465647" y="1926573"/>
                  <a:pt x="1458745" y="1921397"/>
                </a:cubicBezTo>
                <a:cubicBezTo>
                  <a:pt x="1442461" y="1909184"/>
                  <a:pt x="1357760" y="1898779"/>
                  <a:pt x="1354573" y="1898248"/>
                </a:cubicBezTo>
                <a:cubicBezTo>
                  <a:pt x="1350715" y="1890531"/>
                  <a:pt x="1349735" y="1880488"/>
                  <a:pt x="1342998" y="1875098"/>
                </a:cubicBezTo>
                <a:cubicBezTo>
                  <a:pt x="1329524" y="1864319"/>
                  <a:pt x="1296699" y="1851949"/>
                  <a:pt x="1296699" y="1851949"/>
                </a:cubicBezTo>
                <a:cubicBezTo>
                  <a:pt x="1279337" y="1817224"/>
                  <a:pt x="1284161" y="1803721"/>
                  <a:pt x="1250401" y="1794076"/>
                </a:cubicBezTo>
                <a:cubicBezTo>
                  <a:pt x="1231485" y="1788671"/>
                  <a:pt x="1211818" y="1786359"/>
                  <a:pt x="1192527" y="1782501"/>
                </a:cubicBezTo>
                <a:cubicBezTo>
                  <a:pt x="1184811" y="1767068"/>
                  <a:pt x="1184811" y="1743918"/>
                  <a:pt x="1169378" y="1736202"/>
                </a:cubicBezTo>
                <a:lnTo>
                  <a:pt x="1123079" y="1713053"/>
                </a:lnTo>
                <a:cubicBezTo>
                  <a:pt x="1095050" y="1656993"/>
                  <a:pt x="1112131" y="1678955"/>
                  <a:pt x="1076780" y="1643605"/>
                </a:cubicBezTo>
                <a:cubicBezTo>
                  <a:pt x="1072922" y="1635888"/>
                  <a:pt x="1070382" y="1627357"/>
                  <a:pt x="1065206" y="1620455"/>
                </a:cubicBezTo>
                <a:cubicBezTo>
                  <a:pt x="1058658" y="1611725"/>
                  <a:pt x="1046936" y="1607067"/>
                  <a:pt x="1042056" y="1597306"/>
                </a:cubicBezTo>
                <a:cubicBezTo>
                  <a:pt x="1034942" y="1583078"/>
                  <a:pt x="1041731" y="1562256"/>
                  <a:pt x="1030482" y="1551007"/>
                </a:cubicBezTo>
                <a:cubicBezTo>
                  <a:pt x="1019233" y="1539758"/>
                  <a:pt x="999616" y="1543291"/>
                  <a:pt x="984183" y="1539433"/>
                </a:cubicBezTo>
                <a:cubicBezTo>
                  <a:pt x="976466" y="1535575"/>
                  <a:pt x="966556" y="1534486"/>
                  <a:pt x="961033" y="1527858"/>
                </a:cubicBezTo>
                <a:cubicBezTo>
                  <a:pt x="955941" y="1521747"/>
                  <a:pt x="955246" y="1512662"/>
                  <a:pt x="955246" y="1504708"/>
                </a:cubicBezTo>
                <a:cubicBezTo>
                  <a:pt x="955246" y="1477632"/>
                  <a:pt x="957016" y="1450463"/>
                  <a:pt x="961033" y="1423686"/>
                </a:cubicBezTo>
                <a:cubicBezTo>
                  <a:pt x="962816" y="1411799"/>
                  <a:pt x="979212" y="1372453"/>
                  <a:pt x="984183" y="1360025"/>
                </a:cubicBezTo>
                <a:cubicBezTo>
                  <a:pt x="982254" y="1344592"/>
                  <a:pt x="987314" y="1326468"/>
                  <a:pt x="978395" y="1313726"/>
                </a:cubicBezTo>
                <a:cubicBezTo>
                  <a:pt x="971398" y="1303731"/>
                  <a:pt x="953432" y="1309472"/>
                  <a:pt x="943671" y="1302152"/>
                </a:cubicBezTo>
                <a:cubicBezTo>
                  <a:pt x="936769" y="1296976"/>
                  <a:pt x="935955" y="1286719"/>
                  <a:pt x="932097" y="1279002"/>
                </a:cubicBezTo>
                <a:cubicBezTo>
                  <a:pt x="934026" y="1178688"/>
                  <a:pt x="928961" y="1077995"/>
                  <a:pt x="937884" y="978060"/>
                </a:cubicBezTo>
                <a:cubicBezTo>
                  <a:pt x="938854" y="967191"/>
                  <a:pt x="955419" y="964268"/>
                  <a:pt x="961033" y="954911"/>
                </a:cubicBezTo>
                <a:cubicBezTo>
                  <a:pt x="967310" y="944449"/>
                  <a:pt x="968077" y="931515"/>
                  <a:pt x="972608" y="920187"/>
                </a:cubicBezTo>
                <a:cubicBezTo>
                  <a:pt x="975812" y="912177"/>
                  <a:pt x="980325" y="904754"/>
                  <a:pt x="984183" y="897038"/>
                </a:cubicBezTo>
                <a:cubicBezTo>
                  <a:pt x="988041" y="866172"/>
                  <a:pt x="985921" y="833950"/>
                  <a:pt x="995758" y="804440"/>
                </a:cubicBezTo>
                <a:cubicBezTo>
                  <a:pt x="998486" y="796256"/>
                  <a:pt x="1012807" y="798965"/>
                  <a:pt x="1018907" y="792865"/>
                </a:cubicBezTo>
                <a:cubicBezTo>
                  <a:pt x="1028743" y="783028"/>
                  <a:pt x="1034588" y="769877"/>
                  <a:pt x="1042056" y="758141"/>
                </a:cubicBezTo>
                <a:cubicBezTo>
                  <a:pt x="1047249" y="749980"/>
                  <a:pt x="1067125" y="717657"/>
                  <a:pt x="1070993" y="706055"/>
                </a:cubicBezTo>
                <a:cubicBezTo>
                  <a:pt x="1076024" y="690964"/>
                  <a:pt x="1076302" y="674378"/>
                  <a:pt x="1082568" y="659757"/>
                </a:cubicBezTo>
                <a:cubicBezTo>
                  <a:pt x="1101450" y="615698"/>
                  <a:pt x="1103976" y="635069"/>
                  <a:pt x="1128866" y="601883"/>
                </a:cubicBezTo>
                <a:cubicBezTo>
                  <a:pt x="1134042" y="594981"/>
                  <a:pt x="1134918" y="585362"/>
                  <a:pt x="1140441" y="578734"/>
                </a:cubicBezTo>
                <a:cubicBezTo>
                  <a:pt x="1154413" y="561967"/>
                  <a:pt x="1186740" y="532435"/>
                  <a:pt x="1186740" y="532435"/>
                </a:cubicBezTo>
                <a:cubicBezTo>
                  <a:pt x="1196588" y="512738"/>
                  <a:pt x="1200571" y="498672"/>
                  <a:pt x="1221464" y="486136"/>
                </a:cubicBezTo>
                <a:cubicBezTo>
                  <a:pt x="1231926" y="479859"/>
                  <a:pt x="1244613" y="478420"/>
                  <a:pt x="1256188" y="474562"/>
                </a:cubicBezTo>
                <a:cubicBezTo>
                  <a:pt x="1263904" y="462987"/>
                  <a:pt x="1268650" y="448744"/>
                  <a:pt x="1279337" y="439838"/>
                </a:cubicBezTo>
                <a:cubicBezTo>
                  <a:pt x="1292592" y="428792"/>
                  <a:pt x="1309480" y="422746"/>
                  <a:pt x="1325636" y="416688"/>
                </a:cubicBezTo>
                <a:cubicBezTo>
                  <a:pt x="1341069" y="410901"/>
                  <a:pt x="1355829" y="402827"/>
                  <a:pt x="1371935" y="399326"/>
                </a:cubicBezTo>
                <a:cubicBezTo>
                  <a:pt x="1400461" y="393125"/>
                  <a:pt x="1429867" y="392030"/>
                  <a:pt x="1458745" y="387752"/>
                </a:cubicBezTo>
                <a:cubicBezTo>
                  <a:pt x="1481960" y="384313"/>
                  <a:pt x="1505044" y="380035"/>
                  <a:pt x="1528193" y="376177"/>
                </a:cubicBezTo>
                <a:cubicBezTo>
                  <a:pt x="1537839" y="372319"/>
                  <a:pt x="1549784" y="371948"/>
                  <a:pt x="1557130" y="364602"/>
                </a:cubicBezTo>
                <a:cubicBezTo>
                  <a:pt x="1580503" y="341228"/>
                  <a:pt x="1552274" y="329038"/>
                  <a:pt x="1591854" y="324091"/>
                </a:cubicBezTo>
                <a:cubicBezTo>
                  <a:pt x="1761596" y="302874"/>
                  <a:pt x="1737502" y="310587"/>
                  <a:pt x="1765474" y="300941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5723681" y="3956679"/>
            <a:ext cx="2476982" cy="2288149"/>
          </a:xfrm>
          <a:custGeom>
            <a:rect b="b" l="l" r="r" t="t"/>
            <a:pathLst>
              <a:path extrusionOk="0" h="2288149" w="2476982">
                <a:moveTo>
                  <a:pt x="63661" y="198632"/>
                </a:moveTo>
                <a:cubicBezTo>
                  <a:pt x="79094" y="207313"/>
                  <a:pt x="80541" y="221187"/>
                  <a:pt x="92597" y="227569"/>
                </a:cubicBezTo>
                <a:cubicBezTo>
                  <a:pt x="114163" y="238986"/>
                  <a:pt x="140221" y="239805"/>
                  <a:pt x="162046" y="250718"/>
                </a:cubicBezTo>
                <a:cubicBezTo>
                  <a:pt x="169762" y="254576"/>
                  <a:pt x="176678" y="260919"/>
                  <a:pt x="185195" y="262293"/>
                </a:cubicBezTo>
                <a:cubicBezTo>
                  <a:pt x="236933" y="270638"/>
                  <a:pt x="289367" y="273868"/>
                  <a:pt x="341453" y="279655"/>
                </a:cubicBezTo>
                <a:cubicBezTo>
                  <a:pt x="356886" y="283513"/>
                  <a:pt x="372185" y="287953"/>
                  <a:pt x="387752" y="291230"/>
                </a:cubicBezTo>
                <a:cubicBezTo>
                  <a:pt x="408858" y="295673"/>
                  <a:pt x="430418" y="297864"/>
                  <a:pt x="451413" y="302804"/>
                </a:cubicBezTo>
                <a:cubicBezTo>
                  <a:pt x="463289" y="305598"/>
                  <a:pt x="474562" y="310521"/>
                  <a:pt x="486137" y="314379"/>
                </a:cubicBezTo>
                <a:cubicBezTo>
                  <a:pt x="493853" y="322096"/>
                  <a:pt x="499928" y="331914"/>
                  <a:pt x="509286" y="337529"/>
                </a:cubicBezTo>
                <a:cubicBezTo>
                  <a:pt x="519748" y="343806"/>
                  <a:pt x="532544" y="344934"/>
                  <a:pt x="544010" y="349103"/>
                </a:cubicBezTo>
                <a:cubicBezTo>
                  <a:pt x="553773" y="352653"/>
                  <a:pt x="563301" y="356820"/>
                  <a:pt x="572947" y="360678"/>
                </a:cubicBezTo>
                <a:cubicBezTo>
                  <a:pt x="580663" y="368394"/>
                  <a:pt x="587366" y="377280"/>
                  <a:pt x="596096" y="383827"/>
                </a:cubicBezTo>
                <a:cubicBezTo>
                  <a:pt x="614785" y="397844"/>
                  <a:pt x="645336" y="401925"/>
                  <a:pt x="665544" y="406977"/>
                </a:cubicBezTo>
                <a:cubicBezTo>
                  <a:pt x="680977" y="422410"/>
                  <a:pt x="692322" y="443514"/>
                  <a:pt x="711843" y="453275"/>
                </a:cubicBezTo>
                <a:cubicBezTo>
                  <a:pt x="727276" y="460992"/>
                  <a:pt x="745941" y="464224"/>
                  <a:pt x="758142" y="476425"/>
                </a:cubicBezTo>
                <a:cubicBezTo>
                  <a:pt x="810541" y="528823"/>
                  <a:pt x="784920" y="512962"/>
                  <a:pt x="827590" y="534298"/>
                </a:cubicBezTo>
                <a:cubicBezTo>
                  <a:pt x="855343" y="617554"/>
                  <a:pt x="821672" y="513584"/>
                  <a:pt x="850739" y="615321"/>
                </a:cubicBezTo>
                <a:cubicBezTo>
                  <a:pt x="854091" y="627052"/>
                  <a:pt x="855222" y="640117"/>
                  <a:pt x="862314" y="650045"/>
                </a:cubicBezTo>
                <a:cubicBezTo>
                  <a:pt x="875000" y="667805"/>
                  <a:pt x="908613" y="696344"/>
                  <a:pt x="908613" y="696344"/>
                </a:cubicBezTo>
                <a:cubicBezTo>
                  <a:pt x="912471" y="704060"/>
                  <a:pt x="914664" y="712866"/>
                  <a:pt x="920187" y="719493"/>
                </a:cubicBezTo>
                <a:cubicBezTo>
                  <a:pt x="934159" y="736260"/>
                  <a:pt x="966486" y="765792"/>
                  <a:pt x="966486" y="765792"/>
                </a:cubicBezTo>
                <a:cubicBezTo>
                  <a:pt x="970344" y="788941"/>
                  <a:pt x="975539" y="811907"/>
                  <a:pt x="978061" y="835240"/>
                </a:cubicBezTo>
                <a:cubicBezTo>
                  <a:pt x="983261" y="883341"/>
                  <a:pt x="980980" y="932322"/>
                  <a:pt x="989635" y="979923"/>
                </a:cubicBezTo>
                <a:cubicBezTo>
                  <a:pt x="992722" y="996899"/>
                  <a:pt x="1012785" y="1026222"/>
                  <a:pt x="1012785" y="1026222"/>
                </a:cubicBezTo>
                <a:cubicBezTo>
                  <a:pt x="1010856" y="1047442"/>
                  <a:pt x="1010120" y="1068805"/>
                  <a:pt x="1006997" y="1089883"/>
                </a:cubicBezTo>
                <a:cubicBezTo>
                  <a:pt x="1002395" y="1120947"/>
                  <a:pt x="992760" y="1151232"/>
                  <a:pt x="989635" y="1182480"/>
                </a:cubicBezTo>
                <a:cubicBezTo>
                  <a:pt x="983097" y="1247857"/>
                  <a:pt x="991946" y="1315031"/>
                  <a:pt x="978061" y="1379250"/>
                </a:cubicBezTo>
                <a:cubicBezTo>
                  <a:pt x="975326" y="1391899"/>
                  <a:pt x="953939" y="1389191"/>
                  <a:pt x="943337" y="1396612"/>
                </a:cubicBezTo>
                <a:cubicBezTo>
                  <a:pt x="934397" y="1402870"/>
                  <a:pt x="927904" y="1412045"/>
                  <a:pt x="920187" y="1419761"/>
                </a:cubicBezTo>
                <a:cubicBezTo>
                  <a:pt x="916329" y="1427478"/>
                  <a:pt x="913789" y="1436009"/>
                  <a:pt x="908613" y="1442911"/>
                </a:cubicBezTo>
                <a:cubicBezTo>
                  <a:pt x="902065" y="1451641"/>
                  <a:pt x="889762" y="1456030"/>
                  <a:pt x="885463" y="1466060"/>
                </a:cubicBezTo>
                <a:cubicBezTo>
                  <a:pt x="869938" y="1502285"/>
                  <a:pt x="882438" y="1532777"/>
                  <a:pt x="856527" y="1564445"/>
                </a:cubicBezTo>
                <a:cubicBezTo>
                  <a:pt x="847718" y="1575211"/>
                  <a:pt x="833378" y="1579878"/>
                  <a:pt x="821803" y="1587594"/>
                </a:cubicBezTo>
                <a:cubicBezTo>
                  <a:pt x="791697" y="1647804"/>
                  <a:pt x="813634" y="1625332"/>
                  <a:pt x="758142" y="1657042"/>
                </a:cubicBezTo>
                <a:cubicBezTo>
                  <a:pt x="754284" y="1666688"/>
                  <a:pt x="752330" y="1677335"/>
                  <a:pt x="746567" y="1685979"/>
                </a:cubicBezTo>
                <a:cubicBezTo>
                  <a:pt x="731941" y="1707919"/>
                  <a:pt x="721618" y="1710029"/>
                  <a:pt x="700268" y="1720703"/>
                </a:cubicBezTo>
                <a:cubicBezTo>
                  <a:pt x="691032" y="1736097"/>
                  <a:pt x="677530" y="1763902"/>
                  <a:pt x="659757" y="1772789"/>
                </a:cubicBezTo>
                <a:cubicBezTo>
                  <a:pt x="645528" y="1779903"/>
                  <a:pt x="628891" y="1780506"/>
                  <a:pt x="613458" y="1784364"/>
                </a:cubicBezTo>
                <a:cubicBezTo>
                  <a:pt x="591704" y="1838752"/>
                  <a:pt x="618584" y="1793669"/>
                  <a:pt x="561372" y="1824875"/>
                </a:cubicBezTo>
                <a:cubicBezTo>
                  <a:pt x="551792" y="1830101"/>
                  <a:pt x="547303" y="1841972"/>
                  <a:pt x="538223" y="1848025"/>
                </a:cubicBezTo>
                <a:cubicBezTo>
                  <a:pt x="481063" y="1886132"/>
                  <a:pt x="455564" y="1874810"/>
                  <a:pt x="376177" y="1882749"/>
                </a:cubicBezTo>
                <a:cubicBezTo>
                  <a:pt x="364602" y="1888536"/>
                  <a:pt x="350158" y="1890535"/>
                  <a:pt x="341453" y="1900111"/>
                </a:cubicBezTo>
                <a:cubicBezTo>
                  <a:pt x="329846" y="1912878"/>
                  <a:pt x="318304" y="1946410"/>
                  <a:pt x="318304" y="1946410"/>
                </a:cubicBezTo>
                <a:cubicBezTo>
                  <a:pt x="320868" y="2015630"/>
                  <a:pt x="287994" y="2086320"/>
                  <a:pt x="347241" y="2125817"/>
                </a:cubicBezTo>
                <a:cubicBezTo>
                  <a:pt x="361597" y="2135388"/>
                  <a:pt x="379736" y="2138613"/>
                  <a:pt x="393539" y="2148966"/>
                </a:cubicBezTo>
                <a:cubicBezTo>
                  <a:pt x="401256" y="2154754"/>
                  <a:pt x="407585" y="2163142"/>
                  <a:pt x="416689" y="2166329"/>
                </a:cubicBezTo>
                <a:cubicBezTo>
                  <a:pt x="446718" y="2176839"/>
                  <a:pt x="509286" y="2189478"/>
                  <a:pt x="509286" y="2189478"/>
                </a:cubicBezTo>
                <a:cubicBezTo>
                  <a:pt x="634199" y="2264425"/>
                  <a:pt x="465258" y="2156018"/>
                  <a:pt x="549797" y="2229989"/>
                </a:cubicBezTo>
                <a:cubicBezTo>
                  <a:pt x="559536" y="2238511"/>
                  <a:pt x="572245" y="2243259"/>
                  <a:pt x="584522" y="2247351"/>
                </a:cubicBezTo>
                <a:cubicBezTo>
                  <a:pt x="636989" y="2264840"/>
                  <a:pt x="726803" y="2266769"/>
                  <a:pt x="769716" y="2270501"/>
                </a:cubicBezTo>
                <a:cubicBezTo>
                  <a:pt x="777433" y="2276288"/>
                  <a:pt x="783223" y="2287653"/>
                  <a:pt x="792866" y="2287863"/>
                </a:cubicBezTo>
                <a:cubicBezTo>
                  <a:pt x="869597" y="2289531"/>
                  <a:pt x="1075171" y="2284897"/>
                  <a:pt x="1169043" y="2247351"/>
                </a:cubicBezTo>
                <a:cubicBezTo>
                  <a:pt x="1341007" y="2178570"/>
                  <a:pt x="1065189" y="2291799"/>
                  <a:pt x="1221129" y="2218415"/>
                </a:cubicBezTo>
                <a:cubicBezTo>
                  <a:pt x="1245441" y="2206974"/>
                  <a:pt x="1271322" y="2199217"/>
                  <a:pt x="1296365" y="2189478"/>
                </a:cubicBezTo>
                <a:cubicBezTo>
                  <a:pt x="1306047" y="2185713"/>
                  <a:pt x="1315312" y="2180757"/>
                  <a:pt x="1325301" y="2177903"/>
                </a:cubicBezTo>
                <a:cubicBezTo>
                  <a:pt x="1364861" y="2166601"/>
                  <a:pt x="1372380" y="2165628"/>
                  <a:pt x="1412111" y="2148966"/>
                </a:cubicBezTo>
                <a:cubicBezTo>
                  <a:pt x="1456728" y="2130255"/>
                  <a:pt x="1501175" y="2111113"/>
                  <a:pt x="1545220" y="2091093"/>
                </a:cubicBezTo>
                <a:cubicBezTo>
                  <a:pt x="1564855" y="2082168"/>
                  <a:pt x="1583459" y="2071081"/>
                  <a:pt x="1603094" y="2062156"/>
                </a:cubicBezTo>
                <a:cubicBezTo>
                  <a:pt x="1637688" y="2046432"/>
                  <a:pt x="1697209" y="2025939"/>
                  <a:pt x="1730415" y="2004283"/>
                </a:cubicBezTo>
                <a:cubicBezTo>
                  <a:pt x="1756917" y="1986999"/>
                  <a:pt x="1779509" y="1964234"/>
                  <a:pt x="1805651" y="1946410"/>
                </a:cubicBezTo>
                <a:cubicBezTo>
                  <a:pt x="1822061" y="1935221"/>
                  <a:pt x="1842148" y="1929780"/>
                  <a:pt x="1857737" y="1917473"/>
                </a:cubicBezTo>
                <a:cubicBezTo>
                  <a:pt x="1879150" y="1900568"/>
                  <a:pt x="1894823" y="1877268"/>
                  <a:pt x="1915610" y="1859599"/>
                </a:cubicBezTo>
                <a:cubicBezTo>
                  <a:pt x="1958774" y="1822910"/>
                  <a:pt x="1982079" y="1814790"/>
                  <a:pt x="2031357" y="1790151"/>
                </a:cubicBezTo>
                <a:cubicBezTo>
                  <a:pt x="2097786" y="1712651"/>
                  <a:pt x="2032447" y="1784700"/>
                  <a:pt x="2106592" y="1714916"/>
                </a:cubicBezTo>
                <a:cubicBezTo>
                  <a:pt x="2126459" y="1696218"/>
                  <a:pt x="2144355" y="1675477"/>
                  <a:pt x="2164466" y="1657042"/>
                </a:cubicBezTo>
                <a:cubicBezTo>
                  <a:pt x="2190687" y="1633006"/>
                  <a:pt x="2223345" y="1615432"/>
                  <a:pt x="2245489" y="1587594"/>
                </a:cubicBezTo>
                <a:cubicBezTo>
                  <a:pt x="2384876" y="1412364"/>
                  <a:pt x="2340506" y="1447174"/>
                  <a:pt x="2413322" y="1292440"/>
                </a:cubicBezTo>
                <a:cubicBezTo>
                  <a:pt x="2480636" y="1149397"/>
                  <a:pt x="2443110" y="1260663"/>
                  <a:pt x="2476982" y="1147756"/>
                </a:cubicBezTo>
                <a:cubicBezTo>
                  <a:pt x="2463478" y="1049371"/>
                  <a:pt x="2451202" y="950810"/>
                  <a:pt x="2436471" y="852602"/>
                </a:cubicBezTo>
                <a:cubicBezTo>
                  <a:pt x="2427115" y="790227"/>
                  <a:pt x="2417962" y="783849"/>
                  <a:pt x="2384385" y="719493"/>
                </a:cubicBezTo>
                <a:cubicBezTo>
                  <a:pt x="2359236" y="671290"/>
                  <a:pt x="2348789" y="654670"/>
                  <a:pt x="2314937" y="609534"/>
                </a:cubicBezTo>
                <a:cubicBezTo>
                  <a:pt x="2300114" y="589770"/>
                  <a:pt x="2285332" y="569871"/>
                  <a:pt x="2268638" y="551660"/>
                </a:cubicBezTo>
                <a:cubicBezTo>
                  <a:pt x="2242829" y="523505"/>
                  <a:pt x="2221777" y="487718"/>
                  <a:pt x="2187615" y="470637"/>
                </a:cubicBezTo>
                <a:cubicBezTo>
                  <a:pt x="2075476" y="414568"/>
                  <a:pt x="2174728" y="460784"/>
                  <a:pt x="2095018" y="430126"/>
                </a:cubicBezTo>
                <a:cubicBezTo>
                  <a:pt x="2081305" y="424852"/>
                  <a:pt x="2069100" y="414461"/>
                  <a:pt x="2054506" y="412764"/>
                </a:cubicBezTo>
                <a:cubicBezTo>
                  <a:pt x="1985416" y="404730"/>
                  <a:pt x="1915610" y="405047"/>
                  <a:pt x="1846162" y="401189"/>
                </a:cubicBezTo>
                <a:cubicBezTo>
                  <a:pt x="1821084" y="391544"/>
                  <a:pt x="1796518" y="380442"/>
                  <a:pt x="1770927" y="372253"/>
                </a:cubicBezTo>
                <a:cubicBezTo>
                  <a:pt x="1748200" y="364981"/>
                  <a:pt x="1723718" y="363540"/>
                  <a:pt x="1701478" y="354891"/>
                </a:cubicBezTo>
                <a:cubicBezTo>
                  <a:pt x="1688513" y="349849"/>
                  <a:pt x="1678730" y="338818"/>
                  <a:pt x="1666754" y="331741"/>
                </a:cubicBezTo>
                <a:cubicBezTo>
                  <a:pt x="1636266" y="313725"/>
                  <a:pt x="1604987" y="297081"/>
                  <a:pt x="1574157" y="279655"/>
                </a:cubicBezTo>
                <a:cubicBezTo>
                  <a:pt x="1560617" y="272002"/>
                  <a:pt x="1545594" y="266463"/>
                  <a:pt x="1533646" y="256506"/>
                </a:cubicBezTo>
                <a:cubicBezTo>
                  <a:pt x="1522071" y="246860"/>
                  <a:pt x="1511633" y="235658"/>
                  <a:pt x="1498922" y="227569"/>
                </a:cubicBezTo>
                <a:cubicBezTo>
                  <a:pt x="1473721" y="211532"/>
                  <a:pt x="1422567" y="208092"/>
                  <a:pt x="1400537" y="204420"/>
                </a:cubicBezTo>
                <a:cubicBezTo>
                  <a:pt x="1392820" y="196703"/>
                  <a:pt x="1385909" y="188087"/>
                  <a:pt x="1377387" y="181270"/>
                </a:cubicBezTo>
                <a:cubicBezTo>
                  <a:pt x="1352769" y="161575"/>
                  <a:pt x="1305896" y="136424"/>
                  <a:pt x="1279003" y="129184"/>
                </a:cubicBezTo>
                <a:cubicBezTo>
                  <a:pt x="1250814" y="121595"/>
                  <a:pt x="1221018" y="122222"/>
                  <a:pt x="1192192" y="117610"/>
                </a:cubicBezTo>
                <a:cubicBezTo>
                  <a:pt x="1172766" y="114502"/>
                  <a:pt x="1153610" y="109893"/>
                  <a:pt x="1134319" y="106035"/>
                </a:cubicBezTo>
                <a:cubicBezTo>
                  <a:pt x="1082122" y="79935"/>
                  <a:pt x="1146866" y="110216"/>
                  <a:pt x="1064871" y="82885"/>
                </a:cubicBezTo>
                <a:cubicBezTo>
                  <a:pt x="1056687" y="80157"/>
                  <a:pt x="1050128" y="73251"/>
                  <a:pt x="1041722" y="71311"/>
                </a:cubicBezTo>
                <a:cubicBezTo>
                  <a:pt x="917763" y="42705"/>
                  <a:pt x="938000" y="54625"/>
                  <a:pt x="833377" y="36587"/>
                </a:cubicBezTo>
                <a:cubicBezTo>
                  <a:pt x="804296" y="31573"/>
                  <a:pt x="775504" y="25012"/>
                  <a:pt x="746567" y="19225"/>
                </a:cubicBezTo>
                <a:cubicBezTo>
                  <a:pt x="738851" y="15367"/>
                  <a:pt x="732045" y="7650"/>
                  <a:pt x="723418" y="7650"/>
                </a:cubicBezTo>
                <a:cubicBezTo>
                  <a:pt x="251781" y="7650"/>
                  <a:pt x="378258" y="-20357"/>
                  <a:pt x="173620" y="30799"/>
                </a:cubicBezTo>
                <a:cubicBezTo>
                  <a:pt x="165904" y="38516"/>
                  <a:pt x="159551" y="47896"/>
                  <a:pt x="150471" y="53949"/>
                </a:cubicBezTo>
                <a:cubicBezTo>
                  <a:pt x="141827" y="59712"/>
                  <a:pt x="131297" y="61973"/>
                  <a:pt x="121534" y="65523"/>
                </a:cubicBezTo>
                <a:cubicBezTo>
                  <a:pt x="92166" y="76202"/>
                  <a:pt x="77040" y="79889"/>
                  <a:pt x="46299" y="88673"/>
                </a:cubicBezTo>
                <a:cubicBezTo>
                  <a:pt x="38582" y="102177"/>
                  <a:pt x="30468" y="115461"/>
                  <a:pt x="23149" y="129184"/>
                </a:cubicBezTo>
                <a:cubicBezTo>
                  <a:pt x="15029" y="144409"/>
                  <a:pt x="0" y="175483"/>
                  <a:pt x="0" y="175483"/>
                </a:cubicBezTo>
                <a:cubicBezTo>
                  <a:pt x="7658" y="206118"/>
                  <a:pt x="48228" y="189951"/>
                  <a:pt x="63661" y="198632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948177" y="5370653"/>
            <a:ext cx="225707" cy="19677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5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Revisão da aula anterior: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Assédios. Slides da disciplina: Relações de poder nas organizações.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018572" y="2013994"/>
            <a:ext cx="1002367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Cultura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</a:t>
            </a:r>
            <a:r>
              <a:rPr lang="pt-BR" sz="1800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cultura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é um conjunto de </a:t>
            </a:r>
            <a:r>
              <a:rPr i="1" lang="pt-BR" sz="180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normas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</a:t>
            </a:r>
            <a:r>
              <a:rPr i="1" lang="pt-BR" sz="180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crenças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</a:t>
            </a:r>
            <a:r>
              <a:rPr i="1" lang="pt-BR" sz="180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valores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e </a:t>
            </a:r>
            <a:r>
              <a:rPr i="1" lang="pt-BR" sz="180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comportamentos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</a:t>
            </a:r>
            <a:r>
              <a:rPr i="1" lang="pt-BR" sz="180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hábitos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</a:t>
            </a:r>
            <a:r>
              <a:rPr i="1" lang="pt-BR" sz="180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tradições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e </a:t>
            </a:r>
            <a:r>
              <a:rPr i="1" lang="pt-BR" sz="180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conhecimentos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de um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grupo social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018572" y="3078342"/>
            <a:ext cx="10023676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Ritos da cultura organizacional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Conjunto de atividades organizadas, no qual as pessoas se expressam por meio de gestos, símbolos, linguagem e comportamento, marcando e dando sentido a um momento ou acontecimento. São </a:t>
            </a:r>
            <a:r>
              <a:rPr i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ferramentas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para a empresa repassar/perpetuar sua cultura.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Ritos de passagem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Ritos de integração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Ritos de reprodução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Ritos de reconhecimento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Ritos de redução de conflitos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Ritos de rebaixamento</a:t>
            </a:r>
            <a:endParaRPr/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2831" y="4648002"/>
            <a:ext cx="2284740" cy="13604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69060" y="4648002"/>
            <a:ext cx="1834432" cy="13604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Assédios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Assédios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pic>
        <p:nvPicPr>
          <p:cNvPr descr="https://upload.wikimedia.org/wikipedia/commons/b/bd/Antiochie1098.jp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572" y="2341021"/>
            <a:ext cx="3802284" cy="389238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5131450" y="2161400"/>
            <a:ext cx="5910900" cy="407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 palavra "assédio" possui origem em dois vocábulos do latim: </a:t>
            </a:r>
            <a:r>
              <a:rPr i="1"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absedius</a:t>
            </a:r>
            <a:r>
              <a:rPr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("do assento") e </a:t>
            </a:r>
            <a:r>
              <a:rPr i="1"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obsidium</a:t>
            </a:r>
            <a:r>
              <a:rPr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("cerco, cilada"). </a:t>
            </a:r>
            <a:r>
              <a:rPr i="1"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Obsidium</a:t>
            </a:r>
            <a:r>
              <a:rPr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se transformou no termo do latim vulgar </a:t>
            </a:r>
            <a:r>
              <a:rPr i="1"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adsedium</a:t>
            </a:r>
            <a:r>
              <a:rPr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 que deu origem ao termo italiano </a:t>
            </a:r>
            <a:r>
              <a:rPr i="1"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assedio</a:t>
            </a:r>
            <a:r>
              <a:rPr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 sz="16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Originalmente, o termo "assédio" se referia aos cercos militares a cidades e fortalezas. Posteriormente, o termo se estendeu, de modo figurado, a situações semelhantes na vida cotidiana das pessoas.</a:t>
            </a:r>
            <a:endParaRPr b="0" i="0" sz="20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1018572" y="2013994"/>
            <a:ext cx="100236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 que é? Definição: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 no trabalho é a exposição de alguém a 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situações degradantes, humilhantes e constrangedoras, repetitivas e prolongadas 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durante a jornada de trabalho e no exercício de suas funções.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1018572" y="3723188"/>
            <a:ext cx="1002367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Exemplos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Consiste em toda "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conduta abusiva 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que se manifesta notadamente por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comportamentos, palavras, atos, gestos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que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podem causar danos à personalidade, à dignidade ou à integridade física ou psíquica de uma pessoa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colocando em risco o emprego desta ou degradando o clima de trabalho“ </a:t>
            </a:r>
            <a:r>
              <a:rPr lang="pt-BR" sz="1800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(Marie France Hirigoyen, 1998, p. 55)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1018572" y="2013994"/>
            <a:ext cx="100236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Não há legislação específica sobre o assédio moral 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para os servidores e empregados públicos em nível federal e para os trabalhadores da iniciativa privada, mas tramitam no Congresso Nacional projetos de lei sobre a matéria. Em alguns estados, há leis que protegem servidores e empregados públicos estaduais e municipais.</a:t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moral: leis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1018571" y="3752125"/>
            <a:ext cx="100236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Embora não exista ainda legislação específica em nível federal,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quem assedia pode ser responsabilizado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nas esferas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administrativa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(infração disciplinar) ou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trabalhista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(arts. 482 e 483 da CLT),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civil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(danos morais e materiais) e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criminal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(dependendo do caso, os atos de violência poderão caracterizar crime de lesão corporal, crimes contra a honra, crime de racismo, ou outros).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2546430" y="5185458"/>
            <a:ext cx="8536329" cy="937550"/>
          </a:xfrm>
          <a:prstGeom prst="rect">
            <a:avLst/>
          </a:prstGeom>
          <a:solidFill>
            <a:srgbClr val="FFFFA7"/>
          </a:solidFill>
          <a:ln cap="flat" cmpd="sng" w="12700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Em março de 2019, a Câmara Federal aprovou o </a:t>
            </a:r>
            <a:r>
              <a:rPr b="1" lang="pt-BR" sz="1500" u="sng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 (Projeto de Lei) 4742/2001</a:t>
            </a:r>
            <a:r>
              <a:rPr lang="pt-BR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que tipifica o assédio moral no trabalho como crime. Pelo texto, se configura como assédio moral quem ofender reiteradamente a dignidade de alguém, causando-lhe dano ou sofrimento físico ou mental, por conta do exercício de emprego, cargo ou função. (Falta passar pelo Senado)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018572" y="2013994"/>
            <a:ext cx="100236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 como fator de degradação do ambiente profissional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Somente no começo da década de 80 que o assédio moral foi identificado como um fenômeno destrutivo do ambiente de trabalho, não só reduzindo a produtividade mas também favorecendo o absenteísmo, devido aos danos psicológicos que envolve.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Moral: como se inicia?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3402956" y="3416461"/>
            <a:ext cx="763929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"O assédio moral nas organizações, geralmente, nasce de forma insignificante e propaga-se pelo fato de as pessoas envolvidas (vítimas) não quererem formalizar a denúncia e encararem-na de maneira superficial, deixando passar as insinuações e as chacotas; em seguida, os ataques multiplicam-se, e a vítima é regularmente acuada, colocada em estado de inferioridade, submetida a manobras hostis e degradantes por longo período."</a:t>
            </a:r>
            <a:endParaRPr sz="1800">
              <a:solidFill>
                <a:srgbClr val="7F7F7F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17" y="3416461"/>
            <a:ext cx="2187130" cy="175656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1078617" y="5170787"/>
            <a:ext cx="218713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Heinz Leymann (Suécia)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Psicólogo do Trabalho</a:t>
            </a:r>
            <a:endParaRPr sz="13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402955" y="5554674"/>
            <a:ext cx="76392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"Tudo o que acontece uma vez, pode nunca mais acontecer, mas tudo o que acontece duas vezes, acontecerá certamente uma terceira" </a:t>
            </a:r>
            <a:r>
              <a:rPr lang="pt-BR" sz="1800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(Provérbio árabe)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fábula do sapo cozido </a:t>
            </a:r>
            <a:endParaRPr/>
          </a:p>
        </p:txBody>
      </p:sp>
      <p:pic>
        <p:nvPicPr>
          <p:cNvPr descr="Boil Fro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2208" y="2256060"/>
            <a:ext cx="4134723" cy="371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1331" y="2755036"/>
            <a:ext cx="3901160" cy="319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5885725" y="2014002"/>
            <a:ext cx="51564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Consequências físicas e mentais</a:t>
            </a:r>
            <a:endParaRPr b="1" sz="22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humilhação </a:t>
            </a:r>
            <a:r>
              <a:rPr b="1" lang="pt-BR" sz="2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repetitiva e de longa duração </a:t>
            </a:r>
            <a:r>
              <a:rPr lang="pt-BR" sz="2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interfere na vida do trabalhador e trabalhadora de modo direto, comprometendo sua identidade, dignidade e relações afetivas e sociais, ocasionando </a:t>
            </a:r>
            <a:r>
              <a:rPr b="1" lang="pt-BR" sz="2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graves danos à saúde física e mental e à vida social e profissional</a:t>
            </a:r>
            <a:r>
              <a:rPr lang="pt-BR" sz="2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constituindo um risco "invisível", porém concreto, nas relações e condições de trabalho.</a:t>
            </a:r>
            <a:endParaRPr sz="1800"/>
          </a:p>
        </p:txBody>
      </p:sp>
      <p:sp>
        <p:nvSpPr>
          <p:cNvPr id="170" name="Google Shape;170;p9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Moral: consequências</a:t>
            </a:r>
            <a:endParaRPr/>
          </a:p>
        </p:txBody>
      </p:sp>
      <p:pic>
        <p:nvPicPr>
          <p:cNvPr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572" y="2099339"/>
            <a:ext cx="4631927" cy="408154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2806861" y="3310359"/>
            <a:ext cx="1140105" cy="2662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Supervisão abusiva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2001582" y="3443468"/>
            <a:ext cx="625872" cy="2662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Medo</a:t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017506" y="3450545"/>
            <a:ext cx="625872" cy="2662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Raiva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3588153" y="4448354"/>
            <a:ext cx="1203766" cy="36028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Comportamentos contra produtivos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2274425" y="4855580"/>
            <a:ext cx="972273" cy="43084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Comporta-mentos de evitação</a:t>
            </a:r>
            <a:endParaRPr sz="10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1018573" y="2013994"/>
            <a:ext cx="481506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Assédios gerais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retirar autonomia funcional dos trabalhadores ou privá-los de acesso aos instrumentos de trabalho;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sonegar informações úteis para a realização de suas tarefas ou induzi-los a erro;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contestar sistematicamente todas as suas decisões e criticar o seu trabalho de modo exagerado ou injusto;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agredir verbalmente, dirigir gestos de desprezo, alterar o tom de voz ou ameaçar com outras formas de violência física;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desconsiderar problemas de saúde ou recomendações médicas na distribuição de tarefas;</a:t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moral: exemplos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5995687" y="2013994"/>
            <a:ext cx="5046562" cy="2723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Assédios específicos contra mulheres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dificultar ou impedir que as gestantes compareçam a consultas médicas fora da empresa;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interferir no planejamento familiar das mulheres, exigindo que não engravidem;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desconsiderar recomendações médicas às gestantes na distribuição de tarefas;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pt-BR" sz="1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desconsiderar sumariamente a opinião técnica da mulher em sua área de conhecimento.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1018572" y="2013994"/>
            <a:ext cx="1002367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prática de atos de gestão administrativa, sem a finalidade discriminatória, não caracteriza assédio moral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como a atribuição de tarefas aos subordinados, a transferência do servidor ou do empregado para outra lotação ou outro posto de trabalho, a alteração da jornada de trabalho, a destituição de funções comissionadas etc.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Importa ressaltar que a tônica que rege esses atos de gestão administrativa, diferenciando-os de atos de assédio, é que estejam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vinculados ao interesse da organização e que sejam razoáveis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Ou seja, os atos de gestão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não devem estar vinculados a interesses e vontades particulares do supervisor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Diferença entre assédio e atos de gestão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1018572" y="2013994"/>
            <a:ext cx="100236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horizontal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Quando um colega é assediado por outro(s) colega(s).</a:t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Moral: tipos de assédio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1018572" y="3352799"/>
            <a:ext cx="100236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vertical: descendente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Quando um subordinado é assediado por um superior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1018571" y="4691604"/>
            <a:ext cx="100236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vertical: ascendente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Quando um superior é assediado pelos subordinados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1018573" y="2013994"/>
            <a:ext cx="37675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Recusar a Comunicação direta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Desqualificar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Desacreditar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Isolar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Constranger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Criar armadilhas para o outro cometer uma falta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Formas de impedir a vítima de reagir</a:t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1018573" y="2013994"/>
            <a:ext cx="37675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Recusar a Comunicação direta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Desqualificar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Desacreditar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Isolar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Constranger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Criar armadilhas para o outro cometer uma falta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Formas de impedir a vítima de reagir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4849792" y="2083443"/>
            <a:ext cx="6192456" cy="1393824"/>
          </a:xfrm>
          <a:prstGeom prst="rect">
            <a:avLst/>
          </a:prstGeom>
          <a:solidFill>
            <a:srgbClr val="FC7C8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 conflito não é aberto, ainda que diariamente expresso por ações de desqualificação; essa negação paralisa a vítima, que não pode defender-se, pois,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como o ataque não é explícito, ela não sabe definir bem contra o quê deve lutar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</p:txBody>
      </p:sp>
      <p:pic>
        <p:nvPicPr>
          <p:cNvPr id="225" name="Google Shape;2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03" y="3732359"/>
            <a:ext cx="3714267" cy="2335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14"/>
          <p:cNvCxnSpPr/>
          <p:nvPr/>
        </p:nvCxnSpPr>
        <p:spPr>
          <a:xfrm>
            <a:off x="4624086" y="2199189"/>
            <a:ext cx="22570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1018573" y="2013994"/>
            <a:ext cx="37675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Recusar a Comunicação direta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Desqualificar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Desacreditar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Isolar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Constranger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Criar armadilhas para o outro cometer uma falta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Formas de impedir a vítima de reagir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4849792" y="2083441"/>
            <a:ext cx="6192456" cy="3113591"/>
          </a:xfrm>
          <a:prstGeom prst="rect">
            <a:avLst/>
          </a:prstGeom>
          <a:solidFill>
            <a:srgbClr val="D5A8FE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vítima é desqualificada em relação à sua inteligência, capacidade de fazer as coisas bem feitas, ter boas ideias ou opiniões interessantes.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É praticada de maneira sutil: suspiros, olhares de desprezo, fechar os olhos e balançar a cabeça, que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podem levar progressivamente os demais a duvidar da competência profissional da vítima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 As críticas podem ser dissimuladas em brincadeiras, piadas, sarcasmos. A linguagem é pervertida. As palavras escondem mal-entendidos que podem retornar contra a própria vítima.</a:t>
            </a:r>
            <a:endParaRPr/>
          </a:p>
        </p:txBody>
      </p:sp>
      <p:cxnSp>
        <p:nvCxnSpPr>
          <p:cNvPr id="237" name="Google Shape;237;p15"/>
          <p:cNvCxnSpPr/>
          <p:nvPr/>
        </p:nvCxnSpPr>
        <p:spPr>
          <a:xfrm>
            <a:off x="2922608" y="2766342"/>
            <a:ext cx="1927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44" name="Google Shape;244;p16"/>
          <p:cNvSpPr txBox="1"/>
          <p:nvPr/>
        </p:nvSpPr>
        <p:spPr>
          <a:xfrm>
            <a:off x="1018573" y="2013994"/>
            <a:ext cx="37675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Recusar a Comunicação direta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Desqualificar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Desacreditar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Isolar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Constranger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Criar armadilhas para o outro cometer uma falta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Formas de impedir a vítima de reagir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4849792" y="2083444"/>
            <a:ext cx="6192456" cy="2031356"/>
          </a:xfrm>
          <a:prstGeom prst="rect">
            <a:avLst/>
          </a:prstGeom>
          <a:solidFill>
            <a:srgbClr val="8FFBB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Consiste em um esforço em ridicularizar o outro, em humilhar, cobri-lo de sarcasmo até fazê-lo perder a confiança em si. As vezes, também são usadas difamações, calúnias, mentiras e subentendidos maldosos. Quando a vítima está esgotada ou fica deprimida, isso justifica o assédio "isto não me surpreende, sempre soube que essa pessoa era louca".</a:t>
            </a:r>
            <a:endParaRPr/>
          </a:p>
        </p:txBody>
      </p:sp>
      <p:cxnSp>
        <p:nvCxnSpPr>
          <p:cNvPr id="248" name="Google Shape;248;p16"/>
          <p:cNvCxnSpPr/>
          <p:nvPr/>
        </p:nvCxnSpPr>
        <p:spPr>
          <a:xfrm>
            <a:off x="2841585" y="3298772"/>
            <a:ext cx="200820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49" name="Google Shape;2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7646" y="4336557"/>
            <a:ext cx="2482654" cy="184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1018573" y="2013994"/>
            <a:ext cx="37675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Recusar a Comunicação direta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Desqualificar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Desacreditar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Isolar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Constranger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Criar armadilhas para o outro cometer uma falta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Formas de impedir a vítima de reagir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>
            <a:off x="4849792" y="2777000"/>
            <a:ext cx="6192456" cy="1656104"/>
          </a:xfrm>
          <a:prstGeom prst="rect">
            <a:avLst/>
          </a:prstGeom>
          <a:solidFill>
            <a:srgbClr val="FFFFA7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Consiste em quebrar todas as alianças possíveis da vítima. Sozinho(a), é mais difícil de se rebelar.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vítima almoça sozinha, não é convidada para as reuniões informais, pode ser privada de informações e até de reuniões formais. </a:t>
            </a:r>
            <a:endParaRPr/>
          </a:p>
        </p:txBody>
      </p:sp>
      <p:cxnSp>
        <p:nvCxnSpPr>
          <p:cNvPr id="260" name="Google Shape;260;p17"/>
          <p:cNvCxnSpPr/>
          <p:nvPr/>
        </p:nvCxnSpPr>
        <p:spPr>
          <a:xfrm>
            <a:off x="2095018" y="3871718"/>
            <a:ext cx="275477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61" name="Google Shape;2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9939" y="4585093"/>
            <a:ext cx="2992161" cy="1602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018573" y="2013994"/>
            <a:ext cx="37675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Recusar a Comunicação direta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Desqualificar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Desacreditar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Isolar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Constranger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Criar armadilhas para o outro cometer uma falta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Formas de impedir a vítima de reagir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4849792" y="3287211"/>
            <a:ext cx="6192456" cy="1383176"/>
          </a:xfrm>
          <a:prstGeom prst="rect">
            <a:avLst/>
          </a:prstGeom>
          <a:solidFill>
            <a:srgbClr val="9BDBFB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Caracteriza-se por atribuir tarefas inúteis e degradantes, fixar objetivos inatingíveis, solicitar trabalho extra (à noite ou no fim de semana).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Sobrecarregada, a vítima não tem tempo ou condições de perceber sua situação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</p:txBody>
      </p:sp>
      <p:cxnSp>
        <p:nvCxnSpPr>
          <p:cNvPr id="272" name="Google Shape;272;p18"/>
          <p:cNvCxnSpPr/>
          <p:nvPr/>
        </p:nvCxnSpPr>
        <p:spPr>
          <a:xfrm>
            <a:off x="2772137" y="4409939"/>
            <a:ext cx="207765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73" name="Google Shape;2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4560" y="4742725"/>
            <a:ext cx="1885860" cy="1597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1018573" y="2013994"/>
            <a:ext cx="37675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Recusar a Comunicação direta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Desqualificar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Desacreditar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Isolar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Constranger</a:t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Criar armadilhas para o outro cometer uma falta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Formas de impedir a vítima de reagir</a:t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4849792" y="3923818"/>
            <a:ext cx="6192456" cy="2338085"/>
          </a:xfrm>
          <a:prstGeom prst="rect">
            <a:avLst/>
          </a:prstGeom>
          <a:solidFill>
            <a:srgbClr val="8FFBEE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 assediador provoca para, em seguida, se fazer de vítima. É uma maneira hábil de desqualificar para em seguida criticar a vítima e justificar o seu rebaixamento, além de levá-la a ter uma má imagem de si mesma. É fácil, com uma atitude de desprezo e de provocação, levar o outro a um comportamento impulsivo ou colérico, agressivo e depois dizer "vocês viram, esta pessoa é desequilibrada e perturba o trabalho; quantas vezes eu já não disse?".</a:t>
            </a:r>
            <a:endParaRPr/>
          </a:p>
        </p:txBody>
      </p:sp>
      <p:cxnSp>
        <p:nvCxnSpPr>
          <p:cNvPr id="283" name="Google Shape;283;p19"/>
          <p:cNvCxnSpPr/>
          <p:nvPr/>
        </p:nvCxnSpPr>
        <p:spPr>
          <a:xfrm>
            <a:off x="3408744" y="5237529"/>
            <a:ext cx="144104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84" name="Google Shape;2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9067" y="2055491"/>
            <a:ext cx="1864462" cy="1810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moral: alvos preferenciais</a:t>
            </a:r>
            <a:endParaRPr/>
          </a:p>
        </p:txBody>
      </p:sp>
      <p:pic>
        <p:nvPicPr>
          <p:cNvPr id="292" name="Google Shape;2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3325" y="2147962"/>
            <a:ext cx="7639372" cy="373178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0"/>
          <p:cNvSpPr txBox="1"/>
          <p:nvPr/>
        </p:nvSpPr>
        <p:spPr>
          <a:xfrm>
            <a:off x="3923818" y="6032779"/>
            <a:ext cx="71184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(Comitê Permanente pela Promoção da Igualdade de Gênero e Raça do Senado Federal)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Assédios e violências: diferenças entre M x H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3923818" y="6032779"/>
            <a:ext cx="71184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(Locomotiva &amp; Instituto Patrícia Galvão, 2021)</a:t>
            </a:r>
            <a:endParaRPr/>
          </a:p>
        </p:txBody>
      </p:sp>
      <p:pic>
        <p:nvPicPr>
          <p:cNvPr id="302" name="Google Shape;3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5950" y="2013999"/>
            <a:ext cx="4388780" cy="38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576" y="2014000"/>
            <a:ext cx="4566239" cy="40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1084210" y="365123"/>
            <a:ext cx="10023600" cy="5844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Assédios e outras violências: prevalências M x H</a:t>
            </a:r>
            <a:endParaRPr/>
          </a:p>
        </p:txBody>
      </p:sp>
      <p:pic>
        <p:nvPicPr>
          <p:cNvPr id="311" name="Google Shape;3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00" y="897925"/>
            <a:ext cx="12191999" cy="59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Assédios e outras violências: consequências</a:t>
            </a:r>
            <a:endParaRPr/>
          </a:p>
        </p:txBody>
      </p:sp>
      <p:pic>
        <p:nvPicPr>
          <p:cNvPr id="319" name="Google Shape;3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5993" y="2115750"/>
            <a:ext cx="9066657" cy="4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5f09261e9a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26" name="Google Shape;326;g35f09261e9a_0_0"/>
          <p:cNvSpPr/>
          <p:nvPr/>
        </p:nvSpPr>
        <p:spPr>
          <a:xfrm>
            <a:off x="1018572" y="1429473"/>
            <a:ext cx="10023600" cy="5844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Assédios e outras violências: consequências</a:t>
            </a:r>
            <a:endParaRPr/>
          </a:p>
        </p:txBody>
      </p:sp>
      <p:pic>
        <p:nvPicPr>
          <p:cNvPr id="327" name="Google Shape;327;g35f09261e9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575" y="2013875"/>
            <a:ext cx="10023600" cy="48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moral: quem assedia?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1018572" y="2013994"/>
            <a:ext cx="1002367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 modo geral, o assediador é autoritário, manipulador e abusa do poder conferido em razão do cargo, emprego ou função.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 assediador costuma ser arrogante, desmotivador, tem necessidade de demonstrar poder, não costuma assumir responsabilidades, reconhecer suas falhas e valorizar o trabalho dos demais.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Essa é uma descrição genérica. O assediador pode não se enquadrar totalmente no perfil descrito. 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3923818" y="6032779"/>
            <a:ext cx="71184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(Comitê Permanente pela Promoção da Igualdade de Gênero e Raça do Senado Federal)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moral: um problema social e cultural</a:t>
            </a:r>
            <a:endParaRPr/>
          </a:p>
        </p:txBody>
      </p:sp>
      <p:pic>
        <p:nvPicPr>
          <p:cNvPr id="344" name="Google Shape;3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00" y="2014000"/>
            <a:ext cx="10689349" cy="408776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5"/>
          <p:cNvSpPr txBox="1"/>
          <p:nvPr/>
        </p:nvSpPr>
        <p:spPr>
          <a:xfrm>
            <a:off x="3923818" y="6032779"/>
            <a:ext cx="71184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(Comitê Permanente pela Promoção da Igualdade de Gênero e Raça do Senado Federal)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1018572" y="2013994"/>
            <a:ext cx="100236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 que é? Definição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sexual consiste em "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Constranger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alguém com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intuito de obter vantagem ou favorecimento sexual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prevalecendo-se o agente de sua condição de superior hierárquico ou ascendência inerentes ao exercício de emprego, cargo ou função" (Código Penal, art. 216-A). </a:t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sexual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1018571" y="3752125"/>
            <a:ext cx="1002367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 assédio sexual é um tipo de coerção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 Caracteriza-se por alguma chantagem, ameaça, insinuação de ameaça ou hostilidade contra o subordinado visando a algum objetivo de natureza sexual.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Exemplos clássicos são as condições impostas para uma promoção que envolvam favores sexuais, ou a ameaça de demissão caso o empregado recuse o flerte do superior.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sexual e Importunação Sexual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pic>
        <p:nvPicPr>
          <p:cNvPr id="363" name="Google Shape;3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572" y="2105297"/>
            <a:ext cx="4050680" cy="423894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4" name="Google Shape;3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1017" y="2105298"/>
            <a:ext cx="5111230" cy="260064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5" name="Google Shape;365;p27"/>
          <p:cNvSpPr txBox="1"/>
          <p:nvPr/>
        </p:nvSpPr>
        <p:spPr>
          <a:xfrm>
            <a:off x="5259372" y="4844469"/>
            <a:ext cx="5782875" cy="1384995"/>
          </a:xfrm>
          <a:prstGeom prst="rect">
            <a:avLst/>
          </a:prstGeom>
          <a:solidFill>
            <a:srgbClr val="FFFFA7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pt-BR" sz="1200">
                <a:solidFill>
                  <a:srgbClr val="333333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Artigo 215-A: praticar contra alguém e sem a sua anuência ato libidinoso com o objetivo de satisfazer a própria lascívia ou a de terceiro, cuja pena prevista de prisão de 1 a 5 anos.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pt-BR" sz="1200">
                <a:solidFill>
                  <a:srgbClr val="333333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Artigo 61: que trata dos agravantes para uma pena com "traição, emboscada, ou mediante dissimulação, ou outro recurso que dificultou ou tornou impossível a defesa do ofendido" e com "com abuso de poder ou violação de dever inerente a cargo, ofício, ministério ou profissão".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1018572" y="2013994"/>
            <a:ext cx="1002367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Danos à integridade física e psicológica, decorrente da desestabilização emocional causada pelo assédio, do sentimento de vergonha, do auto isolamento e da introjeção da culpa mediante questionamento da própria conduta;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Significativa redução da autoestima;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Diminuição da produtividade;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Afastamentos por doenças;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Aumento das doenças profissionais, do absenteísmo, dos acidentes de trabalho;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Comprometimento permanente da saúde físico-psíquica em função dapressão psicológica sofrida.</a:t>
            </a:r>
            <a:endParaRPr/>
          </a:p>
        </p:txBody>
      </p:sp>
      <p:sp>
        <p:nvSpPr>
          <p:cNvPr id="373" name="Google Shape;373;p28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sexual: consequências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1018572" y="2013994"/>
            <a:ext cx="10023675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sexual no trabalho (Ministério do trabalho)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Episódio 1: </a:t>
            </a:r>
            <a:r>
              <a:rPr lang="pt-BR" sz="1800" u="sng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https://www.youtube.com/watch?v=M_nGxBoVEeY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Episódio 2: </a:t>
            </a:r>
            <a:r>
              <a:rPr lang="pt-BR" sz="1800" u="sng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https://www.youtube.com/watch?v=TFS6qbP2oo8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Episódio 3: </a:t>
            </a:r>
            <a:r>
              <a:rPr lang="pt-BR" sz="1800" u="sng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https://www.youtube.com/watch?v=60BMgdV6GAA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Episodio 4: </a:t>
            </a:r>
            <a:r>
              <a:rPr lang="pt-BR" sz="1800" u="sng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https://www.youtube.com/watch?v=JLy2ISUcCeI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Episódio 5: </a:t>
            </a:r>
            <a:r>
              <a:rPr lang="pt-BR" sz="1800" u="sng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https://www.youtube.com/watch?v=0Hu4fPTR_4A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Episódio 6: </a:t>
            </a:r>
            <a:r>
              <a:rPr lang="pt-BR" sz="1800" u="sng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https://www.youtube.com/watch?v=lvNffbdzn70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82" name="Google Shape;382;p29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sexual: vídeos ilustrativos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1018572" y="2013994"/>
            <a:ext cx="1002367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sexual 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cometido no ambiente de trabalho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é considerado falta grave 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 pode ensejar a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demissão por justa causa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conforme a Consolidação das Leis do Trabalho, bem como a abertura de processo administrativo e respectivas consequências (Lei nº 8.112, de 1990).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Também na esfera administrativa, o agressor pode ser punido pela conduta de assédio.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Na esfera criminal, a punição pelo assédio </a:t>
            </a: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pode atingir até dois anos de detenção</a:t>
            </a: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</p:txBody>
      </p:sp>
      <p:sp>
        <p:nvSpPr>
          <p:cNvPr id="391" name="Google Shape;391;p30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 sexual: leis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99" name="Google Shape;399;p31"/>
          <p:cNvSpPr txBox="1"/>
          <p:nvPr/>
        </p:nvSpPr>
        <p:spPr>
          <a:xfrm>
            <a:off x="1018572" y="2013994"/>
            <a:ext cx="10023675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Algumas medidas possíveis para conter o assédio sexual: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oferecer informação sobre o assédio sexual;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fazer constar do código de ética do servidor ou das convenções coletivas de trabalho medidas de prevenção do assédio sexual;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incentivar a prática de relações respeitosas no ambiente de trabalho;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avaliar constantemente as relações interpessoais no ambiente de trabalho, atentando para as mudanças de comportamento;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dispor de instância administrativa para acolher denúncias de maneira objetiva;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apurar e punir as violações denunciadas</a:t>
            </a:r>
            <a:endParaRPr/>
          </a:p>
        </p:txBody>
      </p:sp>
      <p:sp>
        <p:nvSpPr>
          <p:cNvPr id="400" name="Google Shape;400;p31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Assédio: qual o papel da instituição/organização?</a:t>
            </a:r>
            <a:endParaRPr/>
          </a:p>
        </p:txBody>
      </p:sp>
      <p:sp>
        <p:nvSpPr>
          <p:cNvPr id="401" name="Google Shape;401;p31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1018572" y="2013994"/>
            <a:ext cx="10023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Conte o ocorrido a pessoas de confiança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Colegas, amigos, familiares. Forme uma rede de apoio.</a:t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Como se proteger de assédios?</a:t>
            </a:r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sp>
        <p:nvSpPr>
          <p:cNvPr id="411" name="Google Shape;411;p32"/>
          <p:cNvSpPr txBox="1"/>
          <p:nvPr/>
        </p:nvSpPr>
        <p:spPr>
          <a:xfrm>
            <a:off x="1018572" y="2755036"/>
            <a:ext cx="10023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Reúna as provas possíveis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Bilhetes, e-mails, presentes, imagens, fotos, gravações, testemunhas.</a:t>
            </a:r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1018572" y="3496078"/>
            <a:ext cx="1002367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Denuncie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Ligue 180 para fazer a denúncia do caso ou comunique o fato a seu sindicato, à Delegacia Regional do Trabalho, ao Ministério Público do Trabalho ou a qualquer outra entidade de defesa de direitos humanos.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Registre o caso na Delegacia de Polícia Legislativa do Senado, na Delegacia de Atendimento Especial à Mulher (DEAM) ou em qualquer delegacia comum;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419" name="Google Shape;419;p34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Quebre o silêncio! Apoie as vítimas!</a:t>
            </a:r>
            <a:endParaRPr/>
          </a:p>
        </p:txBody>
      </p:sp>
      <p:sp>
        <p:nvSpPr>
          <p:cNvPr id="420" name="Google Shape;420;p34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pic>
        <p:nvPicPr>
          <p:cNvPr descr="The Influence of Social Support and Problematic Support on ..." id="421" name="Google Shape;42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0887" y="2332037"/>
            <a:ext cx="5610225" cy="37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428" name="Google Shape;428;p35"/>
          <p:cNvSpPr/>
          <p:nvPr/>
        </p:nvSpPr>
        <p:spPr>
          <a:xfrm>
            <a:off x="1018572" y="1429473"/>
            <a:ext cx="10023676" cy="584521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Atividade</a:t>
            </a:r>
            <a:endParaRPr/>
          </a:p>
        </p:txBody>
      </p:sp>
      <p:sp>
        <p:nvSpPr>
          <p:cNvPr id="429" name="Google Shape;429;p35"/>
          <p:cNvSpPr txBox="1"/>
          <p:nvPr/>
        </p:nvSpPr>
        <p:spPr>
          <a:xfrm>
            <a:off x="8038618" y="204802"/>
            <a:ext cx="331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Komatsu, A. V. (2020). Assédios . Slides da disciplina: Relações de poder nas organizações.</a:t>
            </a:r>
            <a:endParaRPr/>
          </a:p>
        </p:txBody>
      </p:sp>
      <p:sp>
        <p:nvSpPr>
          <p:cNvPr id="430" name="Google Shape;430;p35"/>
          <p:cNvSpPr txBox="1"/>
          <p:nvPr/>
        </p:nvSpPr>
        <p:spPr>
          <a:xfrm>
            <a:off x="1018572" y="2013994"/>
            <a:ext cx="1002367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Você já esteve, na posição de testemunha ou de vítima, envolvido(a) em uma situação de assédio?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Descreva a situação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Aponte os tipos de poder que cada um dos envolvidos tinha disponível a seu favor.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 que você fez na época e o que faria hoje?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Se nunca esteve envolvido(a), descreva uma situação hipotética de assédio e responda a cada um dos pontos.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2019-11-26T14:32:53Z</dcterms:created>
  <dc:creator>FABRICIO ISHIGA</dc:creator>
</cp:coreProperties>
</file>
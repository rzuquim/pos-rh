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Lst>
  <p:sldSz cy="6858000" cx="12192000"/>
  <p:notesSz cx="6858000" cy="9144000"/>
  <p:embeddedFontLst>
    <p:embeddedFont>
      <p:font typeface="Palatino Linotype"/>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1" roundtripDataSignature="AMtx7mg5N7NRAFnXeV4ddbl8dHGNBPgS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1" Type="http://customschemas.google.com/relationships/presentationmetadata" Target="meta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font" Target="fonts/PalatinoLinotype-boldItalic.fntdata"/><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font" Target="fonts/PalatinoLinotype-regular.fntdata"/><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font" Target="fonts/PalatinoLinotype-italic.fntdata"/><Relationship Id="rId14" Type="http://schemas.openxmlformats.org/officeDocument/2006/relationships/slide" Target="slides/slide10.xml"/><Relationship Id="rId58" Type="http://schemas.openxmlformats.org/officeDocument/2006/relationships/font" Target="fonts/PalatinoLinotype-bold.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 name="Google Shape;10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 name="Google Shape;1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 name="Google Shape;13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3" name="Google Shape;16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9" name="Google Shape;28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8" name="Google Shape;30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8" name="Google Shape;32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0" name="Google Shape;35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3" name="Google Shape;37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3" name="Google Shape;38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8" name="Google Shape;40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9" name="Google Shape;41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0" name="Google Shape;43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3" name="Google Shape;46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0" name="Google Shape;470;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9" name="Google Shape;47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7" name="Google Shape;48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3" name="Google Shape;503;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2" name="Google Shape;532;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3" name="Google Shape;543;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5" name="Google Shape;555;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8" name="Google Shape;57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7" name="Google Shape;587;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3" name="Google Shape;603;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4" name="Google Shape;614;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5" name="Google Shape;625;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8" name="Google Shape;648;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4" name="Google Shape;664;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15" name="Shape 15"/>
        <p:cNvGrpSpPr/>
        <p:nvPr/>
      </p:nvGrpSpPr>
      <p:grpSpPr>
        <a:xfrm>
          <a:off x="0" y="0"/>
          <a:ext cx="0" cy="0"/>
          <a:chOff x="0" y="0"/>
          <a:chExt cx="0" cy="0"/>
        </a:xfrm>
      </p:grpSpPr>
      <p:sp>
        <p:nvSpPr>
          <p:cNvPr id="16" name="Google Shape;16;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21" name="Shape 21"/>
        <p:cNvGrpSpPr/>
        <p:nvPr/>
      </p:nvGrpSpPr>
      <p:grpSpPr>
        <a:xfrm>
          <a:off x="0" y="0"/>
          <a:ext cx="0" cy="0"/>
          <a:chOff x="0" y="0"/>
          <a:chExt cx="0" cy="0"/>
        </a:xfrm>
      </p:grpSpPr>
      <p:sp>
        <p:nvSpPr>
          <p:cNvPr id="22" name="Google Shape;22;p5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5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27" name="Shape 27"/>
        <p:cNvGrpSpPr/>
        <p:nvPr/>
      </p:nvGrpSpPr>
      <p:grpSpPr>
        <a:xfrm>
          <a:off x="0" y="0"/>
          <a:ext cx="0" cy="0"/>
          <a:chOff x="0" y="0"/>
          <a:chExt cx="0" cy="0"/>
        </a:xfrm>
      </p:grpSpPr>
      <p:sp>
        <p:nvSpPr>
          <p:cNvPr id="28" name="Google Shape;28;p5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33" name="Shape 33"/>
        <p:cNvGrpSpPr/>
        <p:nvPr/>
      </p:nvGrpSpPr>
      <p:grpSpPr>
        <a:xfrm>
          <a:off x="0" y="0"/>
          <a:ext cx="0" cy="0"/>
          <a:chOff x="0" y="0"/>
          <a:chExt cx="0" cy="0"/>
        </a:xfrm>
      </p:grpSpPr>
      <p:sp>
        <p:nvSpPr>
          <p:cNvPr id="34" name="Google Shape;34;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40" name="Shape 40"/>
        <p:cNvGrpSpPr/>
        <p:nvPr/>
      </p:nvGrpSpPr>
      <p:grpSpPr>
        <a:xfrm>
          <a:off x="0" y="0"/>
          <a:ext cx="0" cy="0"/>
          <a:chOff x="0" y="0"/>
          <a:chExt cx="0" cy="0"/>
        </a:xfrm>
      </p:grpSpPr>
      <p:sp>
        <p:nvSpPr>
          <p:cNvPr id="41" name="Google Shape;41;p5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5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5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5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49" name="Shape 49"/>
        <p:cNvGrpSpPr/>
        <p:nvPr/>
      </p:nvGrpSpPr>
      <p:grpSpPr>
        <a:xfrm>
          <a:off x="0" y="0"/>
          <a:ext cx="0" cy="0"/>
          <a:chOff x="0" y="0"/>
          <a:chExt cx="0" cy="0"/>
        </a:xfrm>
      </p:grpSpPr>
      <p:sp>
        <p:nvSpPr>
          <p:cNvPr id="50" name="Google Shape;50;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54" name="Shape 54"/>
        <p:cNvGrpSpPr/>
        <p:nvPr/>
      </p:nvGrpSpPr>
      <p:grpSpPr>
        <a:xfrm>
          <a:off x="0" y="0"/>
          <a:ext cx="0" cy="0"/>
          <a:chOff x="0" y="0"/>
          <a:chExt cx="0" cy="0"/>
        </a:xfrm>
      </p:grpSpPr>
      <p:sp>
        <p:nvSpPr>
          <p:cNvPr id="55" name="Google Shape;55;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58" name="Shape 58"/>
        <p:cNvGrpSpPr/>
        <p:nvPr/>
      </p:nvGrpSpPr>
      <p:grpSpPr>
        <a:xfrm>
          <a:off x="0" y="0"/>
          <a:ext cx="0" cy="0"/>
          <a:chOff x="0" y="0"/>
          <a:chExt cx="0" cy="0"/>
        </a:xfrm>
      </p:grpSpPr>
      <p:sp>
        <p:nvSpPr>
          <p:cNvPr id="59" name="Google Shape;59;p6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6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65" name="Shape 65"/>
        <p:cNvGrpSpPr/>
        <p:nvPr/>
      </p:nvGrpSpPr>
      <p:grpSpPr>
        <a:xfrm>
          <a:off x="0" y="0"/>
          <a:ext cx="0" cy="0"/>
          <a:chOff x="0" y="0"/>
          <a:chExt cx="0" cy="0"/>
        </a:xfrm>
      </p:grpSpPr>
      <p:sp>
        <p:nvSpPr>
          <p:cNvPr id="66" name="Google Shape;66;p6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3"/>
          <p:cNvSpPr/>
          <p:nvPr>
            <p:ph idx="2" type="pic"/>
          </p:nvPr>
        </p:nvSpPr>
        <p:spPr>
          <a:xfrm>
            <a:off x="5183188" y="987425"/>
            <a:ext cx="6172200" cy="4873625"/>
          </a:xfrm>
          <a:prstGeom prst="rect">
            <a:avLst/>
          </a:prstGeom>
          <a:noFill/>
          <a:ln>
            <a:noFill/>
          </a:ln>
        </p:spPr>
      </p:sp>
      <p:sp>
        <p:nvSpPr>
          <p:cNvPr id="68" name="Google Shape;68;p6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72" name="Shape 72"/>
        <p:cNvGrpSpPr/>
        <p:nvPr/>
      </p:nvGrpSpPr>
      <p:grpSpPr>
        <a:xfrm>
          <a:off x="0" y="0"/>
          <a:ext cx="0" cy="0"/>
          <a:chOff x="0" y="0"/>
          <a:chExt cx="0" cy="0"/>
        </a:xfrm>
      </p:grpSpPr>
      <p:sp>
        <p:nvSpPr>
          <p:cNvPr id="73" name="Google Shape;73;p6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6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e Título Vertical" type="vertTitleAndTx">
  <p:cSld name="VERTICAL_TITLE_AND_VERTICAL_TEXT">
    <p:spTree>
      <p:nvGrpSpPr>
        <p:cNvPr id="78" name="Shape 78"/>
        <p:cNvGrpSpPr/>
        <p:nvPr/>
      </p:nvGrpSpPr>
      <p:grpSpPr>
        <a:xfrm>
          <a:off x="0" y="0"/>
          <a:ext cx="0" cy="0"/>
          <a:chOff x="0" y="0"/>
          <a:chExt cx="0" cy="0"/>
        </a:xfrm>
      </p:grpSpPr>
      <p:sp>
        <p:nvSpPr>
          <p:cNvPr id="79" name="Google Shape;79;p6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6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5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6.jpg"/><Relationship Id="rId5"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6.jpg"/><Relationship Id="rId5" Type="http://schemas.openxmlformats.org/officeDocument/2006/relationships/image" Target="../media/image8.png"/><Relationship Id="rId6"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jpg"/><Relationship Id="rId5" Type="http://schemas.openxmlformats.org/officeDocument/2006/relationships/image" Target="../media/image6.jpg"/><Relationship Id="rId6" Type="http://schemas.openxmlformats.org/officeDocument/2006/relationships/image" Target="../media/image8.png"/><Relationship Id="rId7"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jpg"/><Relationship Id="rId5" Type="http://schemas.openxmlformats.org/officeDocument/2006/relationships/image" Target="../media/image6.jpg"/><Relationship Id="rId6" Type="http://schemas.openxmlformats.org/officeDocument/2006/relationships/image" Target="../media/image8.png"/><Relationship Id="rId7" Type="http://schemas.openxmlformats.org/officeDocument/2006/relationships/image" Target="../media/image10.jpg"/><Relationship Id="rId8"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2.jpg"/><Relationship Id="rId9" Type="http://schemas.openxmlformats.org/officeDocument/2006/relationships/image" Target="../media/image14.png"/><Relationship Id="rId5" Type="http://schemas.openxmlformats.org/officeDocument/2006/relationships/image" Target="../media/image6.jpg"/><Relationship Id="rId6" Type="http://schemas.openxmlformats.org/officeDocument/2006/relationships/image" Target="../media/image8.png"/><Relationship Id="rId7" Type="http://schemas.openxmlformats.org/officeDocument/2006/relationships/image" Target="../media/image13.jpg"/><Relationship Id="rId8" Type="http://schemas.openxmlformats.org/officeDocument/2006/relationships/image" Target="../media/image10.jpg"/></Relationships>
</file>

<file path=ppt/slides/_rels/slide15.xml.rels><?xml version="1.0" encoding="UTF-8" standalone="yes"?><Relationships xmlns="http://schemas.openxmlformats.org/package/2006/relationships"><Relationship Id="rId10" Type="http://schemas.openxmlformats.org/officeDocument/2006/relationships/image" Target="../media/image14.png"/><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jpg"/><Relationship Id="rId9" Type="http://schemas.openxmlformats.org/officeDocument/2006/relationships/image" Target="../media/image10.jpg"/><Relationship Id="rId5" Type="http://schemas.openxmlformats.org/officeDocument/2006/relationships/image" Target="../media/image6.jpg"/><Relationship Id="rId6" Type="http://schemas.openxmlformats.org/officeDocument/2006/relationships/image" Target="../media/image8.png"/><Relationship Id="rId7" Type="http://schemas.openxmlformats.org/officeDocument/2006/relationships/image" Target="../media/image13.jpg"/><Relationship Id="rId8" Type="http://schemas.openxmlformats.org/officeDocument/2006/relationships/image" Target="../media/image11.jpg"/></Relationships>
</file>

<file path=ppt/slides/_rels/slide16.xml.rels><?xml version="1.0" encoding="UTF-8" standalone="yes"?><Relationships xmlns="http://schemas.openxmlformats.org/package/2006/relationships"><Relationship Id="rId11" Type="http://schemas.openxmlformats.org/officeDocument/2006/relationships/image" Target="../media/image14.png"/><Relationship Id="rId10" Type="http://schemas.openxmlformats.org/officeDocument/2006/relationships/image" Target="../media/image10.jpg"/><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2.jpg"/><Relationship Id="rId9" Type="http://schemas.openxmlformats.org/officeDocument/2006/relationships/image" Target="../media/image17.jpg"/><Relationship Id="rId5" Type="http://schemas.openxmlformats.org/officeDocument/2006/relationships/image" Target="../media/image6.jpg"/><Relationship Id="rId6" Type="http://schemas.openxmlformats.org/officeDocument/2006/relationships/image" Target="../media/image8.png"/><Relationship Id="rId7" Type="http://schemas.openxmlformats.org/officeDocument/2006/relationships/image" Target="../media/image13.jpg"/><Relationship Id="rId8" Type="http://schemas.openxmlformats.org/officeDocument/2006/relationships/image" Target="../media/image11.jpg"/></Relationships>
</file>

<file path=ppt/slides/_rels/slide17.xml.rels><?xml version="1.0" encoding="UTF-8" standalone="yes"?><Relationships xmlns="http://schemas.openxmlformats.org/package/2006/relationships"><Relationship Id="rId11" Type="http://schemas.openxmlformats.org/officeDocument/2006/relationships/image" Target="../media/image10.jpg"/><Relationship Id="rId10" Type="http://schemas.openxmlformats.org/officeDocument/2006/relationships/image" Target="../media/image19.jpg"/><Relationship Id="rId12" Type="http://schemas.openxmlformats.org/officeDocument/2006/relationships/image" Target="../media/image14.png"/><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2.jpg"/><Relationship Id="rId9" Type="http://schemas.openxmlformats.org/officeDocument/2006/relationships/image" Target="../media/image17.jpg"/><Relationship Id="rId5" Type="http://schemas.openxmlformats.org/officeDocument/2006/relationships/image" Target="../media/image6.jpg"/><Relationship Id="rId6" Type="http://schemas.openxmlformats.org/officeDocument/2006/relationships/image" Target="../media/image8.png"/><Relationship Id="rId7" Type="http://schemas.openxmlformats.org/officeDocument/2006/relationships/image" Target="../media/image13.jpg"/><Relationship Id="rId8" Type="http://schemas.openxmlformats.org/officeDocument/2006/relationships/image" Target="../media/image11.jpg"/></Relationships>
</file>

<file path=ppt/slides/_rels/slide18.xml.rels><?xml version="1.0" encoding="UTF-8" standalone="yes"?><Relationships xmlns="http://schemas.openxmlformats.org/package/2006/relationships"><Relationship Id="rId11" Type="http://schemas.openxmlformats.org/officeDocument/2006/relationships/image" Target="../media/image23.jpg"/><Relationship Id="rId10" Type="http://schemas.openxmlformats.org/officeDocument/2006/relationships/image" Target="../media/image19.jpg"/><Relationship Id="rId13" Type="http://schemas.openxmlformats.org/officeDocument/2006/relationships/image" Target="../media/image14.png"/><Relationship Id="rId12" Type="http://schemas.openxmlformats.org/officeDocument/2006/relationships/image" Target="../media/image10.jpg"/><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2.jpg"/><Relationship Id="rId9" Type="http://schemas.openxmlformats.org/officeDocument/2006/relationships/image" Target="../media/image17.jpg"/><Relationship Id="rId5" Type="http://schemas.openxmlformats.org/officeDocument/2006/relationships/image" Target="../media/image6.jpg"/><Relationship Id="rId6" Type="http://schemas.openxmlformats.org/officeDocument/2006/relationships/image" Target="../media/image8.png"/><Relationship Id="rId7" Type="http://schemas.openxmlformats.org/officeDocument/2006/relationships/image" Target="../media/image13.jpg"/><Relationship Id="rId8" Type="http://schemas.openxmlformats.org/officeDocument/2006/relationships/image" Target="../media/image11.jpg"/></Relationships>
</file>

<file path=ppt/slides/_rels/slide19.xml.rels><?xml version="1.0" encoding="UTF-8" standalone="yes"?><Relationships xmlns="http://schemas.openxmlformats.org/package/2006/relationships"><Relationship Id="rId11" Type="http://schemas.openxmlformats.org/officeDocument/2006/relationships/image" Target="../media/image23.jpg"/><Relationship Id="rId10" Type="http://schemas.openxmlformats.org/officeDocument/2006/relationships/image" Target="../media/image19.jpg"/><Relationship Id="rId13" Type="http://schemas.openxmlformats.org/officeDocument/2006/relationships/image" Target="../media/image10.jpg"/><Relationship Id="rId12" Type="http://schemas.openxmlformats.org/officeDocument/2006/relationships/image" Target="../media/image27.jpg"/><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jpg"/><Relationship Id="rId9" Type="http://schemas.openxmlformats.org/officeDocument/2006/relationships/image" Target="../media/image17.jpg"/><Relationship Id="rId14" Type="http://schemas.openxmlformats.org/officeDocument/2006/relationships/image" Target="../media/image14.png"/><Relationship Id="rId5" Type="http://schemas.openxmlformats.org/officeDocument/2006/relationships/image" Target="../media/image6.jpg"/><Relationship Id="rId6" Type="http://schemas.openxmlformats.org/officeDocument/2006/relationships/image" Target="../media/image8.png"/><Relationship Id="rId7" Type="http://schemas.openxmlformats.org/officeDocument/2006/relationships/image" Target="../media/image13.jpg"/><Relationship Id="rId8" Type="http://schemas.openxmlformats.org/officeDocument/2006/relationships/image" Target="../media/image11.jpg"/></Relationships>
</file>

<file path=ppt/slides/_rels/slide20.xml.rels><?xml version="1.0" encoding="UTF-8" standalone="yes"?><Relationships xmlns="http://schemas.openxmlformats.org/package/2006/relationships"><Relationship Id="rId11" Type="http://schemas.openxmlformats.org/officeDocument/2006/relationships/image" Target="../media/image19.jpg"/><Relationship Id="rId10" Type="http://schemas.openxmlformats.org/officeDocument/2006/relationships/image" Target="../media/image17.jpg"/><Relationship Id="rId13" Type="http://schemas.openxmlformats.org/officeDocument/2006/relationships/image" Target="../media/image27.jpg"/><Relationship Id="rId12" Type="http://schemas.openxmlformats.org/officeDocument/2006/relationships/image" Target="../media/image23.jpg"/><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26.jpg"/><Relationship Id="rId9" Type="http://schemas.openxmlformats.org/officeDocument/2006/relationships/image" Target="../media/image11.jpg"/><Relationship Id="rId15" Type="http://schemas.openxmlformats.org/officeDocument/2006/relationships/image" Target="../media/image14.png"/><Relationship Id="rId14" Type="http://schemas.openxmlformats.org/officeDocument/2006/relationships/image" Target="../media/image10.jpg"/><Relationship Id="rId5" Type="http://schemas.openxmlformats.org/officeDocument/2006/relationships/image" Target="../media/image2.jpg"/><Relationship Id="rId6" Type="http://schemas.openxmlformats.org/officeDocument/2006/relationships/image" Target="../media/image6.jpg"/><Relationship Id="rId7" Type="http://schemas.openxmlformats.org/officeDocument/2006/relationships/image" Target="../media/image8.png"/><Relationship Id="rId8" Type="http://schemas.openxmlformats.org/officeDocument/2006/relationships/image" Target="../media/image13.jpg"/></Relationships>
</file>

<file path=ppt/slides/_rels/slide21.xml.rels><?xml version="1.0" encoding="UTF-8" standalone="yes"?><Relationships xmlns="http://schemas.openxmlformats.org/package/2006/relationships"><Relationship Id="rId11" Type="http://schemas.openxmlformats.org/officeDocument/2006/relationships/image" Target="../media/image19.jpg"/><Relationship Id="rId10" Type="http://schemas.openxmlformats.org/officeDocument/2006/relationships/image" Target="../media/image17.jpg"/><Relationship Id="rId13" Type="http://schemas.openxmlformats.org/officeDocument/2006/relationships/image" Target="../media/image27.jpg"/><Relationship Id="rId12" Type="http://schemas.openxmlformats.org/officeDocument/2006/relationships/image" Target="../media/image23.jpg"/><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6.jpg"/><Relationship Id="rId9" Type="http://schemas.openxmlformats.org/officeDocument/2006/relationships/image" Target="../media/image11.jpg"/><Relationship Id="rId15" Type="http://schemas.openxmlformats.org/officeDocument/2006/relationships/image" Target="../media/image10.jpg"/><Relationship Id="rId14" Type="http://schemas.openxmlformats.org/officeDocument/2006/relationships/image" Target="../media/image38.jpg"/><Relationship Id="rId16" Type="http://schemas.openxmlformats.org/officeDocument/2006/relationships/image" Target="../media/image14.png"/><Relationship Id="rId5" Type="http://schemas.openxmlformats.org/officeDocument/2006/relationships/image" Target="../media/image2.jpg"/><Relationship Id="rId6" Type="http://schemas.openxmlformats.org/officeDocument/2006/relationships/image" Target="../media/image6.jpg"/><Relationship Id="rId7" Type="http://schemas.openxmlformats.org/officeDocument/2006/relationships/image" Target="../media/image8.png"/><Relationship Id="rId8" Type="http://schemas.openxmlformats.org/officeDocument/2006/relationships/image" Target="../media/image13.jpg"/></Relationships>
</file>

<file path=ppt/slides/_rels/slide22.xml.rels><?xml version="1.0" encoding="UTF-8" standalone="yes"?><Relationships xmlns="http://schemas.openxmlformats.org/package/2006/relationships"><Relationship Id="rId11" Type="http://schemas.openxmlformats.org/officeDocument/2006/relationships/image" Target="../media/image19.jpg"/><Relationship Id="rId10" Type="http://schemas.openxmlformats.org/officeDocument/2006/relationships/image" Target="../media/image17.jpg"/><Relationship Id="rId13" Type="http://schemas.openxmlformats.org/officeDocument/2006/relationships/image" Target="../media/image27.jpg"/><Relationship Id="rId12" Type="http://schemas.openxmlformats.org/officeDocument/2006/relationships/image" Target="../media/image23.jpg"/><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26.jpg"/><Relationship Id="rId9" Type="http://schemas.openxmlformats.org/officeDocument/2006/relationships/image" Target="../media/image11.jpg"/><Relationship Id="rId15" Type="http://schemas.openxmlformats.org/officeDocument/2006/relationships/image" Target="../media/image31.png"/><Relationship Id="rId14" Type="http://schemas.openxmlformats.org/officeDocument/2006/relationships/image" Target="../media/image38.jpg"/><Relationship Id="rId17" Type="http://schemas.openxmlformats.org/officeDocument/2006/relationships/image" Target="../media/image14.png"/><Relationship Id="rId16" Type="http://schemas.openxmlformats.org/officeDocument/2006/relationships/image" Target="../media/image10.jpg"/><Relationship Id="rId5" Type="http://schemas.openxmlformats.org/officeDocument/2006/relationships/image" Target="../media/image2.jpg"/><Relationship Id="rId6" Type="http://schemas.openxmlformats.org/officeDocument/2006/relationships/image" Target="../media/image6.jpg"/><Relationship Id="rId7" Type="http://schemas.openxmlformats.org/officeDocument/2006/relationships/image" Target="../media/image8.png"/><Relationship Id="rId8" Type="http://schemas.openxmlformats.org/officeDocument/2006/relationships/image" Target="../media/image13.jpg"/></Relationships>
</file>

<file path=ppt/slides/_rels/slide23.xml.rels><?xml version="1.0" encoding="UTF-8" standalone="yes"?><Relationships xmlns="http://schemas.openxmlformats.org/package/2006/relationships"><Relationship Id="rId11" Type="http://schemas.openxmlformats.org/officeDocument/2006/relationships/image" Target="../media/image19.jpg"/><Relationship Id="rId10" Type="http://schemas.openxmlformats.org/officeDocument/2006/relationships/image" Target="../media/image17.jpg"/><Relationship Id="rId13" Type="http://schemas.openxmlformats.org/officeDocument/2006/relationships/image" Target="../media/image27.jpg"/><Relationship Id="rId12" Type="http://schemas.openxmlformats.org/officeDocument/2006/relationships/image" Target="../media/image23.jpg"/><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image" Target="../media/image26.jpg"/><Relationship Id="rId9" Type="http://schemas.openxmlformats.org/officeDocument/2006/relationships/image" Target="../media/image11.jpg"/><Relationship Id="rId15" Type="http://schemas.openxmlformats.org/officeDocument/2006/relationships/image" Target="../media/image31.png"/><Relationship Id="rId14" Type="http://schemas.openxmlformats.org/officeDocument/2006/relationships/image" Target="../media/image38.jpg"/><Relationship Id="rId17" Type="http://schemas.openxmlformats.org/officeDocument/2006/relationships/image" Target="../media/image10.jpg"/><Relationship Id="rId16" Type="http://schemas.openxmlformats.org/officeDocument/2006/relationships/image" Target="../media/image30.png"/><Relationship Id="rId5" Type="http://schemas.openxmlformats.org/officeDocument/2006/relationships/image" Target="../media/image2.jpg"/><Relationship Id="rId6" Type="http://schemas.openxmlformats.org/officeDocument/2006/relationships/image" Target="../media/image6.jpg"/><Relationship Id="rId18" Type="http://schemas.openxmlformats.org/officeDocument/2006/relationships/image" Target="../media/image14.png"/><Relationship Id="rId7" Type="http://schemas.openxmlformats.org/officeDocument/2006/relationships/image" Target="../media/image8.png"/><Relationship Id="rId8" Type="http://schemas.openxmlformats.org/officeDocument/2006/relationships/image" Target="../media/image1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1.jp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6.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7.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7.jpg"/><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5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42.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3.png"/><Relationship Id="rId4" Type="http://schemas.openxmlformats.org/officeDocument/2006/relationships/image" Target="../media/image49.png"/><Relationship Id="rId5" Type="http://schemas.openxmlformats.org/officeDocument/2006/relationships/image" Target="../media/image4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3.png"/><Relationship Id="rId4" Type="http://schemas.openxmlformats.org/officeDocument/2006/relationships/image" Target="../media/image49.png"/><Relationship Id="rId5" Type="http://schemas.openxmlformats.org/officeDocument/2006/relationships/image" Target="../media/image4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59.png"/><Relationship Id="rId4" Type="http://schemas.openxmlformats.org/officeDocument/2006/relationships/image" Target="../media/image52.png"/><Relationship Id="rId5" Type="http://schemas.openxmlformats.org/officeDocument/2006/relationships/image" Target="../media/image64.png"/><Relationship Id="rId6" Type="http://schemas.openxmlformats.org/officeDocument/2006/relationships/image" Target="../media/image6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59.png"/><Relationship Id="rId4" Type="http://schemas.openxmlformats.org/officeDocument/2006/relationships/image" Target="../media/image52.png"/><Relationship Id="rId5" Type="http://schemas.openxmlformats.org/officeDocument/2006/relationships/image" Target="../media/image64.png"/><Relationship Id="rId6" Type="http://schemas.openxmlformats.org/officeDocument/2006/relationships/image" Target="../media/image6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6.png"/><Relationship Id="rId4" Type="http://schemas.openxmlformats.org/officeDocument/2006/relationships/image" Target="../media/image54.png"/><Relationship Id="rId5" Type="http://schemas.openxmlformats.org/officeDocument/2006/relationships/image" Target="../media/image6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6.png"/><Relationship Id="rId4" Type="http://schemas.openxmlformats.org/officeDocument/2006/relationships/image" Target="../media/image54.png"/><Relationship Id="rId5" Type="http://schemas.openxmlformats.org/officeDocument/2006/relationships/image" Target="../media/image6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57.jpg"/><Relationship Id="rId4" Type="http://schemas.openxmlformats.org/officeDocument/2006/relationships/image" Target="../media/image74.png"/></Relationships>
</file>

<file path=ppt/slides/_rels/slide45.xml.rels><?xml version="1.0" encoding="UTF-8" standalone="yes"?><Relationships xmlns="http://schemas.openxmlformats.org/package/2006/relationships"><Relationship Id="rId10" Type="http://schemas.openxmlformats.org/officeDocument/2006/relationships/hyperlink" Target="https://noticias.uol.com.br/politica/ultimas-noticias/2020/10/06/universidade-nega-existencia-de-curso-que-kassio-marques-diz-ter-feito.htm" TargetMode="External"/><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69.png"/><Relationship Id="rId4" Type="http://schemas.openxmlformats.org/officeDocument/2006/relationships/hyperlink" Target="https://educacao.uol.com.br/noticias/2020/06/26/reitor-da-universidade-de-rosario-desconhece-doutorado-de-ministro-do-mec.htm" TargetMode="External"/><Relationship Id="rId9" Type="http://schemas.openxmlformats.org/officeDocument/2006/relationships/image" Target="../media/image63.png"/><Relationship Id="rId5" Type="http://schemas.openxmlformats.org/officeDocument/2006/relationships/image" Target="../media/image56.png"/><Relationship Id="rId6" Type="http://schemas.openxmlformats.org/officeDocument/2006/relationships/hyperlink" Target="https://www1.folha.uol.com.br/ambiente/2019/02/ministro-do-meio-ambiente-nao-estudou-em-yale.shtml" TargetMode="External"/><Relationship Id="rId7" Type="http://schemas.openxmlformats.org/officeDocument/2006/relationships/image" Target="../media/image65.png"/><Relationship Id="rId8" Type="http://schemas.openxmlformats.org/officeDocument/2006/relationships/hyperlink" Target="https://www1.folha.uol.com.br/poder/2019/01/sem-diploma-damares-ja-se-apresentou-como-mestre-em-educacao-e-direito.shtml"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80.png"/><Relationship Id="rId4" Type="http://schemas.openxmlformats.org/officeDocument/2006/relationships/image" Target="../media/image7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80.png"/><Relationship Id="rId4" Type="http://schemas.openxmlformats.org/officeDocument/2006/relationships/image" Target="../media/image7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66.png"/><Relationship Id="rId4" Type="http://schemas.openxmlformats.org/officeDocument/2006/relationships/image" Target="../media/image78.png"/><Relationship Id="rId5" Type="http://schemas.openxmlformats.org/officeDocument/2006/relationships/image" Target="../media/image6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66.png"/><Relationship Id="rId4" Type="http://schemas.openxmlformats.org/officeDocument/2006/relationships/image" Target="../media/image78.png"/><Relationship Id="rId5" Type="http://schemas.openxmlformats.org/officeDocument/2006/relationships/image" Target="../media/image6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hyperlink" Target="https://www.youtube.com/watch?v=wwNY2c_tcuA"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89" name="Google Shape;89;p1"/>
          <p:cNvSpPr txBox="1"/>
          <p:nvPr/>
        </p:nvSpPr>
        <p:spPr>
          <a:xfrm>
            <a:off x="1463039" y="1947134"/>
            <a:ext cx="9064200" cy="163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s-ES" sz="2000" u="none" cap="none" strike="noStrike">
                <a:solidFill>
                  <a:schemeClr val="dk1"/>
                </a:solidFill>
                <a:latin typeface="Arial Rounded"/>
                <a:ea typeface="Arial Rounded"/>
                <a:cs typeface="Arial Rounded"/>
                <a:sym typeface="Arial Rounded"/>
              </a:rPr>
              <a:t>Especialização em Psicologia Organizacional e do Trabalho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Arial Rounded"/>
              <a:ea typeface="Arial Rounded"/>
              <a:cs typeface="Arial Rounded"/>
              <a:sym typeface="Arial Rounded"/>
            </a:endParaRPr>
          </a:p>
          <a:p>
            <a:pPr indent="0" lvl="0" marL="0" marR="0" rtl="0" algn="ctr">
              <a:lnSpc>
                <a:spcPct val="100000"/>
              </a:lnSpc>
              <a:spcBef>
                <a:spcPts val="0"/>
              </a:spcBef>
              <a:spcAft>
                <a:spcPts val="0"/>
              </a:spcAft>
              <a:buClr>
                <a:srgbClr val="000000"/>
              </a:buClr>
              <a:buSzPts val="2000"/>
              <a:buFont typeface="Arial"/>
              <a:buNone/>
            </a:pPr>
            <a:r>
              <a:rPr b="1" i="0" lang="es-ES" sz="2000" u="none" cap="none" strike="noStrike">
                <a:solidFill>
                  <a:schemeClr val="dk1"/>
                </a:solidFill>
                <a:latin typeface="Arial Rounded"/>
                <a:ea typeface="Arial Rounded"/>
                <a:cs typeface="Arial Rounded"/>
                <a:sym typeface="Arial Rounded"/>
              </a:rPr>
              <a:t>Disciplina: Relações de Poder nas Organizações</a:t>
            </a:r>
            <a:endParaRPr b="1" i="0" sz="2000" u="none" cap="none" strike="noStrike">
              <a:solidFill>
                <a:schemeClr val="dk1"/>
              </a:solidFill>
              <a:latin typeface="Arial Rounded"/>
              <a:ea typeface="Arial Rounded"/>
              <a:cs typeface="Arial Rounded"/>
              <a:sym typeface="Arial Rounded"/>
            </a:endParaRPr>
          </a:p>
          <a:p>
            <a:pPr indent="0" lvl="0" marL="0" marR="0" rtl="0" algn="ctr">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Arial Rounded"/>
              <a:ea typeface="Arial Rounded"/>
              <a:cs typeface="Arial Rounded"/>
              <a:sym typeface="Arial Rounded"/>
            </a:endParaRPr>
          </a:p>
          <a:p>
            <a:pPr indent="0" lvl="0" marL="0" marR="0" rtl="0" algn="ctr">
              <a:lnSpc>
                <a:spcPct val="100000"/>
              </a:lnSpc>
              <a:spcBef>
                <a:spcPts val="0"/>
              </a:spcBef>
              <a:spcAft>
                <a:spcPts val="0"/>
              </a:spcAft>
              <a:buClr>
                <a:srgbClr val="000000"/>
              </a:buClr>
              <a:buSzPts val="2000"/>
              <a:buFont typeface="Arial"/>
              <a:buNone/>
            </a:pPr>
            <a:r>
              <a:rPr b="1" i="0" lang="es-ES" sz="2000" u="none" cap="none" strike="noStrike">
                <a:solidFill>
                  <a:schemeClr val="dk1"/>
                </a:solidFill>
                <a:latin typeface="Arial Rounded"/>
                <a:ea typeface="Arial Rounded"/>
                <a:cs typeface="Arial Rounded"/>
                <a:sym typeface="Arial Rounded"/>
              </a:rPr>
              <a:t>Prof. Dr. Ezio Alves </a:t>
            </a:r>
            <a:endParaRPr b="1" i="0" sz="2000" u="none" cap="none" strike="noStrike">
              <a:solidFill>
                <a:schemeClr val="dk1"/>
              </a:solidFill>
              <a:latin typeface="Arial Rounded"/>
              <a:ea typeface="Arial Rounded"/>
              <a:cs typeface="Arial Rounded"/>
              <a:sym typeface="Arial Rounded"/>
            </a:endParaRPr>
          </a:p>
        </p:txBody>
      </p:sp>
      <p:sp>
        <p:nvSpPr>
          <p:cNvPr id="90" name="Google Shape;90;p1"/>
          <p:cNvSpPr/>
          <p:nvPr/>
        </p:nvSpPr>
        <p:spPr>
          <a:xfrm>
            <a:off x="6942531" y="3667312"/>
            <a:ext cx="2476982" cy="2288149"/>
          </a:xfrm>
          <a:custGeom>
            <a:rect b="b" l="l" r="r" t="t"/>
            <a:pathLst>
              <a:path extrusionOk="0" h="2288149" w="2476982">
                <a:moveTo>
                  <a:pt x="63661" y="198632"/>
                </a:moveTo>
                <a:cubicBezTo>
                  <a:pt x="79094" y="207313"/>
                  <a:pt x="80541" y="221187"/>
                  <a:pt x="92597" y="227569"/>
                </a:cubicBezTo>
                <a:cubicBezTo>
                  <a:pt x="114163" y="238986"/>
                  <a:pt x="140221" y="239805"/>
                  <a:pt x="162046" y="250718"/>
                </a:cubicBezTo>
                <a:cubicBezTo>
                  <a:pt x="169762" y="254576"/>
                  <a:pt x="176678" y="260919"/>
                  <a:pt x="185195" y="262293"/>
                </a:cubicBezTo>
                <a:cubicBezTo>
                  <a:pt x="236933" y="270638"/>
                  <a:pt x="289367" y="273868"/>
                  <a:pt x="341453" y="279655"/>
                </a:cubicBezTo>
                <a:cubicBezTo>
                  <a:pt x="356886" y="283513"/>
                  <a:pt x="372185" y="287953"/>
                  <a:pt x="387752" y="291230"/>
                </a:cubicBezTo>
                <a:cubicBezTo>
                  <a:pt x="408858" y="295673"/>
                  <a:pt x="430418" y="297864"/>
                  <a:pt x="451413" y="302804"/>
                </a:cubicBezTo>
                <a:cubicBezTo>
                  <a:pt x="463289" y="305598"/>
                  <a:pt x="474562" y="310521"/>
                  <a:pt x="486137" y="314379"/>
                </a:cubicBezTo>
                <a:cubicBezTo>
                  <a:pt x="493853" y="322096"/>
                  <a:pt x="499928" y="331914"/>
                  <a:pt x="509286" y="337529"/>
                </a:cubicBezTo>
                <a:cubicBezTo>
                  <a:pt x="519748" y="343806"/>
                  <a:pt x="532544" y="344934"/>
                  <a:pt x="544010" y="349103"/>
                </a:cubicBezTo>
                <a:cubicBezTo>
                  <a:pt x="553773" y="352653"/>
                  <a:pt x="563301" y="356820"/>
                  <a:pt x="572947" y="360678"/>
                </a:cubicBezTo>
                <a:cubicBezTo>
                  <a:pt x="580663" y="368394"/>
                  <a:pt x="587366" y="377280"/>
                  <a:pt x="596096" y="383827"/>
                </a:cubicBezTo>
                <a:cubicBezTo>
                  <a:pt x="614785" y="397844"/>
                  <a:pt x="645336" y="401925"/>
                  <a:pt x="665544" y="406977"/>
                </a:cubicBezTo>
                <a:cubicBezTo>
                  <a:pt x="680977" y="422410"/>
                  <a:pt x="692322" y="443514"/>
                  <a:pt x="711843" y="453275"/>
                </a:cubicBezTo>
                <a:cubicBezTo>
                  <a:pt x="727276" y="460992"/>
                  <a:pt x="745941" y="464224"/>
                  <a:pt x="758142" y="476425"/>
                </a:cubicBezTo>
                <a:cubicBezTo>
                  <a:pt x="810541" y="528823"/>
                  <a:pt x="784920" y="512962"/>
                  <a:pt x="827590" y="534298"/>
                </a:cubicBezTo>
                <a:cubicBezTo>
                  <a:pt x="855343" y="617554"/>
                  <a:pt x="821672" y="513584"/>
                  <a:pt x="850739" y="615321"/>
                </a:cubicBezTo>
                <a:cubicBezTo>
                  <a:pt x="854091" y="627052"/>
                  <a:pt x="855222" y="640117"/>
                  <a:pt x="862314" y="650045"/>
                </a:cubicBezTo>
                <a:cubicBezTo>
                  <a:pt x="875000" y="667805"/>
                  <a:pt x="908613" y="696344"/>
                  <a:pt x="908613" y="696344"/>
                </a:cubicBezTo>
                <a:cubicBezTo>
                  <a:pt x="912471" y="704060"/>
                  <a:pt x="914664" y="712866"/>
                  <a:pt x="920187" y="719493"/>
                </a:cubicBezTo>
                <a:cubicBezTo>
                  <a:pt x="934159" y="736260"/>
                  <a:pt x="966486" y="765792"/>
                  <a:pt x="966486" y="765792"/>
                </a:cubicBezTo>
                <a:cubicBezTo>
                  <a:pt x="970344" y="788941"/>
                  <a:pt x="975539" y="811907"/>
                  <a:pt x="978061" y="835240"/>
                </a:cubicBezTo>
                <a:cubicBezTo>
                  <a:pt x="983261" y="883341"/>
                  <a:pt x="980980" y="932322"/>
                  <a:pt x="989635" y="979923"/>
                </a:cubicBezTo>
                <a:cubicBezTo>
                  <a:pt x="992722" y="996899"/>
                  <a:pt x="1012785" y="1026222"/>
                  <a:pt x="1012785" y="1026222"/>
                </a:cubicBezTo>
                <a:cubicBezTo>
                  <a:pt x="1010856" y="1047442"/>
                  <a:pt x="1010120" y="1068805"/>
                  <a:pt x="1006997" y="1089883"/>
                </a:cubicBezTo>
                <a:cubicBezTo>
                  <a:pt x="1002395" y="1120947"/>
                  <a:pt x="992760" y="1151232"/>
                  <a:pt x="989635" y="1182480"/>
                </a:cubicBezTo>
                <a:cubicBezTo>
                  <a:pt x="983097" y="1247857"/>
                  <a:pt x="991946" y="1315031"/>
                  <a:pt x="978061" y="1379250"/>
                </a:cubicBezTo>
                <a:cubicBezTo>
                  <a:pt x="975326" y="1391899"/>
                  <a:pt x="953939" y="1389191"/>
                  <a:pt x="943337" y="1396612"/>
                </a:cubicBezTo>
                <a:cubicBezTo>
                  <a:pt x="934397" y="1402870"/>
                  <a:pt x="927904" y="1412045"/>
                  <a:pt x="920187" y="1419761"/>
                </a:cubicBezTo>
                <a:cubicBezTo>
                  <a:pt x="916329" y="1427478"/>
                  <a:pt x="913789" y="1436009"/>
                  <a:pt x="908613" y="1442911"/>
                </a:cubicBezTo>
                <a:cubicBezTo>
                  <a:pt x="902065" y="1451641"/>
                  <a:pt x="889762" y="1456030"/>
                  <a:pt x="885463" y="1466060"/>
                </a:cubicBezTo>
                <a:cubicBezTo>
                  <a:pt x="869938" y="1502285"/>
                  <a:pt x="882438" y="1532777"/>
                  <a:pt x="856527" y="1564445"/>
                </a:cubicBezTo>
                <a:cubicBezTo>
                  <a:pt x="847718" y="1575211"/>
                  <a:pt x="833378" y="1579878"/>
                  <a:pt x="821803" y="1587594"/>
                </a:cubicBezTo>
                <a:cubicBezTo>
                  <a:pt x="791697" y="1647804"/>
                  <a:pt x="813634" y="1625332"/>
                  <a:pt x="758142" y="1657042"/>
                </a:cubicBezTo>
                <a:cubicBezTo>
                  <a:pt x="754284" y="1666688"/>
                  <a:pt x="752330" y="1677335"/>
                  <a:pt x="746567" y="1685979"/>
                </a:cubicBezTo>
                <a:cubicBezTo>
                  <a:pt x="731941" y="1707919"/>
                  <a:pt x="721618" y="1710029"/>
                  <a:pt x="700268" y="1720703"/>
                </a:cubicBezTo>
                <a:cubicBezTo>
                  <a:pt x="691032" y="1736097"/>
                  <a:pt x="677530" y="1763902"/>
                  <a:pt x="659757" y="1772789"/>
                </a:cubicBezTo>
                <a:cubicBezTo>
                  <a:pt x="645528" y="1779903"/>
                  <a:pt x="628891" y="1780506"/>
                  <a:pt x="613458" y="1784364"/>
                </a:cubicBezTo>
                <a:cubicBezTo>
                  <a:pt x="591704" y="1838752"/>
                  <a:pt x="618584" y="1793669"/>
                  <a:pt x="561372" y="1824875"/>
                </a:cubicBezTo>
                <a:cubicBezTo>
                  <a:pt x="551792" y="1830101"/>
                  <a:pt x="547303" y="1841972"/>
                  <a:pt x="538223" y="1848025"/>
                </a:cubicBezTo>
                <a:cubicBezTo>
                  <a:pt x="481063" y="1886132"/>
                  <a:pt x="455564" y="1874810"/>
                  <a:pt x="376177" y="1882749"/>
                </a:cubicBezTo>
                <a:cubicBezTo>
                  <a:pt x="364602" y="1888536"/>
                  <a:pt x="350158" y="1890535"/>
                  <a:pt x="341453" y="1900111"/>
                </a:cubicBezTo>
                <a:cubicBezTo>
                  <a:pt x="329846" y="1912878"/>
                  <a:pt x="318304" y="1946410"/>
                  <a:pt x="318304" y="1946410"/>
                </a:cubicBezTo>
                <a:cubicBezTo>
                  <a:pt x="320868" y="2015630"/>
                  <a:pt x="287994" y="2086320"/>
                  <a:pt x="347241" y="2125817"/>
                </a:cubicBezTo>
                <a:cubicBezTo>
                  <a:pt x="361597" y="2135388"/>
                  <a:pt x="379736" y="2138613"/>
                  <a:pt x="393539" y="2148966"/>
                </a:cubicBezTo>
                <a:cubicBezTo>
                  <a:pt x="401256" y="2154754"/>
                  <a:pt x="407585" y="2163142"/>
                  <a:pt x="416689" y="2166329"/>
                </a:cubicBezTo>
                <a:cubicBezTo>
                  <a:pt x="446718" y="2176839"/>
                  <a:pt x="509286" y="2189478"/>
                  <a:pt x="509286" y="2189478"/>
                </a:cubicBezTo>
                <a:cubicBezTo>
                  <a:pt x="634199" y="2264425"/>
                  <a:pt x="465258" y="2156018"/>
                  <a:pt x="549797" y="2229989"/>
                </a:cubicBezTo>
                <a:cubicBezTo>
                  <a:pt x="559536" y="2238511"/>
                  <a:pt x="572245" y="2243259"/>
                  <a:pt x="584522" y="2247351"/>
                </a:cubicBezTo>
                <a:cubicBezTo>
                  <a:pt x="636989" y="2264840"/>
                  <a:pt x="726803" y="2266769"/>
                  <a:pt x="769716" y="2270501"/>
                </a:cubicBezTo>
                <a:cubicBezTo>
                  <a:pt x="777433" y="2276288"/>
                  <a:pt x="783223" y="2287653"/>
                  <a:pt x="792866" y="2287863"/>
                </a:cubicBezTo>
                <a:cubicBezTo>
                  <a:pt x="869597" y="2289531"/>
                  <a:pt x="1075171" y="2284897"/>
                  <a:pt x="1169043" y="2247351"/>
                </a:cubicBezTo>
                <a:cubicBezTo>
                  <a:pt x="1341007" y="2178570"/>
                  <a:pt x="1065189" y="2291799"/>
                  <a:pt x="1221129" y="2218415"/>
                </a:cubicBezTo>
                <a:cubicBezTo>
                  <a:pt x="1245441" y="2206974"/>
                  <a:pt x="1271322" y="2199217"/>
                  <a:pt x="1296365" y="2189478"/>
                </a:cubicBezTo>
                <a:cubicBezTo>
                  <a:pt x="1306047" y="2185713"/>
                  <a:pt x="1315312" y="2180757"/>
                  <a:pt x="1325301" y="2177903"/>
                </a:cubicBezTo>
                <a:cubicBezTo>
                  <a:pt x="1364861" y="2166601"/>
                  <a:pt x="1372380" y="2165628"/>
                  <a:pt x="1412111" y="2148966"/>
                </a:cubicBezTo>
                <a:cubicBezTo>
                  <a:pt x="1456728" y="2130255"/>
                  <a:pt x="1501175" y="2111113"/>
                  <a:pt x="1545220" y="2091093"/>
                </a:cubicBezTo>
                <a:cubicBezTo>
                  <a:pt x="1564855" y="2082168"/>
                  <a:pt x="1583459" y="2071081"/>
                  <a:pt x="1603094" y="2062156"/>
                </a:cubicBezTo>
                <a:cubicBezTo>
                  <a:pt x="1637688" y="2046432"/>
                  <a:pt x="1697209" y="2025939"/>
                  <a:pt x="1730415" y="2004283"/>
                </a:cubicBezTo>
                <a:cubicBezTo>
                  <a:pt x="1756917" y="1986999"/>
                  <a:pt x="1779509" y="1964234"/>
                  <a:pt x="1805651" y="1946410"/>
                </a:cubicBezTo>
                <a:cubicBezTo>
                  <a:pt x="1822061" y="1935221"/>
                  <a:pt x="1842148" y="1929780"/>
                  <a:pt x="1857737" y="1917473"/>
                </a:cubicBezTo>
                <a:cubicBezTo>
                  <a:pt x="1879150" y="1900568"/>
                  <a:pt x="1894823" y="1877268"/>
                  <a:pt x="1915610" y="1859599"/>
                </a:cubicBezTo>
                <a:cubicBezTo>
                  <a:pt x="1958774" y="1822910"/>
                  <a:pt x="1982079" y="1814790"/>
                  <a:pt x="2031357" y="1790151"/>
                </a:cubicBezTo>
                <a:cubicBezTo>
                  <a:pt x="2097786" y="1712651"/>
                  <a:pt x="2032447" y="1784700"/>
                  <a:pt x="2106592" y="1714916"/>
                </a:cubicBezTo>
                <a:cubicBezTo>
                  <a:pt x="2126459" y="1696218"/>
                  <a:pt x="2144355" y="1675477"/>
                  <a:pt x="2164466" y="1657042"/>
                </a:cubicBezTo>
                <a:cubicBezTo>
                  <a:pt x="2190687" y="1633006"/>
                  <a:pt x="2223345" y="1615432"/>
                  <a:pt x="2245489" y="1587594"/>
                </a:cubicBezTo>
                <a:cubicBezTo>
                  <a:pt x="2384876" y="1412364"/>
                  <a:pt x="2340506" y="1447174"/>
                  <a:pt x="2413322" y="1292440"/>
                </a:cubicBezTo>
                <a:cubicBezTo>
                  <a:pt x="2480636" y="1149397"/>
                  <a:pt x="2443110" y="1260663"/>
                  <a:pt x="2476982" y="1147756"/>
                </a:cubicBezTo>
                <a:cubicBezTo>
                  <a:pt x="2463478" y="1049371"/>
                  <a:pt x="2451202" y="950810"/>
                  <a:pt x="2436471" y="852602"/>
                </a:cubicBezTo>
                <a:cubicBezTo>
                  <a:pt x="2427115" y="790227"/>
                  <a:pt x="2417962" y="783849"/>
                  <a:pt x="2384385" y="719493"/>
                </a:cubicBezTo>
                <a:cubicBezTo>
                  <a:pt x="2359236" y="671290"/>
                  <a:pt x="2348789" y="654670"/>
                  <a:pt x="2314937" y="609534"/>
                </a:cubicBezTo>
                <a:cubicBezTo>
                  <a:pt x="2300114" y="589770"/>
                  <a:pt x="2285332" y="569871"/>
                  <a:pt x="2268638" y="551660"/>
                </a:cubicBezTo>
                <a:cubicBezTo>
                  <a:pt x="2242829" y="523505"/>
                  <a:pt x="2221777" y="487718"/>
                  <a:pt x="2187615" y="470637"/>
                </a:cubicBezTo>
                <a:cubicBezTo>
                  <a:pt x="2075476" y="414568"/>
                  <a:pt x="2174728" y="460784"/>
                  <a:pt x="2095018" y="430126"/>
                </a:cubicBezTo>
                <a:cubicBezTo>
                  <a:pt x="2081305" y="424852"/>
                  <a:pt x="2069100" y="414461"/>
                  <a:pt x="2054506" y="412764"/>
                </a:cubicBezTo>
                <a:cubicBezTo>
                  <a:pt x="1985416" y="404730"/>
                  <a:pt x="1915610" y="405047"/>
                  <a:pt x="1846162" y="401189"/>
                </a:cubicBezTo>
                <a:cubicBezTo>
                  <a:pt x="1821084" y="391544"/>
                  <a:pt x="1796518" y="380442"/>
                  <a:pt x="1770927" y="372253"/>
                </a:cubicBezTo>
                <a:cubicBezTo>
                  <a:pt x="1748200" y="364981"/>
                  <a:pt x="1723718" y="363540"/>
                  <a:pt x="1701478" y="354891"/>
                </a:cubicBezTo>
                <a:cubicBezTo>
                  <a:pt x="1688513" y="349849"/>
                  <a:pt x="1678730" y="338818"/>
                  <a:pt x="1666754" y="331741"/>
                </a:cubicBezTo>
                <a:cubicBezTo>
                  <a:pt x="1636266" y="313725"/>
                  <a:pt x="1604987" y="297081"/>
                  <a:pt x="1574157" y="279655"/>
                </a:cubicBezTo>
                <a:cubicBezTo>
                  <a:pt x="1560617" y="272002"/>
                  <a:pt x="1545594" y="266463"/>
                  <a:pt x="1533646" y="256506"/>
                </a:cubicBezTo>
                <a:cubicBezTo>
                  <a:pt x="1522071" y="246860"/>
                  <a:pt x="1511633" y="235658"/>
                  <a:pt x="1498922" y="227569"/>
                </a:cubicBezTo>
                <a:cubicBezTo>
                  <a:pt x="1473721" y="211532"/>
                  <a:pt x="1422567" y="208092"/>
                  <a:pt x="1400537" y="204420"/>
                </a:cubicBezTo>
                <a:cubicBezTo>
                  <a:pt x="1392820" y="196703"/>
                  <a:pt x="1385909" y="188087"/>
                  <a:pt x="1377387" y="181270"/>
                </a:cubicBezTo>
                <a:cubicBezTo>
                  <a:pt x="1352769" y="161575"/>
                  <a:pt x="1305896" y="136424"/>
                  <a:pt x="1279003" y="129184"/>
                </a:cubicBezTo>
                <a:cubicBezTo>
                  <a:pt x="1250814" y="121595"/>
                  <a:pt x="1221018" y="122222"/>
                  <a:pt x="1192192" y="117610"/>
                </a:cubicBezTo>
                <a:cubicBezTo>
                  <a:pt x="1172766" y="114502"/>
                  <a:pt x="1153610" y="109893"/>
                  <a:pt x="1134319" y="106035"/>
                </a:cubicBezTo>
                <a:cubicBezTo>
                  <a:pt x="1082122" y="79935"/>
                  <a:pt x="1146866" y="110216"/>
                  <a:pt x="1064871" y="82885"/>
                </a:cubicBezTo>
                <a:cubicBezTo>
                  <a:pt x="1056687" y="80157"/>
                  <a:pt x="1050128" y="73251"/>
                  <a:pt x="1041722" y="71311"/>
                </a:cubicBezTo>
                <a:cubicBezTo>
                  <a:pt x="917763" y="42705"/>
                  <a:pt x="938000" y="54625"/>
                  <a:pt x="833377" y="36587"/>
                </a:cubicBezTo>
                <a:cubicBezTo>
                  <a:pt x="804296" y="31573"/>
                  <a:pt x="775504" y="25012"/>
                  <a:pt x="746567" y="19225"/>
                </a:cubicBezTo>
                <a:cubicBezTo>
                  <a:pt x="738851" y="15367"/>
                  <a:pt x="732045" y="7650"/>
                  <a:pt x="723418" y="7650"/>
                </a:cubicBezTo>
                <a:cubicBezTo>
                  <a:pt x="251781" y="7650"/>
                  <a:pt x="378258" y="-20357"/>
                  <a:pt x="173620" y="30799"/>
                </a:cubicBezTo>
                <a:cubicBezTo>
                  <a:pt x="165904" y="38516"/>
                  <a:pt x="159551" y="47896"/>
                  <a:pt x="150471" y="53949"/>
                </a:cubicBezTo>
                <a:cubicBezTo>
                  <a:pt x="141827" y="59712"/>
                  <a:pt x="131297" y="61973"/>
                  <a:pt x="121534" y="65523"/>
                </a:cubicBezTo>
                <a:cubicBezTo>
                  <a:pt x="92166" y="76202"/>
                  <a:pt x="77040" y="79889"/>
                  <a:pt x="46299" y="88673"/>
                </a:cubicBezTo>
                <a:cubicBezTo>
                  <a:pt x="38582" y="102177"/>
                  <a:pt x="30468" y="115461"/>
                  <a:pt x="23149" y="129184"/>
                </a:cubicBezTo>
                <a:cubicBezTo>
                  <a:pt x="15029" y="144409"/>
                  <a:pt x="0" y="175483"/>
                  <a:pt x="0" y="175483"/>
                </a:cubicBezTo>
                <a:cubicBezTo>
                  <a:pt x="7658" y="206118"/>
                  <a:pt x="48228" y="189951"/>
                  <a:pt x="63661" y="198632"/>
                </a:cubicBezTo>
                <a:close/>
              </a:path>
            </a:pathLst>
          </a:cu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1" name="Google Shape;91;p1"/>
          <p:cNvSpPr/>
          <p:nvPr/>
        </p:nvSpPr>
        <p:spPr>
          <a:xfrm>
            <a:off x="4948177" y="5081286"/>
            <a:ext cx="225707" cy="196770"/>
          </a:xfrm>
          <a:prstGeom prst="ellipse">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97" name="Google Shape;97;p3"/>
          <p:cNvSpPr txBox="1"/>
          <p:nvPr/>
        </p:nvSpPr>
        <p:spPr>
          <a:xfrm>
            <a:off x="1018572" y="2013994"/>
            <a:ext cx="10023600" cy="1708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chemeClr val="dk1"/>
                </a:solidFill>
                <a:latin typeface="Palatino Linotype"/>
                <a:ea typeface="Palatino Linotype"/>
                <a:cs typeface="Palatino Linotype"/>
                <a:sym typeface="Palatino Linotype"/>
              </a:rPr>
              <a:t>Formação</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000"/>
              <a:buFont typeface="Arial"/>
              <a:buNone/>
            </a:pPr>
            <a:r>
              <a:rPr b="0" i="0" lang="es-ES" sz="2000" u="none" cap="none" strike="noStrike">
                <a:solidFill>
                  <a:schemeClr val="dk1"/>
                </a:solidFill>
                <a:latin typeface="Palatino Linotype"/>
                <a:ea typeface="Palatino Linotype"/>
                <a:cs typeface="Palatino Linotype"/>
                <a:sym typeface="Palatino Linotype"/>
              </a:rPr>
              <a:t>Psicólogo e Bacharel em Psicologia – Universidade Federal de Goiás</a:t>
            </a:r>
            <a:endParaRPr b="0" i="0" sz="2000" u="none" cap="none" strike="noStrike">
              <a:solidFill>
                <a:schemeClr val="dk1"/>
              </a:solidFill>
              <a:latin typeface="Palatino Linotype"/>
              <a:ea typeface="Palatino Linotype"/>
              <a:cs typeface="Palatino Linotype"/>
              <a:sym typeface="Palatino Linotype"/>
            </a:endParaRPr>
          </a:p>
          <a:p>
            <a:pPr indent="0" lvl="0" marL="457200" marR="0" rtl="0" algn="l">
              <a:lnSpc>
                <a:spcPct val="100000"/>
              </a:lnSpc>
              <a:spcBef>
                <a:spcPts val="0"/>
              </a:spcBef>
              <a:spcAft>
                <a:spcPts val="0"/>
              </a:spcAft>
              <a:buClr>
                <a:srgbClr val="000000"/>
              </a:buClr>
              <a:buSzPts val="2000"/>
              <a:buFont typeface="Arial"/>
              <a:buNone/>
            </a:pPr>
            <a:r>
              <a:rPr b="0" i="0" lang="es-ES" sz="2000" u="none" cap="none" strike="noStrike">
                <a:solidFill>
                  <a:schemeClr val="dk1"/>
                </a:solidFill>
                <a:latin typeface="Palatino Linotype"/>
                <a:ea typeface="Palatino Linotype"/>
                <a:cs typeface="Palatino Linotype"/>
                <a:sym typeface="Palatino Linotype"/>
              </a:rPr>
              <a:t>Mestre em Psicologia – Universidade Pontifícia Católica de São Paulo</a:t>
            </a:r>
            <a:endParaRPr b="0" i="0" sz="2000" u="none" cap="none" strike="noStrike">
              <a:solidFill>
                <a:schemeClr val="dk1"/>
              </a:solidFill>
              <a:latin typeface="Palatino Linotype"/>
              <a:ea typeface="Palatino Linotype"/>
              <a:cs typeface="Palatino Linotype"/>
              <a:sym typeface="Palatino Linotype"/>
            </a:endParaRPr>
          </a:p>
          <a:p>
            <a:pPr indent="0" lvl="0" marL="457200" marR="0" rtl="0" algn="l">
              <a:lnSpc>
                <a:spcPct val="100000"/>
              </a:lnSpc>
              <a:spcBef>
                <a:spcPts val="0"/>
              </a:spcBef>
              <a:spcAft>
                <a:spcPts val="0"/>
              </a:spcAft>
              <a:buClr>
                <a:srgbClr val="000000"/>
              </a:buClr>
              <a:buSzPts val="2000"/>
              <a:buFont typeface="Arial"/>
              <a:buNone/>
            </a:pPr>
            <a:r>
              <a:rPr b="0" i="0" lang="es-ES" sz="2000" u="none" cap="none" strike="noStrike">
                <a:solidFill>
                  <a:schemeClr val="dk1"/>
                </a:solidFill>
                <a:latin typeface="Palatino Linotype"/>
                <a:ea typeface="Palatino Linotype"/>
                <a:cs typeface="Palatino Linotype"/>
                <a:sym typeface="Palatino Linotype"/>
              </a:rPr>
              <a:t>Doutor em Psicologia – Universidade Pontifícia Católica de São Paulo</a:t>
            </a:r>
            <a:endParaRPr b="0" i="0" sz="2000" u="none" cap="none" strike="noStrike">
              <a:solidFill>
                <a:schemeClr val="dk1"/>
              </a:solidFill>
              <a:latin typeface="Palatino Linotype"/>
              <a:ea typeface="Palatino Linotype"/>
              <a:cs typeface="Palatino Linotype"/>
              <a:sym typeface="Palatino Linotype"/>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Palatino Linotype"/>
              <a:ea typeface="Palatino Linotype"/>
              <a:cs typeface="Palatino Linotype"/>
              <a:sym typeface="Palatino Linotype"/>
            </a:endParaRPr>
          </a:p>
        </p:txBody>
      </p:sp>
      <p:sp>
        <p:nvSpPr>
          <p:cNvPr id="98" name="Google Shape;98;p3"/>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Um pouco sobre mim…</a:t>
            </a:r>
            <a:endParaRPr b="0" i="0" sz="3500" u="none" cap="none" strike="noStrike">
              <a:solidFill>
                <a:schemeClr val="lt1"/>
              </a:solidFill>
              <a:latin typeface="Palatino Linotype"/>
              <a:ea typeface="Palatino Linotype"/>
              <a:cs typeface="Palatino Linotype"/>
              <a:sym typeface="Palatino Linotype"/>
            </a:endParaRPr>
          </a:p>
        </p:txBody>
      </p:sp>
      <p:sp>
        <p:nvSpPr>
          <p:cNvPr id="99" name="Google Shape;99;p3"/>
          <p:cNvSpPr txBox="1"/>
          <p:nvPr/>
        </p:nvSpPr>
        <p:spPr>
          <a:xfrm>
            <a:off x="1018572" y="3752661"/>
            <a:ext cx="10023600" cy="2709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chemeClr val="dk1"/>
                </a:solidFill>
                <a:latin typeface="Palatino Linotype"/>
                <a:ea typeface="Palatino Linotype"/>
                <a:cs typeface="Palatino Linotype"/>
                <a:sym typeface="Palatino Linotype"/>
              </a:rPr>
              <a:t>Atuação profissional</a:t>
            </a:r>
            <a:endParaRPr b="0" i="0" sz="2500" u="none" cap="none" strike="noStrike">
              <a:solidFill>
                <a:schemeClr val="dk1"/>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2500"/>
              <a:buFont typeface="Arial"/>
              <a:buNone/>
            </a:pPr>
            <a:r>
              <a:rPr lang="es-ES" sz="2500">
                <a:solidFill>
                  <a:schemeClr val="dk1"/>
                </a:solidFill>
                <a:latin typeface="Palatino Linotype"/>
                <a:ea typeface="Palatino Linotype"/>
                <a:cs typeface="Palatino Linotype"/>
                <a:sym typeface="Palatino Linotype"/>
              </a:rPr>
              <a:t>	</a:t>
            </a:r>
            <a:endParaRPr sz="2500">
              <a:solidFill>
                <a:schemeClr val="dk1"/>
              </a:solidFill>
              <a:latin typeface="Palatino Linotype"/>
              <a:ea typeface="Palatino Linotype"/>
              <a:cs typeface="Palatino Linotype"/>
              <a:sym typeface="Palatino Linotype"/>
            </a:endParaRPr>
          </a:p>
          <a:p>
            <a:pPr indent="0" lvl="0" marL="457200" marR="0" rtl="0" algn="l">
              <a:lnSpc>
                <a:spcPct val="100000"/>
              </a:lnSpc>
              <a:spcBef>
                <a:spcPts val="0"/>
              </a:spcBef>
              <a:spcAft>
                <a:spcPts val="0"/>
              </a:spcAft>
              <a:buClr>
                <a:srgbClr val="000000"/>
              </a:buClr>
              <a:buSzPts val="1800"/>
              <a:buFont typeface="Arial"/>
              <a:buNone/>
            </a:pPr>
            <a:r>
              <a:rPr lang="es-ES" sz="2000">
                <a:solidFill>
                  <a:schemeClr val="dk1"/>
                </a:solidFill>
                <a:latin typeface="Palatino Linotype"/>
                <a:ea typeface="Palatino Linotype"/>
                <a:cs typeface="Palatino Linotype"/>
                <a:sym typeface="Palatino Linotype"/>
              </a:rPr>
              <a:t>Psicologo </a:t>
            </a:r>
            <a:r>
              <a:rPr lang="es-ES" sz="2000">
                <a:solidFill>
                  <a:schemeClr val="dk1"/>
                </a:solidFill>
                <a:latin typeface="Palatino Linotype"/>
                <a:ea typeface="Palatino Linotype"/>
                <a:cs typeface="Palatino Linotype"/>
                <a:sym typeface="Palatino Linotype"/>
              </a:rPr>
              <a:t>Clínico</a:t>
            </a:r>
            <a:endParaRPr b="0" i="0" sz="2000" u="none" cap="none" strike="noStrike">
              <a:solidFill>
                <a:schemeClr val="dk1"/>
              </a:solidFill>
              <a:latin typeface="Palatino Linotype"/>
              <a:ea typeface="Palatino Linotype"/>
              <a:cs typeface="Palatino Linotype"/>
              <a:sym typeface="Palatino Linotype"/>
            </a:endParaRPr>
          </a:p>
          <a:p>
            <a:pPr indent="0" lvl="0" marL="457200" marR="0" rtl="0" algn="l">
              <a:lnSpc>
                <a:spcPct val="100000"/>
              </a:lnSpc>
              <a:spcBef>
                <a:spcPts val="0"/>
              </a:spcBef>
              <a:spcAft>
                <a:spcPts val="0"/>
              </a:spcAft>
              <a:buClr>
                <a:srgbClr val="000000"/>
              </a:buClr>
              <a:buSzPts val="2000"/>
              <a:buFont typeface="Arial"/>
              <a:buNone/>
            </a:pPr>
            <a:r>
              <a:rPr b="0" i="0" lang="es-ES" sz="2000" u="none" cap="none" strike="noStrike">
                <a:solidFill>
                  <a:schemeClr val="dk1"/>
                </a:solidFill>
                <a:latin typeface="Palatino Linotype"/>
                <a:ea typeface="Palatino Linotype"/>
                <a:cs typeface="Palatino Linotype"/>
                <a:sym typeface="Palatino Linotype"/>
              </a:rPr>
              <a:t>Professor da Universidade Presbiteriana Mackenzie</a:t>
            </a:r>
            <a:endParaRPr b="0" i="0" sz="2000" u="none" cap="none" strike="noStrike">
              <a:solidFill>
                <a:schemeClr val="dk1"/>
              </a:solidFill>
              <a:latin typeface="Palatino Linotype"/>
              <a:ea typeface="Palatino Linotype"/>
              <a:cs typeface="Palatino Linotype"/>
              <a:sym typeface="Palatino Linotype"/>
            </a:endParaRPr>
          </a:p>
          <a:p>
            <a:pPr indent="0" lvl="0" marL="457200" marR="0" rtl="0" algn="l">
              <a:lnSpc>
                <a:spcPct val="100000"/>
              </a:lnSpc>
              <a:spcBef>
                <a:spcPts val="0"/>
              </a:spcBef>
              <a:spcAft>
                <a:spcPts val="0"/>
              </a:spcAft>
              <a:buClr>
                <a:srgbClr val="000000"/>
              </a:buClr>
              <a:buSzPts val="2000"/>
              <a:buFont typeface="Arial"/>
              <a:buNone/>
            </a:pPr>
            <a:r>
              <a:rPr b="0" i="0" lang="es-ES" sz="2000" u="none" cap="none" strike="noStrike">
                <a:solidFill>
                  <a:schemeClr val="dk1"/>
                </a:solidFill>
                <a:latin typeface="Palatino Linotype"/>
                <a:ea typeface="Palatino Linotype"/>
                <a:cs typeface="Palatino Linotype"/>
                <a:sym typeface="Palatino Linotype"/>
              </a:rPr>
              <a:t>Professor e pesquisador na Faculdade Metropolitanas Unidas (FMU)</a:t>
            </a:r>
            <a:endParaRPr b="0" i="0" sz="2000" u="none" cap="none" strike="noStrike">
              <a:solidFill>
                <a:schemeClr val="dk1"/>
              </a:solidFill>
              <a:latin typeface="Palatino Linotype"/>
              <a:ea typeface="Palatino Linotype"/>
              <a:cs typeface="Palatino Linotype"/>
              <a:sym typeface="Palatino Linotype"/>
            </a:endParaRPr>
          </a:p>
          <a:p>
            <a:pPr indent="0" lvl="0" marL="457200" marR="0" rtl="0" algn="l">
              <a:lnSpc>
                <a:spcPct val="100000"/>
              </a:lnSpc>
              <a:spcBef>
                <a:spcPts val="0"/>
              </a:spcBef>
              <a:spcAft>
                <a:spcPts val="0"/>
              </a:spcAft>
              <a:buClr>
                <a:srgbClr val="000000"/>
              </a:buClr>
              <a:buSzPts val="2000"/>
              <a:buFont typeface="Arial"/>
              <a:buNone/>
            </a:pPr>
            <a:r>
              <a:rPr b="0" i="0" lang="es-ES" sz="2000" u="none" cap="none" strike="noStrike">
                <a:solidFill>
                  <a:schemeClr val="dk1"/>
                </a:solidFill>
                <a:latin typeface="Palatino Linotype"/>
                <a:ea typeface="Palatino Linotype"/>
                <a:cs typeface="Palatino Linotype"/>
                <a:sym typeface="Palatino Linotype"/>
              </a:rPr>
              <a:t>Atuação CREAS Capela do Socorro</a:t>
            </a:r>
            <a:endParaRPr b="0" i="0" sz="2000" u="none" cap="none" strike="noStrike">
              <a:solidFill>
                <a:schemeClr val="dk1"/>
              </a:solidFill>
              <a:latin typeface="Palatino Linotype"/>
              <a:ea typeface="Palatino Linotype"/>
              <a:cs typeface="Palatino Linotype"/>
              <a:sym typeface="Palatino Linotype"/>
            </a:endParaRPr>
          </a:p>
          <a:p>
            <a:pPr indent="0" lvl="0" marL="457200" marR="0" rtl="0" algn="l">
              <a:lnSpc>
                <a:spcPct val="100000"/>
              </a:lnSpc>
              <a:spcBef>
                <a:spcPts val="0"/>
              </a:spcBef>
              <a:spcAft>
                <a:spcPts val="0"/>
              </a:spcAft>
              <a:buClr>
                <a:srgbClr val="000000"/>
              </a:buClr>
              <a:buSzPts val="2000"/>
              <a:buFont typeface="Arial"/>
              <a:buNone/>
            </a:pPr>
            <a:r>
              <a:rPr b="0" i="0" lang="es-ES" sz="2000" u="none" cap="none" strike="noStrike">
                <a:solidFill>
                  <a:schemeClr val="dk1"/>
                </a:solidFill>
                <a:latin typeface="Palatino Linotype"/>
                <a:ea typeface="Palatino Linotype"/>
                <a:cs typeface="Palatino Linotype"/>
                <a:sym typeface="Palatino Linotype"/>
              </a:rPr>
              <a:t>Atuação Hospital Lacan</a:t>
            </a:r>
            <a:endParaRPr b="0" i="0" sz="2000" u="none" cap="none" strike="noStrike">
              <a:solidFill>
                <a:schemeClr val="dk1"/>
              </a:solidFill>
              <a:latin typeface="Palatino Linotype"/>
              <a:ea typeface="Palatino Linotype"/>
              <a:cs typeface="Palatino Linotype"/>
              <a:sym typeface="Palatino Linotype"/>
            </a:endParaRPr>
          </a:p>
          <a:p>
            <a:pPr indent="0" lvl="0" marL="457200" marR="0" rtl="0" algn="l">
              <a:lnSpc>
                <a:spcPct val="100000"/>
              </a:lnSpc>
              <a:spcBef>
                <a:spcPts val="0"/>
              </a:spcBef>
              <a:spcAft>
                <a:spcPts val="0"/>
              </a:spcAft>
              <a:buClr>
                <a:srgbClr val="000000"/>
              </a:buClr>
              <a:buSzPts val="2000"/>
              <a:buFont typeface="Arial"/>
              <a:buNone/>
            </a:pPr>
            <a:r>
              <a:rPr b="0" i="0" lang="es-ES" sz="2000" u="none" cap="none" strike="noStrike">
                <a:solidFill>
                  <a:schemeClr val="dk1"/>
                </a:solidFill>
                <a:latin typeface="Palatino Linotype"/>
                <a:ea typeface="Palatino Linotype"/>
                <a:cs typeface="Palatino Linotype"/>
                <a:sym typeface="Palatino Linotype"/>
              </a:rPr>
              <a:t>Orientador Profissional no CCPA (GO)</a:t>
            </a:r>
            <a:endParaRPr b="0" i="0" sz="2000" u="none" cap="none" strike="noStrike">
              <a:solidFill>
                <a:schemeClr val="dk1"/>
              </a:solidFill>
              <a:latin typeface="Palatino Linotype"/>
              <a:ea typeface="Palatino Linotype"/>
              <a:cs typeface="Palatino Linotype"/>
              <a:sym typeface="Palatino Linotyp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105" name="Google Shape;105;p2"/>
          <p:cNvSpPr txBox="1"/>
          <p:nvPr/>
        </p:nvSpPr>
        <p:spPr>
          <a:xfrm>
            <a:off x="1018613" y="2323925"/>
            <a:ext cx="10023600" cy="31401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1800"/>
              <a:buFont typeface="Noto Sans Symbols"/>
              <a:buChar char="▪"/>
            </a:pPr>
            <a:r>
              <a:rPr b="0" i="0" lang="es-ES" sz="1800" u="none" cap="none" strike="noStrike">
                <a:solidFill>
                  <a:schemeClr val="dk1"/>
                </a:solidFill>
                <a:latin typeface="Palatino Linotype"/>
                <a:ea typeface="Palatino Linotype"/>
                <a:cs typeface="Palatino Linotype"/>
                <a:sym typeface="Palatino Linotype"/>
              </a:rPr>
              <a:t>Nome (Seu nome ou como gosta de ser chamado/a)</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Palatino Linotype"/>
              <a:ea typeface="Palatino Linotype"/>
              <a:cs typeface="Palatino Linotype"/>
              <a:sym typeface="Palatino Linotype"/>
            </a:endParaRPr>
          </a:p>
          <a:p>
            <a:pPr indent="-342900" lvl="0" marL="342900" marR="0" rtl="0" algn="l">
              <a:lnSpc>
                <a:spcPct val="100000"/>
              </a:lnSpc>
              <a:spcBef>
                <a:spcPts val="0"/>
              </a:spcBef>
              <a:spcAft>
                <a:spcPts val="0"/>
              </a:spcAft>
              <a:buClr>
                <a:schemeClr val="dk1"/>
              </a:buClr>
              <a:buSzPts val="1800"/>
              <a:buFont typeface="Noto Sans Symbols"/>
              <a:buChar char="▪"/>
            </a:pPr>
            <a:r>
              <a:rPr b="0" i="0" lang="es-ES" sz="1800" u="none" cap="none" strike="noStrike">
                <a:solidFill>
                  <a:schemeClr val="dk1"/>
                </a:solidFill>
                <a:latin typeface="Palatino Linotype"/>
                <a:ea typeface="Palatino Linotype"/>
                <a:cs typeface="Palatino Linotype"/>
                <a:sym typeface="Palatino Linotype"/>
              </a:rPr>
              <a:t>Formação</a:t>
            </a:r>
            <a:endParaRPr b="0" i="0" sz="1800" u="none" cap="none" strike="noStrike">
              <a:solidFill>
                <a:schemeClr val="dk1"/>
              </a:solidFill>
              <a:latin typeface="Palatino Linotype"/>
              <a:ea typeface="Palatino Linotype"/>
              <a:cs typeface="Palatino Linotype"/>
              <a:sym typeface="Palatino Linotype"/>
            </a:endParaRPr>
          </a:p>
          <a:p>
            <a:pPr indent="-228600" lvl="0" marL="3429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Palatino Linotype"/>
              <a:ea typeface="Palatino Linotype"/>
              <a:cs typeface="Palatino Linotype"/>
              <a:sym typeface="Palatino Linotype"/>
            </a:endParaRPr>
          </a:p>
          <a:p>
            <a:pPr indent="-342900" lvl="0" marL="342900" marR="0" rtl="0" algn="l">
              <a:lnSpc>
                <a:spcPct val="100000"/>
              </a:lnSpc>
              <a:spcBef>
                <a:spcPts val="0"/>
              </a:spcBef>
              <a:spcAft>
                <a:spcPts val="0"/>
              </a:spcAft>
              <a:buClr>
                <a:schemeClr val="dk1"/>
              </a:buClr>
              <a:buSzPts val="1800"/>
              <a:buFont typeface="Noto Sans Symbols"/>
              <a:buChar char="▪"/>
            </a:pPr>
            <a:r>
              <a:rPr b="0" i="0" lang="es-ES" sz="1800" u="none" cap="none" strike="noStrike">
                <a:solidFill>
                  <a:schemeClr val="dk1"/>
                </a:solidFill>
                <a:latin typeface="Palatino Linotype"/>
                <a:ea typeface="Palatino Linotype"/>
                <a:cs typeface="Palatino Linotype"/>
                <a:sym typeface="Palatino Linotype"/>
              </a:rPr>
              <a:t>Atuação profissional (Atua/Atuou em alguma empresa? Qual? Em que área?)</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Palatino Linotype"/>
              <a:ea typeface="Palatino Linotype"/>
              <a:cs typeface="Palatino Linotype"/>
              <a:sym typeface="Palatino Linotype"/>
            </a:endParaRPr>
          </a:p>
          <a:p>
            <a:pPr indent="-342900" lvl="0" marL="342900" marR="0" rtl="0" algn="l">
              <a:lnSpc>
                <a:spcPct val="100000"/>
              </a:lnSpc>
              <a:spcBef>
                <a:spcPts val="0"/>
              </a:spcBef>
              <a:spcAft>
                <a:spcPts val="0"/>
              </a:spcAft>
              <a:buClr>
                <a:schemeClr val="dk1"/>
              </a:buClr>
              <a:buSzPts val="1800"/>
              <a:buFont typeface="Noto Sans Symbols"/>
              <a:buChar char="▪"/>
            </a:pPr>
            <a:r>
              <a:rPr b="0" i="0" lang="es-ES" sz="1800" u="none" cap="none" strike="noStrike">
                <a:solidFill>
                  <a:schemeClr val="dk1"/>
                </a:solidFill>
                <a:latin typeface="Palatino Linotype"/>
                <a:ea typeface="Palatino Linotype"/>
                <a:cs typeface="Palatino Linotype"/>
                <a:sym typeface="Palatino Linotype"/>
              </a:rPr>
              <a:t>Expectativa com o curso e com a disciplina Relações de Poder nas Organizações</a:t>
            </a:r>
            <a:endParaRPr b="0" i="0" sz="1800" u="none" cap="none" strike="noStrike">
              <a:solidFill>
                <a:schemeClr val="dk1"/>
              </a:solidFill>
              <a:latin typeface="Palatino Linotype"/>
              <a:ea typeface="Palatino Linotype"/>
              <a:cs typeface="Palatino Linotype"/>
              <a:sym typeface="Palatino Linotype"/>
            </a:endParaRPr>
          </a:p>
          <a:p>
            <a:pPr indent="-228600" lvl="0" marL="3429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Palatino Linotype"/>
              <a:ea typeface="Palatino Linotype"/>
              <a:cs typeface="Palatino Linotype"/>
              <a:sym typeface="Palatino Linotype"/>
            </a:endParaRPr>
          </a:p>
          <a:p>
            <a:pPr indent="-342900" lvl="0" marL="342900" marR="0" rtl="0" algn="l">
              <a:lnSpc>
                <a:spcPct val="100000"/>
              </a:lnSpc>
              <a:spcBef>
                <a:spcPts val="0"/>
              </a:spcBef>
              <a:spcAft>
                <a:spcPts val="0"/>
              </a:spcAft>
              <a:buClr>
                <a:schemeClr val="dk1"/>
              </a:buClr>
              <a:buSzPts val="1800"/>
              <a:buFont typeface="Noto Sans Symbols"/>
              <a:buChar char="▪"/>
            </a:pPr>
            <a:r>
              <a:rPr b="0" i="0" lang="es-ES" sz="1800" u="none" cap="none" strike="noStrike">
                <a:solidFill>
                  <a:schemeClr val="dk1"/>
                </a:solidFill>
                <a:latin typeface="Palatino Linotype"/>
                <a:ea typeface="Palatino Linotype"/>
                <a:cs typeface="Palatino Linotype"/>
                <a:sym typeface="Palatino Linotype"/>
              </a:rPr>
              <a:t>Hobbies (O que gosta de fazer?)</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Palatino Linotype"/>
              <a:ea typeface="Palatino Linotype"/>
              <a:cs typeface="Palatino Linotype"/>
              <a:sym typeface="Palatino Linotype"/>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alatino Linotype"/>
              <a:ea typeface="Palatino Linotype"/>
              <a:cs typeface="Palatino Linotype"/>
              <a:sym typeface="Palatino Linotype"/>
            </a:endParaRPr>
          </a:p>
        </p:txBody>
      </p:sp>
      <p:sp>
        <p:nvSpPr>
          <p:cNvPr id="106" name="Google Shape;106;p2"/>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Apresentações</a:t>
            </a:r>
            <a:endParaRPr b="0" i="0" sz="3500" u="none" cap="none" strike="noStrike">
              <a:solidFill>
                <a:schemeClr val="lt1"/>
              </a:solidFill>
              <a:latin typeface="Palatino Linotype"/>
              <a:ea typeface="Palatino Linotype"/>
              <a:cs typeface="Palatino Linotype"/>
              <a:sym typeface="Palatino Linotyp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112" name="Google Shape;112;p5"/>
          <p:cNvSpPr txBox="1"/>
          <p:nvPr/>
        </p:nvSpPr>
        <p:spPr>
          <a:xfrm>
            <a:off x="1018572" y="2013994"/>
            <a:ext cx="1002367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Palatino Linotype"/>
                <a:ea typeface="Palatino Linotype"/>
                <a:cs typeface="Palatino Linotype"/>
                <a:sym typeface="Palatino Linotype"/>
              </a:rPr>
              <a:t>Apresentar as definições e formas de </a:t>
            </a:r>
            <a:r>
              <a:rPr b="0" i="0" lang="es-ES" sz="1800" u="none" cap="none" strike="noStrike">
                <a:solidFill>
                  <a:srgbClr val="0070C0"/>
                </a:solidFill>
                <a:latin typeface="Palatino Linotype"/>
                <a:ea typeface="Palatino Linotype"/>
                <a:cs typeface="Palatino Linotype"/>
                <a:sym typeface="Palatino Linotype"/>
              </a:rPr>
              <a:t>poder</a:t>
            </a:r>
            <a:r>
              <a:rPr b="0" i="0" lang="es-ES" sz="1800" u="none" cap="none" strike="noStrike">
                <a:solidFill>
                  <a:schemeClr val="dk1"/>
                </a:solidFill>
                <a:latin typeface="Palatino Linotype"/>
                <a:ea typeface="Palatino Linotype"/>
                <a:cs typeface="Palatino Linotype"/>
                <a:sym typeface="Palatino Linotype"/>
              </a:rPr>
              <a:t>. Debater as  principais  ideias contemporâneas acerca das </a:t>
            </a:r>
            <a:r>
              <a:rPr b="0" i="0" lang="es-ES" sz="1800" u="none" cap="none" strike="noStrike">
                <a:solidFill>
                  <a:srgbClr val="0070C0"/>
                </a:solidFill>
                <a:latin typeface="Palatino Linotype"/>
                <a:ea typeface="Palatino Linotype"/>
                <a:cs typeface="Palatino Linotype"/>
                <a:sym typeface="Palatino Linotype"/>
              </a:rPr>
              <a:t>estratégias e relações de poder presentes nas organizações</a:t>
            </a:r>
            <a:r>
              <a:rPr b="0" i="0" lang="es-ES" sz="1800" u="none" cap="none" strike="noStrike">
                <a:solidFill>
                  <a:schemeClr val="dk1"/>
                </a:solidFill>
                <a:latin typeface="Palatino Linotype"/>
                <a:ea typeface="Palatino Linotype"/>
                <a:cs typeface="Palatino Linotype"/>
                <a:sym typeface="Palatino Linotype"/>
              </a:rPr>
              <a:t>, incluindo  suas  manifestações  cotidianas.  Analisar  situações  vividas  no  contexto organizacional,  que  denotam  as  técnicas  disciplinares  utilizadas  para  controle  e assujeitamento dos indivíduos. </a:t>
            </a:r>
            <a:endParaRPr b="0" i="0" sz="1400" u="none" cap="none" strike="noStrike">
              <a:solidFill>
                <a:srgbClr val="000000"/>
              </a:solidFill>
              <a:latin typeface="Arial"/>
              <a:ea typeface="Arial"/>
              <a:cs typeface="Arial"/>
              <a:sym typeface="Arial"/>
            </a:endParaRPr>
          </a:p>
        </p:txBody>
      </p:sp>
      <p:sp>
        <p:nvSpPr>
          <p:cNvPr id="113" name="Google Shape;113;p5"/>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Objetivos da disciplina</a:t>
            </a:r>
            <a:endParaRPr b="0" i="0" sz="3500" u="none" cap="none" strike="noStrike">
              <a:solidFill>
                <a:schemeClr val="lt1"/>
              </a:solidFill>
              <a:latin typeface="Palatino Linotype"/>
              <a:ea typeface="Palatino Linotype"/>
              <a:cs typeface="Palatino Linotype"/>
              <a:sym typeface="Palatino Linotype"/>
            </a:endParaRPr>
          </a:p>
        </p:txBody>
      </p:sp>
      <p:pic>
        <p:nvPicPr>
          <p:cNvPr id="114" name="Google Shape;114;p5"/>
          <p:cNvPicPr preferRelativeResize="0"/>
          <p:nvPr/>
        </p:nvPicPr>
        <p:blipFill rotWithShape="1">
          <a:blip r:embed="rId3">
            <a:alphaModFix/>
          </a:blip>
          <a:srcRect b="0" l="0" r="0" t="0"/>
          <a:stretch/>
        </p:blipFill>
        <p:spPr>
          <a:xfrm>
            <a:off x="4684010" y="4719355"/>
            <a:ext cx="2833747" cy="158956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120" name="Google Shape;120;p6"/>
          <p:cNvSpPr txBox="1"/>
          <p:nvPr/>
        </p:nvSpPr>
        <p:spPr>
          <a:xfrm>
            <a:off x="1018572" y="2013994"/>
            <a:ext cx="1002367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Palatino Linotype"/>
                <a:ea typeface="Palatino Linotype"/>
                <a:cs typeface="Palatino Linotype"/>
                <a:sym typeface="Palatino Linotype"/>
              </a:rPr>
              <a:t>Apresentar as definições e formas de </a:t>
            </a:r>
            <a:r>
              <a:rPr b="0" i="0" lang="es-ES" sz="1800" u="none" cap="none" strike="noStrike">
                <a:solidFill>
                  <a:srgbClr val="0070C0"/>
                </a:solidFill>
                <a:latin typeface="Palatino Linotype"/>
                <a:ea typeface="Palatino Linotype"/>
                <a:cs typeface="Palatino Linotype"/>
                <a:sym typeface="Palatino Linotype"/>
              </a:rPr>
              <a:t>poder</a:t>
            </a:r>
            <a:r>
              <a:rPr b="0" i="0" lang="es-ES" sz="1800" u="none" cap="none" strike="noStrike">
                <a:solidFill>
                  <a:schemeClr val="dk1"/>
                </a:solidFill>
                <a:latin typeface="Palatino Linotype"/>
                <a:ea typeface="Palatino Linotype"/>
                <a:cs typeface="Palatino Linotype"/>
                <a:sym typeface="Palatino Linotype"/>
              </a:rPr>
              <a:t>. Debater as  principais  ideias contemporâneas acerca das </a:t>
            </a:r>
            <a:r>
              <a:rPr b="0" i="0" lang="es-ES" sz="1800" u="none" cap="none" strike="noStrike">
                <a:solidFill>
                  <a:srgbClr val="0070C0"/>
                </a:solidFill>
                <a:latin typeface="Palatino Linotype"/>
                <a:ea typeface="Palatino Linotype"/>
                <a:cs typeface="Palatino Linotype"/>
                <a:sym typeface="Palatino Linotype"/>
              </a:rPr>
              <a:t>estratégias e relações de poder presentes nas organizações</a:t>
            </a:r>
            <a:r>
              <a:rPr b="0" i="0" lang="es-ES" sz="1800" u="none" cap="none" strike="noStrike">
                <a:solidFill>
                  <a:schemeClr val="dk1"/>
                </a:solidFill>
                <a:latin typeface="Palatino Linotype"/>
                <a:ea typeface="Palatino Linotype"/>
                <a:cs typeface="Palatino Linotype"/>
                <a:sym typeface="Palatino Linotype"/>
              </a:rPr>
              <a:t>, incluindo  suas  manifestações  cotidianas.  Analisar  situações  vividas  no  contexto organizacional,  que  denotam  as  técnicas  disciplinares  utilizadas  para  controle  e assujeitamento dos indivíduos. </a:t>
            </a:r>
            <a:endParaRPr b="0" i="0" sz="1400" u="none" cap="none" strike="noStrike">
              <a:solidFill>
                <a:srgbClr val="000000"/>
              </a:solidFill>
              <a:latin typeface="Arial"/>
              <a:ea typeface="Arial"/>
              <a:cs typeface="Arial"/>
              <a:sym typeface="Arial"/>
            </a:endParaRPr>
          </a:p>
        </p:txBody>
      </p:sp>
      <p:sp>
        <p:nvSpPr>
          <p:cNvPr id="121" name="Google Shape;121;p6"/>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Objetivos da disciplina</a:t>
            </a:r>
            <a:endParaRPr b="0" i="0" sz="3500" u="none" cap="none" strike="noStrike">
              <a:solidFill>
                <a:schemeClr val="lt1"/>
              </a:solidFill>
              <a:latin typeface="Palatino Linotype"/>
              <a:ea typeface="Palatino Linotype"/>
              <a:cs typeface="Palatino Linotype"/>
              <a:sym typeface="Palatino Linotype"/>
            </a:endParaRPr>
          </a:p>
        </p:txBody>
      </p:sp>
      <p:pic>
        <p:nvPicPr>
          <p:cNvPr id="122" name="Google Shape;122;p6"/>
          <p:cNvPicPr preferRelativeResize="0"/>
          <p:nvPr/>
        </p:nvPicPr>
        <p:blipFill rotWithShape="1">
          <a:blip r:embed="rId3">
            <a:alphaModFix/>
          </a:blip>
          <a:srcRect b="0" l="0" r="0" t="0"/>
          <a:stretch/>
        </p:blipFill>
        <p:spPr>
          <a:xfrm>
            <a:off x="4684010" y="4719355"/>
            <a:ext cx="2833747" cy="1589562"/>
          </a:xfrm>
          <a:prstGeom prst="rect">
            <a:avLst/>
          </a:prstGeom>
          <a:noFill/>
          <a:ln>
            <a:noFill/>
          </a:ln>
        </p:spPr>
      </p:pic>
      <p:sp>
        <p:nvSpPr>
          <p:cNvPr id="123" name="Google Shape;123;p6"/>
          <p:cNvSpPr txBox="1"/>
          <p:nvPr/>
        </p:nvSpPr>
        <p:spPr>
          <a:xfrm>
            <a:off x="1018572" y="3247803"/>
            <a:ext cx="1002367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Palatino Linotype"/>
                <a:ea typeface="Palatino Linotype"/>
                <a:cs typeface="Palatino Linotype"/>
                <a:sym typeface="Palatino Linotype"/>
              </a:rPr>
              <a:t>Conhecimento</a:t>
            </a:r>
            <a:r>
              <a:rPr b="0" i="0" lang="es-ES" sz="1800" u="none" cap="none" strike="noStrike">
                <a:solidFill>
                  <a:schemeClr val="dk1"/>
                </a:solidFill>
                <a:latin typeface="Palatino Linotype"/>
                <a:ea typeface="Palatino Linotype"/>
                <a:cs typeface="Palatino Linotype"/>
                <a:sym typeface="Palatino Linotype"/>
              </a:rPr>
              <a:t>: identificar manifestações de poder nas relações.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Palatino Linotype"/>
                <a:ea typeface="Palatino Linotype"/>
                <a:cs typeface="Palatino Linotype"/>
                <a:sym typeface="Palatino Linotype"/>
              </a:rPr>
              <a:t>Habilidades</a:t>
            </a:r>
            <a:r>
              <a:rPr b="0" i="0" lang="es-ES" sz="1800" u="none" cap="none" strike="noStrike">
                <a:solidFill>
                  <a:schemeClr val="dk1"/>
                </a:solidFill>
                <a:latin typeface="Palatino Linotype"/>
                <a:ea typeface="Palatino Linotype"/>
                <a:cs typeface="Palatino Linotype"/>
                <a:sym typeface="Palatino Linotype"/>
              </a:rPr>
              <a:t>: saber lidar em situações de poder (exercício ou enfrentamento).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Palatino Linotype"/>
                <a:ea typeface="Palatino Linotype"/>
                <a:cs typeface="Palatino Linotype"/>
                <a:sym typeface="Palatino Linotype"/>
              </a:rPr>
              <a:t>Atitudes</a:t>
            </a:r>
            <a:r>
              <a:rPr b="0" i="0" lang="es-ES" sz="1800" u="none" cap="none" strike="noStrike">
                <a:solidFill>
                  <a:schemeClr val="dk1"/>
                </a:solidFill>
                <a:latin typeface="Palatino Linotype"/>
                <a:ea typeface="Palatino Linotype"/>
                <a:cs typeface="Palatino Linotype"/>
                <a:sym typeface="Palatino Linotype"/>
              </a:rPr>
              <a:t>: valorizar comportamentos reflexivos e críticos acerca das técnicas e relações de poder presentes nas organizações e nas suas manifestações cotidianas.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129" name="Google Shape;129;p7"/>
          <p:cNvSpPr txBox="1"/>
          <p:nvPr/>
        </p:nvSpPr>
        <p:spPr>
          <a:xfrm>
            <a:off x="1018572" y="2013994"/>
            <a:ext cx="10023600" cy="3971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Palatino Linotype"/>
                <a:ea typeface="Palatino Linotype"/>
                <a:cs typeface="Palatino Linotype"/>
                <a:sym typeface="Palatino Linotype"/>
              </a:rPr>
              <a:t>Tópicos das aulas</a:t>
            </a:r>
            <a:endParaRPr b="1" i="0" sz="1800" u="none" cap="none" strike="noStrike">
              <a:solidFill>
                <a:schemeClr val="dk1"/>
              </a:solidFill>
              <a:latin typeface="Palatino Linotype"/>
              <a:ea typeface="Palatino Linotype"/>
              <a:cs typeface="Palatino Linotype"/>
              <a:sym typeface="Palatino Linotype"/>
            </a:endParaRPr>
          </a:p>
          <a:p>
            <a:pPr indent="-342900" lvl="0" marL="342900" marR="0" rtl="0" algn="l">
              <a:lnSpc>
                <a:spcPct val="100000"/>
              </a:lnSpc>
              <a:spcBef>
                <a:spcPts val="0"/>
              </a:spcBef>
              <a:spcAft>
                <a:spcPts val="0"/>
              </a:spcAft>
              <a:buClr>
                <a:schemeClr val="dk1"/>
              </a:buClr>
              <a:buSzPts val="1800"/>
              <a:buFont typeface="Palatino Linotype"/>
              <a:buAutoNum type="arabicPeriod"/>
            </a:pPr>
            <a:r>
              <a:rPr b="0" i="0" lang="es-ES" sz="1800" u="none" cap="none" strike="noStrike">
                <a:solidFill>
                  <a:schemeClr val="dk1"/>
                </a:solidFill>
                <a:latin typeface="Palatino Linotype"/>
                <a:ea typeface="Palatino Linotype"/>
                <a:cs typeface="Palatino Linotype"/>
                <a:sym typeface="Palatino Linotype"/>
              </a:rPr>
              <a:t>As Bases do Poder</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Palatino Linotype"/>
              <a:buAutoNum type="arabicPeriod"/>
            </a:pPr>
            <a:r>
              <a:rPr b="0" i="0" lang="es-ES" sz="1800" u="none" cap="none" strike="noStrike">
                <a:solidFill>
                  <a:schemeClr val="dk1"/>
                </a:solidFill>
                <a:latin typeface="Palatino Linotype"/>
                <a:ea typeface="Palatino Linotype"/>
                <a:cs typeface="Palatino Linotype"/>
                <a:sym typeface="Palatino Linotype"/>
              </a:rPr>
              <a:t>Teorías Psicológicas e o Poder</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Palatino Linotype"/>
              <a:buAutoNum type="arabicPeriod"/>
            </a:pPr>
            <a:r>
              <a:rPr b="0" i="0" lang="es-ES" sz="1800" u="none" cap="none" strike="noStrike">
                <a:solidFill>
                  <a:schemeClr val="dk1"/>
                </a:solidFill>
                <a:latin typeface="Palatino Linotype"/>
                <a:ea typeface="Palatino Linotype"/>
                <a:cs typeface="Palatino Linotype"/>
                <a:sym typeface="Palatino Linotype"/>
              </a:rPr>
              <a:t>Cultura e Poder nas Organizações</a:t>
            </a:r>
            <a:endParaRPr b="0" i="0" sz="1800" u="none" cap="none" strike="noStrike">
              <a:solidFill>
                <a:schemeClr val="dk1"/>
              </a:solidFill>
              <a:latin typeface="Palatino Linotype"/>
              <a:ea typeface="Palatino Linotype"/>
              <a:cs typeface="Palatino Linotype"/>
              <a:sym typeface="Palatino Linotype"/>
            </a:endParaRPr>
          </a:p>
          <a:p>
            <a:pPr indent="-342900" lvl="0" marL="342900" marR="0" rtl="0" algn="l">
              <a:lnSpc>
                <a:spcPct val="100000"/>
              </a:lnSpc>
              <a:spcBef>
                <a:spcPts val="0"/>
              </a:spcBef>
              <a:spcAft>
                <a:spcPts val="0"/>
              </a:spcAft>
              <a:buClr>
                <a:schemeClr val="dk1"/>
              </a:buClr>
              <a:buSzPts val="1800"/>
              <a:buFont typeface="Palatino Linotype"/>
              <a:buAutoNum type="arabicPeriod"/>
            </a:pPr>
            <a:r>
              <a:rPr b="0" i="0" lang="es-ES" sz="1800" u="none" cap="none" strike="noStrike">
                <a:solidFill>
                  <a:schemeClr val="dk1"/>
                </a:solidFill>
                <a:latin typeface="Palatino Linotype"/>
                <a:ea typeface="Palatino Linotype"/>
                <a:cs typeface="Palatino Linotype"/>
                <a:sym typeface="Palatino Linotype"/>
              </a:rPr>
              <a:t>Fatores Associados ao Poder</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Palatino Linotype"/>
              <a:buAutoNum type="arabicPeriod"/>
            </a:pPr>
            <a:r>
              <a:rPr b="0" i="0" lang="es-ES" sz="1800" u="none" cap="none" strike="noStrike">
                <a:solidFill>
                  <a:schemeClr val="dk1"/>
                </a:solidFill>
                <a:latin typeface="Palatino Linotype"/>
                <a:ea typeface="Palatino Linotype"/>
                <a:cs typeface="Palatino Linotype"/>
                <a:sym typeface="Palatino Linotype"/>
              </a:rPr>
              <a:t>Assédios no contexto do trabalho</a:t>
            </a:r>
            <a:endParaRPr b="0" i="0" sz="1800" u="none" cap="none" strike="noStrike">
              <a:solidFill>
                <a:schemeClr val="dk1"/>
              </a:solidFill>
              <a:latin typeface="Palatino Linotype"/>
              <a:ea typeface="Palatino Linotype"/>
              <a:cs typeface="Palatino Linotype"/>
              <a:sym typeface="Palatino Linotype"/>
            </a:endParaRPr>
          </a:p>
          <a:p>
            <a:pPr indent="-342900" lvl="0" marL="342900" marR="0" rtl="0" algn="l">
              <a:lnSpc>
                <a:spcPct val="100000"/>
              </a:lnSpc>
              <a:spcBef>
                <a:spcPts val="0"/>
              </a:spcBef>
              <a:spcAft>
                <a:spcPts val="0"/>
              </a:spcAft>
              <a:buClr>
                <a:schemeClr val="dk1"/>
              </a:buClr>
              <a:buSzPts val="1800"/>
              <a:buFont typeface="Palatino Linotype"/>
              <a:buAutoNum type="arabicPeriod"/>
            </a:pPr>
            <a:r>
              <a:rPr b="0" i="0" lang="es-ES" sz="1800" u="none" cap="none" strike="noStrike">
                <a:solidFill>
                  <a:schemeClr val="dk1"/>
                </a:solidFill>
                <a:latin typeface="Palatino Linotype"/>
                <a:ea typeface="Palatino Linotype"/>
                <a:cs typeface="Palatino Linotype"/>
                <a:sym typeface="Palatino Linotype"/>
              </a:rPr>
              <a:t>Contrapoder e Resistência 1</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Palatino Linotype"/>
              <a:buAutoNum type="arabicPeriod"/>
            </a:pPr>
            <a:r>
              <a:rPr b="0" i="0" lang="es-ES" sz="1800" u="none" cap="none" strike="noStrike">
                <a:solidFill>
                  <a:schemeClr val="dk1"/>
                </a:solidFill>
                <a:latin typeface="Palatino Linotype"/>
                <a:ea typeface="Palatino Linotype"/>
                <a:cs typeface="Palatino Linotype"/>
                <a:sym typeface="Palatino Linotype"/>
              </a:rPr>
              <a:t>Contrapoder e Resistência 2</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Palatino Linotype"/>
              <a:buAutoNum type="arabicPeriod"/>
            </a:pPr>
            <a:r>
              <a:rPr b="0" i="0" lang="es-ES" sz="1800" u="none" cap="none" strike="noStrike">
                <a:solidFill>
                  <a:schemeClr val="dk1"/>
                </a:solidFill>
                <a:latin typeface="Palatino Linotype"/>
                <a:ea typeface="Palatino Linotype"/>
                <a:cs typeface="Palatino Linotype"/>
                <a:sym typeface="Palatino Linotype"/>
              </a:rPr>
              <a:t>Feedback / Prova</a:t>
            </a:r>
            <a:endParaRPr b="0" i="0" sz="1800" u="none" cap="none" strike="noStrike">
              <a:solidFill>
                <a:schemeClr val="dk1"/>
              </a:solidFill>
              <a:latin typeface="Palatino Linotype"/>
              <a:ea typeface="Palatino Linotype"/>
              <a:cs typeface="Palatino Linotype"/>
              <a:sym typeface="Palatino Linotype"/>
            </a:endParaRPr>
          </a:p>
          <a:p>
            <a:pPr indent="-228600" lvl="0" marL="34290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Palatino Linotype"/>
                <a:ea typeface="Palatino Linotype"/>
                <a:cs typeface="Palatino Linotype"/>
                <a:sym typeface="Palatino Linotype"/>
              </a:rPr>
              <a:t>Avaliação</a:t>
            </a:r>
            <a:r>
              <a:rPr b="0" i="0" lang="es-ES" sz="1800" u="none" cap="none" strike="noStrike">
                <a:solidFill>
                  <a:schemeClr val="dk1"/>
                </a:solidFill>
                <a:latin typeface="Palatino Linotype"/>
                <a:ea typeface="Palatino Linotype"/>
                <a:cs typeface="Palatino Linotype"/>
                <a:sym typeface="Palatino Linotype"/>
              </a:rPr>
              <a:t>: </a:t>
            </a:r>
            <a:br>
              <a:rPr b="0" i="0" lang="es-ES" sz="1800" u="none" cap="none" strike="noStrike">
                <a:solidFill>
                  <a:schemeClr val="dk1"/>
                </a:solidFill>
                <a:latin typeface="Palatino Linotype"/>
                <a:ea typeface="Palatino Linotype"/>
                <a:cs typeface="Palatino Linotype"/>
                <a:sym typeface="Palatino Linotype"/>
              </a:rPr>
            </a:br>
            <a:r>
              <a:rPr b="0" i="0" lang="es-ES" sz="1800" u="none" cap="none" strike="noStrike">
                <a:solidFill>
                  <a:schemeClr val="dk1"/>
                </a:solidFill>
                <a:latin typeface="Palatino Linotype"/>
                <a:ea typeface="Palatino Linotype"/>
                <a:cs typeface="Palatino Linotype"/>
                <a:sym typeface="Palatino Linotype"/>
              </a:rPr>
              <a:t>1. Atividades em aula (4 pontos)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Palatino Linotype"/>
                <a:ea typeface="Palatino Linotype"/>
                <a:cs typeface="Palatino Linotype"/>
                <a:sym typeface="Palatino Linotype"/>
              </a:rPr>
              <a:t>2. Trabalho final (6 pontos)</a:t>
            </a:r>
            <a:endParaRPr b="0" i="0" sz="14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Palatino Linotype"/>
              <a:ea typeface="Palatino Linotype"/>
              <a:cs typeface="Palatino Linotype"/>
              <a:sym typeface="Palatino Linotype"/>
            </a:endParaRPr>
          </a:p>
        </p:txBody>
      </p:sp>
      <p:sp>
        <p:nvSpPr>
          <p:cNvPr id="130" name="Google Shape;130;p7"/>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Aulas e método de avaliação</a:t>
            </a:r>
            <a:endParaRPr b="0" i="0" sz="3500" u="none" cap="none" strike="noStrike">
              <a:solidFill>
                <a:schemeClr val="lt1"/>
              </a:solidFill>
              <a:latin typeface="Palatino Linotype"/>
              <a:ea typeface="Palatino Linotype"/>
              <a:cs typeface="Palatino Linotype"/>
              <a:sym typeface="Palatino Linotyp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136" name="Google Shape;136;p8"/>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que é </a:t>
            </a:r>
            <a:r>
              <a:rPr b="0" i="0" lang="es-ES" sz="3500" u="none" cap="none" strike="noStrike">
                <a:solidFill>
                  <a:srgbClr val="FFC000"/>
                </a:solidFill>
                <a:latin typeface="Palatino Linotype"/>
                <a:ea typeface="Palatino Linotype"/>
                <a:cs typeface="Palatino Linotype"/>
                <a:sym typeface="Palatino Linotype"/>
              </a:rPr>
              <a:t>PODER</a:t>
            </a:r>
            <a:r>
              <a:rPr b="0" i="0" lang="es-ES" sz="3500" u="none" cap="none" strike="noStrike">
                <a:solidFill>
                  <a:schemeClr val="lt1"/>
                </a:solidFill>
                <a:latin typeface="Palatino Linotype"/>
                <a:ea typeface="Palatino Linotype"/>
                <a:cs typeface="Palatino Linotype"/>
                <a:sym typeface="Palatino Linotype"/>
              </a:rPr>
              <a:t>?</a:t>
            </a:r>
            <a:endParaRPr b="0" i="0" sz="3500" u="none" cap="none" strike="noStrike">
              <a:solidFill>
                <a:schemeClr val="lt1"/>
              </a:solidFill>
              <a:latin typeface="Palatino Linotype"/>
              <a:ea typeface="Palatino Linotype"/>
              <a:cs typeface="Palatino Linotype"/>
              <a:sym typeface="Palatino Linotyp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142" name="Google Shape;142;p9"/>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que é </a:t>
            </a:r>
            <a:r>
              <a:rPr b="0" i="0" lang="es-ES" sz="3500" u="none" cap="none" strike="noStrike">
                <a:solidFill>
                  <a:srgbClr val="FFC000"/>
                </a:solidFill>
                <a:latin typeface="Palatino Linotype"/>
                <a:ea typeface="Palatino Linotype"/>
                <a:cs typeface="Palatino Linotype"/>
                <a:sym typeface="Palatino Linotype"/>
              </a:rPr>
              <a:t>PODER</a:t>
            </a:r>
            <a:r>
              <a:rPr b="0" i="0" lang="es-ES" sz="3500" u="none" cap="none" strike="noStrike">
                <a:solidFill>
                  <a:schemeClr val="lt1"/>
                </a:solidFill>
                <a:latin typeface="Palatino Linotype"/>
                <a:ea typeface="Palatino Linotype"/>
                <a:cs typeface="Palatino Linotype"/>
                <a:sym typeface="Palatino Linotype"/>
              </a:rPr>
              <a:t>?</a:t>
            </a:r>
            <a:endParaRPr b="0" i="0" sz="3500" u="none" cap="none" strike="noStrike">
              <a:solidFill>
                <a:schemeClr val="lt1"/>
              </a:solidFill>
              <a:latin typeface="Palatino Linotype"/>
              <a:ea typeface="Palatino Linotype"/>
              <a:cs typeface="Palatino Linotype"/>
              <a:sym typeface="Palatino Linotype"/>
            </a:endParaRPr>
          </a:p>
        </p:txBody>
      </p:sp>
      <p:pic>
        <p:nvPicPr>
          <p:cNvPr descr="https://media.npr.org/assets/img/2017/02/24/gettyimages-71715631-d781e4a25adbb8a20d646a69625ca9716d441a2f-s800-c85.jpg" id="143" name="Google Shape;143;p9"/>
          <p:cNvPicPr preferRelativeResize="0"/>
          <p:nvPr/>
        </p:nvPicPr>
        <p:blipFill rotWithShape="1">
          <a:blip r:embed="rId3">
            <a:alphaModFix/>
          </a:blip>
          <a:srcRect b="0" l="0" r="0" t="0"/>
          <a:stretch/>
        </p:blipFill>
        <p:spPr>
          <a:xfrm>
            <a:off x="1012691" y="1978633"/>
            <a:ext cx="2126234" cy="15946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10"/>
          <p:cNvPicPr preferRelativeResize="0"/>
          <p:nvPr/>
        </p:nvPicPr>
        <p:blipFill rotWithShape="1">
          <a:blip r:embed="rId3">
            <a:alphaModFix/>
          </a:blip>
          <a:srcRect b="0" l="0" r="0" t="0"/>
          <a:stretch/>
        </p:blipFill>
        <p:spPr>
          <a:xfrm>
            <a:off x="2838599" y="2021567"/>
            <a:ext cx="2335288" cy="1554449"/>
          </a:xfrm>
          <a:prstGeom prst="rect">
            <a:avLst/>
          </a:prstGeom>
          <a:noFill/>
          <a:ln>
            <a:noFill/>
          </a:ln>
        </p:spPr>
      </p:pic>
      <p:sp>
        <p:nvSpPr>
          <p:cNvPr id="149" name="Google Shape;149;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150" name="Google Shape;150;p10"/>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que é </a:t>
            </a:r>
            <a:r>
              <a:rPr b="0" i="0" lang="es-ES" sz="3500" u="none" cap="none" strike="noStrike">
                <a:solidFill>
                  <a:srgbClr val="FFC000"/>
                </a:solidFill>
                <a:latin typeface="Palatino Linotype"/>
                <a:ea typeface="Palatino Linotype"/>
                <a:cs typeface="Palatino Linotype"/>
                <a:sym typeface="Palatino Linotype"/>
              </a:rPr>
              <a:t>PODER</a:t>
            </a:r>
            <a:r>
              <a:rPr b="0" i="0" lang="es-ES" sz="3500" u="none" cap="none" strike="noStrike">
                <a:solidFill>
                  <a:schemeClr val="lt1"/>
                </a:solidFill>
                <a:latin typeface="Palatino Linotype"/>
                <a:ea typeface="Palatino Linotype"/>
                <a:cs typeface="Palatino Linotype"/>
                <a:sym typeface="Palatino Linotype"/>
              </a:rPr>
              <a:t>?</a:t>
            </a:r>
            <a:endParaRPr b="0" i="0" sz="3500" u="none" cap="none" strike="noStrike">
              <a:solidFill>
                <a:schemeClr val="lt1"/>
              </a:solidFill>
              <a:latin typeface="Palatino Linotype"/>
              <a:ea typeface="Palatino Linotype"/>
              <a:cs typeface="Palatino Linotype"/>
              <a:sym typeface="Palatino Linotype"/>
            </a:endParaRPr>
          </a:p>
        </p:txBody>
      </p:sp>
      <p:pic>
        <p:nvPicPr>
          <p:cNvPr descr="https://media.npr.org/assets/img/2017/02/24/gettyimages-71715631-d781e4a25adbb8a20d646a69625ca9716d441a2f-s800-c85.jpg" id="151" name="Google Shape;151;p10"/>
          <p:cNvPicPr preferRelativeResize="0"/>
          <p:nvPr/>
        </p:nvPicPr>
        <p:blipFill rotWithShape="1">
          <a:blip r:embed="rId4">
            <a:alphaModFix/>
          </a:blip>
          <a:srcRect b="0" l="0" r="0" t="0"/>
          <a:stretch/>
        </p:blipFill>
        <p:spPr>
          <a:xfrm>
            <a:off x="1012691" y="1978633"/>
            <a:ext cx="2126234" cy="15946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11"/>
          <p:cNvPicPr preferRelativeResize="0"/>
          <p:nvPr/>
        </p:nvPicPr>
        <p:blipFill rotWithShape="1">
          <a:blip r:embed="rId3">
            <a:alphaModFix/>
          </a:blip>
          <a:srcRect b="0" l="0" r="0" t="0"/>
          <a:stretch/>
        </p:blipFill>
        <p:spPr>
          <a:xfrm>
            <a:off x="2838599" y="2021567"/>
            <a:ext cx="2335288" cy="1554449"/>
          </a:xfrm>
          <a:prstGeom prst="rect">
            <a:avLst/>
          </a:prstGeom>
          <a:noFill/>
          <a:ln>
            <a:noFill/>
          </a:ln>
        </p:spPr>
      </p:pic>
      <p:sp>
        <p:nvSpPr>
          <p:cNvPr id="157" name="Google Shape;157;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158" name="Google Shape;158;p11"/>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que é </a:t>
            </a:r>
            <a:r>
              <a:rPr b="0" i="0" lang="es-ES" sz="3500" u="none" cap="none" strike="noStrike">
                <a:solidFill>
                  <a:srgbClr val="FFC000"/>
                </a:solidFill>
                <a:latin typeface="Palatino Linotype"/>
                <a:ea typeface="Palatino Linotype"/>
                <a:cs typeface="Palatino Linotype"/>
                <a:sym typeface="Palatino Linotype"/>
              </a:rPr>
              <a:t>PODER</a:t>
            </a:r>
            <a:r>
              <a:rPr b="0" i="0" lang="es-ES" sz="3500" u="none" cap="none" strike="noStrike">
                <a:solidFill>
                  <a:schemeClr val="lt1"/>
                </a:solidFill>
                <a:latin typeface="Palatino Linotype"/>
                <a:ea typeface="Palatino Linotype"/>
                <a:cs typeface="Palatino Linotype"/>
                <a:sym typeface="Palatino Linotype"/>
              </a:rPr>
              <a:t>?</a:t>
            </a:r>
            <a:endParaRPr b="0" i="0" sz="3500" u="none" cap="none" strike="noStrike">
              <a:solidFill>
                <a:schemeClr val="lt1"/>
              </a:solidFill>
              <a:latin typeface="Palatino Linotype"/>
              <a:ea typeface="Palatino Linotype"/>
              <a:cs typeface="Palatino Linotype"/>
              <a:sym typeface="Palatino Linotype"/>
            </a:endParaRPr>
          </a:p>
        </p:txBody>
      </p:sp>
      <p:pic>
        <p:nvPicPr>
          <p:cNvPr descr="Imagem relacionada" id="159" name="Google Shape;159;p11"/>
          <p:cNvPicPr preferRelativeResize="0"/>
          <p:nvPr/>
        </p:nvPicPr>
        <p:blipFill rotWithShape="1">
          <a:blip r:embed="rId4">
            <a:alphaModFix/>
          </a:blip>
          <a:srcRect b="0" l="0" r="0" t="0"/>
          <a:stretch/>
        </p:blipFill>
        <p:spPr>
          <a:xfrm>
            <a:off x="5075358" y="2013994"/>
            <a:ext cx="2103744" cy="1573710"/>
          </a:xfrm>
          <a:prstGeom prst="rect">
            <a:avLst/>
          </a:prstGeom>
          <a:noFill/>
          <a:ln>
            <a:noFill/>
          </a:ln>
        </p:spPr>
      </p:pic>
      <p:pic>
        <p:nvPicPr>
          <p:cNvPr descr="https://media.npr.org/assets/img/2017/02/24/gettyimages-71715631-d781e4a25adbb8a20d646a69625ca9716d441a2f-s800-c85.jpg" id="160" name="Google Shape;160;p11"/>
          <p:cNvPicPr preferRelativeResize="0"/>
          <p:nvPr/>
        </p:nvPicPr>
        <p:blipFill rotWithShape="1">
          <a:blip r:embed="rId5">
            <a:alphaModFix/>
          </a:blip>
          <a:srcRect b="0" l="0" r="0" t="0"/>
          <a:stretch/>
        </p:blipFill>
        <p:spPr>
          <a:xfrm>
            <a:off x="1012691" y="1978633"/>
            <a:ext cx="2126234" cy="15946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12"/>
          <p:cNvPicPr preferRelativeResize="0"/>
          <p:nvPr/>
        </p:nvPicPr>
        <p:blipFill rotWithShape="1">
          <a:blip r:embed="rId3">
            <a:alphaModFix/>
          </a:blip>
          <a:srcRect b="0" l="0" r="0" t="0"/>
          <a:stretch/>
        </p:blipFill>
        <p:spPr>
          <a:xfrm>
            <a:off x="2838599" y="2021567"/>
            <a:ext cx="2335288" cy="1554449"/>
          </a:xfrm>
          <a:prstGeom prst="rect">
            <a:avLst/>
          </a:prstGeom>
          <a:noFill/>
          <a:ln>
            <a:noFill/>
          </a:ln>
        </p:spPr>
      </p:pic>
      <p:sp>
        <p:nvSpPr>
          <p:cNvPr id="166" name="Google Shape;166;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167" name="Google Shape;167;p12"/>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que é </a:t>
            </a:r>
            <a:r>
              <a:rPr b="0" i="0" lang="es-ES" sz="3500" u="none" cap="none" strike="noStrike">
                <a:solidFill>
                  <a:srgbClr val="FFC000"/>
                </a:solidFill>
                <a:latin typeface="Palatino Linotype"/>
                <a:ea typeface="Palatino Linotype"/>
                <a:cs typeface="Palatino Linotype"/>
                <a:sym typeface="Palatino Linotype"/>
              </a:rPr>
              <a:t>PODER</a:t>
            </a:r>
            <a:r>
              <a:rPr b="0" i="0" lang="es-ES" sz="3500" u="none" cap="none" strike="noStrike">
                <a:solidFill>
                  <a:schemeClr val="lt1"/>
                </a:solidFill>
                <a:latin typeface="Palatino Linotype"/>
                <a:ea typeface="Palatino Linotype"/>
                <a:cs typeface="Palatino Linotype"/>
                <a:sym typeface="Palatino Linotype"/>
              </a:rPr>
              <a:t>?</a:t>
            </a:r>
            <a:endParaRPr b="0" i="0" sz="3500" u="none" cap="none" strike="noStrike">
              <a:solidFill>
                <a:schemeClr val="lt1"/>
              </a:solidFill>
              <a:latin typeface="Palatino Linotype"/>
              <a:ea typeface="Palatino Linotype"/>
              <a:cs typeface="Palatino Linotype"/>
              <a:sym typeface="Palatino Linotype"/>
            </a:endParaRPr>
          </a:p>
        </p:txBody>
      </p:sp>
      <p:pic>
        <p:nvPicPr>
          <p:cNvPr descr="Imagem relacionada" id="168" name="Google Shape;168;p12"/>
          <p:cNvPicPr preferRelativeResize="0"/>
          <p:nvPr/>
        </p:nvPicPr>
        <p:blipFill rotWithShape="1">
          <a:blip r:embed="rId4">
            <a:alphaModFix/>
          </a:blip>
          <a:srcRect b="0" l="0" r="0" t="0"/>
          <a:stretch/>
        </p:blipFill>
        <p:spPr>
          <a:xfrm>
            <a:off x="5075358" y="2013994"/>
            <a:ext cx="2103744" cy="1573710"/>
          </a:xfrm>
          <a:prstGeom prst="rect">
            <a:avLst/>
          </a:prstGeom>
          <a:noFill/>
          <a:ln>
            <a:noFill/>
          </a:ln>
        </p:spPr>
      </p:pic>
      <p:pic>
        <p:nvPicPr>
          <p:cNvPr descr="Resultado de imagem para cersei lannister" id="169" name="Google Shape;169;p12"/>
          <p:cNvPicPr preferRelativeResize="0"/>
          <p:nvPr/>
        </p:nvPicPr>
        <p:blipFill rotWithShape="1">
          <a:blip r:embed="rId5">
            <a:alphaModFix/>
          </a:blip>
          <a:srcRect b="0" l="12086" r="12546" t="0"/>
          <a:stretch/>
        </p:blipFill>
        <p:spPr>
          <a:xfrm>
            <a:off x="7161740" y="2013993"/>
            <a:ext cx="2106661" cy="1573711"/>
          </a:xfrm>
          <a:prstGeom prst="rect">
            <a:avLst/>
          </a:prstGeom>
          <a:noFill/>
          <a:ln>
            <a:noFill/>
          </a:ln>
        </p:spPr>
      </p:pic>
      <p:pic>
        <p:nvPicPr>
          <p:cNvPr descr="https://media.npr.org/assets/img/2017/02/24/gettyimages-71715631-d781e4a25adbb8a20d646a69625ca9716d441a2f-s800-c85.jpg" id="170" name="Google Shape;170;p12"/>
          <p:cNvPicPr preferRelativeResize="0"/>
          <p:nvPr/>
        </p:nvPicPr>
        <p:blipFill rotWithShape="1">
          <a:blip r:embed="rId6">
            <a:alphaModFix/>
          </a:blip>
          <a:srcRect b="0" l="0" r="0" t="0"/>
          <a:stretch/>
        </p:blipFill>
        <p:spPr>
          <a:xfrm>
            <a:off x="1012691" y="1978633"/>
            <a:ext cx="2126234" cy="15946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p13"/>
          <p:cNvPicPr preferRelativeResize="0"/>
          <p:nvPr/>
        </p:nvPicPr>
        <p:blipFill rotWithShape="1">
          <a:blip r:embed="rId3">
            <a:alphaModFix/>
          </a:blip>
          <a:srcRect b="0" l="0" r="0" t="0"/>
          <a:stretch/>
        </p:blipFill>
        <p:spPr>
          <a:xfrm>
            <a:off x="2838599" y="2021567"/>
            <a:ext cx="2335288" cy="1554449"/>
          </a:xfrm>
          <a:prstGeom prst="rect">
            <a:avLst/>
          </a:prstGeom>
          <a:noFill/>
          <a:ln>
            <a:noFill/>
          </a:ln>
        </p:spPr>
      </p:pic>
      <p:pic>
        <p:nvPicPr>
          <p:cNvPr descr="Resultado de imagem para xeque mate" id="176" name="Google Shape;176;p13"/>
          <p:cNvPicPr preferRelativeResize="0"/>
          <p:nvPr/>
        </p:nvPicPr>
        <p:blipFill rotWithShape="1">
          <a:blip r:embed="rId4">
            <a:alphaModFix/>
          </a:blip>
          <a:srcRect b="0" l="0" r="0" t="0"/>
          <a:stretch/>
        </p:blipFill>
        <p:spPr>
          <a:xfrm>
            <a:off x="9155529" y="2013993"/>
            <a:ext cx="1886719" cy="1573711"/>
          </a:xfrm>
          <a:prstGeom prst="rect">
            <a:avLst/>
          </a:prstGeom>
          <a:noFill/>
          <a:ln>
            <a:noFill/>
          </a:ln>
        </p:spPr>
      </p:pic>
      <p:sp>
        <p:nvSpPr>
          <p:cNvPr id="177" name="Google Shape;177;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178" name="Google Shape;178;p13"/>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que é </a:t>
            </a:r>
            <a:r>
              <a:rPr b="0" i="0" lang="es-ES" sz="3500" u="none" cap="none" strike="noStrike">
                <a:solidFill>
                  <a:srgbClr val="FFC000"/>
                </a:solidFill>
                <a:latin typeface="Palatino Linotype"/>
                <a:ea typeface="Palatino Linotype"/>
                <a:cs typeface="Palatino Linotype"/>
                <a:sym typeface="Palatino Linotype"/>
              </a:rPr>
              <a:t>PODER</a:t>
            </a:r>
            <a:r>
              <a:rPr b="0" i="0" lang="es-ES" sz="3500" u="none" cap="none" strike="noStrike">
                <a:solidFill>
                  <a:schemeClr val="lt1"/>
                </a:solidFill>
                <a:latin typeface="Palatino Linotype"/>
                <a:ea typeface="Palatino Linotype"/>
                <a:cs typeface="Palatino Linotype"/>
                <a:sym typeface="Palatino Linotype"/>
              </a:rPr>
              <a:t>?</a:t>
            </a:r>
            <a:endParaRPr b="0" i="0" sz="3500" u="none" cap="none" strike="noStrike">
              <a:solidFill>
                <a:schemeClr val="lt1"/>
              </a:solidFill>
              <a:latin typeface="Palatino Linotype"/>
              <a:ea typeface="Palatino Linotype"/>
              <a:cs typeface="Palatino Linotype"/>
              <a:sym typeface="Palatino Linotype"/>
            </a:endParaRPr>
          </a:p>
        </p:txBody>
      </p:sp>
      <p:pic>
        <p:nvPicPr>
          <p:cNvPr descr="Imagem relacionada" id="179" name="Google Shape;179;p13"/>
          <p:cNvPicPr preferRelativeResize="0"/>
          <p:nvPr/>
        </p:nvPicPr>
        <p:blipFill rotWithShape="1">
          <a:blip r:embed="rId5">
            <a:alphaModFix/>
          </a:blip>
          <a:srcRect b="0" l="0" r="0" t="0"/>
          <a:stretch/>
        </p:blipFill>
        <p:spPr>
          <a:xfrm>
            <a:off x="5075358" y="2013994"/>
            <a:ext cx="2103744" cy="1573710"/>
          </a:xfrm>
          <a:prstGeom prst="rect">
            <a:avLst/>
          </a:prstGeom>
          <a:noFill/>
          <a:ln>
            <a:noFill/>
          </a:ln>
        </p:spPr>
      </p:pic>
      <p:pic>
        <p:nvPicPr>
          <p:cNvPr descr="Resultado de imagem para cersei lannister" id="180" name="Google Shape;180;p13"/>
          <p:cNvPicPr preferRelativeResize="0"/>
          <p:nvPr/>
        </p:nvPicPr>
        <p:blipFill rotWithShape="1">
          <a:blip r:embed="rId6">
            <a:alphaModFix/>
          </a:blip>
          <a:srcRect b="0" l="12086" r="12546" t="0"/>
          <a:stretch/>
        </p:blipFill>
        <p:spPr>
          <a:xfrm>
            <a:off x="7161740" y="2013993"/>
            <a:ext cx="2106661" cy="1573711"/>
          </a:xfrm>
          <a:prstGeom prst="rect">
            <a:avLst/>
          </a:prstGeom>
          <a:noFill/>
          <a:ln>
            <a:noFill/>
          </a:ln>
        </p:spPr>
      </p:pic>
      <p:pic>
        <p:nvPicPr>
          <p:cNvPr descr="https://media.npr.org/assets/img/2017/02/24/gettyimages-71715631-d781e4a25adbb8a20d646a69625ca9716d441a2f-s800-c85.jpg" id="181" name="Google Shape;181;p13"/>
          <p:cNvPicPr preferRelativeResize="0"/>
          <p:nvPr/>
        </p:nvPicPr>
        <p:blipFill rotWithShape="1">
          <a:blip r:embed="rId7">
            <a:alphaModFix/>
          </a:blip>
          <a:srcRect b="0" l="0" r="0" t="0"/>
          <a:stretch/>
        </p:blipFill>
        <p:spPr>
          <a:xfrm>
            <a:off x="1012691" y="1978633"/>
            <a:ext cx="2126234" cy="15946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p14"/>
          <p:cNvPicPr preferRelativeResize="0"/>
          <p:nvPr/>
        </p:nvPicPr>
        <p:blipFill rotWithShape="1">
          <a:blip r:embed="rId3">
            <a:alphaModFix/>
          </a:blip>
          <a:srcRect b="0" l="0" r="0" t="0"/>
          <a:stretch/>
        </p:blipFill>
        <p:spPr>
          <a:xfrm>
            <a:off x="2838599" y="2021567"/>
            <a:ext cx="2335288" cy="1554449"/>
          </a:xfrm>
          <a:prstGeom prst="rect">
            <a:avLst/>
          </a:prstGeom>
          <a:noFill/>
          <a:ln>
            <a:noFill/>
          </a:ln>
        </p:spPr>
      </p:pic>
      <p:pic>
        <p:nvPicPr>
          <p:cNvPr descr="Resultado de imagem para xeque mate" id="187" name="Google Shape;187;p14"/>
          <p:cNvPicPr preferRelativeResize="0"/>
          <p:nvPr/>
        </p:nvPicPr>
        <p:blipFill rotWithShape="1">
          <a:blip r:embed="rId4">
            <a:alphaModFix/>
          </a:blip>
          <a:srcRect b="0" l="0" r="0" t="0"/>
          <a:stretch/>
        </p:blipFill>
        <p:spPr>
          <a:xfrm>
            <a:off x="9155529" y="2013993"/>
            <a:ext cx="1886719" cy="1573711"/>
          </a:xfrm>
          <a:prstGeom prst="rect">
            <a:avLst/>
          </a:prstGeom>
          <a:noFill/>
          <a:ln>
            <a:noFill/>
          </a:ln>
        </p:spPr>
      </p:pic>
      <p:sp>
        <p:nvSpPr>
          <p:cNvPr id="188" name="Google Shape;188;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189" name="Google Shape;189;p14"/>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que é </a:t>
            </a:r>
            <a:r>
              <a:rPr b="0" i="0" lang="es-ES" sz="3500" u="none" cap="none" strike="noStrike">
                <a:solidFill>
                  <a:srgbClr val="FFC000"/>
                </a:solidFill>
                <a:latin typeface="Palatino Linotype"/>
                <a:ea typeface="Palatino Linotype"/>
                <a:cs typeface="Palatino Linotype"/>
                <a:sym typeface="Palatino Linotype"/>
              </a:rPr>
              <a:t>PODER</a:t>
            </a:r>
            <a:r>
              <a:rPr b="0" i="0" lang="es-ES" sz="3500" u="none" cap="none" strike="noStrike">
                <a:solidFill>
                  <a:schemeClr val="lt1"/>
                </a:solidFill>
                <a:latin typeface="Palatino Linotype"/>
                <a:ea typeface="Palatino Linotype"/>
                <a:cs typeface="Palatino Linotype"/>
                <a:sym typeface="Palatino Linotype"/>
              </a:rPr>
              <a:t>?</a:t>
            </a:r>
            <a:endParaRPr b="0" i="0" sz="3500" u="none" cap="none" strike="noStrike">
              <a:solidFill>
                <a:schemeClr val="lt1"/>
              </a:solidFill>
              <a:latin typeface="Palatino Linotype"/>
              <a:ea typeface="Palatino Linotype"/>
              <a:cs typeface="Palatino Linotype"/>
              <a:sym typeface="Palatino Linotype"/>
            </a:endParaRPr>
          </a:p>
        </p:txBody>
      </p:sp>
      <p:pic>
        <p:nvPicPr>
          <p:cNvPr descr="Imagem relacionada" id="190" name="Google Shape;190;p14"/>
          <p:cNvPicPr preferRelativeResize="0"/>
          <p:nvPr/>
        </p:nvPicPr>
        <p:blipFill rotWithShape="1">
          <a:blip r:embed="rId5">
            <a:alphaModFix/>
          </a:blip>
          <a:srcRect b="0" l="0" r="0" t="0"/>
          <a:stretch/>
        </p:blipFill>
        <p:spPr>
          <a:xfrm>
            <a:off x="5075358" y="2013994"/>
            <a:ext cx="2103744" cy="1573710"/>
          </a:xfrm>
          <a:prstGeom prst="rect">
            <a:avLst/>
          </a:prstGeom>
          <a:noFill/>
          <a:ln>
            <a:noFill/>
          </a:ln>
        </p:spPr>
      </p:pic>
      <p:pic>
        <p:nvPicPr>
          <p:cNvPr descr="Resultado de imagem para cersei lannister" id="191" name="Google Shape;191;p14"/>
          <p:cNvPicPr preferRelativeResize="0"/>
          <p:nvPr/>
        </p:nvPicPr>
        <p:blipFill rotWithShape="1">
          <a:blip r:embed="rId6">
            <a:alphaModFix/>
          </a:blip>
          <a:srcRect b="0" l="12086" r="12546" t="0"/>
          <a:stretch/>
        </p:blipFill>
        <p:spPr>
          <a:xfrm>
            <a:off x="7161740" y="2013993"/>
            <a:ext cx="2106661" cy="1573711"/>
          </a:xfrm>
          <a:prstGeom prst="rect">
            <a:avLst/>
          </a:prstGeom>
          <a:noFill/>
          <a:ln>
            <a:noFill/>
          </a:ln>
        </p:spPr>
      </p:pic>
      <p:pic>
        <p:nvPicPr>
          <p:cNvPr descr="https://media.npr.org/assets/img/2017/02/24/gettyimages-71715631-d781e4a25adbb8a20d646a69625ca9716d441a2f-s800-c85.jpg" id="192" name="Google Shape;192;p14"/>
          <p:cNvPicPr preferRelativeResize="0"/>
          <p:nvPr/>
        </p:nvPicPr>
        <p:blipFill rotWithShape="1">
          <a:blip r:embed="rId7">
            <a:alphaModFix/>
          </a:blip>
          <a:srcRect b="0" l="0" r="0" t="0"/>
          <a:stretch/>
        </p:blipFill>
        <p:spPr>
          <a:xfrm>
            <a:off x="1012691" y="1978633"/>
            <a:ext cx="2126234" cy="1594676"/>
          </a:xfrm>
          <a:prstGeom prst="rect">
            <a:avLst/>
          </a:prstGeom>
          <a:noFill/>
          <a:ln>
            <a:noFill/>
          </a:ln>
        </p:spPr>
      </p:pic>
      <p:pic>
        <p:nvPicPr>
          <p:cNvPr id="193" name="Google Shape;193;p14"/>
          <p:cNvPicPr preferRelativeResize="0"/>
          <p:nvPr/>
        </p:nvPicPr>
        <p:blipFill rotWithShape="1">
          <a:blip r:embed="rId8">
            <a:alphaModFix/>
          </a:blip>
          <a:srcRect b="0" l="0" r="0" t="0"/>
          <a:stretch/>
        </p:blipFill>
        <p:spPr>
          <a:xfrm>
            <a:off x="1014650" y="3562349"/>
            <a:ext cx="2280271" cy="154019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15"/>
          <p:cNvPicPr preferRelativeResize="0"/>
          <p:nvPr/>
        </p:nvPicPr>
        <p:blipFill rotWithShape="1">
          <a:blip r:embed="rId3">
            <a:alphaModFix/>
          </a:blip>
          <a:srcRect b="0" l="0" r="0" t="0"/>
          <a:stretch/>
        </p:blipFill>
        <p:spPr>
          <a:xfrm>
            <a:off x="2838599" y="2021567"/>
            <a:ext cx="2335288" cy="1554449"/>
          </a:xfrm>
          <a:prstGeom prst="rect">
            <a:avLst/>
          </a:prstGeom>
          <a:noFill/>
          <a:ln>
            <a:noFill/>
          </a:ln>
        </p:spPr>
      </p:pic>
      <p:pic>
        <p:nvPicPr>
          <p:cNvPr descr="Resultado de imagem para xeque mate" id="199" name="Google Shape;199;p15"/>
          <p:cNvPicPr preferRelativeResize="0"/>
          <p:nvPr/>
        </p:nvPicPr>
        <p:blipFill rotWithShape="1">
          <a:blip r:embed="rId4">
            <a:alphaModFix/>
          </a:blip>
          <a:srcRect b="0" l="0" r="0" t="0"/>
          <a:stretch/>
        </p:blipFill>
        <p:spPr>
          <a:xfrm>
            <a:off x="9155529" y="2013993"/>
            <a:ext cx="1886719" cy="1573711"/>
          </a:xfrm>
          <a:prstGeom prst="rect">
            <a:avLst/>
          </a:prstGeom>
          <a:noFill/>
          <a:ln>
            <a:noFill/>
          </a:ln>
        </p:spPr>
      </p:pic>
      <p:sp>
        <p:nvSpPr>
          <p:cNvPr id="200" name="Google Shape;20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201" name="Google Shape;201;p15"/>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que é </a:t>
            </a:r>
            <a:r>
              <a:rPr b="0" i="0" lang="es-ES" sz="3500" u="none" cap="none" strike="noStrike">
                <a:solidFill>
                  <a:srgbClr val="FFC000"/>
                </a:solidFill>
                <a:latin typeface="Palatino Linotype"/>
                <a:ea typeface="Palatino Linotype"/>
                <a:cs typeface="Palatino Linotype"/>
                <a:sym typeface="Palatino Linotype"/>
              </a:rPr>
              <a:t>PODER</a:t>
            </a:r>
            <a:r>
              <a:rPr b="0" i="0" lang="es-ES" sz="3500" u="none" cap="none" strike="noStrike">
                <a:solidFill>
                  <a:schemeClr val="lt1"/>
                </a:solidFill>
                <a:latin typeface="Palatino Linotype"/>
                <a:ea typeface="Palatino Linotype"/>
                <a:cs typeface="Palatino Linotype"/>
                <a:sym typeface="Palatino Linotype"/>
              </a:rPr>
              <a:t>?</a:t>
            </a:r>
            <a:endParaRPr b="0" i="0" sz="3500" u="none" cap="none" strike="noStrike">
              <a:solidFill>
                <a:schemeClr val="lt1"/>
              </a:solidFill>
              <a:latin typeface="Palatino Linotype"/>
              <a:ea typeface="Palatino Linotype"/>
              <a:cs typeface="Palatino Linotype"/>
              <a:sym typeface="Palatino Linotype"/>
            </a:endParaRPr>
          </a:p>
        </p:txBody>
      </p:sp>
      <p:pic>
        <p:nvPicPr>
          <p:cNvPr descr="Imagem relacionada" id="202" name="Google Shape;202;p15"/>
          <p:cNvPicPr preferRelativeResize="0"/>
          <p:nvPr/>
        </p:nvPicPr>
        <p:blipFill rotWithShape="1">
          <a:blip r:embed="rId5">
            <a:alphaModFix/>
          </a:blip>
          <a:srcRect b="0" l="0" r="0" t="0"/>
          <a:stretch/>
        </p:blipFill>
        <p:spPr>
          <a:xfrm>
            <a:off x="5075358" y="2013994"/>
            <a:ext cx="2103744" cy="1573710"/>
          </a:xfrm>
          <a:prstGeom prst="rect">
            <a:avLst/>
          </a:prstGeom>
          <a:noFill/>
          <a:ln>
            <a:noFill/>
          </a:ln>
        </p:spPr>
      </p:pic>
      <p:pic>
        <p:nvPicPr>
          <p:cNvPr descr="Resultado de imagem para cersei lannister" id="203" name="Google Shape;203;p15"/>
          <p:cNvPicPr preferRelativeResize="0"/>
          <p:nvPr/>
        </p:nvPicPr>
        <p:blipFill rotWithShape="1">
          <a:blip r:embed="rId6">
            <a:alphaModFix/>
          </a:blip>
          <a:srcRect b="0" l="12086" r="12546" t="0"/>
          <a:stretch/>
        </p:blipFill>
        <p:spPr>
          <a:xfrm>
            <a:off x="7161740" y="2013993"/>
            <a:ext cx="2106661" cy="1573711"/>
          </a:xfrm>
          <a:prstGeom prst="rect">
            <a:avLst/>
          </a:prstGeom>
          <a:noFill/>
          <a:ln>
            <a:noFill/>
          </a:ln>
        </p:spPr>
      </p:pic>
      <p:pic>
        <p:nvPicPr>
          <p:cNvPr descr="Resultado de imagem para poder" id="204" name="Google Shape;204;p15"/>
          <p:cNvPicPr preferRelativeResize="0"/>
          <p:nvPr/>
        </p:nvPicPr>
        <p:blipFill rotWithShape="1">
          <a:blip r:embed="rId7">
            <a:alphaModFix/>
          </a:blip>
          <a:srcRect b="0" l="12035" r="0" t="0"/>
          <a:stretch/>
        </p:blipFill>
        <p:spPr>
          <a:xfrm>
            <a:off x="3204649" y="3569922"/>
            <a:ext cx="1905672" cy="1534406"/>
          </a:xfrm>
          <a:prstGeom prst="rect">
            <a:avLst/>
          </a:prstGeom>
          <a:noFill/>
          <a:ln>
            <a:noFill/>
          </a:ln>
        </p:spPr>
      </p:pic>
      <p:pic>
        <p:nvPicPr>
          <p:cNvPr descr="https://media.npr.org/assets/img/2017/02/24/gettyimages-71715631-d781e4a25adbb8a20d646a69625ca9716d441a2f-s800-c85.jpg" id="205" name="Google Shape;205;p15"/>
          <p:cNvPicPr preferRelativeResize="0"/>
          <p:nvPr/>
        </p:nvPicPr>
        <p:blipFill rotWithShape="1">
          <a:blip r:embed="rId8">
            <a:alphaModFix/>
          </a:blip>
          <a:srcRect b="0" l="0" r="0" t="0"/>
          <a:stretch/>
        </p:blipFill>
        <p:spPr>
          <a:xfrm>
            <a:off x="1012691" y="1978633"/>
            <a:ext cx="2126234" cy="1594676"/>
          </a:xfrm>
          <a:prstGeom prst="rect">
            <a:avLst/>
          </a:prstGeom>
          <a:noFill/>
          <a:ln>
            <a:noFill/>
          </a:ln>
        </p:spPr>
      </p:pic>
      <p:pic>
        <p:nvPicPr>
          <p:cNvPr id="206" name="Google Shape;206;p15"/>
          <p:cNvPicPr preferRelativeResize="0"/>
          <p:nvPr/>
        </p:nvPicPr>
        <p:blipFill rotWithShape="1">
          <a:blip r:embed="rId9">
            <a:alphaModFix/>
          </a:blip>
          <a:srcRect b="0" l="0" r="0" t="0"/>
          <a:stretch/>
        </p:blipFill>
        <p:spPr>
          <a:xfrm>
            <a:off x="1014650" y="3562349"/>
            <a:ext cx="2280271" cy="154019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16"/>
          <p:cNvPicPr preferRelativeResize="0"/>
          <p:nvPr/>
        </p:nvPicPr>
        <p:blipFill rotWithShape="1">
          <a:blip r:embed="rId3">
            <a:alphaModFix/>
          </a:blip>
          <a:srcRect b="0" l="0" r="0" t="0"/>
          <a:stretch/>
        </p:blipFill>
        <p:spPr>
          <a:xfrm>
            <a:off x="2838599" y="2021567"/>
            <a:ext cx="2335288" cy="1554449"/>
          </a:xfrm>
          <a:prstGeom prst="rect">
            <a:avLst/>
          </a:prstGeom>
          <a:noFill/>
          <a:ln>
            <a:noFill/>
          </a:ln>
        </p:spPr>
      </p:pic>
      <p:pic>
        <p:nvPicPr>
          <p:cNvPr descr="Resultado de imagem para xeque mate" id="212" name="Google Shape;212;p16"/>
          <p:cNvPicPr preferRelativeResize="0"/>
          <p:nvPr/>
        </p:nvPicPr>
        <p:blipFill rotWithShape="1">
          <a:blip r:embed="rId4">
            <a:alphaModFix/>
          </a:blip>
          <a:srcRect b="0" l="0" r="0" t="0"/>
          <a:stretch/>
        </p:blipFill>
        <p:spPr>
          <a:xfrm>
            <a:off x="9155529" y="2013993"/>
            <a:ext cx="1886719" cy="1573711"/>
          </a:xfrm>
          <a:prstGeom prst="rect">
            <a:avLst/>
          </a:prstGeom>
          <a:noFill/>
          <a:ln>
            <a:noFill/>
          </a:ln>
        </p:spPr>
      </p:pic>
      <p:sp>
        <p:nvSpPr>
          <p:cNvPr id="213" name="Google Shape;213;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214" name="Google Shape;214;p16"/>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que é </a:t>
            </a:r>
            <a:r>
              <a:rPr b="0" i="0" lang="es-ES" sz="3500" u="none" cap="none" strike="noStrike">
                <a:solidFill>
                  <a:srgbClr val="FFC000"/>
                </a:solidFill>
                <a:latin typeface="Palatino Linotype"/>
                <a:ea typeface="Palatino Linotype"/>
                <a:cs typeface="Palatino Linotype"/>
                <a:sym typeface="Palatino Linotype"/>
              </a:rPr>
              <a:t>PODER</a:t>
            </a:r>
            <a:r>
              <a:rPr b="0" i="0" lang="es-ES" sz="3500" u="none" cap="none" strike="noStrike">
                <a:solidFill>
                  <a:schemeClr val="lt1"/>
                </a:solidFill>
                <a:latin typeface="Palatino Linotype"/>
                <a:ea typeface="Palatino Linotype"/>
                <a:cs typeface="Palatino Linotype"/>
                <a:sym typeface="Palatino Linotype"/>
              </a:rPr>
              <a:t>?</a:t>
            </a:r>
            <a:endParaRPr b="0" i="0" sz="3500" u="none" cap="none" strike="noStrike">
              <a:solidFill>
                <a:schemeClr val="lt1"/>
              </a:solidFill>
              <a:latin typeface="Palatino Linotype"/>
              <a:ea typeface="Palatino Linotype"/>
              <a:cs typeface="Palatino Linotype"/>
              <a:sym typeface="Palatino Linotype"/>
            </a:endParaRPr>
          </a:p>
        </p:txBody>
      </p:sp>
      <p:pic>
        <p:nvPicPr>
          <p:cNvPr descr="Imagem relacionada" id="215" name="Google Shape;215;p16"/>
          <p:cNvPicPr preferRelativeResize="0"/>
          <p:nvPr/>
        </p:nvPicPr>
        <p:blipFill rotWithShape="1">
          <a:blip r:embed="rId5">
            <a:alphaModFix/>
          </a:blip>
          <a:srcRect b="0" l="0" r="0" t="0"/>
          <a:stretch/>
        </p:blipFill>
        <p:spPr>
          <a:xfrm>
            <a:off x="5075358" y="2013994"/>
            <a:ext cx="2103744" cy="1573710"/>
          </a:xfrm>
          <a:prstGeom prst="rect">
            <a:avLst/>
          </a:prstGeom>
          <a:noFill/>
          <a:ln>
            <a:noFill/>
          </a:ln>
        </p:spPr>
      </p:pic>
      <p:pic>
        <p:nvPicPr>
          <p:cNvPr descr="Resultado de imagem para cersei lannister" id="216" name="Google Shape;216;p16"/>
          <p:cNvPicPr preferRelativeResize="0"/>
          <p:nvPr/>
        </p:nvPicPr>
        <p:blipFill rotWithShape="1">
          <a:blip r:embed="rId6">
            <a:alphaModFix/>
          </a:blip>
          <a:srcRect b="0" l="12086" r="12546" t="0"/>
          <a:stretch/>
        </p:blipFill>
        <p:spPr>
          <a:xfrm>
            <a:off x="7161740" y="2013993"/>
            <a:ext cx="2106661" cy="1573711"/>
          </a:xfrm>
          <a:prstGeom prst="rect">
            <a:avLst/>
          </a:prstGeom>
          <a:noFill/>
          <a:ln>
            <a:noFill/>
          </a:ln>
        </p:spPr>
      </p:pic>
      <p:pic>
        <p:nvPicPr>
          <p:cNvPr descr="Resultado de imagem para poder" id="217" name="Google Shape;217;p16"/>
          <p:cNvPicPr preferRelativeResize="0"/>
          <p:nvPr/>
        </p:nvPicPr>
        <p:blipFill rotWithShape="1">
          <a:blip r:embed="rId7">
            <a:alphaModFix/>
          </a:blip>
          <a:srcRect b="0" l="12035" r="0" t="0"/>
          <a:stretch/>
        </p:blipFill>
        <p:spPr>
          <a:xfrm>
            <a:off x="3204649" y="3569922"/>
            <a:ext cx="1905672" cy="1534406"/>
          </a:xfrm>
          <a:prstGeom prst="rect">
            <a:avLst/>
          </a:prstGeom>
          <a:noFill/>
          <a:ln>
            <a:noFill/>
          </a:ln>
        </p:spPr>
      </p:pic>
      <p:pic>
        <p:nvPicPr>
          <p:cNvPr descr="Resultado de imagem para bope em ação" id="218" name="Google Shape;218;p16"/>
          <p:cNvPicPr preferRelativeResize="0"/>
          <p:nvPr/>
        </p:nvPicPr>
        <p:blipFill rotWithShape="1">
          <a:blip r:embed="rId8">
            <a:alphaModFix/>
          </a:blip>
          <a:srcRect b="0" l="0" r="0" t="0"/>
          <a:stretch/>
        </p:blipFill>
        <p:spPr>
          <a:xfrm>
            <a:off x="5098602" y="3567522"/>
            <a:ext cx="2057256" cy="1536806"/>
          </a:xfrm>
          <a:prstGeom prst="rect">
            <a:avLst/>
          </a:prstGeom>
          <a:noFill/>
          <a:ln>
            <a:noFill/>
          </a:ln>
        </p:spPr>
      </p:pic>
      <p:pic>
        <p:nvPicPr>
          <p:cNvPr descr="https://media.npr.org/assets/img/2017/02/24/gettyimages-71715631-d781e4a25adbb8a20d646a69625ca9716d441a2f-s800-c85.jpg" id="219" name="Google Shape;219;p16"/>
          <p:cNvPicPr preferRelativeResize="0"/>
          <p:nvPr/>
        </p:nvPicPr>
        <p:blipFill rotWithShape="1">
          <a:blip r:embed="rId9">
            <a:alphaModFix/>
          </a:blip>
          <a:srcRect b="0" l="0" r="0" t="0"/>
          <a:stretch/>
        </p:blipFill>
        <p:spPr>
          <a:xfrm>
            <a:off x="1012691" y="1978633"/>
            <a:ext cx="2126234" cy="1594676"/>
          </a:xfrm>
          <a:prstGeom prst="rect">
            <a:avLst/>
          </a:prstGeom>
          <a:noFill/>
          <a:ln>
            <a:noFill/>
          </a:ln>
        </p:spPr>
      </p:pic>
      <p:pic>
        <p:nvPicPr>
          <p:cNvPr id="220" name="Google Shape;220;p16"/>
          <p:cNvPicPr preferRelativeResize="0"/>
          <p:nvPr/>
        </p:nvPicPr>
        <p:blipFill rotWithShape="1">
          <a:blip r:embed="rId10">
            <a:alphaModFix/>
          </a:blip>
          <a:srcRect b="0" l="0" r="0" t="0"/>
          <a:stretch/>
        </p:blipFill>
        <p:spPr>
          <a:xfrm>
            <a:off x="1014650" y="3562349"/>
            <a:ext cx="2280271" cy="154019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p17"/>
          <p:cNvPicPr preferRelativeResize="0"/>
          <p:nvPr/>
        </p:nvPicPr>
        <p:blipFill rotWithShape="1">
          <a:blip r:embed="rId3">
            <a:alphaModFix/>
          </a:blip>
          <a:srcRect b="0" l="0" r="0" t="0"/>
          <a:stretch/>
        </p:blipFill>
        <p:spPr>
          <a:xfrm>
            <a:off x="2838599" y="2021567"/>
            <a:ext cx="2335288" cy="1554449"/>
          </a:xfrm>
          <a:prstGeom prst="rect">
            <a:avLst/>
          </a:prstGeom>
          <a:noFill/>
          <a:ln>
            <a:noFill/>
          </a:ln>
        </p:spPr>
      </p:pic>
      <p:pic>
        <p:nvPicPr>
          <p:cNvPr descr="Resultado de imagem para xeque mate" id="226" name="Google Shape;226;p17"/>
          <p:cNvPicPr preferRelativeResize="0"/>
          <p:nvPr/>
        </p:nvPicPr>
        <p:blipFill rotWithShape="1">
          <a:blip r:embed="rId4">
            <a:alphaModFix/>
          </a:blip>
          <a:srcRect b="0" l="0" r="0" t="0"/>
          <a:stretch/>
        </p:blipFill>
        <p:spPr>
          <a:xfrm>
            <a:off x="9155529" y="2013993"/>
            <a:ext cx="1886719" cy="1573711"/>
          </a:xfrm>
          <a:prstGeom prst="rect">
            <a:avLst/>
          </a:prstGeom>
          <a:noFill/>
          <a:ln>
            <a:noFill/>
          </a:ln>
        </p:spPr>
      </p:pic>
      <p:sp>
        <p:nvSpPr>
          <p:cNvPr id="227" name="Google Shape;227;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228" name="Google Shape;228;p17"/>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que é </a:t>
            </a:r>
            <a:r>
              <a:rPr b="0" i="0" lang="es-ES" sz="3500" u="none" cap="none" strike="noStrike">
                <a:solidFill>
                  <a:srgbClr val="FFC000"/>
                </a:solidFill>
                <a:latin typeface="Palatino Linotype"/>
                <a:ea typeface="Palatino Linotype"/>
                <a:cs typeface="Palatino Linotype"/>
                <a:sym typeface="Palatino Linotype"/>
              </a:rPr>
              <a:t>PODER</a:t>
            </a:r>
            <a:r>
              <a:rPr b="0" i="0" lang="es-ES" sz="3500" u="none" cap="none" strike="noStrike">
                <a:solidFill>
                  <a:schemeClr val="lt1"/>
                </a:solidFill>
                <a:latin typeface="Palatino Linotype"/>
                <a:ea typeface="Palatino Linotype"/>
                <a:cs typeface="Palatino Linotype"/>
                <a:sym typeface="Palatino Linotype"/>
              </a:rPr>
              <a:t>?</a:t>
            </a:r>
            <a:endParaRPr b="0" i="0" sz="3500" u="none" cap="none" strike="noStrike">
              <a:solidFill>
                <a:schemeClr val="lt1"/>
              </a:solidFill>
              <a:latin typeface="Palatino Linotype"/>
              <a:ea typeface="Palatino Linotype"/>
              <a:cs typeface="Palatino Linotype"/>
              <a:sym typeface="Palatino Linotype"/>
            </a:endParaRPr>
          </a:p>
        </p:txBody>
      </p:sp>
      <p:pic>
        <p:nvPicPr>
          <p:cNvPr descr="Imagem relacionada" id="229" name="Google Shape;229;p17"/>
          <p:cNvPicPr preferRelativeResize="0"/>
          <p:nvPr/>
        </p:nvPicPr>
        <p:blipFill rotWithShape="1">
          <a:blip r:embed="rId5">
            <a:alphaModFix/>
          </a:blip>
          <a:srcRect b="0" l="0" r="0" t="0"/>
          <a:stretch/>
        </p:blipFill>
        <p:spPr>
          <a:xfrm>
            <a:off x="5075358" y="2013994"/>
            <a:ext cx="2103744" cy="1573710"/>
          </a:xfrm>
          <a:prstGeom prst="rect">
            <a:avLst/>
          </a:prstGeom>
          <a:noFill/>
          <a:ln>
            <a:noFill/>
          </a:ln>
        </p:spPr>
      </p:pic>
      <p:pic>
        <p:nvPicPr>
          <p:cNvPr descr="Resultado de imagem para cersei lannister" id="230" name="Google Shape;230;p17"/>
          <p:cNvPicPr preferRelativeResize="0"/>
          <p:nvPr/>
        </p:nvPicPr>
        <p:blipFill rotWithShape="1">
          <a:blip r:embed="rId6">
            <a:alphaModFix/>
          </a:blip>
          <a:srcRect b="0" l="12086" r="12546" t="0"/>
          <a:stretch/>
        </p:blipFill>
        <p:spPr>
          <a:xfrm>
            <a:off x="7161740" y="2013993"/>
            <a:ext cx="2106661" cy="1573711"/>
          </a:xfrm>
          <a:prstGeom prst="rect">
            <a:avLst/>
          </a:prstGeom>
          <a:noFill/>
          <a:ln>
            <a:noFill/>
          </a:ln>
        </p:spPr>
      </p:pic>
      <p:pic>
        <p:nvPicPr>
          <p:cNvPr descr="Resultado de imagem para poder" id="231" name="Google Shape;231;p17"/>
          <p:cNvPicPr preferRelativeResize="0"/>
          <p:nvPr/>
        </p:nvPicPr>
        <p:blipFill rotWithShape="1">
          <a:blip r:embed="rId7">
            <a:alphaModFix/>
          </a:blip>
          <a:srcRect b="0" l="12035" r="0" t="0"/>
          <a:stretch/>
        </p:blipFill>
        <p:spPr>
          <a:xfrm>
            <a:off x="3204649" y="3569922"/>
            <a:ext cx="1905672" cy="1534406"/>
          </a:xfrm>
          <a:prstGeom prst="rect">
            <a:avLst/>
          </a:prstGeom>
          <a:noFill/>
          <a:ln>
            <a:noFill/>
          </a:ln>
        </p:spPr>
      </p:pic>
      <p:pic>
        <p:nvPicPr>
          <p:cNvPr descr="Resultado de imagem para bope em ação" id="232" name="Google Shape;232;p17"/>
          <p:cNvPicPr preferRelativeResize="0"/>
          <p:nvPr/>
        </p:nvPicPr>
        <p:blipFill rotWithShape="1">
          <a:blip r:embed="rId8">
            <a:alphaModFix/>
          </a:blip>
          <a:srcRect b="0" l="0" r="0" t="0"/>
          <a:stretch/>
        </p:blipFill>
        <p:spPr>
          <a:xfrm>
            <a:off x="5098602" y="3567522"/>
            <a:ext cx="2057256" cy="1536806"/>
          </a:xfrm>
          <a:prstGeom prst="rect">
            <a:avLst/>
          </a:prstGeom>
          <a:noFill/>
          <a:ln>
            <a:noFill/>
          </a:ln>
        </p:spPr>
      </p:pic>
      <p:pic>
        <p:nvPicPr>
          <p:cNvPr descr="Resultado de imagem para culto evangelico" id="233" name="Google Shape;233;p17"/>
          <p:cNvPicPr preferRelativeResize="0"/>
          <p:nvPr/>
        </p:nvPicPr>
        <p:blipFill rotWithShape="1">
          <a:blip r:embed="rId9">
            <a:alphaModFix/>
          </a:blip>
          <a:srcRect b="0" l="17370" r="3598" t="0"/>
          <a:stretch/>
        </p:blipFill>
        <p:spPr>
          <a:xfrm>
            <a:off x="7144476" y="3587704"/>
            <a:ext cx="2028415" cy="1519465"/>
          </a:xfrm>
          <a:prstGeom prst="rect">
            <a:avLst/>
          </a:prstGeom>
          <a:noFill/>
          <a:ln>
            <a:noFill/>
          </a:ln>
        </p:spPr>
      </p:pic>
      <p:pic>
        <p:nvPicPr>
          <p:cNvPr descr="https://media.npr.org/assets/img/2017/02/24/gettyimages-71715631-d781e4a25adbb8a20d646a69625ca9716d441a2f-s800-c85.jpg" id="234" name="Google Shape;234;p17"/>
          <p:cNvPicPr preferRelativeResize="0"/>
          <p:nvPr/>
        </p:nvPicPr>
        <p:blipFill rotWithShape="1">
          <a:blip r:embed="rId10">
            <a:alphaModFix/>
          </a:blip>
          <a:srcRect b="0" l="0" r="0" t="0"/>
          <a:stretch/>
        </p:blipFill>
        <p:spPr>
          <a:xfrm>
            <a:off x="1012691" y="1978633"/>
            <a:ext cx="2126234" cy="1594676"/>
          </a:xfrm>
          <a:prstGeom prst="rect">
            <a:avLst/>
          </a:prstGeom>
          <a:noFill/>
          <a:ln>
            <a:noFill/>
          </a:ln>
        </p:spPr>
      </p:pic>
      <p:pic>
        <p:nvPicPr>
          <p:cNvPr id="235" name="Google Shape;235;p17"/>
          <p:cNvPicPr preferRelativeResize="0"/>
          <p:nvPr/>
        </p:nvPicPr>
        <p:blipFill rotWithShape="1">
          <a:blip r:embed="rId11">
            <a:alphaModFix/>
          </a:blip>
          <a:srcRect b="0" l="0" r="0" t="0"/>
          <a:stretch/>
        </p:blipFill>
        <p:spPr>
          <a:xfrm>
            <a:off x="1014650" y="3562349"/>
            <a:ext cx="2280271" cy="154019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p18"/>
          <p:cNvPicPr preferRelativeResize="0"/>
          <p:nvPr/>
        </p:nvPicPr>
        <p:blipFill rotWithShape="1">
          <a:blip r:embed="rId3">
            <a:alphaModFix/>
          </a:blip>
          <a:srcRect b="0" l="0" r="0" t="0"/>
          <a:stretch/>
        </p:blipFill>
        <p:spPr>
          <a:xfrm>
            <a:off x="2838599" y="2021567"/>
            <a:ext cx="2335288" cy="1554449"/>
          </a:xfrm>
          <a:prstGeom prst="rect">
            <a:avLst/>
          </a:prstGeom>
          <a:noFill/>
          <a:ln>
            <a:noFill/>
          </a:ln>
        </p:spPr>
      </p:pic>
      <p:pic>
        <p:nvPicPr>
          <p:cNvPr descr="Resultado de imagem para xeque mate" id="241" name="Google Shape;241;p18"/>
          <p:cNvPicPr preferRelativeResize="0"/>
          <p:nvPr/>
        </p:nvPicPr>
        <p:blipFill rotWithShape="1">
          <a:blip r:embed="rId4">
            <a:alphaModFix/>
          </a:blip>
          <a:srcRect b="0" l="0" r="0" t="0"/>
          <a:stretch/>
        </p:blipFill>
        <p:spPr>
          <a:xfrm>
            <a:off x="9155529" y="2013993"/>
            <a:ext cx="1886719" cy="1573711"/>
          </a:xfrm>
          <a:prstGeom prst="rect">
            <a:avLst/>
          </a:prstGeom>
          <a:noFill/>
          <a:ln>
            <a:noFill/>
          </a:ln>
        </p:spPr>
      </p:pic>
      <p:sp>
        <p:nvSpPr>
          <p:cNvPr id="242" name="Google Shape;242;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243" name="Google Shape;243;p18"/>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que é </a:t>
            </a:r>
            <a:r>
              <a:rPr b="0" i="0" lang="es-ES" sz="3500" u="none" cap="none" strike="noStrike">
                <a:solidFill>
                  <a:srgbClr val="FFC000"/>
                </a:solidFill>
                <a:latin typeface="Palatino Linotype"/>
                <a:ea typeface="Palatino Linotype"/>
                <a:cs typeface="Palatino Linotype"/>
                <a:sym typeface="Palatino Linotype"/>
              </a:rPr>
              <a:t>PODER</a:t>
            </a:r>
            <a:r>
              <a:rPr b="0" i="0" lang="es-ES" sz="3500" u="none" cap="none" strike="noStrike">
                <a:solidFill>
                  <a:schemeClr val="lt1"/>
                </a:solidFill>
                <a:latin typeface="Palatino Linotype"/>
                <a:ea typeface="Palatino Linotype"/>
                <a:cs typeface="Palatino Linotype"/>
                <a:sym typeface="Palatino Linotype"/>
              </a:rPr>
              <a:t>?</a:t>
            </a:r>
            <a:endParaRPr b="0" i="0" sz="3500" u="none" cap="none" strike="noStrike">
              <a:solidFill>
                <a:schemeClr val="lt1"/>
              </a:solidFill>
              <a:latin typeface="Palatino Linotype"/>
              <a:ea typeface="Palatino Linotype"/>
              <a:cs typeface="Palatino Linotype"/>
              <a:sym typeface="Palatino Linotype"/>
            </a:endParaRPr>
          </a:p>
        </p:txBody>
      </p:sp>
      <p:pic>
        <p:nvPicPr>
          <p:cNvPr descr="Imagem relacionada" id="244" name="Google Shape;244;p18"/>
          <p:cNvPicPr preferRelativeResize="0"/>
          <p:nvPr/>
        </p:nvPicPr>
        <p:blipFill rotWithShape="1">
          <a:blip r:embed="rId5">
            <a:alphaModFix/>
          </a:blip>
          <a:srcRect b="0" l="0" r="0" t="0"/>
          <a:stretch/>
        </p:blipFill>
        <p:spPr>
          <a:xfrm>
            <a:off x="5075358" y="2013994"/>
            <a:ext cx="2103744" cy="1573710"/>
          </a:xfrm>
          <a:prstGeom prst="rect">
            <a:avLst/>
          </a:prstGeom>
          <a:noFill/>
          <a:ln>
            <a:noFill/>
          </a:ln>
        </p:spPr>
      </p:pic>
      <p:pic>
        <p:nvPicPr>
          <p:cNvPr descr="Resultado de imagem para cersei lannister" id="245" name="Google Shape;245;p18"/>
          <p:cNvPicPr preferRelativeResize="0"/>
          <p:nvPr/>
        </p:nvPicPr>
        <p:blipFill rotWithShape="1">
          <a:blip r:embed="rId6">
            <a:alphaModFix/>
          </a:blip>
          <a:srcRect b="0" l="12086" r="12546" t="0"/>
          <a:stretch/>
        </p:blipFill>
        <p:spPr>
          <a:xfrm>
            <a:off x="7161740" y="2013993"/>
            <a:ext cx="2106661" cy="1573711"/>
          </a:xfrm>
          <a:prstGeom prst="rect">
            <a:avLst/>
          </a:prstGeom>
          <a:noFill/>
          <a:ln>
            <a:noFill/>
          </a:ln>
        </p:spPr>
      </p:pic>
      <p:pic>
        <p:nvPicPr>
          <p:cNvPr descr="Resultado de imagem para poder" id="246" name="Google Shape;246;p18"/>
          <p:cNvPicPr preferRelativeResize="0"/>
          <p:nvPr/>
        </p:nvPicPr>
        <p:blipFill rotWithShape="1">
          <a:blip r:embed="rId7">
            <a:alphaModFix/>
          </a:blip>
          <a:srcRect b="0" l="12035" r="0" t="0"/>
          <a:stretch/>
        </p:blipFill>
        <p:spPr>
          <a:xfrm>
            <a:off x="3204649" y="3569922"/>
            <a:ext cx="1905672" cy="1534406"/>
          </a:xfrm>
          <a:prstGeom prst="rect">
            <a:avLst/>
          </a:prstGeom>
          <a:noFill/>
          <a:ln>
            <a:noFill/>
          </a:ln>
        </p:spPr>
      </p:pic>
      <p:pic>
        <p:nvPicPr>
          <p:cNvPr descr="Resultado de imagem para bope em ação" id="247" name="Google Shape;247;p18"/>
          <p:cNvPicPr preferRelativeResize="0"/>
          <p:nvPr/>
        </p:nvPicPr>
        <p:blipFill rotWithShape="1">
          <a:blip r:embed="rId8">
            <a:alphaModFix/>
          </a:blip>
          <a:srcRect b="0" l="0" r="0" t="0"/>
          <a:stretch/>
        </p:blipFill>
        <p:spPr>
          <a:xfrm>
            <a:off x="5098602" y="3567522"/>
            <a:ext cx="2057256" cy="1536806"/>
          </a:xfrm>
          <a:prstGeom prst="rect">
            <a:avLst/>
          </a:prstGeom>
          <a:noFill/>
          <a:ln>
            <a:noFill/>
          </a:ln>
        </p:spPr>
      </p:pic>
      <p:pic>
        <p:nvPicPr>
          <p:cNvPr descr="Resultado de imagem para culto evangelico" id="248" name="Google Shape;248;p18"/>
          <p:cNvPicPr preferRelativeResize="0"/>
          <p:nvPr/>
        </p:nvPicPr>
        <p:blipFill rotWithShape="1">
          <a:blip r:embed="rId9">
            <a:alphaModFix/>
          </a:blip>
          <a:srcRect b="0" l="17370" r="3598" t="0"/>
          <a:stretch/>
        </p:blipFill>
        <p:spPr>
          <a:xfrm>
            <a:off x="7144476" y="3587704"/>
            <a:ext cx="2028415" cy="1519465"/>
          </a:xfrm>
          <a:prstGeom prst="rect">
            <a:avLst/>
          </a:prstGeom>
          <a:noFill/>
          <a:ln>
            <a:noFill/>
          </a:ln>
        </p:spPr>
      </p:pic>
      <p:pic>
        <p:nvPicPr>
          <p:cNvPr descr="Resultado de imagem para poder" id="249" name="Google Shape;249;p18"/>
          <p:cNvPicPr preferRelativeResize="0"/>
          <p:nvPr/>
        </p:nvPicPr>
        <p:blipFill rotWithShape="1">
          <a:blip r:embed="rId10">
            <a:alphaModFix/>
          </a:blip>
          <a:srcRect b="0" l="0" r="0" t="0"/>
          <a:stretch/>
        </p:blipFill>
        <p:spPr>
          <a:xfrm>
            <a:off x="9115063" y="3587704"/>
            <a:ext cx="1927185" cy="1514838"/>
          </a:xfrm>
          <a:prstGeom prst="rect">
            <a:avLst/>
          </a:prstGeom>
          <a:noFill/>
          <a:ln>
            <a:noFill/>
          </a:ln>
        </p:spPr>
      </p:pic>
      <p:pic>
        <p:nvPicPr>
          <p:cNvPr descr="https://media.npr.org/assets/img/2017/02/24/gettyimages-71715631-d781e4a25adbb8a20d646a69625ca9716d441a2f-s800-c85.jpg" id="250" name="Google Shape;250;p18"/>
          <p:cNvPicPr preferRelativeResize="0"/>
          <p:nvPr/>
        </p:nvPicPr>
        <p:blipFill rotWithShape="1">
          <a:blip r:embed="rId11">
            <a:alphaModFix/>
          </a:blip>
          <a:srcRect b="0" l="0" r="0" t="0"/>
          <a:stretch/>
        </p:blipFill>
        <p:spPr>
          <a:xfrm>
            <a:off x="1012691" y="1978633"/>
            <a:ext cx="2126234" cy="1594676"/>
          </a:xfrm>
          <a:prstGeom prst="rect">
            <a:avLst/>
          </a:prstGeom>
          <a:noFill/>
          <a:ln>
            <a:noFill/>
          </a:ln>
        </p:spPr>
      </p:pic>
      <p:pic>
        <p:nvPicPr>
          <p:cNvPr id="251" name="Google Shape;251;p18"/>
          <p:cNvPicPr preferRelativeResize="0"/>
          <p:nvPr/>
        </p:nvPicPr>
        <p:blipFill rotWithShape="1">
          <a:blip r:embed="rId12">
            <a:alphaModFix/>
          </a:blip>
          <a:srcRect b="0" l="0" r="0" t="0"/>
          <a:stretch/>
        </p:blipFill>
        <p:spPr>
          <a:xfrm>
            <a:off x="1014650" y="3562349"/>
            <a:ext cx="2280271" cy="154019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id="256" name="Google Shape;256;p19"/>
          <p:cNvPicPr preferRelativeResize="0"/>
          <p:nvPr/>
        </p:nvPicPr>
        <p:blipFill rotWithShape="1">
          <a:blip r:embed="rId3">
            <a:alphaModFix/>
          </a:blip>
          <a:srcRect b="0" l="0" r="0" t="0"/>
          <a:stretch/>
        </p:blipFill>
        <p:spPr>
          <a:xfrm>
            <a:off x="2838599" y="2021567"/>
            <a:ext cx="2335288" cy="1554449"/>
          </a:xfrm>
          <a:prstGeom prst="rect">
            <a:avLst/>
          </a:prstGeom>
          <a:noFill/>
          <a:ln>
            <a:noFill/>
          </a:ln>
        </p:spPr>
      </p:pic>
      <p:pic>
        <p:nvPicPr>
          <p:cNvPr descr="Resultado de imagem para xeque mate" id="257" name="Google Shape;257;p19"/>
          <p:cNvPicPr preferRelativeResize="0"/>
          <p:nvPr/>
        </p:nvPicPr>
        <p:blipFill rotWithShape="1">
          <a:blip r:embed="rId4">
            <a:alphaModFix/>
          </a:blip>
          <a:srcRect b="0" l="0" r="0" t="0"/>
          <a:stretch/>
        </p:blipFill>
        <p:spPr>
          <a:xfrm>
            <a:off x="9155529" y="2013993"/>
            <a:ext cx="1886719" cy="1573711"/>
          </a:xfrm>
          <a:prstGeom prst="rect">
            <a:avLst/>
          </a:prstGeom>
          <a:noFill/>
          <a:ln>
            <a:noFill/>
          </a:ln>
        </p:spPr>
      </p:pic>
      <p:sp>
        <p:nvSpPr>
          <p:cNvPr id="258" name="Google Shape;258;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259" name="Google Shape;259;p19"/>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que é </a:t>
            </a:r>
            <a:r>
              <a:rPr b="0" i="0" lang="es-ES" sz="3500" u="none" cap="none" strike="noStrike">
                <a:solidFill>
                  <a:srgbClr val="FFC000"/>
                </a:solidFill>
                <a:latin typeface="Palatino Linotype"/>
                <a:ea typeface="Palatino Linotype"/>
                <a:cs typeface="Palatino Linotype"/>
                <a:sym typeface="Palatino Linotype"/>
              </a:rPr>
              <a:t>PODER</a:t>
            </a:r>
            <a:r>
              <a:rPr b="0" i="0" lang="es-ES" sz="3500" u="none" cap="none" strike="noStrike">
                <a:solidFill>
                  <a:schemeClr val="lt1"/>
                </a:solidFill>
                <a:latin typeface="Palatino Linotype"/>
                <a:ea typeface="Palatino Linotype"/>
                <a:cs typeface="Palatino Linotype"/>
                <a:sym typeface="Palatino Linotype"/>
              </a:rPr>
              <a:t>?</a:t>
            </a:r>
            <a:endParaRPr b="0" i="0" sz="3500" u="none" cap="none" strike="noStrike">
              <a:solidFill>
                <a:schemeClr val="lt1"/>
              </a:solidFill>
              <a:latin typeface="Palatino Linotype"/>
              <a:ea typeface="Palatino Linotype"/>
              <a:cs typeface="Palatino Linotype"/>
              <a:sym typeface="Palatino Linotype"/>
            </a:endParaRPr>
          </a:p>
        </p:txBody>
      </p:sp>
      <p:pic>
        <p:nvPicPr>
          <p:cNvPr descr="Imagem relacionada" id="260" name="Google Shape;260;p19"/>
          <p:cNvPicPr preferRelativeResize="0"/>
          <p:nvPr/>
        </p:nvPicPr>
        <p:blipFill rotWithShape="1">
          <a:blip r:embed="rId5">
            <a:alphaModFix/>
          </a:blip>
          <a:srcRect b="0" l="0" r="0" t="0"/>
          <a:stretch/>
        </p:blipFill>
        <p:spPr>
          <a:xfrm>
            <a:off x="5075358" y="2013994"/>
            <a:ext cx="2103744" cy="1573710"/>
          </a:xfrm>
          <a:prstGeom prst="rect">
            <a:avLst/>
          </a:prstGeom>
          <a:noFill/>
          <a:ln>
            <a:noFill/>
          </a:ln>
        </p:spPr>
      </p:pic>
      <p:pic>
        <p:nvPicPr>
          <p:cNvPr descr="Resultado de imagem para cersei lannister" id="261" name="Google Shape;261;p19"/>
          <p:cNvPicPr preferRelativeResize="0"/>
          <p:nvPr/>
        </p:nvPicPr>
        <p:blipFill rotWithShape="1">
          <a:blip r:embed="rId6">
            <a:alphaModFix/>
          </a:blip>
          <a:srcRect b="0" l="12086" r="12546" t="0"/>
          <a:stretch/>
        </p:blipFill>
        <p:spPr>
          <a:xfrm>
            <a:off x="7161740" y="2013993"/>
            <a:ext cx="2106661" cy="1573711"/>
          </a:xfrm>
          <a:prstGeom prst="rect">
            <a:avLst/>
          </a:prstGeom>
          <a:noFill/>
          <a:ln>
            <a:noFill/>
          </a:ln>
        </p:spPr>
      </p:pic>
      <p:pic>
        <p:nvPicPr>
          <p:cNvPr descr="Resultado de imagem para poder" id="262" name="Google Shape;262;p19"/>
          <p:cNvPicPr preferRelativeResize="0"/>
          <p:nvPr/>
        </p:nvPicPr>
        <p:blipFill rotWithShape="1">
          <a:blip r:embed="rId7">
            <a:alphaModFix/>
          </a:blip>
          <a:srcRect b="0" l="12035" r="0" t="0"/>
          <a:stretch/>
        </p:blipFill>
        <p:spPr>
          <a:xfrm>
            <a:off x="3204649" y="3569922"/>
            <a:ext cx="1905672" cy="1534406"/>
          </a:xfrm>
          <a:prstGeom prst="rect">
            <a:avLst/>
          </a:prstGeom>
          <a:noFill/>
          <a:ln>
            <a:noFill/>
          </a:ln>
        </p:spPr>
      </p:pic>
      <p:pic>
        <p:nvPicPr>
          <p:cNvPr descr="Resultado de imagem para bope em ação" id="263" name="Google Shape;263;p19"/>
          <p:cNvPicPr preferRelativeResize="0"/>
          <p:nvPr/>
        </p:nvPicPr>
        <p:blipFill rotWithShape="1">
          <a:blip r:embed="rId8">
            <a:alphaModFix/>
          </a:blip>
          <a:srcRect b="0" l="0" r="0" t="0"/>
          <a:stretch/>
        </p:blipFill>
        <p:spPr>
          <a:xfrm>
            <a:off x="5098602" y="3567522"/>
            <a:ext cx="2057256" cy="1536806"/>
          </a:xfrm>
          <a:prstGeom prst="rect">
            <a:avLst/>
          </a:prstGeom>
          <a:noFill/>
          <a:ln>
            <a:noFill/>
          </a:ln>
        </p:spPr>
      </p:pic>
      <p:pic>
        <p:nvPicPr>
          <p:cNvPr descr="Resultado de imagem para culto evangelico" id="264" name="Google Shape;264;p19"/>
          <p:cNvPicPr preferRelativeResize="0"/>
          <p:nvPr/>
        </p:nvPicPr>
        <p:blipFill rotWithShape="1">
          <a:blip r:embed="rId9">
            <a:alphaModFix/>
          </a:blip>
          <a:srcRect b="0" l="17370" r="3598" t="0"/>
          <a:stretch/>
        </p:blipFill>
        <p:spPr>
          <a:xfrm>
            <a:off x="7144476" y="3587704"/>
            <a:ext cx="2028415" cy="1519465"/>
          </a:xfrm>
          <a:prstGeom prst="rect">
            <a:avLst/>
          </a:prstGeom>
          <a:noFill/>
          <a:ln>
            <a:noFill/>
          </a:ln>
        </p:spPr>
      </p:pic>
      <p:pic>
        <p:nvPicPr>
          <p:cNvPr descr="Resultado de imagem para poder" id="265" name="Google Shape;265;p19"/>
          <p:cNvPicPr preferRelativeResize="0"/>
          <p:nvPr/>
        </p:nvPicPr>
        <p:blipFill rotWithShape="1">
          <a:blip r:embed="rId10">
            <a:alphaModFix/>
          </a:blip>
          <a:srcRect b="0" l="0" r="0" t="0"/>
          <a:stretch/>
        </p:blipFill>
        <p:spPr>
          <a:xfrm>
            <a:off x="9115063" y="3587704"/>
            <a:ext cx="1927185" cy="1514838"/>
          </a:xfrm>
          <a:prstGeom prst="rect">
            <a:avLst/>
          </a:prstGeom>
          <a:noFill/>
          <a:ln>
            <a:noFill/>
          </a:ln>
        </p:spPr>
      </p:pic>
      <p:pic>
        <p:nvPicPr>
          <p:cNvPr descr="Resultado de imagem para yes we can" id="266" name="Google Shape;266;p19"/>
          <p:cNvPicPr preferRelativeResize="0"/>
          <p:nvPr/>
        </p:nvPicPr>
        <p:blipFill rotWithShape="1">
          <a:blip r:embed="rId11">
            <a:alphaModFix/>
          </a:blip>
          <a:srcRect b="0" l="5066" r="8324" t="0"/>
          <a:stretch/>
        </p:blipFill>
        <p:spPr>
          <a:xfrm>
            <a:off x="1012692" y="5102543"/>
            <a:ext cx="1516376" cy="1137282"/>
          </a:xfrm>
          <a:prstGeom prst="rect">
            <a:avLst/>
          </a:prstGeom>
          <a:noFill/>
          <a:ln>
            <a:noFill/>
          </a:ln>
        </p:spPr>
      </p:pic>
      <p:pic>
        <p:nvPicPr>
          <p:cNvPr descr="https://media.npr.org/assets/img/2017/02/24/gettyimages-71715631-d781e4a25adbb8a20d646a69625ca9716d441a2f-s800-c85.jpg" id="267" name="Google Shape;267;p19"/>
          <p:cNvPicPr preferRelativeResize="0"/>
          <p:nvPr/>
        </p:nvPicPr>
        <p:blipFill rotWithShape="1">
          <a:blip r:embed="rId12">
            <a:alphaModFix/>
          </a:blip>
          <a:srcRect b="0" l="0" r="0" t="0"/>
          <a:stretch/>
        </p:blipFill>
        <p:spPr>
          <a:xfrm>
            <a:off x="1012691" y="1978633"/>
            <a:ext cx="2126234" cy="1594676"/>
          </a:xfrm>
          <a:prstGeom prst="rect">
            <a:avLst/>
          </a:prstGeom>
          <a:noFill/>
          <a:ln>
            <a:noFill/>
          </a:ln>
        </p:spPr>
      </p:pic>
      <p:pic>
        <p:nvPicPr>
          <p:cNvPr id="268" name="Google Shape;268;p19"/>
          <p:cNvPicPr preferRelativeResize="0"/>
          <p:nvPr/>
        </p:nvPicPr>
        <p:blipFill rotWithShape="1">
          <a:blip r:embed="rId13">
            <a:alphaModFix/>
          </a:blip>
          <a:srcRect b="0" l="0" r="0" t="0"/>
          <a:stretch/>
        </p:blipFill>
        <p:spPr>
          <a:xfrm>
            <a:off x="1014650" y="3562349"/>
            <a:ext cx="2280271" cy="154019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pic>
        <p:nvPicPr>
          <p:cNvPr id="273" name="Google Shape;273;p20"/>
          <p:cNvPicPr preferRelativeResize="0"/>
          <p:nvPr/>
        </p:nvPicPr>
        <p:blipFill rotWithShape="1">
          <a:blip r:embed="rId3">
            <a:alphaModFix/>
          </a:blip>
          <a:srcRect b="0" l="0" r="0" t="0"/>
          <a:stretch/>
        </p:blipFill>
        <p:spPr>
          <a:xfrm>
            <a:off x="2838599" y="2021567"/>
            <a:ext cx="2335288" cy="1554449"/>
          </a:xfrm>
          <a:prstGeom prst="rect">
            <a:avLst/>
          </a:prstGeom>
          <a:noFill/>
          <a:ln>
            <a:noFill/>
          </a:ln>
        </p:spPr>
      </p:pic>
      <p:pic>
        <p:nvPicPr>
          <p:cNvPr descr="Resultado de imagem para xeque mate" id="274" name="Google Shape;274;p20"/>
          <p:cNvPicPr preferRelativeResize="0"/>
          <p:nvPr/>
        </p:nvPicPr>
        <p:blipFill rotWithShape="1">
          <a:blip r:embed="rId4">
            <a:alphaModFix/>
          </a:blip>
          <a:srcRect b="0" l="0" r="0" t="0"/>
          <a:stretch/>
        </p:blipFill>
        <p:spPr>
          <a:xfrm>
            <a:off x="9155529" y="2013993"/>
            <a:ext cx="1886719" cy="1573711"/>
          </a:xfrm>
          <a:prstGeom prst="rect">
            <a:avLst/>
          </a:prstGeom>
          <a:noFill/>
          <a:ln>
            <a:noFill/>
          </a:ln>
        </p:spPr>
      </p:pic>
      <p:sp>
        <p:nvSpPr>
          <p:cNvPr id="275" name="Google Shape;275;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276" name="Google Shape;276;p20"/>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que é </a:t>
            </a:r>
            <a:r>
              <a:rPr b="0" i="0" lang="es-ES" sz="3500" u="none" cap="none" strike="noStrike">
                <a:solidFill>
                  <a:srgbClr val="FFC000"/>
                </a:solidFill>
                <a:latin typeface="Palatino Linotype"/>
                <a:ea typeface="Palatino Linotype"/>
                <a:cs typeface="Palatino Linotype"/>
                <a:sym typeface="Palatino Linotype"/>
              </a:rPr>
              <a:t>PODER</a:t>
            </a:r>
            <a:r>
              <a:rPr b="0" i="0" lang="es-ES" sz="3500" u="none" cap="none" strike="noStrike">
                <a:solidFill>
                  <a:schemeClr val="lt1"/>
                </a:solidFill>
                <a:latin typeface="Palatino Linotype"/>
                <a:ea typeface="Palatino Linotype"/>
                <a:cs typeface="Palatino Linotype"/>
                <a:sym typeface="Palatino Linotype"/>
              </a:rPr>
              <a:t>?</a:t>
            </a:r>
            <a:endParaRPr b="0" i="0" sz="3500" u="none" cap="none" strike="noStrike">
              <a:solidFill>
                <a:schemeClr val="lt1"/>
              </a:solidFill>
              <a:latin typeface="Palatino Linotype"/>
              <a:ea typeface="Palatino Linotype"/>
              <a:cs typeface="Palatino Linotype"/>
              <a:sym typeface="Palatino Linotype"/>
            </a:endParaRPr>
          </a:p>
        </p:txBody>
      </p:sp>
      <p:pic>
        <p:nvPicPr>
          <p:cNvPr descr="Imagem relacionada" id="277" name="Google Shape;277;p20"/>
          <p:cNvPicPr preferRelativeResize="0"/>
          <p:nvPr/>
        </p:nvPicPr>
        <p:blipFill rotWithShape="1">
          <a:blip r:embed="rId5">
            <a:alphaModFix/>
          </a:blip>
          <a:srcRect b="0" l="0" r="0" t="0"/>
          <a:stretch/>
        </p:blipFill>
        <p:spPr>
          <a:xfrm>
            <a:off x="5075358" y="2013994"/>
            <a:ext cx="2103744" cy="1573710"/>
          </a:xfrm>
          <a:prstGeom prst="rect">
            <a:avLst/>
          </a:prstGeom>
          <a:noFill/>
          <a:ln>
            <a:noFill/>
          </a:ln>
        </p:spPr>
      </p:pic>
      <p:pic>
        <p:nvPicPr>
          <p:cNvPr descr="Resultado de imagem para cersei lannister" id="278" name="Google Shape;278;p20"/>
          <p:cNvPicPr preferRelativeResize="0"/>
          <p:nvPr/>
        </p:nvPicPr>
        <p:blipFill rotWithShape="1">
          <a:blip r:embed="rId6">
            <a:alphaModFix/>
          </a:blip>
          <a:srcRect b="0" l="12086" r="12546" t="0"/>
          <a:stretch/>
        </p:blipFill>
        <p:spPr>
          <a:xfrm>
            <a:off x="7161740" y="2013993"/>
            <a:ext cx="2106661" cy="1573711"/>
          </a:xfrm>
          <a:prstGeom prst="rect">
            <a:avLst/>
          </a:prstGeom>
          <a:noFill/>
          <a:ln>
            <a:noFill/>
          </a:ln>
        </p:spPr>
      </p:pic>
      <p:pic>
        <p:nvPicPr>
          <p:cNvPr descr="Resultado de imagem para poder" id="279" name="Google Shape;279;p20"/>
          <p:cNvPicPr preferRelativeResize="0"/>
          <p:nvPr/>
        </p:nvPicPr>
        <p:blipFill rotWithShape="1">
          <a:blip r:embed="rId7">
            <a:alphaModFix/>
          </a:blip>
          <a:srcRect b="0" l="12035" r="0" t="0"/>
          <a:stretch/>
        </p:blipFill>
        <p:spPr>
          <a:xfrm>
            <a:off x="3204649" y="3569922"/>
            <a:ext cx="1905672" cy="1534406"/>
          </a:xfrm>
          <a:prstGeom prst="rect">
            <a:avLst/>
          </a:prstGeom>
          <a:noFill/>
          <a:ln>
            <a:noFill/>
          </a:ln>
        </p:spPr>
      </p:pic>
      <p:pic>
        <p:nvPicPr>
          <p:cNvPr descr="Resultado de imagem para bope em ação" id="280" name="Google Shape;280;p20"/>
          <p:cNvPicPr preferRelativeResize="0"/>
          <p:nvPr/>
        </p:nvPicPr>
        <p:blipFill rotWithShape="1">
          <a:blip r:embed="rId8">
            <a:alphaModFix/>
          </a:blip>
          <a:srcRect b="0" l="0" r="0" t="0"/>
          <a:stretch/>
        </p:blipFill>
        <p:spPr>
          <a:xfrm>
            <a:off x="5098602" y="3567522"/>
            <a:ext cx="2057256" cy="1536806"/>
          </a:xfrm>
          <a:prstGeom prst="rect">
            <a:avLst/>
          </a:prstGeom>
          <a:noFill/>
          <a:ln>
            <a:noFill/>
          </a:ln>
        </p:spPr>
      </p:pic>
      <p:pic>
        <p:nvPicPr>
          <p:cNvPr descr="Resultado de imagem para culto evangelico" id="281" name="Google Shape;281;p20"/>
          <p:cNvPicPr preferRelativeResize="0"/>
          <p:nvPr/>
        </p:nvPicPr>
        <p:blipFill rotWithShape="1">
          <a:blip r:embed="rId9">
            <a:alphaModFix/>
          </a:blip>
          <a:srcRect b="0" l="17370" r="3598" t="0"/>
          <a:stretch/>
        </p:blipFill>
        <p:spPr>
          <a:xfrm>
            <a:off x="7144476" y="3587704"/>
            <a:ext cx="2028415" cy="1519465"/>
          </a:xfrm>
          <a:prstGeom prst="rect">
            <a:avLst/>
          </a:prstGeom>
          <a:noFill/>
          <a:ln>
            <a:noFill/>
          </a:ln>
        </p:spPr>
      </p:pic>
      <p:pic>
        <p:nvPicPr>
          <p:cNvPr descr="Resultado de imagem para poder" id="282" name="Google Shape;282;p20"/>
          <p:cNvPicPr preferRelativeResize="0"/>
          <p:nvPr/>
        </p:nvPicPr>
        <p:blipFill rotWithShape="1">
          <a:blip r:embed="rId10">
            <a:alphaModFix/>
          </a:blip>
          <a:srcRect b="0" l="0" r="0" t="0"/>
          <a:stretch/>
        </p:blipFill>
        <p:spPr>
          <a:xfrm>
            <a:off x="9115063" y="3587704"/>
            <a:ext cx="1927185" cy="1514838"/>
          </a:xfrm>
          <a:prstGeom prst="rect">
            <a:avLst/>
          </a:prstGeom>
          <a:noFill/>
          <a:ln>
            <a:noFill/>
          </a:ln>
        </p:spPr>
      </p:pic>
      <p:pic>
        <p:nvPicPr>
          <p:cNvPr descr="Resultado de imagem para yes we can" id="283" name="Google Shape;283;p20"/>
          <p:cNvPicPr preferRelativeResize="0"/>
          <p:nvPr/>
        </p:nvPicPr>
        <p:blipFill rotWithShape="1">
          <a:blip r:embed="rId11">
            <a:alphaModFix/>
          </a:blip>
          <a:srcRect b="0" l="5066" r="8324" t="0"/>
          <a:stretch/>
        </p:blipFill>
        <p:spPr>
          <a:xfrm>
            <a:off x="1012692" y="5102543"/>
            <a:ext cx="1516376" cy="1137282"/>
          </a:xfrm>
          <a:prstGeom prst="rect">
            <a:avLst/>
          </a:prstGeom>
          <a:noFill/>
          <a:ln>
            <a:noFill/>
          </a:ln>
        </p:spPr>
      </p:pic>
      <p:pic>
        <p:nvPicPr>
          <p:cNvPr descr="Resultado de imagem para motosserra cortando arvore" id="284" name="Google Shape;284;p20"/>
          <p:cNvPicPr preferRelativeResize="0"/>
          <p:nvPr/>
        </p:nvPicPr>
        <p:blipFill rotWithShape="1">
          <a:blip r:embed="rId12">
            <a:alphaModFix/>
          </a:blip>
          <a:srcRect b="0" l="0" r="9566" t="0"/>
          <a:stretch/>
        </p:blipFill>
        <p:spPr>
          <a:xfrm>
            <a:off x="2529069" y="5102542"/>
            <a:ext cx="1516378" cy="1137283"/>
          </a:xfrm>
          <a:prstGeom prst="rect">
            <a:avLst/>
          </a:prstGeom>
          <a:noFill/>
          <a:ln>
            <a:noFill/>
          </a:ln>
        </p:spPr>
      </p:pic>
      <p:pic>
        <p:nvPicPr>
          <p:cNvPr descr="https://media.npr.org/assets/img/2017/02/24/gettyimages-71715631-d781e4a25adbb8a20d646a69625ca9716d441a2f-s800-c85.jpg" id="285" name="Google Shape;285;p20"/>
          <p:cNvPicPr preferRelativeResize="0"/>
          <p:nvPr/>
        </p:nvPicPr>
        <p:blipFill rotWithShape="1">
          <a:blip r:embed="rId13">
            <a:alphaModFix/>
          </a:blip>
          <a:srcRect b="0" l="0" r="0" t="0"/>
          <a:stretch/>
        </p:blipFill>
        <p:spPr>
          <a:xfrm>
            <a:off x="1012691" y="1978633"/>
            <a:ext cx="2126234" cy="1594676"/>
          </a:xfrm>
          <a:prstGeom prst="rect">
            <a:avLst/>
          </a:prstGeom>
          <a:noFill/>
          <a:ln>
            <a:noFill/>
          </a:ln>
        </p:spPr>
      </p:pic>
      <p:pic>
        <p:nvPicPr>
          <p:cNvPr id="286" name="Google Shape;286;p20"/>
          <p:cNvPicPr preferRelativeResize="0"/>
          <p:nvPr/>
        </p:nvPicPr>
        <p:blipFill rotWithShape="1">
          <a:blip r:embed="rId14">
            <a:alphaModFix/>
          </a:blip>
          <a:srcRect b="0" l="0" r="0" t="0"/>
          <a:stretch/>
        </p:blipFill>
        <p:spPr>
          <a:xfrm>
            <a:off x="1014650" y="3562349"/>
            <a:ext cx="2280271" cy="154019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id="291" name="Google Shape;291;p21"/>
          <p:cNvPicPr preferRelativeResize="0"/>
          <p:nvPr/>
        </p:nvPicPr>
        <p:blipFill rotWithShape="1">
          <a:blip r:embed="rId3">
            <a:alphaModFix/>
          </a:blip>
          <a:srcRect b="0" l="0" r="0" t="0"/>
          <a:stretch/>
        </p:blipFill>
        <p:spPr>
          <a:xfrm>
            <a:off x="2838599" y="2021567"/>
            <a:ext cx="2335288" cy="1554449"/>
          </a:xfrm>
          <a:prstGeom prst="rect">
            <a:avLst/>
          </a:prstGeom>
          <a:noFill/>
          <a:ln>
            <a:noFill/>
          </a:ln>
        </p:spPr>
      </p:pic>
      <p:pic>
        <p:nvPicPr>
          <p:cNvPr descr="Imagem relacionada" id="292" name="Google Shape;292;p21"/>
          <p:cNvPicPr preferRelativeResize="0"/>
          <p:nvPr/>
        </p:nvPicPr>
        <p:blipFill rotWithShape="1">
          <a:blip r:embed="rId4">
            <a:alphaModFix/>
          </a:blip>
          <a:srcRect b="0" l="0" r="0" t="0"/>
          <a:stretch/>
        </p:blipFill>
        <p:spPr>
          <a:xfrm>
            <a:off x="4016416" y="5096755"/>
            <a:ext cx="1533740" cy="1149506"/>
          </a:xfrm>
          <a:prstGeom prst="rect">
            <a:avLst/>
          </a:prstGeom>
          <a:noFill/>
          <a:ln>
            <a:noFill/>
          </a:ln>
        </p:spPr>
      </p:pic>
      <p:pic>
        <p:nvPicPr>
          <p:cNvPr descr="Resultado de imagem para xeque mate" id="293" name="Google Shape;293;p21"/>
          <p:cNvPicPr preferRelativeResize="0"/>
          <p:nvPr/>
        </p:nvPicPr>
        <p:blipFill rotWithShape="1">
          <a:blip r:embed="rId5">
            <a:alphaModFix/>
          </a:blip>
          <a:srcRect b="0" l="0" r="0" t="0"/>
          <a:stretch/>
        </p:blipFill>
        <p:spPr>
          <a:xfrm>
            <a:off x="9155529" y="2013993"/>
            <a:ext cx="1886719" cy="1573711"/>
          </a:xfrm>
          <a:prstGeom prst="rect">
            <a:avLst/>
          </a:prstGeom>
          <a:noFill/>
          <a:ln>
            <a:noFill/>
          </a:ln>
        </p:spPr>
      </p:pic>
      <p:sp>
        <p:nvSpPr>
          <p:cNvPr id="294" name="Google Shape;294;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295" name="Google Shape;295;p21"/>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que é </a:t>
            </a:r>
            <a:r>
              <a:rPr b="0" i="0" lang="es-ES" sz="3500" u="none" cap="none" strike="noStrike">
                <a:solidFill>
                  <a:srgbClr val="FFC000"/>
                </a:solidFill>
                <a:latin typeface="Palatino Linotype"/>
                <a:ea typeface="Palatino Linotype"/>
                <a:cs typeface="Palatino Linotype"/>
                <a:sym typeface="Palatino Linotype"/>
              </a:rPr>
              <a:t>PODER</a:t>
            </a:r>
            <a:r>
              <a:rPr b="0" i="0" lang="es-ES" sz="3500" u="none" cap="none" strike="noStrike">
                <a:solidFill>
                  <a:schemeClr val="lt1"/>
                </a:solidFill>
                <a:latin typeface="Palatino Linotype"/>
                <a:ea typeface="Palatino Linotype"/>
                <a:cs typeface="Palatino Linotype"/>
                <a:sym typeface="Palatino Linotype"/>
              </a:rPr>
              <a:t>?</a:t>
            </a:r>
            <a:endParaRPr b="0" i="0" sz="3500" u="none" cap="none" strike="noStrike">
              <a:solidFill>
                <a:schemeClr val="lt1"/>
              </a:solidFill>
              <a:latin typeface="Palatino Linotype"/>
              <a:ea typeface="Palatino Linotype"/>
              <a:cs typeface="Palatino Linotype"/>
              <a:sym typeface="Palatino Linotype"/>
            </a:endParaRPr>
          </a:p>
        </p:txBody>
      </p:sp>
      <p:pic>
        <p:nvPicPr>
          <p:cNvPr descr="Imagem relacionada" id="296" name="Google Shape;296;p21"/>
          <p:cNvPicPr preferRelativeResize="0"/>
          <p:nvPr/>
        </p:nvPicPr>
        <p:blipFill rotWithShape="1">
          <a:blip r:embed="rId6">
            <a:alphaModFix/>
          </a:blip>
          <a:srcRect b="0" l="0" r="0" t="0"/>
          <a:stretch/>
        </p:blipFill>
        <p:spPr>
          <a:xfrm>
            <a:off x="5075358" y="2013994"/>
            <a:ext cx="2103744" cy="1573710"/>
          </a:xfrm>
          <a:prstGeom prst="rect">
            <a:avLst/>
          </a:prstGeom>
          <a:noFill/>
          <a:ln>
            <a:noFill/>
          </a:ln>
        </p:spPr>
      </p:pic>
      <p:pic>
        <p:nvPicPr>
          <p:cNvPr descr="Resultado de imagem para cersei lannister" id="297" name="Google Shape;297;p21"/>
          <p:cNvPicPr preferRelativeResize="0"/>
          <p:nvPr/>
        </p:nvPicPr>
        <p:blipFill rotWithShape="1">
          <a:blip r:embed="rId7">
            <a:alphaModFix/>
          </a:blip>
          <a:srcRect b="0" l="12086" r="12546" t="0"/>
          <a:stretch/>
        </p:blipFill>
        <p:spPr>
          <a:xfrm>
            <a:off x="7161740" y="2013993"/>
            <a:ext cx="2106661" cy="1573711"/>
          </a:xfrm>
          <a:prstGeom prst="rect">
            <a:avLst/>
          </a:prstGeom>
          <a:noFill/>
          <a:ln>
            <a:noFill/>
          </a:ln>
        </p:spPr>
      </p:pic>
      <p:pic>
        <p:nvPicPr>
          <p:cNvPr descr="Resultado de imagem para poder" id="298" name="Google Shape;298;p21"/>
          <p:cNvPicPr preferRelativeResize="0"/>
          <p:nvPr/>
        </p:nvPicPr>
        <p:blipFill rotWithShape="1">
          <a:blip r:embed="rId8">
            <a:alphaModFix/>
          </a:blip>
          <a:srcRect b="0" l="12035" r="0" t="0"/>
          <a:stretch/>
        </p:blipFill>
        <p:spPr>
          <a:xfrm>
            <a:off x="3204649" y="3569922"/>
            <a:ext cx="1905672" cy="1534406"/>
          </a:xfrm>
          <a:prstGeom prst="rect">
            <a:avLst/>
          </a:prstGeom>
          <a:noFill/>
          <a:ln>
            <a:noFill/>
          </a:ln>
        </p:spPr>
      </p:pic>
      <p:pic>
        <p:nvPicPr>
          <p:cNvPr descr="Resultado de imagem para bope em ação" id="299" name="Google Shape;299;p21"/>
          <p:cNvPicPr preferRelativeResize="0"/>
          <p:nvPr/>
        </p:nvPicPr>
        <p:blipFill rotWithShape="1">
          <a:blip r:embed="rId9">
            <a:alphaModFix/>
          </a:blip>
          <a:srcRect b="0" l="0" r="0" t="0"/>
          <a:stretch/>
        </p:blipFill>
        <p:spPr>
          <a:xfrm>
            <a:off x="5098602" y="3567522"/>
            <a:ext cx="2057256" cy="1536806"/>
          </a:xfrm>
          <a:prstGeom prst="rect">
            <a:avLst/>
          </a:prstGeom>
          <a:noFill/>
          <a:ln>
            <a:noFill/>
          </a:ln>
        </p:spPr>
      </p:pic>
      <p:pic>
        <p:nvPicPr>
          <p:cNvPr descr="Resultado de imagem para culto evangelico" id="300" name="Google Shape;300;p21"/>
          <p:cNvPicPr preferRelativeResize="0"/>
          <p:nvPr/>
        </p:nvPicPr>
        <p:blipFill rotWithShape="1">
          <a:blip r:embed="rId10">
            <a:alphaModFix/>
          </a:blip>
          <a:srcRect b="0" l="17370" r="3598" t="0"/>
          <a:stretch/>
        </p:blipFill>
        <p:spPr>
          <a:xfrm>
            <a:off x="7144476" y="3587704"/>
            <a:ext cx="2028415" cy="1519465"/>
          </a:xfrm>
          <a:prstGeom prst="rect">
            <a:avLst/>
          </a:prstGeom>
          <a:noFill/>
          <a:ln>
            <a:noFill/>
          </a:ln>
        </p:spPr>
      </p:pic>
      <p:pic>
        <p:nvPicPr>
          <p:cNvPr descr="Resultado de imagem para poder" id="301" name="Google Shape;301;p21"/>
          <p:cNvPicPr preferRelativeResize="0"/>
          <p:nvPr/>
        </p:nvPicPr>
        <p:blipFill rotWithShape="1">
          <a:blip r:embed="rId11">
            <a:alphaModFix/>
          </a:blip>
          <a:srcRect b="0" l="0" r="0" t="0"/>
          <a:stretch/>
        </p:blipFill>
        <p:spPr>
          <a:xfrm>
            <a:off x="9115063" y="3587704"/>
            <a:ext cx="1927185" cy="1514838"/>
          </a:xfrm>
          <a:prstGeom prst="rect">
            <a:avLst/>
          </a:prstGeom>
          <a:noFill/>
          <a:ln>
            <a:noFill/>
          </a:ln>
        </p:spPr>
      </p:pic>
      <p:pic>
        <p:nvPicPr>
          <p:cNvPr descr="Resultado de imagem para yes we can" id="302" name="Google Shape;302;p21"/>
          <p:cNvPicPr preferRelativeResize="0"/>
          <p:nvPr/>
        </p:nvPicPr>
        <p:blipFill rotWithShape="1">
          <a:blip r:embed="rId12">
            <a:alphaModFix/>
          </a:blip>
          <a:srcRect b="0" l="5066" r="8324" t="0"/>
          <a:stretch/>
        </p:blipFill>
        <p:spPr>
          <a:xfrm>
            <a:off x="1012692" y="5102543"/>
            <a:ext cx="1516376" cy="1137282"/>
          </a:xfrm>
          <a:prstGeom prst="rect">
            <a:avLst/>
          </a:prstGeom>
          <a:noFill/>
          <a:ln>
            <a:noFill/>
          </a:ln>
        </p:spPr>
      </p:pic>
      <p:pic>
        <p:nvPicPr>
          <p:cNvPr descr="Resultado de imagem para motosserra cortando arvore" id="303" name="Google Shape;303;p21"/>
          <p:cNvPicPr preferRelativeResize="0"/>
          <p:nvPr/>
        </p:nvPicPr>
        <p:blipFill rotWithShape="1">
          <a:blip r:embed="rId13">
            <a:alphaModFix/>
          </a:blip>
          <a:srcRect b="0" l="0" r="9566" t="0"/>
          <a:stretch/>
        </p:blipFill>
        <p:spPr>
          <a:xfrm>
            <a:off x="2529069" y="5102542"/>
            <a:ext cx="1516378" cy="1137283"/>
          </a:xfrm>
          <a:prstGeom prst="rect">
            <a:avLst/>
          </a:prstGeom>
          <a:noFill/>
          <a:ln>
            <a:noFill/>
          </a:ln>
        </p:spPr>
      </p:pic>
      <p:pic>
        <p:nvPicPr>
          <p:cNvPr descr="https://media.npr.org/assets/img/2017/02/24/gettyimages-71715631-d781e4a25adbb8a20d646a69625ca9716d441a2f-s800-c85.jpg" id="304" name="Google Shape;304;p21"/>
          <p:cNvPicPr preferRelativeResize="0"/>
          <p:nvPr/>
        </p:nvPicPr>
        <p:blipFill rotWithShape="1">
          <a:blip r:embed="rId14">
            <a:alphaModFix/>
          </a:blip>
          <a:srcRect b="0" l="0" r="0" t="0"/>
          <a:stretch/>
        </p:blipFill>
        <p:spPr>
          <a:xfrm>
            <a:off x="1012691" y="1978633"/>
            <a:ext cx="2126234" cy="1594676"/>
          </a:xfrm>
          <a:prstGeom prst="rect">
            <a:avLst/>
          </a:prstGeom>
          <a:noFill/>
          <a:ln>
            <a:noFill/>
          </a:ln>
        </p:spPr>
      </p:pic>
      <p:pic>
        <p:nvPicPr>
          <p:cNvPr id="305" name="Google Shape;305;p21"/>
          <p:cNvPicPr preferRelativeResize="0"/>
          <p:nvPr/>
        </p:nvPicPr>
        <p:blipFill rotWithShape="1">
          <a:blip r:embed="rId15">
            <a:alphaModFix/>
          </a:blip>
          <a:srcRect b="0" l="0" r="0" t="0"/>
          <a:stretch/>
        </p:blipFill>
        <p:spPr>
          <a:xfrm>
            <a:off x="1014650" y="3562349"/>
            <a:ext cx="2280271" cy="154019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id="310" name="Google Shape;310;p22"/>
          <p:cNvPicPr preferRelativeResize="0"/>
          <p:nvPr/>
        </p:nvPicPr>
        <p:blipFill rotWithShape="1">
          <a:blip r:embed="rId3">
            <a:alphaModFix/>
          </a:blip>
          <a:srcRect b="0" l="0" r="0" t="0"/>
          <a:stretch/>
        </p:blipFill>
        <p:spPr>
          <a:xfrm>
            <a:off x="2838599" y="2021567"/>
            <a:ext cx="2335288" cy="1554449"/>
          </a:xfrm>
          <a:prstGeom prst="rect">
            <a:avLst/>
          </a:prstGeom>
          <a:noFill/>
          <a:ln>
            <a:noFill/>
          </a:ln>
        </p:spPr>
      </p:pic>
      <p:pic>
        <p:nvPicPr>
          <p:cNvPr descr="Imagem relacionada" id="311" name="Google Shape;311;p22"/>
          <p:cNvPicPr preferRelativeResize="0"/>
          <p:nvPr/>
        </p:nvPicPr>
        <p:blipFill rotWithShape="1">
          <a:blip r:embed="rId4">
            <a:alphaModFix/>
          </a:blip>
          <a:srcRect b="0" l="0" r="0" t="0"/>
          <a:stretch/>
        </p:blipFill>
        <p:spPr>
          <a:xfrm>
            <a:off x="4016416" y="5096755"/>
            <a:ext cx="1533740" cy="1149506"/>
          </a:xfrm>
          <a:prstGeom prst="rect">
            <a:avLst/>
          </a:prstGeom>
          <a:noFill/>
          <a:ln>
            <a:noFill/>
          </a:ln>
        </p:spPr>
      </p:pic>
      <p:pic>
        <p:nvPicPr>
          <p:cNvPr descr="Resultado de imagem para xeque mate" id="312" name="Google Shape;312;p22"/>
          <p:cNvPicPr preferRelativeResize="0"/>
          <p:nvPr/>
        </p:nvPicPr>
        <p:blipFill rotWithShape="1">
          <a:blip r:embed="rId5">
            <a:alphaModFix/>
          </a:blip>
          <a:srcRect b="0" l="0" r="0" t="0"/>
          <a:stretch/>
        </p:blipFill>
        <p:spPr>
          <a:xfrm>
            <a:off x="9155529" y="2013993"/>
            <a:ext cx="1886719" cy="1573711"/>
          </a:xfrm>
          <a:prstGeom prst="rect">
            <a:avLst/>
          </a:prstGeom>
          <a:noFill/>
          <a:ln>
            <a:noFill/>
          </a:ln>
        </p:spPr>
      </p:pic>
      <p:sp>
        <p:nvSpPr>
          <p:cNvPr id="313" name="Google Shape;313;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314" name="Google Shape;314;p22"/>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que é </a:t>
            </a:r>
            <a:r>
              <a:rPr b="0" i="0" lang="es-ES" sz="3500" u="none" cap="none" strike="noStrike">
                <a:solidFill>
                  <a:srgbClr val="FFC000"/>
                </a:solidFill>
                <a:latin typeface="Palatino Linotype"/>
                <a:ea typeface="Palatino Linotype"/>
                <a:cs typeface="Palatino Linotype"/>
                <a:sym typeface="Palatino Linotype"/>
              </a:rPr>
              <a:t>PODER</a:t>
            </a:r>
            <a:r>
              <a:rPr b="0" i="0" lang="es-ES" sz="3500" u="none" cap="none" strike="noStrike">
                <a:solidFill>
                  <a:schemeClr val="lt1"/>
                </a:solidFill>
                <a:latin typeface="Palatino Linotype"/>
                <a:ea typeface="Palatino Linotype"/>
                <a:cs typeface="Palatino Linotype"/>
                <a:sym typeface="Palatino Linotype"/>
              </a:rPr>
              <a:t>?</a:t>
            </a:r>
            <a:endParaRPr b="0" i="0" sz="3500" u="none" cap="none" strike="noStrike">
              <a:solidFill>
                <a:schemeClr val="lt1"/>
              </a:solidFill>
              <a:latin typeface="Palatino Linotype"/>
              <a:ea typeface="Palatino Linotype"/>
              <a:cs typeface="Palatino Linotype"/>
              <a:sym typeface="Palatino Linotype"/>
            </a:endParaRPr>
          </a:p>
        </p:txBody>
      </p:sp>
      <p:pic>
        <p:nvPicPr>
          <p:cNvPr descr="Imagem relacionada" id="315" name="Google Shape;315;p22"/>
          <p:cNvPicPr preferRelativeResize="0"/>
          <p:nvPr/>
        </p:nvPicPr>
        <p:blipFill rotWithShape="1">
          <a:blip r:embed="rId6">
            <a:alphaModFix/>
          </a:blip>
          <a:srcRect b="0" l="0" r="0" t="0"/>
          <a:stretch/>
        </p:blipFill>
        <p:spPr>
          <a:xfrm>
            <a:off x="5075358" y="2013994"/>
            <a:ext cx="2103744" cy="1573710"/>
          </a:xfrm>
          <a:prstGeom prst="rect">
            <a:avLst/>
          </a:prstGeom>
          <a:noFill/>
          <a:ln>
            <a:noFill/>
          </a:ln>
        </p:spPr>
      </p:pic>
      <p:pic>
        <p:nvPicPr>
          <p:cNvPr descr="Resultado de imagem para cersei lannister" id="316" name="Google Shape;316;p22"/>
          <p:cNvPicPr preferRelativeResize="0"/>
          <p:nvPr/>
        </p:nvPicPr>
        <p:blipFill rotWithShape="1">
          <a:blip r:embed="rId7">
            <a:alphaModFix/>
          </a:blip>
          <a:srcRect b="0" l="12086" r="12546" t="0"/>
          <a:stretch/>
        </p:blipFill>
        <p:spPr>
          <a:xfrm>
            <a:off x="7161740" y="2013993"/>
            <a:ext cx="2106661" cy="1573711"/>
          </a:xfrm>
          <a:prstGeom prst="rect">
            <a:avLst/>
          </a:prstGeom>
          <a:noFill/>
          <a:ln>
            <a:noFill/>
          </a:ln>
        </p:spPr>
      </p:pic>
      <p:pic>
        <p:nvPicPr>
          <p:cNvPr descr="Resultado de imagem para poder" id="317" name="Google Shape;317;p22"/>
          <p:cNvPicPr preferRelativeResize="0"/>
          <p:nvPr/>
        </p:nvPicPr>
        <p:blipFill rotWithShape="1">
          <a:blip r:embed="rId8">
            <a:alphaModFix/>
          </a:blip>
          <a:srcRect b="0" l="12035" r="0" t="0"/>
          <a:stretch/>
        </p:blipFill>
        <p:spPr>
          <a:xfrm>
            <a:off x="3204649" y="3569922"/>
            <a:ext cx="1905672" cy="1534406"/>
          </a:xfrm>
          <a:prstGeom prst="rect">
            <a:avLst/>
          </a:prstGeom>
          <a:noFill/>
          <a:ln>
            <a:noFill/>
          </a:ln>
        </p:spPr>
      </p:pic>
      <p:pic>
        <p:nvPicPr>
          <p:cNvPr descr="Resultado de imagem para bope em ação" id="318" name="Google Shape;318;p22"/>
          <p:cNvPicPr preferRelativeResize="0"/>
          <p:nvPr/>
        </p:nvPicPr>
        <p:blipFill rotWithShape="1">
          <a:blip r:embed="rId9">
            <a:alphaModFix/>
          </a:blip>
          <a:srcRect b="0" l="0" r="0" t="0"/>
          <a:stretch/>
        </p:blipFill>
        <p:spPr>
          <a:xfrm>
            <a:off x="5098602" y="3567522"/>
            <a:ext cx="2057256" cy="1536806"/>
          </a:xfrm>
          <a:prstGeom prst="rect">
            <a:avLst/>
          </a:prstGeom>
          <a:noFill/>
          <a:ln>
            <a:noFill/>
          </a:ln>
        </p:spPr>
      </p:pic>
      <p:pic>
        <p:nvPicPr>
          <p:cNvPr descr="Resultado de imagem para culto evangelico" id="319" name="Google Shape;319;p22"/>
          <p:cNvPicPr preferRelativeResize="0"/>
          <p:nvPr/>
        </p:nvPicPr>
        <p:blipFill rotWithShape="1">
          <a:blip r:embed="rId10">
            <a:alphaModFix/>
          </a:blip>
          <a:srcRect b="0" l="17370" r="3598" t="0"/>
          <a:stretch/>
        </p:blipFill>
        <p:spPr>
          <a:xfrm>
            <a:off x="7144476" y="3587704"/>
            <a:ext cx="2028415" cy="1519465"/>
          </a:xfrm>
          <a:prstGeom prst="rect">
            <a:avLst/>
          </a:prstGeom>
          <a:noFill/>
          <a:ln>
            <a:noFill/>
          </a:ln>
        </p:spPr>
      </p:pic>
      <p:pic>
        <p:nvPicPr>
          <p:cNvPr descr="Resultado de imagem para poder" id="320" name="Google Shape;320;p22"/>
          <p:cNvPicPr preferRelativeResize="0"/>
          <p:nvPr/>
        </p:nvPicPr>
        <p:blipFill rotWithShape="1">
          <a:blip r:embed="rId11">
            <a:alphaModFix/>
          </a:blip>
          <a:srcRect b="0" l="0" r="0" t="0"/>
          <a:stretch/>
        </p:blipFill>
        <p:spPr>
          <a:xfrm>
            <a:off x="9115063" y="3587704"/>
            <a:ext cx="1927185" cy="1514838"/>
          </a:xfrm>
          <a:prstGeom prst="rect">
            <a:avLst/>
          </a:prstGeom>
          <a:noFill/>
          <a:ln>
            <a:noFill/>
          </a:ln>
        </p:spPr>
      </p:pic>
      <p:pic>
        <p:nvPicPr>
          <p:cNvPr descr="Resultado de imagem para yes we can" id="321" name="Google Shape;321;p22"/>
          <p:cNvPicPr preferRelativeResize="0"/>
          <p:nvPr/>
        </p:nvPicPr>
        <p:blipFill rotWithShape="1">
          <a:blip r:embed="rId12">
            <a:alphaModFix/>
          </a:blip>
          <a:srcRect b="0" l="5066" r="8324" t="0"/>
          <a:stretch/>
        </p:blipFill>
        <p:spPr>
          <a:xfrm>
            <a:off x="1012692" y="5102543"/>
            <a:ext cx="1516376" cy="1137282"/>
          </a:xfrm>
          <a:prstGeom prst="rect">
            <a:avLst/>
          </a:prstGeom>
          <a:noFill/>
          <a:ln>
            <a:noFill/>
          </a:ln>
        </p:spPr>
      </p:pic>
      <p:pic>
        <p:nvPicPr>
          <p:cNvPr descr="Resultado de imagem para motosserra cortando arvore" id="322" name="Google Shape;322;p22"/>
          <p:cNvPicPr preferRelativeResize="0"/>
          <p:nvPr/>
        </p:nvPicPr>
        <p:blipFill rotWithShape="1">
          <a:blip r:embed="rId13">
            <a:alphaModFix/>
          </a:blip>
          <a:srcRect b="0" l="0" r="9566" t="0"/>
          <a:stretch/>
        </p:blipFill>
        <p:spPr>
          <a:xfrm>
            <a:off x="2529069" y="5102542"/>
            <a:ext cx="1516378" cy="1137283"/>
          </a:xfrm>
          <a:prstGeom prst="rect">
            <a:avLst/>
          </a:prstGeom>
          <a:noFill/>
          <a:ln>
            <a:noFill/>
          </a:ln>
        </p:spPr>
      </p:pic>
      <p:pic>
        <p:nvPicPr>
          <p:cNvPr descr="https://ogimg.infoglobo.com.br/in/21836492-365-74e/FT1086A/652/xppg.jpg.pagespeed.ic.azi97fKWXI.jpg" id="323" name="Google Shape;323;p22"/>
          <p:cNvPicPr preferRelativeResize="0"/>
          <p:nvPr/>
        </p:nvPicPr>
        <p:blipFill rotWithShape="1">
          <a:blip r:embed="rId14">
            <a:alphaModFix/>
          </a:blip>
          <a:srcRect b="0" l="0" r="0" t="0"/>
          <a:stretch/>
        </p:blipFill>
        <p:spPr>
          <a:xfrm>
            <a:off x="5517418" y="5104328"/>
            <a:ext cx="1902053" cy="1141933"/>
          </a:xfrm>
          <a:prstGeom prst="rect">
            <a:avLst/>
          </a:prstGeom>
          <a:noFill/>
          <a:ln>
            <a:noFill/>
          </a:ln>
        </p:spPr>
      </p:pic>
      <p:pic>
        <p:nvPicPr>
          <p:cNvPr descr="https://media.npr.org/assets/img/2017/02/24/gettyimages-71715631-d781e4a25adbb8a20d646a69625ca9716d441a2f-s800-c85.jpg" id="324" name="Google Shape;324;p22"/>
          <p:cNvPicPr preferRelativeResize="0"/>
          <p:nvPr/>
        </p:nvPicPr>
        <p:blipFill rotWithShape="1">
          <a:blip r:embed="rId15">
            <a:alphaModFix/>
          </a:blip>
          <a:srcRect b="0" l="0" r="0" t="0"/>
          <a:stretch/>
        </p:blipFill>
        <p:spPr>
          <a:xfrm>
            <a:off x="1012691" y="1978633"/>
            <a:ext cx="2126234" cy="1594676"/>
          </a:xfrm>
          <a:prstGeom prst="rect">
            <a:avLst/>
          </a:prstGeom>
          <a:noFill/>
          <a:ln>
            <a:noFill/>
          </a:ln>
        </p:spPr>
      </p:pic>
      <p:pic>
        <p:nvPicPr>
          <p:cNvPr id="325" name="Google Shape;325;p22"/>
          <p:cNvPicPr preferRelativeResize="0"/>
          <p:nvPr/>
        </p:nvPicPr>
        <p:blipFill rotWithShape="1">
          <a:blip r:embed="rId16">
            <a:alphaModFix/>
          </a:blip>
          <a:srcRect b="0" l="0" r="0" t="0"/>
          <a:stretch/>
        </p:blipFill>
        <p:spPr>
          <a:xfrm>
            <a:off x="1014650" y="3562349"/>
            <a:ext cx="2280271" cy="154019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pic>
        <p:nvPicPr>
          <p:cNvPr id="330" name="Google Shape;330;p23"/>
          <p:cNvPicPr preferRelativeResize="0"/>
          <p:nvPr/>
        </p:nvPicPr>
        <p:blipFill rotWithShape="1">
          <a:blip r:embed="rId3">
            <a:alphaModFix/>
          </a:blip>
          <a:srcRect b="0" l="0" r="0" t="0"/>
          <a:stretch/>
        </p:blipFill>
        <p:spPr>
          <a:xfrm>
            <a:off x="2838599" y="2021567"/>
            <a:ext cx="2335288" cy="1554449"/>
          </a:xfrm>
          <a:prstGeom prst="rect">
            <a:avLst/>
          </a:prstGeom>
          <a:noFill/>
          <a:ln>
            <a:noFill/>
          </a:ln>
        </p:spPr>
      </p:pic>
      <p:pic>
        <p:nvPicPr>
          <p:cNvPr descr="Imagem relacionada" id="331" name="Google Shape;331;p23"/>
          <p:cNvPicPr preferRelativeResize="0"/>
          <p:nvPr/>
        </p:nvPicPr>
        <p:blipFill rotWithShape="1">
          <a:blip r:embed="rId4">
            <a:alphaModFix/>
          </a:blip>
          <a:srcRect b="0" l="0" r="0" t="0"/>
          <a:stretch/>
        </p:blipFill>
        <p:spPr>
          <a:xfrm>
            <a:off x="4016416" y="5096755"/>
            <a:ext cx="1533740" cy="1149506"/>
          </a:xfrm>
          <a:prstGeom prst="rect">
            <a:avLst/>
          </a:prstGeom>
          <a:noFill/>
          <a:ln>
            <a:noFill/>
          </a:ln>
        </p:spPr>
      </p:pic>
      <p:pic>
        <p:nvPicPr>
          <p:cNvPr descr="Resultado de imagem para xeque mate" id="332" name="Google Shape;332;p23"/>
          <p:cNvPicPr preferRelativeResize="0"/>
          <p:nvPr/>
        </p:nvPicPr>
        <p:blipFill rotWithShape="1">
          <a:blip r:embed="rId5">
            <a:alphaModFix/>
          </a:blip>
          <a:srcRect b="0" l="0" r="0" t="0"/>
          <a:stretch/>
        </p:blipFill>
        <p:spPr>
          <a:xfrm>
            <a:off x="9155529" y="2013993"/>
            <a:ext cx="1886719" cy="1573711"/>
          </a:xfrm>
          <a:prstGeom prst="rect">
            <a:avLst/>
          </a:prstGeom>
          <a:noFill/>
          <a:ln>
            <a:noFill/>
          </a:ln>
        </p:spPr>
      </p:pic>
      <p:sp>
        <p:nvSpPr>
          <p:cNvPr id="333" name="Google Shape;333;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334" name="Google Shape;334;p23"/>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que é </a:t>
            </a:r>
            <a:r>
              <a:rPr b="0" i="0" lang="es-ES" sz="3500" u="none" cap="none" strike="noStrike">
                <a:solidFill>
                  <a:srgbClr val="FFC000"/>
                </a:solidFill>
                <a:latin typeface="Palatino Linotype"/>
                <a:ea typeface="Palatino Linotype"/>
                <a:cs typeface="Palatino Linotype"/>
                <a:sym typeface="Palatino Linotype"/>
              </a:rPr>
              <a:t>PODER</a:t>
            </a:r>
            <a:r>
              <a:rPr b="0" i="0" lang="es-ES" sz="3500" u="none" cap="none" strike="noStrike">
                <a:solidFill>
                  <a:schemeClr val="lt1"/>
                </a:solidFill>
                <a:latin typeface="Palatino Linotype"/>
                <a:ea typeface="Palatino Linotype"/>
                <a:cs typeface="Palatino Linotype"/>
                <a:sym typeface="Palatino Linotype"/>
              </a:rPr>
              <a:t>?</a:t>
            </a:r>
            <a:endParaRPr b="0" i="0" sz="3500" u="none" cap="none" strike="noStrike">
              <a:solidFill>
                <a:schemeClr val="lt1"/>
              </a:solidFill>
              <a:latin typeface="Palatino Linotype"/>
              <a:ea typeface="Palatino Linotype"/>
              <a:cs typeface="Palatino Linotype"/>
              <a:sym typeface="Palatino Linotype"/>
            </a:endParaRPr>
          </a:p>
        </p:txBody>
      </p:sp>
      <p:pic>
        <p:nvPicPr>
          <p:cNvPr descr="Imagem relacionada" id="335" name="Google Shape;335;p23"/>
          <p:cNvPicPr preferRelativeResize="0"/>
          <p:nvPr/>
        </p:nvPicPr>
        <p:blipFill rotWithShape="1">
          <a:blip r:embed="rId6">
            <a:alphaModFix/>
          </a:blip>
          <a:srcRect b="0" l="0" r="0" t="0"/>
          <a:stretch/>
        </p:blipFill>
        <p:spPr>
          <a:xfrm>
            <a:off x="5075358" y="2013994"/>
            <a:ext cx="2103744" cy="1573710"/>
          </a:xfrm>
          <a:prstGeom prst="rect">
            <a:avLst/>
          </a:prstGeom>
          <a:noFill/>
          <a:ln>
            <a:noFill/>
          </a:ln>
        </p:spPr>
      </p:pic>
      <p:pic>
        <p:nvPicPr>
          <p:cNvPr descr="Resultado de imagem para cersei lannister" id="336" name="Google Shape;336;p23"/>
          <p:cNvPicPr preferRelativeResize="0"/>
          <p:nvPr/>
        </p:nvPicPr>
        <p:blipFill rotWithShape="1">
          <a:blip r:embed="rId7">
            <a:alphaModFix/>
          </a:blip>
          <a:srcRect b="0" l="12086" r="12546" t="0"/>
          <a:stretch/>
        </p:blipFill>
        <p:spPr>
          <a:xfrm>
            <a:off x="7161740" y="2013993"/>
            <a:ext cx="2106661" cy="1573711"/>
          </a:xfrm>
          <a:prstGeom prst="rect">
            <a:avLst/>
          </a:prstGeom>
          <a:noFill/>
          <a:ln>
            <a:noFill/>
          </a:ln>
        </p:spPr>
      </p:pic>
      <p:pic>
        <p:nvPicPr>
          <p:cNvPr descr="Resultado de imagem para poder" id="337" name="Google Shape;337;p23"/>
          <p:cNvPicPr preferRelativeResize="0"/>
          <p:nvPr/>
        </p:nvPicPr>
        <p:blipFill rotWithShape="1">
          <a:blip r:embed="rId8">
            <a:alphaModFix/>
          </a:blip>
          <a:srcRect b="0" l="12035" r="0" t="0"/>
          <a:stretch/>
        </p:blipFill>
        <p:spPr>
          <a:xfrm>
            <a:off x="3204649" y="3569922"/>
            <a:ext cx="1905672" cy="1534406"/>
          </a:xfrm>
          <a:prstGeom prst="rect">
            <a:avLst/>
          </a:prstGeom>
          <a:noFill/>
          <a:ln>
            <a:noFill/>
          </a:ln>
        </p:spPr>
      </p:pic>
      <p:pic>
        <p:nvPicPr>
          <p:cNvPr descr="Resultado de imagem para bope em ação" id="338" name="Google Shape;338;p23"/>
          <p:cNvPicPr preferRelativeResize="0"/>
          <p:nvPr/>
        </p:nvPicPr>
        <p:blipFill rotWithShape="1">
          <a:blip r:embed="rId9">
            <a:alphaModFix/>
          </a:blip>
          <a:srcRect b="0" l="0" r="0" t="0"/>
          <a:stretch/>
        </p:blipFill>
        <p:spPr>
          <a:xfrm>
            <a:off x="5098602" y="3567522"/>
            <a:ext cx="2057256" cy="1536806"/>
          </a:xfrm>
          <a:prstGeom prst="rect">
            <a:avLst/>
          </a:prstGeom>
          <a:noFill/>
          <a:ln>
            <a:noFill/>
          </a:ln>
        </p:spPr>
      </p:pic>
      <p:pic>
        <p:nvPicPr>
          <p:cNvPr descr="Resultado de imagem para culto evangelico" id="339" name="Google Shape;339;p23"/>
          <p:cNvPicPr preferRelativeResize="0"/>
          <p:nvPr/>
        </p:nvPicPr>
        <p:blipFill rotWithShape="1">
          <a:blip r:embed="rId10">
            <a:alphaModFix/>
          </a:blip>
          <a:srcRect b="0" l="17370" r="3598" t="0"/>
          <a:stretch/>
        </p:blipFill>
        <p:spPr>
          <a:xfrm>
            <a:off x="7144476" y="3587704"/>
            <a:ext cx="2028415" cy="1519465"/>
          </a:xfrm>
          <a:prstGeom prst="rect">
            <a:avLst/>
          </a:prstGeom>
          <a:noFill/>
          <a:ln>
            <a:noFill/>
          </a:ln>
        </p:spPr>
      </p:pic>
      <p:pic>
        <p:nvPicPr>
          <p:cNvPr descr="Resultado de imagem para poder" id="340" name="Google Shape;340;p23"/>
          <p:cNvPicPr preferRelativeResize="0"/>
          <p:nvPr/>
        </p:nvPicPr>
        <p:blipFill rotWithShape="1">
          <a:blip r:embed="rId11">
            <a:alphaModFix/>
          </a:blip>
          <a:srcRect b="0" l="0" r="0" t="0"/>
          <a:stretch/>
        </p:blipFill>
        <p:spPr>
          <a:xfrm>
            <a:off x="9115063" y="3587704"/>
            <a:ext cx="1927185" cy="1514838"/>
          </a:xfrm>
          <a:prstGeom prst="rect">
            <a:avLst/>
          </a:prstGeom>
          <a:noFill/>
          <a:ln>
            <a:noFill/>
          </a:ln>
        </p:spPr>
      </p:pic>
      <p:pic>
        <p:nvPicPr>
          <p:cNvPr descr="Resultado de imagem para yes we can" id="341" name="Google Shape;341;p23"/>
          <p:cNvPicPr preferRelativeResize="0"/>
          <p:nvPr/>
        </p:nvPicPr>
        <p:blipFill rotWithShape="1">
          <a:blip r:embed="rId12">
            <a:alphaModFix/>
          </a:blip>
          <a:srcRect b="0" l="5066" r="8324" t="0"/>
          <a:stretch/>
        </p:blipFill>
        <p:spPr>
          <a:xfrm>
            <a:off x="1012692" y="5102543"/>
            <a:ext cx="1516376" cy="1137282"/>
          </a:xfrm>
          <a:prstGeom prst="rect">
            <a:avLst/>
          </a:prstGeom>
          <a:noFill/>
          <a:ln>
            <a:noFill/>
          </a:ln>
        </p:spPr>
      </p:pic>
      <p:pic>
        <p:nvPicPr>
          <p:cNvPr descr="Resultado de imagem para motosserra cortando arvore" id="342" name="Google Shape;342;p23"/>
          <p:cNvPicPr preferRelativeResize="0"/>
          <p:nvPr/>
        </p:nvPicPr>
        <p:blipFill rotWithShape="1">
          <a:blip r:embed="rId13">
            <a:alphaModFix/>
          </a:blip>
          <a:srcRect b="0" l="0" r="9566" t="0"/>
          <a:stretch/>
        </p:blipFill>
        <p:spPr>
          <a:xfrm>
            <a:off x="2529069" y="5102542"/>
            <a:ext cx="1516378" cy="1137283"/>
          </a:xfrm>
          <a:prstGeom prst="rect">
            <a:avLst/>
          </a:prstGeom>
          <a:noFill/>
          <a:ln>
            <a:noFill/>
          </a:ln>
        </p:spPr>
      </p:pic>
      <p:pic>
        <p:nvPicPr>
          <p:cNvPr descr="https://ogimg.infoglobo.com.br/in/21836492-365-74e/FT1086A/652/xppg.jpg.pagespeed.ic.azi97fKWXI.jpg" id="343" name="Google Shape;343;p23"/>
          <p:cNvPicPr preferRelativeResize="0"/>
          <p:nvPr/>
        </p:nvPicPr>
        <p:blipFill rotWithShape="1">
          <a:blip r:embed="rId14">
            <a:alphaModFix/>
          </a:blip>
          <a:srcRect b="0" l="0" r="0" t="0"/>
          <a:stretch/>
        </p:blipFill>
        <p:spPr>
          <a:xfrm>
            <a:off x="5517418" y="5104328"/>
            <a:ext cx="1902053" cy="1141933"/>
          </a:xfrm>
          <a:prstGeom prst="rect">
            <a:avLst/>
          </a:prstGeom>
          <a:noFill/>
          <a:ln>
            <a:noFill/>
          </a:ln>
        </p:spPr>
      </p:pic>
      <p:pic>
        <p:nvPicPr>
          <p:cNvPr id="344" name="Google Shape;344;p23"/>
          <p:cNvPicPr preferRelativeResize="0"/>
          <p:nvPr/>
        </p:nvPicPr>
        <p:blipFill rotWithShape="1">
          <a:blip r:embed="rId15">
            <a:alphaModFix/>
          </a:blip>
          <a:srcRect b="0" l="0" r="0" t="0"/>
          <a:stretch/>
        </p:blipFill>
        <p:spPr>
          <a:xfrm>
            <a:off x="7419472" y="5104328"/>
            <a:ext cx="1819143" cy="1135497"/>
          </a:xfrm>
          <a:prstGeom prst="rect">
            <a:avLst/>
          </a:prstGeom>
          <a:noFill/>
          <a:ln>
            <a:noFill/>
          </a:ln>
        </p:spPr>
      </p:pic>
      <p:pic>
        <p:nvPicPr>
          <p:cNvPr descr="https://media.npr.org/assets/img/2017/02/24/gettyimages-71715631-d781e4a25adbb8a20d646a69625ca9716d441a2f-s800-c85.jpg" id="345" name="Google Shape;345;p23"/>
          <p:cNvPicPr preferRelativeResize="0"/>
          <p:nvPr/>
        </p:nvPicPr>
        <p:blipFill rotWithShape="1">
          <a:blip r:embed="rId16">
            <a:alphaModFix/>
          </a:blip>
          <a:srcRect b="0" l="0" r="0" t="0"/>
          <a:stretch/>
        </p:blipFill>
        <p:spPr>
          <a:xfrm>
            <a:off x="1012691" y="1978633"/>
            <a:ext cx="2126234" cy="1594676"/>
          </a:xfrm>
          <a:prstGeom prst="rect">
            <a:avLst/>
          </a:prstGeom>
          <a:noFill/>
          <a:ln>
            <a:noFill/>
          </a:ln>
        </p:spPr>
      </p:pic>
      <p:pic>
        <p:nvPicPr>
          <p:cNvPr id="346" name="Google Shape;346;p23"/>
          <p:cNvPicPr preferRelativeResize="0"/>
          <p:nvPr/>
        </p:nvPicPr>
        <p:blipFill rotWithShape="1">
          <a:blip r:embed="rId17">
            <a:alphaModFix/>
          </a:blip>
          <a:srcRect b="0" l="0" r="0" t="0"/>
          <a:stretch/>
        </p:blipFill>
        <p:spPr>
          <a:xfrm>
            <a:off x="1014650" y="3562349"/>
            <a:ext cx="2280271" cy="1540192"/>
          </a:xfrm>
          <a:prstGeom prst="rect">
            <a:avLst/>
          </a:prstGeom>
          <a:noFill/>
          <a:ln>
            <a:noFill/>
          </a:ln>
        </p:spPr>
      </p:pic>
      <p:sp>
        <p:nvSpPr>
          <p:cNvPr id="347" name="Google Shape;347;p23"/>
          <p:cNvSpPr txBox="1"/>
          <p:nvPr/>
        </p:nvSpPr>
        <p:spPr>
          <a:xfrm>
            <a:off x="8038618" y="204802"/>
            <a:ext cx="331518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ES" sz="1200" u="none" cap="none" strike="noStrike">
                <a:solidFill>
                  <a:srgbClr val="BFBFBF"/>
                </a:solidFill>
                <a:latin typeface="Calibri"/>
                <a:ea typeface="Calibri"/>
                <a:cs typeface="Calibri"/>
                <a:sym typeface="Calibri"/>
              </a:rPr>
              <a:t>Komatsu, A. V. (2020). As bases do poder. Slides da disciplina: Relações de poder nas organizações.</a:t>
            </a:r>
            <a:endParaRPr b="0" i="0" sz="1200" u="none" cap="none" strike="noStrike">
              <a:solidFill>
                <a:srgbClr val="BFBFBF"/>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pic>
        <p:nvPicPr>
          <p:cNvPr id="352" name="Google Shape;352;p24"/>
          <p:cNvPicPr preferRelativeResize="0"/>
          <p:nvPr/>
        </p:nvPicPr>
        <p:blipFill rotWithShape="1">
          <a:blip r:embed="rId3">
            <a:alphaModFix/>
          </a:blip>
          <a:srcRect b="0" l="0" r="0" t="0"/>
          <a:stretch/>
        </p:blipFill>
        <p:spPr>
          <a:xfrm>
            <a:off x="2838599" y="2021567"/>
            <a:ext cx="2335288" cy="1554449"/>
          </a:xfrm>
          <a:prstGeom prst="rect">
            <a:avLst/>
          </a:prstGeom>
          <a:noFill/>
          <a:ln>
            <a:noFill/>
          </a:ln>
        </p:spPr>
      </p:pic>
      <p:pic>
        <p:nvPicPr>
          <p:cNvPr descr="Imagem relacionada" id="353" name="Google Shape;353;p24"/>
          <p:cNvPicPr preferRelativeResize="0"/>
          <p:nvPr/>
        </p:nvPicPr>
        <p:blipFill rotWithShape="1">
          <a:blip r:embed="rId4">
            <a:alphaModFix/>
          </a:blip>
          <a:srcRect b="0" l="0" r="0" t="0"/>
          <a:stretch/>
        </p:blipFill>
        <p:spPr>
          <a:xfrm>
            <a:off x="4016416" y="5096755"/>
            <a:ext cx="1533740" cy="1149506"/>
          </a:xfrm>
          <a:prstGeom prst="rect">
            <a:avLst/>
          </a:prstGeom>
          <a:noFill/>
          <a:ln>
            <a:noFill/>
          </a:ln>
        </p:spPr>
      </p:pic>
      <p:pic>
        <p:nvPicPr>
          <p:cNvPr descr="Resultado de imagem para xeque mate" id="354" name="Google Shape;354;p24"/>
          <p:cNvPicPr preferRelativeResize="0"/>
          <p:nvPr/>
        </p:nvPicPr>
        <p:blipFill rotWithShape="1">
          <a:blip r:embed="rId5">
            <a:alphaModFix/>
          </a:blip>
          <a:srcRect b="0" l="0" r="0" t="0"/>
          <a:stretch/>
        </p:blipFill>
        <p:spPr>
          <a:xfrm>
            <a:off x="9155529" y="2013993"/>
            <a:ext cx="1886719" cy="1573711"/>
          </a:xfrm>
          <a:prstGeom prst="rect">
            <a:avLst/>
          </a:prstGeom>
          <a:noFill/>
          <a:ln>
            <a:noFill/>
          </a:ln>
        </p:spPr>
      </p:pic>
      <p:sp>
        <p:nvSpPr>
          <p:cNvPr id="355" name="Google Shape;355;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356" name="Google Shape;356;p24"/>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que é </a:t>
            </a:r>
            <a:r>
              <a:rPr b="0" i="0" lang="es-ES" sz="3500" u="none" cap="none" strike="noStrike">
                <a:solidFill>
                  <a:srgbClr val="FFC000"/>
                </a:solidFill>
                <a:latin typeface="Palatino Linotype"/>
                <a:ea typeface="Palatino Linotype"/>
                <a:cs typeface="Palatino Linotype"/>
                <a:sym typeface="Palatino Linotype"/>
              </a:rPr>
              <a:t>PODER</a:t>
            </a:r>
            <a:r>
              <a:rPr b="0" i="0" lang="es-ES" sz="3500" u="none" cap="none" strike="noStrike">
                <a:solidFill>
                  <a:schemeClr val="lt1"/>
                </a:solidFill>
                <a:latin typeface="Palatino Linotype"/>
                <a:ea typeface="Palatino Linotype"/>
                <a:cs typeface="Palatino Linotype"/>
                <a:sym typeface="Palatino Linotype"/>
              </a:rPr>
              <a:t>?</a:t>
            </a:r>
            <a:endParaRPr b="0" i="0" sz="3500" u="none" cap="none" strike="noStrike">
              <a:solidFill>
                <a:schemeClr val="lt1"/>
              </a:solidFill>
              <a:latin typeface="Palatino Linotype"/>
              <a:ea typeface="Palatino Linotype"/>
              <a:cs typeface="Palatino Linotype"/>
              <a:sym typeface="Palatino Linotype"/>
            </a:endParaRPr>
          </a:p>
        </p:txBody>
      </p:sp>
      <p:pic>
        <p:nvPicPr>
          <p:cNvPr descr="Imagem relacionada" id="357" name="Google Shape;357;p24"/>
          <p:cNvPicPr preferRelativeResize="0"/>
          <p:nvPr/>
        </p:nvPicPr>
        <p:blipFill rotWithShape="1">
          <a:blip r:embed="rId6">
            <a:alphaModFix/>
          </a:blip>
          <a:srcRect b="0" l="0" r="0" t="0"/>
          <a:stretch/>
        </p:blipFill>
        <p:spPr>
          <a:xfrm>
            <a:off x="5075358" y="2013994"/>
            <a:ext cx="2103744" cy="1573710"/>
          </a:xfrm>
          <a:prstGeom prst="rect">
            <a:avLst/>
          </a:prstGeom>
          <a:noFill/>
          <a:ln>
            <a:noFill/>
          </a:ln>
        </p:spPr>
      </p:pic>
      <p:pic>
        <p:nvPicPr>
          <p:cNvPr descr="Resultado de imagem para cersei lannister" id="358" name="Google Shape;358;p24"/>
          <p:cNvPicPr preferRelativeResize="0"/>
          <p:nvPr/>
        </p:nvPicPr>
        <p:blipFill rotWithShape="1">
          <a:blip r:embed="rId7">
            <a:alphaModFix/>
          </a:blip>
          <a:srcRect b="0" l="12086" r="12546" t="0"/>
          <a:stretch/>
        </p:blipFill>
        <p:spPr>
          <a:xfrm>
            <a:off x="7161740" y="2013993"/>
            <a:ext cx="2106661" cy="1573711"/>
          </a:xfrm>
          <a:prstGeom prst="rect">
            <a:avLst/>
          </a:prstGeom>
          <a:noFill/>
          <a:ln>
            <a:noFill/>
          </a:ln>
        </p:spPr>
      </p:pic>
      <p:pic>
        <p:nvPicPr>
          <p:cNvPr descr="Resultado de imagem para poder" id="359" name="Google Shape;359;p24"/>
          <p:cNvPicPr preferRelativeResize="0"/>
          <p:nvPr/>
        </p:nvPicPr>
        <p:blipFill rotWithShape="1">
          <a:blip r:embed="rId8">
            <a:alphaModFix/>
          </a:blip>
          <a:srcRect b="0" l="12035" r="0" t="0"/>
          <a:stretch/>
        </p:blipFill>
        <p:spPr>
          <a:xfrm>
            <a:off x="3204649" y="3569922"/>
            <a:ext cx="1905672" cy="1534406"/>
          </a:xfrm>
          <a:prstGeom prst="rect">
            <a:avLst/>
          </a:prstGeom>
          <a:noFill/>
          <a:ln>
            <a:noFill/>
          </a:ln>
        </p:spPr>
      </p:pic>
      <p:pic>
        <p:nvPicPr>
          <p:cNvPr descr="Resultado de imagem para bope em ação" id="360" name="Google Shape;360;p24"/>
          <p:cNvPicPr preferRelativeResize="0"/>
          <p:nvPr/>
        </p:nvPicPr>
        <p:blipFill rotWithShape="1">
          <a:blip r:embed="rId9">
            <a:alphaModFix/>
          </a:blip>
          <a:srcRect b="0" l="0" r="0" t="0"/>
          <a:stretch/>
        </p:blipFill>
        <p:spPr>
          <a:xfrm>
            <a:off x="5098602" y="3567522"/>
            <a:ext cx="2057256" cy="1536806"/>
          </a:xfrm>
          <a:prstGeom prst="rect">
            <a:avLst/>
          </a:prstGeom>
          <a:noFill/>
          <a:ln>
            <a:noFill/>
          </a:ln>
        </p:spPr>
      </p:pic>
      <p:pic>
        <p:nvPicPr>
          <p:cNvPr descr="Resultado de imagem para culto evangelico" id="361" name="Google Shape;361;p24"/>
          <p:cNvPicPr preferRelativeResize="0"/>
          <p:nvPr/>
        </p:nvPicPr>
        <p:blipFill rotWithShape="1">
          <a:blip r:embed="rId10">
            <a:alphaModFix/>
          </a:blip>
          <a:srcRect b="0" l="17370" r="3598" t="0"/>
          <a:stretch/>
        </p:blipFill>
        <p:spPr>
          <a:xfrm>
            <a:off x="7144476" y="3587704"/>
            <a:ext cx="2028415" cy="1519465"/>
          </a:xfrm>
          <a:prstGeom prst="rect">
            <a:avLst/>
          </a:prstGeom>
          <a:noFill/>
          <a:ln>
            <a:noFill/>
          </a:ln>
        </p:spPr>
      </p:pic>
      <p:pic>
        <p:nvPicPr>
          <p:cNvPr descr="Resultado de imagem para poder" id="362" name="Google Shape;362;p24"/>
          <p:cNvPicPr preferRelativeResize="0"/>
          <p:nvPr/>
        </p:nvPicPr>
        <p:blipFill rotWithShape="1">
          <a:blip r:embed="rId11">
            <a:alphaModFix/>
          </a:blip>
          <a:srcRect b="0" l="0" r="0" t="0"/>
          <a:stretch/>
        </p:blipFill>
        <p:spPr>
          <a:xfrm>
            <a:off x="9115063" y="3587704"/>
            <a:ext cx="1927185" cy="1514838"/>
          </a:xfrm>
          <a:prstGeom prst="rect">
            <a:avLst/>
          </a:prstGeom>
          <a:noFill/>
          <a:ln>
            <a:noFill/>
          </a:ln>
        </p:spPr>
      </p:pic>
      <p:pic>
        <p:nvPicPr>
          <p:cNvPr descr="Resultado de imagem para yes we can" id="363" name="Google Shape;363;p24"/>
          <p:cNvPicPr preferRelativeResize="0"/>
          <p:nvPr/>
        </p:nvPicPr>
        <p:blipFill rotWithShape="1">
          <a:blip r:embed="rId12">
            <a:alphaModFix/>
          </a:blip>
          <a:srcRect b="0" l="5066" r="8324" t="0"/>
          <a:stretch/>
        </p:blipFill>
        <p:spPr>
          <a:xfrm>
            <a:off x="1012692" y="5102543"/>
            <a:ext cx="1516376" cy="1137282"/>
          </a:xfrm>
          <a:prstGeom prst="rect">
            <a:avLst/>
          </a:prstGeom>
          <a:noFill/>
          <a:ln>
            <a:noFill/>
          </a:ln>
        </p:spPr>
      </p:pic>
      <p:pic>
        <p:nvPicPr>
          <p:cNvPr descr="Resultado de imagem para motosserra cortando arvore" id="364" name="Google Shape;364;p24"/>
          <p:cNvPicPr preferRelativeResize="0"/>
          <p:nvPr/>
        </p:nvPicPr>
        <p:blipFill rotWithShape="1">
          <a:blip r:embed="rId13">
            <a:alphaModFix/>
          </a:blip>
          <a:srcRect b="0" l="0" r="9566" t="0"/>
          <a:stretch/>
        </p:blipFill>
        <p:spPr>
          <a:xfrm>
            <a:off x="2529069" y="5102542"/>
            <a:ext cx="1516378" cy="1137283"/>
          </a:xfrm>
          <a:prstGeom prst="rect">
            <a:avLst/>
          </a:prstGeom>
          <a:noFill/>
          <a:ln>
            <a:noFill/>
          </a:ln>
        </p:spPr>
      </p:pic>
      <p:pic>
        <p:nvPicPr>
          <p:cNvPr descr="https://ogimg.infoglobo.com.br/in/21836492-365-74e/FT1086A/652/xppg.jpg.pagespeed.ic.azi97fKWXI.jpg" id="365" name="Google Shape;365;p24"/>
          <p:cNvPicPr preferRelativeResize="0"/>
          <p:nvPr/>
        </p:nvPicPr>
        <p:blipFill rotWithShape="1">
          <a:blip r:embed="rId14">
            <a:alphaModFix/>
          </a:blip>
          <a:srcRect b="0" l="0" r="0" t="0"/>
          <a:stretch/>
        </p:blipFill>
        <p:spPr>
          <a:xfrm>
            <a:off x="5517418" y="5104328"/>
            <a:ext cx="1902053" cy="1141933"/>
          </a:xfrm>
          <a:prstGeom prst="rect">
            <a:avLst/>
          </a:prstGeom>
          <a:noFill/>
          <a:ln>
            <a:noFill/>
          </a:ln>
        </p:spPr>
      </p:pic>
      <p:pic>
        <p:nvPicPr>
          <p:cNvPr id="366" name="Google Shape;366;p24"/>
          <p:cNvPicPr preferRelativeResize="0"/>
          <p:nvPr/>
        </p:nvPicPr>
        <p:blipFill rotWithShape="1">
          <a:blip r:embed="rId15">
            <a:alphaModFix/>
          </a:blip>
          <a:srcRect b="0" l="0" r="0" t="0"/>
          <a:stretch/>
        </p:blipFill>
        <p:spPr>
          <a:xfrm>
            <a:off x="7419472" y="5104328"/>
            <a:ext cx="1819143" cy="1135497"/>
          </a:xfrm>
          <a:prstGeom prst="rect">
            <a:avLst/>
          </a:prstGeom>
          <a:noFill/>
          <a:ln>
            <a:noFill/>
          </a:ln>
        </p:spPr>
      </p:pic>
      <p:pic>
        <p:nvPicPr>
          <p:cNvPr id="367" name="Google Shape;367;p24"/>
          <p:cNvPicPr preferRelativeResize="0"/>
          <p:nvPr/>
        </p:nvPicPr>
        <p:blipFill rotWithShape="1">
          <a:blip r:embed="rId16">
            <a:alphaModFix/>
          </a:blip>
          <a:srcRect b="0" l="0" r="0" t="0"/>
          <a:stretch/>
        </p:blipFill>
        <p:spPr>
          <a:xfrm>
            <a:off x="9238615" y="5096756"/>
            <a:ext cx="1803633" cy="1143070"/>
          </a:xfrm>
          <a:prstGeom prst="rect">
            <a:avLst/>
          </a:prstGeom>
          <a:noFill/>
          <a:ln>
            <a:noFill/>
          </a:ln>
        </p:spPr>
      </p:pic>
      <p:pic>
        <p:nvPicPr>
          <p:cNvPr descr="https://media.npr.org/assets/img/2017/02/24/gettyimages-71715631-d781e4a25adbb8a20d646a69625ca9716d441a2f-s800-c85.jpg" id="368" name="Google Shape;368;p24"/>
          <p:cNvPicPr preferRelativeResize="0"/>
          <p:nvPr/>
        </p:nvPicPr>
        <p:blipFill rotWithShape="1">
          <a:blip r:embed="rId17">
            <a:alphaModFix/>
          </a:blip>
          <a:srcRect b="0" l="0" r="0" t="0"/>
          <a:stretch/>
        </p:blipFill>
        <p:spPr>
          <a:xfrm>
            <a:off x="1012691" y="1978633"/>
            <a:ext cx="2126234" cy="1594676"/>
          </a:xfrm>
          <a:prstGeom prst="rect">
            <a:avLst/>
          </a:prstGeom>
          <a:noFill/>
          <a:ln>
            <a:noFill/>
          </a:ln>
        </p:spPr>
      </p:pic>
      <p:pic>
        <p:nvPicPr>
          <p:cNvPr id="369" name="Google Shape;369;p24"/>
          <p:cNvPicPr preferRelativeResize="0"/>
          <p:nvPr/>
        </p:nvPicPr>
        <p:blipFill rotWithShape="1">
          <a:blip r:embed="rId18">
            <a:alphaModFix/>
          </a:blip>
          <a:srcRect b="0" l="0" r="0" t="0"/>
          <a:stretch/>
        </p:blipFill>
        <p:spPr>
          <a:xfrm>
            <a:off x="1014650" y="3562349"/>
            <a:ext cx="2280271" cy="1540192"/>
          </a:xfrm>
          <a:prstGeom prst="rect">
            <a:avLst/>
          </a:prstGeom>
          <a:noFill/>
          <a:ln>
            <a:noFill/>
          </a:ln>
        </p:spPr>
      </p:pic>
      <p:sp>
        <p:nvSpPr>
          <p:cNvPr id="370" name="Google Shape;370;p24"/>
          <p:cNvSpPr txBox="1"/>
          <p:nvPr/>
        </p:nvSpPr>
        <p:spPr>
          <a:xfrm>
            <a:off x="8038618" y="204802"/>
            <a:ext cx="331518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ES" sz="1200" u="none" cap="none" strike="noStrike">
                <a:solidFill>
                  <a:srgbClr val="BFBFBF"/>
                </a:solidFill>
                <a:latin typeface="Calibri"/>
                <a:ea typeface="Calibri"/>
                <a:cs typeface="Calibri"/>
                <a:sym typeface="Calibri"/>
              </a:rPr>
              <a:t>Komatsu, A. V. (2020). As bases do poder. Slides da disciplina: Relações de poder nas organizações.</a:t>
            </a:r>
            <a:endParaRPr b="0" i="0" sz="1200" u="none" cap="none" strike="noStrike">
              <a:solidFill>
                <a:srgbClr val="BFBFBF"/>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376" name="Google Shape;376;p25"/>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que é </a:t>
            </a:r>
            <a:r>
              <a:rPr b="0" i="0" lang="es-ES" sz="3500" u="none" cap="none" strike="noStrike">
                <a:solidFill>
                  <a:srgbClr val="FFC000"/>
                </a:solidFill>
                <a:latin typeface="Palatino Linotype"/>
                <a:ea typeface="Palatino Linotype"/>
                <a:cs typeface="Palatino Linotype"/>
                <a:sym typeface="Palatino Linotype"/>
              </a:rPr>
              <a:t>PODER</a:t>
            </a:r>
            <a:r>
              <a:rPr b="0" i="0" lang="es-ES" sz="3500" u="none" cap="none" strike="noStrike">
                <a:solidFill>
                  <a:schemeClr val="lt1"/>
                </a:solidFill>
                <a:latin typeface="Palatino Linotype"/>
                <a:ea typeface="Palatino Linotype"/>
                <a:cs typeface="Palatino Linotype"/>
                <a:sym typeface="Palatino Linotype"/>
              </a:rPr>
              <a:t>?</a:t>
            </a:r>
            <a:endParaRPr b="0" i="0" sz="3500" u="none" cap="none" strike="noStrike">
              <a:solidFill>
                <a:schemeClr val="lt1"/>
              </a:solidFill>
              <a:latin typeface="Palatino Linotype"/>
              <a:ea typeface="Palatino Linotype"/>
              <a:cs typeface="Palatino Linotype"/>
              <a:sym typeface="Palatino Linotype"/>
            </a:endParaRPr>
          </a:p>
        </p:txBody>
      </p:sp>
      <p:sp>
        <p:nvSpPr>
          <p:cNvPr id="377" name="Google Shape;377;p25"/>
          <p:cNvSpPr txBox="1"/>
          <p:nvPr/>
        </p:nvSpPr>
        <p:spPr>
          <a:xfrm>
            <a:off x="2667966" y="4623878"/>
            <a:ext cx="1771666" cy="7848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1" i="0" lang="es-ES" sz="1500" u="none" cap="none" strike="noStrike">
                <a:solidFill>
                  <a:srgbClr val="182A2E"/>
                </a:solidFill>
                <a:latin typeface="Palatino Linotype"/>
                <a:ea typeface="Palatino Linotype"/>
                <a:cs typeface="Palatino Linotype"/>
                <a:sym typeface="Palatino Linotype"/>
              </a:rPr>
              <a:t>Norberto Bobbio</a:t>
            </a:r>
            <a:br>
              <a:rPr b="1" i="0" lang="es-ES" sz="1500" u="none" cap="none" strike="noStrike">
                <a:solidFill>
                  <a:srgbClr val="182A2E"/>
                </a:solidFill>
                <a:latin typeface="Palatino Linotype"/>
                <a:ea typeface="Palatino Linotype"/>
                <a:cs typeface="Palatino Linotype"/>
                <a:sym typeface="Palatino Linotype"/>
              </a:rPr>
            </a:br>
            <a:r>
              <a:rPr b="1" i="0" lang="es-ES" sz="1500" u="none" cap="none" strike="noStrike">
                <a:solidFill>
                  <a:srgbClr val="182A2E"/>
                </a:solidFill>
                <a:latin typeface="Palatino Linotype"/>
                <a:ea typeface="Palatino Linotype"/>
                <a:cs typeface="Palatino Linotype"/>
                <a:sym typeface="Palatino Linotype"/>
              </a:rPr>
              <a:t>(Itália)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00"/>
              <a:buFont typeface="Arial"/>
              <a:buNone/>
            </a:pPr>
            <a:r>
              <a:rPr b="1" i="0" lang="es-ES" sz="1500" u="none" cap="none" strike="noStrike">
                <a:solidFill>
                  <a:srgbClr val="182A2E"/>
                </a:solidFill>
                <a:latin typeface="Palatino Linotype"/>
                <a:ea typeface="Palatino Linotype"/>
                <a:cs typeface="Palatino Linotype"/>
                <a:sym typeface="Palatino Linotype"/>
              </a:rPr>
              <a:t>Filósofo político</a:t>
            </a:r>
            <a:endParaRPr b="1" i="0" sz="1500" u="none" cap="none" strike="noStrike">
              <a:solidFill>
                <a:srgbClr val="182A2E"/>
              </a:solidFill>
              <a:latin typeface="Palatino Linotype"/>
              <a:ea typeface="Palatino Linotype"/>
              <a:cs typeface="Palatino Linotype"/>
              <a:sym typeface="Palatino Linotype"/>
            </a:endParaRPr>
          </a:p>
        </p:txBody>
      </p:sp>
      <p:pic>
        <p:nvPicPr>
          <p:cNvPr descr="Resultado de imagem para bobbio" id="378" name="Google Shape;378;p25"/>
          <p:cNvPicPr preferRelativeResize="0"/>
          <p:nvPr/>
        </p:nvPicPr>
        <p:blipFill rotWithShape="1">
          <a:blip r:embed="rId3">
            <a:alphaModFix/>
          </a:blip>
          <a:srcRect b="0" l="0" r="0" t="0"/>
          <a:stretch/>
        </p:blipFill>
        <p:spPr>
          <a:xfrm>
            <a:off x="2667965" y="2221539"/>
            <a:ext cx="1771666" cy="2402340"/>
          </a:xfrm>
          <a:prstGeom prst="rect">
            <a:avLst/>
          </a:prstGeom>
          <a:noFill/>
          <a:ln cap="flat" cmpd="sng" w="9525">
            <a:solidFill>
              <a:srgbClr val="7F7F7F"/>
            </a:solidFill>
            <a:prstDash val="solid"/>
            <a:miter lim="800000"/>
            <a:headEnd len="sm" w="sm" type="none"/>
            <a:tailEnd len="sm" w="sm" type="none"/>
          </a:ln>
        </p:spPr>
      </p:pic>
      <p:sp>
        <p:nvSpPr>
          <p:cNvPr id="379" name="Google Shape;379;p25"/>
          <p:cNvSpPr/>
          <p:nvPr/>
        </p:nvSpPr>
        <p:spPr>
          <a:xfrm>
            <a:off x="4312368" y="3207847"/>
            <a:ext cx="785191" cy="357809"/>
          </a:xfrm>
          <a:prstGeom prst="triangle">
            <a:avLst>
              <a:gd fmla="val 50000" name="adj"/>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0" name="Google Shape;380;p25"/>
          <p:cNvSpPr/>
          <p:nvPr/>
        </p:nvSpPr>
        <p:spPr>
          <a:xfrm>
            <a:off x="4672397" y="2689245"/>
            <a:ext cx="4929809" cy="1458014"/>
          </a:xfrm>
          <a:prstGeom prst="roundRect">
            <a:avLst>
              <a:gd fmla="val 16667" name="adj"/>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Calibri"/>
                <a:ea typeface="Calibri"/>
                <a:cs typeface="Calibri"/>
                <a:sym typeface="Calibri"/>
              </a:rPr>
              <a:t>Em seu significado mais geral, a palavra poder designa a </a:t>
            </a:r>
            <a:r>
              <a:rPr b="1" i="0" lang="es-ES" sz="1800" u="sng" cap="none" strike="noStrike">
                <a:solidFill>
                  <a:schemeClr val="dk1"/>
                </a:solidFill>
                <a:latin typeface="Calibri"/>
                <a:ea typeface="Calibri"/>
                <a:cs typeface="Calibri"/>
                <a:sym typeface="Calibri"/>
              </a:rPr>
              <a:t>capacidade ou a possibilidade de agir</a:t>
            </a:r>
            <a:r>
              <a:rPr b="1" i="0" lang="es-ES" sz="1800" u="none" cap="none" strike="noStrike">
                <a:solidFill>
                  <a:schemeClr val="dk1"/>
                </a:solidFill>
                <a:latin typeface="Calibri"/>
                <a:ea typeface="Calibri"/>
                <a:cs typeface="Calibri"/>
                <a:sym typeface="Calibri"/>
              </a:rPr>
              <a:t>, de produzir efeitos</a:t>
            </a:r>
            <a:endParaRPr b="1" i="1" sz="180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386" name="Google Shape;386;p26"/>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que é </a:t>
            </a:r>
            <a:r>
              <a:rPr b="0" i="0" lang="es-ES" sz="3500" u="none" cap="none" strike="noStrike">
                <a:solidFill>
                  <a:srgbClr val="FFC000"/>
                </a:solidFill>
                <a:latin typeface="Palatino Linotype"/>
                <a:ea typeface="Palatino Linotype"/>
                <a:cs typeface="Palatino Linotype"/>
                <a:sym typeface="Palatino Linotype"/>
              </a:rPr>
              <a:t>PODER</a:t>
            </a:r>
            <a:r>
              <a:rPr b="0" i="0" lang="es-ES" sz="3500" u="none" cap="none" strike="noStrike">
                <a:solidFill>
                  <a:schemeClr val="lt1"/>
                </a:solidFill>
                <a:latin typeface="Palatino Linotype"/>
                <a:ea typeface="Palatino Linotype"/>
                <a:cs typeface="Palatino Linotype"/>
                <a:sym typeface="Palatino Linotype"/>
              </a:rPr>
              <a:t>?</a:t>
            </a:r>
            <a:endParaRPr b="0" i="0" sz="3500" u="none" cap="none" strike="noStrike">
              <a:solidFill>
                <a:schemeClr val="lt1"/>
              </a:solidFill>
              <a:latin typeface="Palatino Linotype"/>
              <a:ea typeface="Palatino Linotype"/>
              <a:cs typeface="Palatino Linotype"/>
              <a:sym typeface="Palatino Linotype"/>
            </a:endParaRPr>
          </a:p>
        </p:txBody>
      </p:sp>
      <p:pic>
        <p:nvPicPr>
          <p:cNvPr id="387" name="Google Shape;387;p26"/>
          <p:cNvPicPr preferRelativeResize="0"/>
          <p:nvPr/>
        </p:nvPicPr>
        <p:blipFill rotWithShape="1">
          <a:blip r:embed="rId3">
            <a:alphaModFix/>
          </a:blip>
          <a:srcRect b="0" l="0" r="0" t="0"/>
          <a:stretch/>
        </p:blipFill>
        <p:spPr>
          <a:xfrm>
            <a:off x="1921398" y="2282815"/>
            <a:ext cx="1696917" cy="2121146"/>
          </a:xfrm>
          <a:prstGeom prst="rect">
            <a:avLst/>
          </a:prstGeom>
          <a:noFill/>
          <a:ln>
            <a:noFill/>
          </a:ln>
        </p:spPr>
      </p:pic>
      <p:sp>
        <p:nvSpPr>
          <p:cNvPr id="388" name="Google Shape;388;p26"/>
          <p:cNvSpPr txBox="1"/>
          <p:nvPr/>
        </p:nvSpPr>
        <p:spPr>
          <a:xfrm>
            <a:off x="1921398" y="4403960"/>
            <a:ext cx="1696917"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1" i="0" lang="es-ES" sz="1500" u="none" cap="none" strike="noStrike">
                <a:solidFill>
                  <a:srgbClr val="182A2E"/>
                </a:solidFill>
                <a:latin typeface="Palatino Linotype"/>
                <a:ea typeface="Palatino Linotype"/>
                <a:cs typeface="Palatino Linotype"/>
                <a:sym typeface="Palatino Linotype"/>
              </a:rPr>
              <a:t>Michel Foucault</a:t>
            </a:r>
            <a:br>
              <a:rPr b="1" i="0" lang="es-ES" sz="1500" u="none" cap="none" strike="noStrike">
                <a:solidFill>
                  <a:srgbClr val="182A2E"/>
                </a:solidFill>
                <a:latin typeface="Palatino Linotype"/>
                <a:ea typeface="Palatino Linotype"/>
                <a:cs typeface="Palatino Linotype"/>
                <a:sym typeface="Palatino Linotype"/>
              </a:rPr>
            </a:br>
            <a:r>
              <a:rPr b="1" i="0" lang="es-ES" sz="1500" u="none" cap="none" strike="noStrike">
                <a:solidFill>
                  <a:srgbClr val="182A2E"/>
                </a:solidFill>
                <a:latin typeface="Palatino Linotype"/>
                <a:ea typeface="Palatino Linotype"/>
                <a:cs typeface="Palatino Linotype"/>
                <a:sym typeface="Palatino Linotype"/>
              </a:rPr>
              <a:t>(França)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00"/>
              <a:buFont typeface="Arial"/>
              <a:buNone/>
            </a:pPr>
            <a:r>
              <a:rPr b="1" i="0" lang="es-ES" sz="1500" u="none" cap="none" strike="noStrike">
                <a:solidFill>
                  <a:srgbClr val="182A2E"/>
                </a:solidFill>
                <a:latin typeface="Palatino Linotype"/>
                <a:ea typeface="Palatino Linotype"/>
                <a:cs typeface="Palatino Linotype"/>
                <a:sym typeface="Palatino Linotype"/>
              </a:rPr>
              <a:t>Filósofo, historiador</a:t>
            </a:r>
            <a:endParaRPr b="1" i="0" sz="1500" u="none" cap="none" strike="noStrike">
              <a:solidFill>
                <a:srgbClr val="182A2E"/>
              </a:solidFill>
              <a:latin typeface="Palatino Linotype"/>
              <a:ea typeface="Palatino Linotype"/>
              <a:cs typeface="Palatino Linotype"/>
              <a:sym typeface="Palatino Linotype"/>
            </a:endParaRPr>
          </a:p>
        </p:txBody>
      </p:sp>
      <p:sp>
        <p:nvSpPr>
          <p:cNvPr id="389" name="Google Shape;389;p26"/>
          <p:cNvSpPr/>
          <p:nvPr/>
        </p:nvSpPr>
        <p:spPr>
          <a:xfrm>
            <a:off x="3531077" y="2987929"/>
            <a:ext cx="785191" cy="357809"/>
          </a:xfrm>
          <a:prstGeom prst="triangle">
            <a:avLst>
              <a:gd fmla="val 50000" name="adj"/>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0" name="Google Shape;390;p26"/>
          <p:cNvSpPr/>
          <p:nvPr/>
        </p:nvSpPr>
        <p:spPr>
          <a:xfrm>
            <a:off x="3891106" y="2469327"/>
            <a:ext cx="4929809" cy="1458014"/>
          </a:xfrm>
          <a:prstGeom prst="roundRect">
            <a:avLst>
              <a:gd fmla="val 16667" name="adj"/>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Calibri"/>
                <a:ea typeface="Calibri"/>
                <a:cs typeface="Calibri"/>
                <a:sym typeface="Calibri"/>
              </a:rPr>
              <a:t>O poder é [...], acima de tudo, uma relação de força.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pic>
        <p:nvPicPr>
          <p:cNvPr descr="https://upload.wikimedia.org/wikipedia/commons/thumb/b/b1/Hannah_Arendt_1933.jpg/200px-Hannah_Arendt_1933.jpg" id="395" name="Google Shape;395;p27"/>
          <p:cNvPicPr preferRelativeResize="0"/>
          <p:nvPr/>
        </p:nvPicPr>
        <p:blipFill rotWithShape="1">
          <a:blip r:embed="rId3">
            <a:alphaModFix/>
          </a:blip>
          <a:srcRect b="0" l="0" r="0" t="0"/>
          <a:stretch/>
        </p:blipFill>
        <p:spPr>
          <a:xfrm>
            <a:off x="9125903" y="2469327"/>
            <a:ext cx="1905000" cy="2695576"/>
          </a:xfrm>
          <a:prstGeom prst="rect">
            <a:avLst/>
          </a:prstGeom>
          <a:noFill/>
          <a:ln>
            <a:noFill/>
          </a:ln>
        </p:spPr>
      </p:pic>
      <p:sp>
        <p:nvSpPr>
          <p:cNvPr id="396" name="Google Shape;396;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397" name="Google Shape;397;p27"/>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que é </a:t>
            </a:r>
            <a:r>
              <a:rPr b="0" i="0" lang="es-ES" sz="3500" u="none" cap="none" strike="noStrike">
                <a:solidFill>
                  <a:srgbClr val="FFC000"/>
                </a:solidFill>
                <a:latin typeface="Palatino Linotype"/>
                <a:ea typeface="Palatino Linotype"/>
                <a:cs typeface="Palatino Linotype"/>
                <a:sym typeface="Palatino Linotype"/>
              </a:rPr>
              <a:t>PODER</a:t>
            </a:r>
            <a:r>
              <a:rPr b="0" i="0" lang="es-ES" sz="3500" u="none" cap="none" strike="noStrike">
                <a:solidFill>
                  <a:schemeClr val="lt1"/>
                </a:solidFill>
                <a:latin typeface="Palatino Linotype"/>
                <a:ea typeface="Palatino Linotype"/>
                <a:cs typeface="Palatino Linotype"/>
                <a:sym typeface="Palatino Linotype"/>
              </a:rPr>
              <a:t>?</a:t>
            </a:r>
            <a:endParaRPr b="0" i="0" sz="3500" u="none" cap="none" strike="noStrike">
              <a:solidFill>
                <a:schemeClr val="lt1"/>
              </a:solidFill>
              <a:latin typeface="Palatino Linotype"/>
              <a:ea typeface="Palatino Linotype"/>
              <a:cs typeface="Palatino Linotype"/>
              <a:sym typeface="Palatino Linotype"/>
            </a:endParaRPr>
          </a:p>
        </p:txBody>
      </p:sp>
      <p:pic>
        <p:nvPicPr>
          <p:cNvPr id="398" name="Google Shape;398;p27"/>
          <p:cNvPicPr preferRelativeResize="0"/>
          <p:nvPr/>
        </p:nvPicPr>
        <p:blipFill rotWithShape="1">
          <a:blip r:embed="rId4">
            <a:alphaModFix/>
          </a:blip>
          <a:srcRect b="0" l="0" r="0" t="0"/>
          <a:stretch/>
        </p:blipFill>
        <p:spPr>
          <a:xfrm>
            <a:off x="1921398" y="2282815"/>
            <a:ext cx="1696917" cy="2121146"/>
          </a:xfrm>
          <a:prstGeom prst="rect">
            <a:avLst/>
          </a:prstGeom>
          <a:noFill/>
          <a:ln>
            <a:noFill/>
          </a:ln>
        </p:spPr>
      </p:pic>
      <p:sp>
        <p:nvSpPr>
          <p:cNvPr id="399" name="Google Shape;399;p27"/>
          <p:cNvSpPr txBox="1"/>
          <p:nvPr/>
        </p:nvSpPr>
        <p:spPr>
          <a:xfrm>
            <a:off x="1921398" y="4403960"/>
            <a:ext cx="1696917"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1" i="0" lang="es-ES" sz="1500" u="none" cap="none" strike="noStrike">
                <a:solidFill>
                  <a:srgbClr val="182A2E"/>
                </a:solidFill>
                <a:latin typeface="Palatino Linotype"/>
                <a:ea typeface="Palatino Linotype"/>
                <a:cs typeface="Palatino Linotype"/>
                <a:sym typeface="Palatino Linotype"/>
              </a:rPr>
              <a:t>Michel Foucault</a:t>
            </a:r>
            <a:br>
              <a:rPr b="1" i="0" lang="es-ES" sz="1500" u="none" cap="none" strike="noStrike">
                <a:solidFill>
                  <a:srgbClr val="182A2E"/>
                </a:solidFill>
                <a:latin typeface="Palatino Linotype"/>
                <a:ea typeface="Palatino Linotype"/>
                <a:cs typeface="Palatino Linotype"/>
                <a:sym typeface="Palatino Linotype"/>
              </a:rPr>
            </a:br>
            <a:r>
              <a:rPr b="1" i="0" lang="es-ES" sz="1500" u="none" cap="none" strike="noStrike">
                <a:solidFill>
                  <a:srgbClr val="182A2E"/>
                </a:solidFill>
                <a:latin typeface="Palatino Linotype"/>
                <a:ea typeface="Palatino Linotype"/>
                <a:cs typeface="Palatino Linotype"/>
                <a:sym typeface="Palatino Linotype"/>
              </a:rPr>
              <a:t>(França)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00"/>
              <a:buFont typeface="Arial"/>
              <a:buNone/>
            </a:pPr>
            <a:r>
              <a:rPr b="1" i="0" lang="es-ES" sz="1500" u="none" cap="none" strike="noStrike">
                <a:solidFill>
                  <a:srgbClr val="182A2E"/>
                </a:solidFill>
                <a:latin typeface="Palatino Linotype"/>
                <a:ea typeface="Palatino Linotype"/>
                <a:cs typeface="Palatino Linotype"/>
                <a:sym typeface="Palatino Linotype"/>
              </a:rPr>
              <a:t>Filósofo, historiador</a:t>
            </a:r>
            <a:endParaRPr b="1" i="0" sz="1500" u="none" cap="none" strike="noStrike">
              <a:solidFill>
                <a:srgbClr val="182A2E"/>
              </a:solidFill>
              <a:latin typeface="Palatino Linotype"/>
              <a:ea typeface="Palatino Linotype"/>
              <a:cs typeface="Palatino Linotype"/>
              <a:sym typeface="Palatino Linotype"/>
            </a:endParaRPr>
          </a:p>
        </p:txBody>
      </p:sp>
      <p:sp>
        <p:nvSpPr>
          <p:cNvPr id="400" name="Google Shape;400;p27"/>
          <p:cNvSpPr/>
          <p:nvPr/>
        </p:nvSpPr>
        <p:spPr>
          <a:xfrm>
            <a:off x="3531077" y="2987929"/>
            <a:ext cx="785191" cy="357809"/>
          </a:xfrm>
          <a:prstGeom prst="triangle">
            <a:avLst>
              <a:gd fmla="val 50000" name="adj"/>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1" name="Google Shape;401;p27"/>
          <p:cNvSpPr/>
          <p:nvPr/>
        </p:nvSpPr>
        <p:spPr>
          <a:xfrm>
            <a:off x="3891106" y="2469327"/>
            <a:ext cx="4929809" cy="1458014"/>
          </a:xfrm>
          <a:prstGeom prst="roundRect">
            <a:avLst>
              <a:gd fmla="val 16667" name="adj"/>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Calibri"/>
                <a:ea typeface="Calibri"/>
                <a:cs typeface="Calibri"/>
                <a:sym typeface="Calibri"/>
              </a:rPr>
              <a:t>O poder é [...], acima de tudo, uma relação de força.</a:t>
            </a:r>
            <a:endParaRPr b="0" i="0" sz="1400" u="none" cap="none" strike="noStrike">
              <a:solidFill>
                <a:srgbClr val="000000"/>
              </a:solidFill>
              <a:latin typeface="Arial"/>
              <a:ea typeface="Arial"/>
              <a:cs typeface="Arial"/>
              <a:sym typeface="Arial"/>
            </a:endParaRPr>
          </a:p>
        </p:txBody>
      </p:sp>
      <p:sp>
        <p:nvSpPr>
          <p:cNvPr id="402" name="Google Shape;402;p27"/>
          <p:cNvSpPr/>
          <p:nvPr/>
        </p:nvSpPr>
        <p:spPr>
          <a:xfrm>
            <a:off x="3891106" y="4130713"/>
            <a:ext cx="4929809" cy="1928633"/>
          </a:xfrm>
          <a:prstGeom prst="roundRect">
            <a:avLst>
              <a:gd fmla="val 16667" name="adj"/>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1" lang="es-ES" sz="1800" u="none" cap="none" strike="noStrike">
                <a:solidFill>
                  <a:schemeClr val="dk1"/>
                </a:solidFill>
                <a:latin typeface="Arial"/>
                <a:ea typeface="Arial"/>
                <a:cs typeface="Arial"/>
                <a:sym typeface="Arial"/>
              </a:rPr>
              <a:t>Poder implica necessariamente a existência de duas ou mais pessoas, ou seja, o poder é sempre relacional (...) Poder seria o oposto da violência. A violência acontece quando se dá a perda de autoridade e poder.</a:t>
            </a:r>
            <a:endParaRPr b="1" i="1" sz="1800" u="none" cap="none" strike="noStrike">
              <a:solidFill>
                <a:schemeClr val="dk1"/>
              </a:solidFill>
              <a:latin typeface="Arial"/>
              <a:ea typeface="Arial"/>
              <a:cs typeface="Arial"/>
              <a:sym typeface="Arial"/>
            </a:endParaRPr>
          </a:p>
        </p:txBody>
      </p:sp>
      <p:sp>
        <p:nvSpPr>
          <p:cNvPr id="403" name="Google Shape;403;p27"/>
          <p:cNvSpPr/>
          <p:nvPr/>
        </p:nvSpPr>
        <p:spPr>
          <a:xfrm rot="-2932737">
            <a:off x="8428319" y="4200513"/>
            <a:ext cx="785191" cy="357809"/>
          </a:xfrm>
          <a:prstGeom prst="triangle">
            <a:avLst>
              <a:gd fmla="val 50000" name="adj"/>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4" name="Google Shape;404;p27"/>
          <p:cNvSpPr txBox="1"/>
          <p:nvPr/>
        </p:nvSpPr>
        <p:spPr>
          <a:xfrm>
            <a:off x="9125902" y="5156401"/>
            <a:ext cx="1905001" cy="7848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1" i="0" lang="es-ES" sz="1500" u="none" cap="none" strike="noStrike">
                <a:solidFill>
                  <a:srgbClr val="182A2E"/>
                </a:solidFill>
                <a:latin typeface="Palatino Linotype"/>
                <a:ea typeface="Palatino Linotype"/>
                <a:cs typeface="Palatino Linotype"/>
                <a:sym typeface="Palatino Linotype"/>
              </a:rPr>
              <a:t>Hannah Arendt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00"/>
              <a:buFont typeface="Arial"/>
              <a:buNone/>
            </a:pPr>
            <a:r>
              <a:rPr b="1" i="0" lang="es-ES" sz="1500" u="none" cap="none" strike="noStrike">
                <a:solidFill>
                  <a:srgbClr val="182A2E"/>
                </a:solidFill>
                <a:latin typeface="Palatino Linotype"/>
                <a:ea typeface="Palatino Linotype"/>
                <a:cs typeface="Palatino Linotype"/>
                <a:sym typeface="Palatino Linotype"/>
              </a:rPr>
              <a:t>(Alemanha)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00"/>
              <a:buFont typeface="Arial"/>
              <a:buNone/>
            </a:pPr>
            <a:r>
              <a:rPr b="1" i="0" lang="es-ES" sz="1500" u="none" cap="none" strike="noStrike">
                <a:solidFill>
                  <a:srgbClr val="182A2E"/>
                </a:solidFill>
                <a:latin typeface="Palatino Linotype"/>
                <a:ea typeface="Palatino Linotype"/>
                <a:cs typeface="Palatino Linotype"/>
                <a:sym typeface="Palatino Linotype"/>
              </a:rPr>
              <a:t>Filósofa Política</a:t>
            </a:r>
            <a:endParaRPr b="1" i="0" sz="1500" u="none" cap="none" strike="noStrike">
              <a:solidFill>
                <a:srgbClr val="182A2E"/>
              </a:solidFill>
              <a:latin typeface="Palatino Linotype"/>
              <a:ea typeface="Palatino Linotype"/>
              <a:cs typeface="Palatino Linotype"/>
              <a:sym typeface="Palatino Linotype"/>
            </a:endParaRPr>
          </a:p>
        </p:txBody>
      </p:sp>
      <p:sp>
        <p:nvSpPr>
          <p:cNvPr id="405" name="Google Shape;405;p27"/>
          <p:cNvSpPr txBox="1"/>
          <p:nvPr/>
        </p:nvSpPr>
        <p:spPr>
          <a:xfrm>
            <a:off x="8038618" y="204802"/>
            <a:ext cx="331518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ES" sz="1200" u="none" cap="none" strike="noStrike">
                <a:solidFill>
                  <a:srgbClr val="BFBFBF"/>
                </a:solidFill>
                <a:latin typeface="Calibri"/>
                <a:ea typeface="Calibri"/>
                <a:cs typeface="Calibri"/>
                <a:sym typeface="Calibri"/>
              </a:rPr>
              <a:t>Komatsu, A. V. (2020). As bases do poder. Slides da disciplina: Relações de poder nas organizações.</a:t>
            </a:r>
            <a:endParaRPr b="0" i="0" sz="1200" u="none" cap="none" strike="noStrike">
              <a:solidFill>
                <a:srgbClr val="BFBFBF"/>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411" name="Google Shape;411;p28"/>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que é </a:t>
            </a:r>
            <a:r>
              <a:rPr b="0" i="0" lang="es-ES" sz="3500" u="none" cap="none" strike="noStrike">
                <a:solidFill>
                  <a:srgbClr val="FFC000"/>
                </a:solidFill>
                <a:latin typeface="Palatino Linotype"/>
                <a:ea typeface="Palatino Linotype"/>
                <a:cs typeface="Palatino Linotype"/>
                <a:sym typeface="Palatino Linotype"/>
              </a:rPr>
              <a:t>PODER</a:t>
            </a:r>
            <a:r>
              <a:rPr b="0" i="0" lang="es-ES" sz="3500" u="none" cap="none" strike="noStrike">
                <a:solidFill>
                  <a:schemeClr val="lt1"/>
                </a:solidFill>
                <a:latin typeface="Palatino Linotype"/>
                <a:ea typeface="Palatino Linotype"/>
                <a:cs typeface="Palatino Linotype"/>
                <a:sym typeface="Palatino Linotype"/>
              </a:rPr>
              <a:t>?</a:t>
            </a:r>
            <a:endParaRPr b="0" i="0" sz="3500" u="none" cap="none" strike="noStrike">
              <a:solidFill>
                <a:schemeClr val="lt1"/>
              </a:solidFill>
              <a:latin typeface="Palatino Linotype"/>
              <a:ea typeface="Palatino Linotype"/>
              <a:cs typeface="Palatino Linotype"/>
              <a:sym typeface="Palatino Linotype"/>
            </a:endParaRPr>
          </a:p>
        </p:txBody>
      </p:sp>
      <p:pic>
        <p:nvPicPr>
          <p:cNvPr descr="Resultado de imagem para nicos poulantzas" id="412" name="Google Shape;412;p28"/>
          <p:cNvPicPr preferRelativeResize="0"/>
          <p:nvPr/>
        </p:nvPicPr>
        <p:blipFill rotWithShape="1">
          <a:blip r:embed="rId3">
            <a:alphaModFix/>
          </a:blip>
          <a:srcRect b="0" l="0" r="0" t="0"/>
          <a:stretch/>
        </p:blipFill>
        <p:spPr>
          <a:xfrm>
            <a:off x="2597304" y="2189725"/>
            <a:ext cx="2139039" cy="2851200"/>
          </a:xfrm>
          <a:prstGeom prst="rect">
            <a:avLst/>
          </a:prstGeom>
          <a:noFill/>
          <a:ln cap="flat" cmpd="sng" w="9525">
            <a:solidFill>
              <a:srgbClr val="7F7F7F"/>
            </a:solidFill>
            <a:prstDash val="solid"/>
            <a:miter lim="800000"/>
            <a:headEnd len="sm" w="sm" type="none"/>
            <a:tailEnd len="sm" w="sm" type="none"/>
          </a:ln>
        </p:spPr>
      </p:pic>
      <p:sp>
        <p:nvSpPr>
          <p:cNvPr id="413" name="Google Shape;413;p28"/>
          <p:cNvSpPr txBox="1"/>
          <p:nvPr/>
        </p:nvSpPr>
        <p:spPr>
          <a:xfrm>
            <a:off x="2253074" y="5216650"/>
            <a:ext cx="2827500" cy="785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1" i="0" lang="es-ES" sz="1500" u="none" cap="none" strike="noStrike">
                <a:solidFill>
                  <a:srgbClr val="182A2E"/>
                </a:solidFill>
                <a:latin typeface="Palatino Linotype"/>
                <a:ea typeface="Palatino Linotype"/>
                <a:cs typeface="Palatino Linotype"/>
                <a:sym typeface="Palatino Linotype"/>
              </a:rPr>
              <a:t>Nicos Poulantzas</a:t>
            </a:r>
            <a:endParaRPr b="1" i="0" sz="1500" u="none" cap="none" strike="noStrike">
              <a:solidFill>
                <a:srgbClr val="182A2E"/>
              </a:solidFill>
              <a:latin typeface="Palatino Linotype"/>
              <a:ea typeface="Palatino Linotype"/>
              <a:cs typeface="Palatino Linotype"/>
              <a:sym typeface="Palatino Linotype"/>
            </a:endParaRPr>
          </a:p>
          <a:p>
            <a:pPr indent="0" lvl="0" marL="0" marR="0" rtl="0" algn="ctr">
              <a:lnSpc>
                <a:spcPct val="100000"/>
              </a:lnSpc>
              <a:spcBef>
                <a:spcPts val="0"/>
              </a:spcBef>
              <a:spcAft>
                <a:spcPts val="0"/>
              </a:spcAft>
              <a:buClr>
                <a:srgbClr val="000000"/>
              </a:buClr>
              <a:buSzPts val="1500"/>
              <a:buFont typeface="Arial"/>
              <a:buNone/>
            </a:pPr>
            <a:r>
              <a:rPr b="1" i="0" lang="es-ES" sz="1500" u="none" cap="none" strike="noStrike">
                <a:solidFill>
                  <a:srgbClr val="182A2E"/>
                </a:solidFill>
                <a:latin typeface="Palatino Linotype"/>
                <a:ea typeface="Palatino Linotype"/>
                <a:cs typeface="Palatino Linotype"/>
                <a:sym typeface="Palatino Linotype"/>
              </a:rPr>
              <a:t>(França)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00"/>
              <a:buFont typeface="Arial"/>
              <a:buNone/>
            </a:pPr>
            <a:r>
              <a:rPr b="1" i="0" lang="es-ES" sz="1500" u="none" cap="none" strike="noStrike">
                <a:solidFill>
                  <a:srgbClr val="182A2E"/>
                </a:solidFill>
                <a:latin typeface="Palatino Linotype"/>
                <a:ea typeface="Palatino Linotype"/>
                <a:cs typeface="Palatino Linotype"/>
                <a:sym typeface="Palatino Linotype"/>
              </a:rPr>
              <a:t>Filósofo, Sociólogo</a:t>
            </a:r>
            <a:endParaRPr b="1" i="0" sz="1500" u="none" cap="none" strike="noStrike">
              <a:solidFill>
                <a:srgbClr val="182A2E"/>
              </a:solidFill>
              <a:latin typeface="Palatino Linotype"/>
              <a:ea typeface="Palatino Linotype"/>
              <a:cs typeface="Palatino Linotype"/>
              <a:sym typeface="Palatino Linotype"/>
            </a:endParaRPr>
          </a:p>
        </p:txBody>
      </p:sp>
      <p:sp>
        <p:nvSpPr>
          <p:cNvPr id="414" name="Google Shape;414;p28"/>
          <p:cNvSpPr/>
          <p:nvPr/>
        </p:nvSpPr>
        <p:spPr>
          <a:xfrm>
            <a:off x="4729057" y="3198695"/>
            <a:ext cx="785191" cy="357809"/>
          </a:xfrm>
          <a:prstGeom prst="triangle">
            <a:avLst>
              <a:gd fmla="val 50000" name="adj"/>
            </a:avLst>
          </a:prstGeom>
          <a:solidFill>
            <a:srgbClr val="FF0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5" name="Google Shape;415;p28"/>
          <p:cNvSpPr/>
          <p:nvPr/>
        </p:nvSpPr>
        <p:spPr>
          <a:xfrm>
            <a:off x="5089073" y="2680102"/>
            <a:ext cx="5864100" cy="1967700"/>
          </a:xfrm>
          <a:prstGeom prst="roundRect">
            <a:avLst>
              <a:gd fmla="val 16667" name="adj"/>
            </a:avLst>
          </a:prstGeom>
          <a:solidFill>
            <a:srgbClr val="FF0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900"/>
              <a:buFont typeface="Arial"/>
              <a:buNone/>
            </a:pPr>
            <a:r>
              <a:rPr b="1" i="0" lang="es-ES" sz="2900" u="none" cap="none" strike="noStrike">
                <a:solidFill>
                  <a:schemeClr val="lt1"/>
                </a:solidFill>
                <a:latin typeface="Calibri"/>
                <a:ea typeface="Calibri"/>
                <a:cs typeface="Calibri"/>
                <a:sym typeface="Calibri"/>
              </a:rPr>
              <a:t>Designamos por poder a capacidade de uma classe social de realizar os seus interesses objetivos específicos</a:t>
            </a:r>
            <a:endParaRPr b="0" i="0" sz="2500" u="none" cap="none" strike="noStrike">
              <a:solidFill>
                <a:schemeClr val="lt1"/>
              </a:solidFill>
              <a:latin typeface="Arial"/>
              <a:ea typeface="Arial"/>
              <a:cs typeface="Arial"/>
              <a:sym typeface="Arial"/>
            </a:endParaRPr>
          </a:p>
        </p:txBody>
      </p:sp>
      <p:sp>
        <p:nvSpPr>
          <p:cNvPr id="416" name="Google Shape;416;p28"/>
          <p:cNvSpPr txBox="1"/>
          <p:nvPr/>
        </p:nvSpPr>
        <p:spPr>
          <a:xfrm>
            <a:off x="8038618" y="204802"/>
            <a:ext cx="331518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ES" sz="1200" u="none" cap="none" strike="noStrike">
                <a:solidFill>
                  <a:srgbClr val="BFBFBF"/>
                </a:solidFill>
                <a:latin typeface="Calibri"/>
                <a:ea typeface="Calibri"/>
                <a:cs typeface="Calibri"/>
                <a:sym typeface="Calibri"/>
              </a:rPr>
              <a:t>Komatsu, A. V. (2020). As bases do poder. Slides da disciplina: Relações de poder nas organizações.</a:t>
            </a:r>
            <a:endParaRPr b="0" i="0" sz="1200" u="none" cap="none" strike="noStrike">
              <a:solidFill>
                <a:srgbClr val="BFBFBF"/>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pic>
        <p:nvPicPr>
          <p:cNvPr descr="Resultado de imagem para bertrand russell" id="421" name="Google Shape;421;p29"/>
          <p:cNvPicPr preferRelativeResize="0"/>
          <p:nvPr/>
        </p:nvPicPr>
        <p:blipFill rotWithShape="1">
          <a:blip r:embed="rId3">
            <a:alphaModFix/>
          </a:blip>
          <a:srcRect b="0" l="0" r="0" t="0"/>
          <a:stretch/>
        </p:blipFill>
        <p:spPr>
          <a:xfrm>
            <a:off x="2372677" y="2378601"/>
            <a:ext cx="2158400" cy="3123125"/>
          </a:xfrm>
          <a:prstGeom prst="rect">
            <a:avLst/>
          </a:prstGeom>
          <a:noFill/>
          <a:ln cap="flat" cmpd="sng" w="9525">
            <a:solidFill>
              <a:srgbClr val="7F7F7F"/>
            </a:solidFill>
            <a:prstDash val="solid"/>
            <a:miter lim="800000"/>
            <a:headEnd len="sm" w="sm" type="none"/>
            <a:tailEnd len="sm" w="sm" type="none"/>
          </a:ln>
        </p:spPr>
      </p:pic>
      <p:sp>
        <p:nvSpPr>
          <p:cNvPr id="422" name="Google Shape;422;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423" name="Google Shape;423;p29"/>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que é </a:t>
            </a:r>
            <a:r>
              <a:rPr b="0" i="0" lang="es-ES" sz="3500" u="none" cap="none" strike="noStrike">
                <a:solidFill>
                  <a:srgbClr val="FFC000"/>
                </a:solidFill>
                <a:latin typeface="Palatino Linotype"/>
                <a:ea typeface="Palatino Linotype"/>
                <a:cs typeface="Palatino Linotype"/>
                <a:sym typeface="Palatino Linotype"/>
              </a:rPr>
              <a:t>PODER</a:t>
            </a:r>
            <a:r>
              <a:rPr b="0" i="0" lang="es-ES" sz="3500" u="none" cap="none" strike="noStrike">
                <a:solidFill>
                  <a:schemeClr val="lt1"/>
                </a:solidFill>
                <a:latin typeface="Palatino Linotype"/>
                <a:ea typeface="Palatino Linotype"/>
                <a:cs typeface="Palatino Linotype"/>
                <a:sym typeface="Palatino Linotype"/>
              </a:rPr>
              <a:t>?</a:t>
            </a:r>
            <a:endParaRPr b="0" i="0" sz="3500" u="none" cap="none" strike="noStrike">
              <a:solidFill>
                <a:schemeClr val="lt1"/>
              </a:solidFill>
              <a:latin typeface="Palatino Linotype"/>
              <a:ea typeface="Palatino Linotype"/>
              <a:cs typeface="Palatino Linotype"/>
              <a:sym typeface="Palatino Linotype"/>
            </a:endParaRPr>
          </a:p>
        </p:txBody>
      </p:sp>
      <p:sp>
        <p:nvSpPr>
          <p:cNvPr id="424" name="Google Shape;424;p29"/>
          <p:cNvSpPr txBox="1"/>
          <p:nvPr/>
        </p:nvSpPr>
        <p:spPr>
          <a:xfrm>
            <a:off x="2052224" y="5501725"/>
            <a:ext cx="3201600" cy="101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1" i="0" lang="es-ES" sz="1500" u="none" cap="none" strike="noStrike">
                <a:solidFill>
                  <a:srgbClr val="182A2E"/>
                </a:solidFill>
                <a:latin typeface="Palatino Linotype"/>
                <a:ea typeface="Palatino Linotype"/>
                <a:cs typeface="Palatino Linotype"/>
                <a:sym typeface="Palatino Linotype"/>
              </a:rPr>
              <a:t>Bertrand Russel</a:t>
            </a:r>
            <a:br>
              <a:rPr b="1" i="0" lang="es-ES" sz="1500" u="none" cap="none" strike="noStrike">
                <a:solidFill>
                  <a:srgbClr val="182A2E"/>
                </a:solidFill>
                <a:latin typeface="Palatino Linotype"/>
                <a:ea typeface="Palatino Linotype"/>
                <a:cs typeface="Palatino Linotype"/>
                <a:sym typeface="Palatino Linotype"/>
              </a:rPr>
            </a:br>
            <a:r>
              <a:rPr b="1" i="0" lang="es-ES" sz="1500" u="none" cap="none" strike="noStrike">
                <a:solidFill>
                  <a:srgbClr val="182A2E"/>
                </a:solidFill>
                <a:latin typeface="Palatino Linotype"/>
                <a:ea typeface="Palatino Linotype"/>
                <a:cs typeface="Palatino Linotype"/>
                <a:sym typeface="Palatino Linotype"/>
              </a:rPr>
              <a:t>(Reino Unido)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00"/>
              <a:buFont typeface="Arial"/>
              <a:buNone/>
            </a:pPr>
            <a:r>
              <a:rPr b="1" i="0" lang="es-ES" sz="1500" u="none" cap="none" strike="noStrike">
                <a:solidFill>
                  <a:srgbClr val="182A2E"/>
                </a:solidFill>
                <a:latin typeface="Palatino Linotype"/>
                <a:ea typeface="Palatino Linotype"/>
                <a:cs typeface="Palatino Linotype"/>
                <a:sym typeface="Palatino Linotype"/>
              </a:rPr>
              <a:t>Filósofo, Matemático</a:t>
            </a:r>
            <a:endParaRPr b="1" i="0" sz="1500" u="none" cap="none" strike="noStrike">
              <a:solidFill>
                <a:srgbClr val="182A2E"/>
              </a:solidFill>
              <a:latin typeface="Palatino Linotype"/>
              <a:ea typeface="Palatino Linotype"/>
              <a:cs typeface="Palatino Linotype"/>
              <a:sym typeface="Palatino Linotype"/>
            </a:endParaRPr>
          </a:p>
          <a:p>
            <a:pPr indent="0" lvl="0" marL="0" marR="0" rtl="0" algn="ctr">
              <a:lnSpc>
                <a:spcPct val="100000"/>
              </a:lnSpc>
              <a:spcBef>
                <a:spcPts val="0"/>
              </a:spcBef>
              <a:spcAft>
                <a:spcPts val="0"/>
              </a:spcAft>
              <a:buClr>
                <a:srgbClr val="000000"/>
              </a:buClr>
              <a:buSzPts val="1500"/>
              <a:buFont typeface="Arial"/>
              <a:buNone/>
            </a:pPr>
            <a:r>
              <a:t/>
            </a:r>
            <a:endParaRPr b="1" i="0" sz="1500" u="none" cap="none" strike="noStrike">
              <a:solidFill>
                <a:srgbClr val="182A2E"/>
              </a:solidFill>
              <a:latin typeface="Palatino Linotype"/>
              <a:ea typeface="Palatino Linotype"/>
              <a:cs typeface="Palatino Linotype"/>
              <a:sym typeface="Palatino Linotype"/>
            </a:endParaRPr>
          </a:p>
        </p:txBody>
      </p:sp>
      <p:sp>
        <p:nvSpPr>
          <p:cNvPr id="425" name="Google Shape;425;p29"/>
          <p:cNvSpPr/>
          <p:nvPr/>
        </p:nvSpPr>
        <p:spPr>
          <a:xfrm>
            <a:off x="4468627" y="3273638"/>
            <a:ext cx="785191" cy="357809"/>
          </a:xfrm>
          <a:prstGeom prst="triangle">
            <a:avLst>
              <a:gd fmla="val 50000" name="adj"/>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6" name="Google Shape;426;p29"/>
          <p:cNvSpPr/>
          <p:nvPr/>
        </p:nvSpPr>
        <p:spPr>
          <a:xfrm>
            <a:off x="4828649" y="2755019"/>
            <a:ext cx="6043500" cy="2250300"/>
          </a:xfrm>
          <a:prstGeom prst="roundRect">
            <a:avLst>
              <a:gd fmla="val 16667" name="adj"/>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100"/>
              <a:buFont typeface="Arial"/>
              <a:buNone/>
            </a:pPr>
            <a:r>
              <a:rPr b="1" i="0" lang="es-ES" sz="3100" u="none" cap="none" strike="noStrike">
                <a:solidFill>
                  <a:schemeClr val="dk1"/>
                </a:solidFill>
                <a:latin typeface="Calibri"/>
                <a:ea typeface="Calibri"/>
                <a:cs typeface="Calibri"/>
                <a:sym typeface="Calibri"/>
              </a:rPr>
              <a:t>O poder pode ser definido como a produção dos resultados pretendidos</a:t>
            </a:r>
            <a:endParaRPr b="0" i="0" sz="2700" u="none" cap="none" strike="noStrike">
              <a:solidFill>
                <a:srgbClr val="000000"/>
              </a:solidFill>
              <a:latin typeface="Arial"/>
              <a:ea typeface="Arial"/>
              <a:cs typeface="Arial"/>
              <a:sym typeface="Arial"/>
            </a:endParaRPr>
          </a:p>
        </p:txBody>
      </p:sp>
      <p:sp>
        <p:nvSpPr>
          <p:cNvPr id="427" name="Google Shape;427;p29"/>
          <p:cNvSpPr txBox="1"/>
          <p:nvPr/>
        </p:nvSpPr>
        <p:spPr>
          <a:xfrm>
            <a:off x="8038618" y="204802"/>
            <a:ext cx="331518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ES" sz="1200" u="none" cap="none" strike="noStrike">
                <a:solidFill>
                  <a:srgbClr val="BFBFBF"/>
                </a:solidFill>
                <a:latin typeface="Calibri"/>
                <a:ea typeface="Calibri"/>
                <a:cs typeface="Calibri"/>
                <a:sym typeface="Calibri"/>
              </a:rPr>
              <a:t>Komatsu, A. V. (2020). As bases do poder. Slides da disciplina: Relações de poder nas organizações.</a:t>
            </a:r>
            <a:endParaRPr b="0" i="0" sz="1200" u="none" cap="none" strike="noStrike">
              <a:solidFill>
                <a:srgbClr val="BFBFBF"/>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433" name="Google Shape;433;p30"/>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que é </a:t>
            </a:r>
            <a:r>
              <a:rPr b="0" i="0" lang="es-ES" sz="3500" u="none" cap="none" strike="noStrike">
                <a:solidFill>
                  <a:srgbClr val="FFC000"/>
                </a:solidFill>
                <a:latin typeface="Palatino Linotype"/>
                <a:ea typeface="Palatino Linotype"/>
                <a:cs typeface="Palatino Linotype"/>
                <a:sym typeface="Palatino Linotype"/>
              </a:rPr>
              <a:t>PODER</a:t>
            </a:r>
            <a:r>
              <a:rPr b="0" i="0" lang="es-ES" sz="3500" u="none" cap="none" strike="noStrike">
                <a:solidFill>
                  <a:schemeClr val="lt1"/>
                </a:solidFill>
                <a:latin typeface="Palatino Linotype"/>
                <a:ea typeface="Palatino Linotype"/>
                <a:cs typeface="Palatino Linotype"/>
                <a:sym typeface="Palatino Linotype"/>
              </a:rPr>
              <a:t>?</a:t>
            </a:r>
            <a:endParaRPr b="0" i="0" sz="3500" u="none" cap="none" strike="noStrike">
              <a:solidFill>
                <a:schemeClr val="lt1"/>
              </a:solidFill>
              <a:latin typeface="Palatino Linotype"/>
              <a:ea typeface="Palatino Linotype"/>
              <a:cs typeface="Palatino Linotype"/>
              <a:sym typeface="Palatino Linotype"/>
            </a:endParaRPr>
          </a:p>
        </p:txBody>
      </p:sp>
      <p:pic>
        <p:nvPicPr>
          <p:cNvPr descr="Resultado de imagem para max weber" id="434" name="Google Shape;434;p30"/>
          <p:cNvPicPr preferRelativeResize="0"/>
          <p:nvPr/>
        </p:nvPicPr>
        <p:blipFill rotWithShape="1">
          <a:blip r:embed="rId3">
            <a:alphaModFix/>
          </a:blip>
          <a:srcRect b="0" l="0" r="0" t="0"/>
          <a:stretch/>
        </p:blipFill>
        <p:spPr>
          <a:xfrm>
            <a:off x="1921397" y="2166342"/>
            <a:ext cx="1556821" cy="2231445"/>
          </a:xfrm>
          <a:prstGeom prst="rect">
            <a:avLst/>
          </a:prstGeom>
          <a:noFill/>
          <a:ln>
            <a:noFill/>
          </a:ln>
        </p:spPr>
      </p:pic>
      <p:sp>
        <p:nvSpPr>
          <p:cNvPr id="435" name="Google Shape;435;p30"/>
          <p:cNvSpPr/>
          <p:nvPr/>
        </p:nvSpPr>
        <p:spPr>
          <a:xfrm>
            <a:off x="3386394" y="2964780"/>
            <a:ext cx="785191" cy="357809"/>
          </a:xfrm>
          <a:prstGeom prst="triangle">
            <a:avLst>
              <a:gd fmla="val 50000" name="adj"/>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6" name="Google Shape;436;p30"/>
          <p:cNvSpPr/>
          <p:nvPr/>
        </p:nvSpPr>
        <p:spPr>
          <a:xfrm>
            <a:off x="3746423" y="2446178"/>
            <a:ext cx="4929809" cy="1458014"/>
          </a:xfrm>
          <a:prstGeom prst="roundRect">
            <a:avLst>
              <a:gd fmla="val 16667" name="adj"/>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1" lang="es-ES" sz="1800" u="none" cap="none" strike="noStrike">
                <a:solidFill>
                  <a:schemeClr val="dk1"/>
                </a:solidFill>
                <a:latin typeface="Arial"/>
                <a:ea typeface="Arial"/>
                <a:cs typeface="Arial"/>
                <a:sym typeface="Arial"/>
              </a:rPr>
              <a:t>Poder significa impor a própria vontade numa relação social, mesmo contra resistências, a despeito de qualquer justificativa.</a:t>
            </a:r>
            <a:endParaRPr b="1" i="1" sz="1800" u="none" cap="none" strike="noStrike">
              <a:solidFill>
                <a:schemeClr val="dk1"/>
              </a:solidFill>
              <a:latin typeface="Arial"/>
              <a:ea typeface="Arial"/>
              <a:cs typeface="Arial"/>
              <a:sym typeface="Arial"/>
            </a:endParaRPr>
          </a:p>
        </p:txBody>
      </p:sp>
      <p:sp>
        <p:nvSpPr>
          <p:cNvPr id="437" name="Google Shape;437;p30"/>
          <p:cNvSpPr txBox="1"/>
          <p:nvPr/>
        </p:nvSpPr>
        <p:spPr>
          <a:xfrm>
            <a:off x="1921398" y="4397787"/>
            <a:ext cx="1556820" cy="7848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1" i="0" lang="es-ES" sz="1500" u="none" cap="none" strike="noStrike">
                <a:solidFill>
                  <a:srgbClr val="182A2E"/>
                </a:solidFill>
                <a:latin typeface="Palatino Linotype"/>
                <a:ea typeface="Palatino Linotype"/>
                <a:cs typeface="Palatino Linotype"/>
                <a:sym typeface="Palatino Linotype"/>
              </a:rPr>
              <a:t>Max Weber</a:t>
            </a:r>
            <a:br>
              <a:rPr b="1" i="0" lang="es-ES" sz="1500" u="none" cap="none" strike="noStrike">
                <a:solidFill>
                  <a:srgbClr val="182A2E"/>
                </a:solidFill>
                <a:latin typeface="Palatino Linotype"/>
                <a:ea typeface="Palatino Linotype"/>
                <a:cs typeface="Palatino Linotype"/>
                <a:sym typeface="Palatino Linotype"/>
              </a:rPr>
            </a:br>
            <a:r>
              <a:rPr b="1" i="0" lang="es-ES" sz="1500" u="none" cap="none" strike="noStrike">
                <a:solidFill>
                  <a:srgbClr val="182A2E"/>
                </a:solidFill>
                <a:latin typeface="Palatino Linotype"/>
                <a:ea typeface="Palatino Linotype"/>
                <a:cs typeface="Palatino Linotype"/>
                <a:sym typeface="Palatino Linotype"/>
              </a:rPr>
              <a:t>(Alemanha)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00"/>
              <a:buFont typeface="Arial"/>
              <a:buNone/>
            </a:pPr>
            <a:r>
              <a:rPr b="1" i="0" lang="es-ES" sz="1500" u="none" cap="none" strike="noStrike">
                <a:solidFill>
                  <a:srgbClr val="182A2E"/>
                </a:solidFill>
                <a:latin typeface="Palatino Linotype"/>
                <a:ea typeface="Palatino Linotype"/>
                <a:cs typeface="Palatino Linotype"/>
                <a:sym typeface="Palatino Linotype"/>
              </a:rPr>
              <a:t>Sociólogo</a:t>
            </a:r>
            <a:endParaRPr b="1" i="0" sz="1500" u="none" cap="none" strike="noStrike">
              <a:solidFill>
                <a:srgbClr val="182A2E"/>
              </a:solidFill>
              <a:latin typeface="Palatino Linotype"/>
              <a:ea typeface="Palatino Linotype"/>
              <a:cs typeface="Palatino Linotype"/>
              <a:sym typeface="Palatino Linotype"/>
            </a:endParaRPr>
          </a:p>
        </p:txBody>
      </p:sp>
      <p:sp>
        <p:nvSpPr>
          <p:cNvPr id="438" name="Google Shape;438;p30"/>
          <p:cNvSpPr txBox="1"/>
          <p:nvPr/>
        </p:nvSpPr>
        <p:spPr>
          <a:xfrm>
            <a:off x="8038618" y="204802"/>
            <a:ext cx="331518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ES" sz="1200" u="none" cap="none" strike="noStrike">
                <a:solidFill>
                  <a:srgbClr val="BFBFBF"/>
                </a:solidFill>
                <a:latin typeface="Calibri"/>
                <a:ea typeface="Calibri"/>
                <a:cs typeface="Calibri"/>
                <a:sym typeface="Calibri"/>
              </a:rPr>
              <a:t>Komatsu, A. V. (2020). As bases do poder. Slides da disciplina: Relações de poder nas organizações.</a:t>
            </a:r>
            <a:endParaRPr b="0" i="0" sz="1200" u="none" cap="none" strike="noStrike">
              <a:solidFill>
                <a:srgbClr val="BFBFBF"/>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444" name="Google Shape;444;p31"/>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que é </a:t>
            </a:r>
            <a:r>
              <a:rPr b="0" i="0" lang="es-ES" sz="3500" u="none" cap="none" strike="noStrike">
                <a:solidFill>
                  <a:srgbClr val="FFC000"/>
                </a:solidFill>
                <a:latin typeface="Palatino Linotype"/>
                <a:ea typeface="Palatino Linotype"/>
                <a:cs typeface="Palatino Linotype"/>
                <a:sym typeface="Palatino Linotype"/>
              </a:rPr>
              <a:t>PODER</a:t>
            </a:r>
            <a:r>
              <a:rPr b="0" i="0" lang="es-ES" sz="3500" u="none" cap="none" strike="noStrike">
                <a:solidFill>
                  <a:schemeClr val="lt1"/>
                </a:solidFill>
                <a:latin typeface="Palatino Linotype"/>
                <a:ea typeface="Palatino Linotype"/>
                <a:cs typeface="Palatino Linotype"/>
                <a:sym typeface="Palatino Linotype"/>
              </a:rPr>
              <a:t>?</a:t>
            </a:r>
            <a:endParaRPr b="0" i="0" sz="3500" u="none" cap="none" strike="noStrike">
              <a:solidFill>
                <a:schemeClr val="lt1"/>
              </a:solidFill>
              <a:latin typeface="Palatino Linotype"/>
              <a:ea typeface="Palatino Linotype"/>
              <a:cs typeface="Palatino Linotype"/>
              <a:sym typeface="Palatino Linotype"/>
            </a:endParaRPr>
          </a:p>
        </p:txBody>
      </p:sp>
      <p:pic>
        <p:nvPicPr>
          <p:cNvPr descr="Resultado de imagem para max weber" id="445" name="Google Shape;445;p31"/>
          <p:cNvPicPr preferRelativeResize="0"/>
          <p:nvPr/>
        </p:nvPicPr>
        <p:blipFill rotWithShape="1">
          <a:blip r:embed="rId3">
            <a:alphaModFix/>
          </a:blip>
          <a:srcRect b="0" l="0" r="0" t="0"/>
          <a:stretch/>
        </p:blipFill>
        <p:spPr>
          <a:xfrm>
            <a:off x="1921397" y="2166342"/>
            <a:ext cx="1556821" cy="2231445"/>
          </a:xfrm>
          <a:prstGeom prst="rect">
            <a:avLst/>
          </a:prstGeom>
          <a:noFill/>
          <a:ln>
            <a:noFill/>
          </a:ln>
        </p:spPr>
      </p:pic>
      <p:sp>
        <p:nvSpPr>
          <p:cNvPr id="446" name="Google Shape;446;p31"/>
          <p:cNvSpPr/>
          <p:nvPr/>
        </p:nvSpPr>
        <p:spPr>
          <a:xfrm>
            <a:off x="3386394" y="2964780"/>
            <a:ext cx="785191" cy="357809"/>
          </a:xfrm>
          <a:prstGeom prst="triangle">
            <a:avLst>
              <a:gd fmla="val 50000" name="adj"/>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7" name="Google Shape;447;p31"/>
          <p:cNvSpPr/>
          <p:nvPr/>
        </p:nvSpPr>
        <p:spPr>
          <a:xfrm>
            <a:off x="3746423" y="2446178"/>
            <a:ext cx="4929809" cy="1458014"/>
          </a:xfrm>
          <a:prstGeom prst="roundRect">
            <a:avLst>
              <a:gd fmla="val 16667" name="adj"/>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1" lang="es-ES" sz="1800" u="none" cap="none" strike="noStrike">
                <a:solidFill>
                  <a:schemeClr val="dk1"/>
                </a:solidFill>
                <a:latin typeface="Arial"/>
                <a:ea typeface="Arial"/>
                <a:cs typeface="Arial"/>
                <a:sym typeface="Arial"/>
              </a:rPr>
              <a:t>Poder significa impor a própria vontade numa relação social, mesmo contra resistências, a despeito de qualquer justificativa.</a:t>
            </a:r>
            <a:endParaRPr b="1" i="1" sz="1800" u="none" cap="none" strike="noStrike">
              <a:solidFill>
                <a:schemeClr val="dk1"/>
              </a:solidFill>
              <a:latin typeface="Arial"/>
              <a:ea typeface="Arial"/>
              <a:cs typeface="Arial"/>
              <a:sym typeface="Arial"/>
            </a:endParaRPr>
          </a:p>
        </p:txBody>
      </p:sp>
      <p:sp>
        <p:nvSpPr>
          <p:cNvPr id="448" name="Google Shape;448;p31"/>
          <p:cNvSpPr/>
          <p:nvPr/>
        </p:nvSpPr>
        <p:spPr>
          <a:xfrm>
            <a:off x="3746423" y="4049691"/>
            <a:ext cx="4929809" cy="1458014"/>
          </a:xfrm>
          <a:prstGeom prst="roundRect">
            <a:avLst>
              <a:gd fmla="val 16667" name="adj"/>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1" lang="es-ES" sz="1800" u="none" cap="none" strike="noStrike">
                <a:solidFill>
                  <a:schemeClr val="dk1"/>
                </a:solidFill>
                <a:latin typeface="Arial"/>
                <a:ea typeface="Arial"/>
                <a:cs typeface="Arial"/>
                <a:sym typeface="Arial"/>
              </a:rPr>
              <a:t>O poder de uma pessoa A sobre uma pessoa B é a capacidade de A de obter que B faça algo que não teria feito sem a intervenção de A.</a:t>
            </a:r>
            <a:endParaRPr b="1" i="1" sz="1800" u="none" cap="none" strike="noStrike">
              <a:solidFill>
                <a:schemeClr val="dk1"/>
              </a:solidFill>
              <a:latin typeface="Arial"/>
              <a:ea typeface="Arial"/>
              <a:cs typeface="Arial"/>
              <a:sym typeface="Arial"/>
            </a:endParaRPr>
          </a:p>
        </p:txBody>
      </p:sp>
      <p:pic>
        <p:nvPicPr>
          <p:cNvPr id="449" name="Google Shape;449;p31"/>
          <p:cNvPicPr preferRelativeResize="0"/>
          <p:nvPr/>
        </p:nvPicPr>
        <p:blipFill rotWithShape="1">
          <a:blip r:embed="rId4">
            <a:alphaModFix/>
          </a:blip>
          <a:srcRect b="0" l="0" r="0" t="0"/>
          <a:stretch/>
        </p:blipFill>
        <p:spPr>
          <a:xfrm>
            <a:off x="8955728" y="3078342"/>
            <a:ext cx="1635279" cy="2011786"/>
          </a:xfrm>
          <a:prstGeom prst="rect">
            <a:avLst/>
          </a:prstGeom>
          <a:noFill/>
          <a:ln>
            <a:noFill/>
          </a:ln>
        </p:spPr>
      </p:pic>
      <p:sp>
        <p:nvSpPr>
          <p:cNvPr id="450" name="Google Shape;450;p31"/>
          <p:cNvSpPr/>
          <p:nvPr/>
        </p:nvSpPr>
        <p:spPr>
          <a:xfrm rot="-2932737">
            <a:off x="8283636" y="4119490"/>
            <a:ext cx="785191" cy="357809"/>
          </a:xfrm>
          <a:prstGeom prst="triangle">
            <a:avLst>
              <a:gd fmla="val 50000" name="adj"/>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1" name="Google Shape;451;p31"/>
          <p:cNvSpPr txBox="1"/>
          <p:nvPr/>
        </p:nvSpPr>
        <p:spPr>
          <a:xfrm>
            <a:off x="1921398" y="4397787"/>
            <a:ext cx="1556820" cy="7848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1" i="0" lang="es-ES" sz="1500" u="none" cap="none" strike="noStrike">
                <a:solidFill>
                  <a:srgbClr val="182A2E"/>
                </a:solidFill>
                <a:latin typeface="Palatino Linotype"/>
                <a:ea typeface="Palatino Linotype"/>
                <a:cs typeface="Palatino Linotype"/>
                <a:sym typeface="Palatino Linotype"/>
              </a:rPr>
              <a:t>Max Weber</a:t>
            </a:r>
            <a:br>
              <a:rPr b="1" i="0" lang="es-ES" sz="1500" u="none" cap="none" strike="noStrike">
                <a:solidFill>
                  <a:srgbClr val="182A2E"/>
                </a:solidFill>
                <a:latin typeface="Palatino Linotype"/>
                <a:ea typeface="Palatino Linotype"/>
                <a:cs typeface="Palatino Linotype"/>
                <a:sym typeface="Palatino Linotype"/>
              </a:rPr>
            </a:br>
            <a:r>
              <a:rPr b="1" i="0" lang="es-ES" sz="1500" u="none" cap="none" strike="noStrike">
                <a:solidFill>
                  <a:srgbClr val="182A2E"/>
                </a:solidFill>
                <a:latin typeface="Palatino Linotype"/>
                <a:ea typeface="Palatino Linotype"/>
                <a:cs typeface="Palatino Linotype"/>
                <a:sym typeface="Palatino Linotype"/>
              </a:rPr>
              <a:t>(Alemanha)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00"/>
              <a:buFont typeface="Arial"/>
              <a:buNone/>
            </a:pPr>
            <a:r>
              <a:rPr b="1" i="0" lang="es-ES" sz="1500" u="none" cap="none" strike="noStrike">
                <a:solidFill>
                  <a:srgbClr val="182A2E"/>
                </a:solidFill>
                <a:latin typeface="Palatino Linotype"/>
                <a:ea typeface="Palatino Linotype"/>
                <a:cs typeface="Palatino Linotype"/>
                <a:sym typeface="Palatino Linotype"/>
              </a:rPr>
              <a:t>Sociólogo</a:t>
            </a:r>
            <a:endParaRPr b="1" i="0" sz="1500" u="none" cap="none" strike="noStrike">
              <a:solidFill>
                <a:srgbClr val="182A2E"/>
              </a:solidFill>
              <a:latin typeface="Palatino Linotype"/>
              <a:ea typeface="Palatino Linotype"/>
              <a:cs typeface="Palatino Linotype"/>
              <a:sym typeface="Palatino Linotype"/>
            </a:endParaRPr>
          </a:p>
        </p:txBody>
      </p:sp>
      <p:sp>
        <p:nvSpPr>
          <p:cNvPr id="452" name="Google Shape;452;p31"/>
          <p:cNvSpPr txBox="1"/>
          <p:nvPr/>
        </p:nvSpPr>
        <p:spPr>
          <a:xfrm>
            <a:off x="8955729" y="5075378"/>
            <a:ext cx="1635278"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1" i="0" lang="es-ES" sz="1500" u="none" cap="none" strike="noStrike">
                <a:solidFill>
                  <a:srgbClr val="182A2E"/>
                </a:solidFill>
                <a:latin typeface="Palatino Linotype"/>
                <a:ea typeface="Palatino Linotype"/>
                <a:cs typeface="Palatino Linotype"/>
                <a:sym typeface="Palatino Linotype"/>
              </a:rPr>
              <a:t>Robert Dahl</a:t>
            </a:r>
            <a:br>
              <a:rPr b="1" i="0" lang="es-ES" sz="1500" u="none" cap="none" strike="noStrike">
                <a:solidFill>
                  <a:srgbClr val="182A2E"/>
                </a:solidFill>
                <a:latin typeface="Palatino Linotype"/>
                <a:ea typeface="Palatino Linotype"/>
                <a:cs typeface="Palatino Linotype"/>
                <a:sym typeface="Palatino Linotype"/>
              </a:rPr>
            </a:br>
            <a:r>
              <a:rPr b="1" i="0" lang="es-ES" sz="1500" u="none" cap="none" strike="noStrike">
                <a:solidFill>
                  <a:srgbClr val="182A2E"/>
                </a:solidFill>
                <a:latin typeface="Palatino Linotype"/>
                <a:ea typeface="Palatino Linotype"/>
                <a:cs typeface="Palatino Linotype"/>
                <a:sym typeface="Palatino Linotype"/>
              </a:rPr>
              <a:t>(EUA)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00"/>
              <a:buFont typeface="Arial"/>
              <a:buNone/>
            </a:pPr>
            <a:r>
              <a:rPr b="1" i="0" lang="es-ES" sz="1500" u="none" cap="none" strike="noStrike">
                <a:solidFill>
                  <a:srgbClr val="182A2E"/>
                </a:solidFill>
                <a:latin typeface="Palatino Linotype"/>
                <a:ea typeface="Palatino Linotype"/>
                <a:cs typeface="Palatino Linotype"/>
                <a:sym typeface="Palatino Linotype"/>
              </a:rPr>
              <a:t>Cientista Político</a:t>
            </a:r>
            <a:endParaRPr b="1" i="0" sz="1500" u="none" cap="none" strike="noStrike">
              <a:solidFill>
                <a:srgbClr val="182A2E"/>
              </a:solidFill>
              <a:latin typeface="Palatino Linotype"/>
              <a:ea typeface="Palatino Linotype"/>
              <a:cs typeface="Palatino Linotype"/>
              <a:sym typeface="Palatino Linotype"/>
            </a:endParaRPr>
          </a:p>
        </p:txBody>
      </p:sp>
      <p:sp>
        <p:nvSpPr>
          <p:cNvPr id="453" name="Google Shape;453;p31"/>
          <p:cNvSpPr txBox="1"/>
          <p:nvPr/>
        </p:nvSpPr>
        <p:spPr>
          <a:xfrm>
            <a:off x="8038618" y="204802"/>
            <a:ext cx="331518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ES" sz="1200" u="none" cap="none" strike="noStrike">
                <a:solidFill>
                  <a:srgbClr val="BFBFBF"/>
                </a:solidFill>
                <a:latin typeface="Calibri"/>
                <a:ea typeface="Calibri"/>
                <a:cs typeface="Calibri"/>
                <a:sym typeface="Calibri"/>
              </a:rPr>
              <a:t>Komatsu, A. V. (2020). As bases do poder. Slides da disciplina: Relações de poder nas organizações.</a:t>
            </a:r>
            <a:endParaRPr b="0" i="0" sz="1200" u="none" cap="none" strike="noStrike">
              <a:solidFill>
                <a:srgbClr val="BFBFBF"/>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459" name="Google Shape;459;p32"/>
          <p:cNvSpPr txBox="1"/>
          <p:nvPr/>
        </p:nvSpPr>
        <p:spPr>
          <a:xfrm>
            <a:off x="1018572" y="2013994"/>
            <a:ext cx="10023676" cy="36933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Palatino Linotype"/>
                <a:ea typeface="Palatino Linotype"/>
                <a:cs typeface="Palatino Linotype"/>
                <a:sym typeface="Palatino Linotype"/>
              </a:rPr>
              <a:t>Se algo existe, ele tem origem em algum lugar. De onde vem o poder?</a:t>
            </a:r>
            <a:endParaRPr b="0" i="0" sz="1800" u="none" cap="none" strike="noStrike">
              <a:solidFill>
                <a:srgbClr val="182A2E"/>
              </a:solidFill>
              <a:latin typeface="Palatino Linotype"/>
              <a:ea typeface="Palatino Linotype"/>
              <a:cs typeface="Palatino Linotype"/>
              <a:sym typeface="Palatino Linotype"/>
            </a:endParaRPr>
          </a:p>
        </p:txBody>
      </p:sp>
      <p:sp>
        <p:nvSpPr>
          <p:cNvPr id="460" name="Google Shape;460;p32"/>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De onde vem o </a:t>
            </a:r>
            <a:r>
              <a:rPr b="0" i="0" lang="es-ES" sz="3500" u="none" cap="none" strike="noStrike">
                <a:solidFill>
                  <a:srgbClr val="FFC000"/>
                </a:solidFill>
                <a:latin typeface="Palatino Linotype"/>
                <a:ea typeface="Palatino Linotype"/>
                <a:cs typeface="Palatino Linotype"/>
                <a:sym typeface="Palatino Linotype"/>
              </a:rPr>
              <a:t>Poder?</a:t>
            </a:r>
            <a:endParaRPr b="0" i="0" sz="3500" u="none" cap="none" strike="noStrike">
              <a:solidFill>
                <a:srgbClr val="FFC000"/>
              </a:solidFill>
              <a:latin typeface="Palatino Linotype"/>
              <a:ea typeface="Palatino Linotype"/>
              <a:cs typeface="Palatino Linotype"/>
              <a:sym typeface="Palatino Linotype"/>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466" name="Google Shape;466;p33"/>
          <p:cNvSpPr txBox="1"/>
          <p:nvPr/>
        </p:nvSpPr>
        <p:spPr>
          <a:xfrm>
            <a:off x="1018572" y="2013994"/>
            <a:ext cx="10023676" cy="120032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Palatino Linotype"/>
                <a:ea typeface="Palatino Linotype"/>
                <a:cs typeface="Palatino Linotype"/>
                <a:sym typeface="Palatino Linotype"/>
              </a:rPr>
              <a:t>Os psicólogos sociais </a:t>
            </a:r>
            <a:r>
              <a:rPr b="0" i="0" lang="es-ES" sz="1800" u="none" cap="none" strike="noStrike">
                <a:solidFill>
                  <a:srgbClr val="182A2E"/>
                </a:solidFill>
                <a:latin typeface="Palatino Linotype"/>
                <a:ea typeface="Palatino Linotype"/>
                <a:cs typeface="Palatino Linotype"/>
                <a:sym typeface="Palatino Linotype"/>
              </a:rPr>
              <a:t>John French e Bertram Raven definem </a:t>
            </a:r>
            <a:r>
              <a:rPr b="1" i="0" lang="es-ES" sz="1800" u="none" cap="none" strike="noStrike">
                <a:solidFill>
                  <a:srgbClr val="0070C0"/>
                </a:solidFill>
                <a:latin typeface="Palatino Linotype"/>
                <a:ea typeface="Palatino Linotype"/>
                <a:cs typeface="Palatino Linotype"/>
                <a:sym typeface="Palatino Linotype"/>
              </a:rPr>
              <a:t>influência social </a:t>
            </a:r>
            <a:r>
              <a:rPr b="0" i="0" lang="es-ES" sz="1800" u="none" cap="none" strike="noStrike">
                <a:solidFill>
                  <a:srgbClr val="0070C0"/>
                </a:solidFill>
                <a:latin typeface="Palatino Linotype"/>
                <a:ea typeface="Palatino Linotype"/>
                <a:cs typeface="Palatino Linotype"/>
                <a:sym typeface="Palatino Linotype"/>
              </a:rPr>
              <a:t>como uma mudança de crença, atitude ou comportamento de uma pessoa</a:t>
            </a:r>
            <a:r>
              <a:rPr b="0" i="0" lang="es-ES" sz="1800" u="none" cap="none" strike="noStrike">
                <a:solidFill>
                  <a:srgbClr val="182A2E"/>
                </a:solidFill>
                <a:latin typeface="Palatino Linotype"/>
                <a:ea typeface="Palatino Linotype"/>
                <a:cs typeface="Palatino Linotype"/>
                <a:sym typeface="Palatino Linotype"/>
              </a:rPr>
              <a:t> (o alvo da influência) </a:t>
            </a:r>
            <a:r>
              <a:rPr b="0" i="0" lang="es-ES" sz="1800" u="none" cap="none" strike="noStrike">
                <a:solidFill>
                  <a:srgbClr val="0070C0"/>
                </a:solidFill>
                <a:latin typeface="Palatino Linotype"/>
                <a:ea typeface="Palatino Linotype"/>
                <a:cs typeface="Palatino Linotype"/>
                <a:sym typeface="Palatino Linotype"/>
              </a:rPr>
              <a:t>como resultado da ação de outra pessoa</a:t>
            </a:r>
            <a:r>
              <a:rPr b="0" i="0" lang="es-ES" sz="1800" u="none" cap="none" strike="noStrike">
                <a:solidFill>
                  <a:srgbClr val="182A2E"/>
                </a:solidFill>
                <a:latin typeface="Palatino Linotype"/>
                <a:ea typeface="Palatino Linotype"/>
                <a:cs typeface="Palatino Linotype"/>
                <a:sym typeface="Palatino Linotype"/>
              </a:rPr>
              <a:t> (o agente influenciador). E o </a:t>
            </a:r>
            <a:r>
              <a:rPr b="1" i="0" lang="es-ES" sz="1800" u="none" cap="none" strike="noStrike">
                <a:solidFill>
                  <a:srgbClr val="0070C0"/>
                </a:solidFill>
                <a:latin typeface="Palatino Linotype"/>
                <a:ea typeface="Palatino Linotype"/>
                <a:cs typeface="Palatino Linotype"/>
                <a:sym typeface="Palatino Linotype"/>
              </a:rPr>
              <a:t>Poder</a:t>
            </a:r>
            <a:r>
              <a:rPr b="0" i="0" lang="es-ES" sz="1800" u="none" cap="none" strike="noStrike">
                <a:solidFill>
                  <a:srgbClr val="182A2E"/>
                </a:solidFill>
                <a:latin typeface="Palatino Linotype"/>
                <a:ea typeface="Palatino Linotype"/>
                <a:cs typeface="Palatino Linotype"/>
                <a:sym typeface="Palatino Linotype"/>
              </a:rPr>
              <a:t> seria a capacidade de exercer a </a:t>
            </a:r>
            <a:r>
              <a:rPr b="0" i="0" lang="es-ES" sz="1800" u="none" cap="none" strike="noStrike">
                <a:solidFill>
                  <a:srgbClr val="0070C0"/>
                </a:solidFill>
                <a:latin typeface="Palatino Linotype"/>
                <a:ea typeface="Palatino Linotype"/>
                <a:cs typeface="Palatino Linotype"/>
                <a:sym typeface="Palatino Linotype"/>
              </a:rPr>
              <a:t>influência social </a:t>
            </a:r>
            <a:r>
              <a:rPr b="0" i="0" lang="es-ES" sz="1800" u="none" cap="none" strike="noStrike">
                <a:solidFill>
                  <a:srgbClr val="182A2E"/>
                </a:solidFill>
                <a:latin typeface="Palatino Linotype"/>
                <a:ea typeface="Palatino Linotype"/>
                <a:cs typeface="Palatino Linotype"/>
                <a:sym typeface="Palatino Linotype"/>
              </a:rPr>
              <a:t>com êxito.</a:t>
            </a:r>
            <a:endParaRPr b="0" i="0" sz="1400" u="none" cap="none" strike="noStrike">
              <a:solidFill>
                <a:srgbClr val="000000"/>
              </a:solidFill>
              <a:latin typeface="Arial"/>
              <a:ea typeface="Arial"/>
              <a:cs typeface="Arial"/>
              <a:sym typeface="Arial"/>
            </a:endParaRPr>
          </a:p>
        </p:txBody>
      </p:sp>
      <p:sp>
        <p:nvSpPr>
          <p:cNvPr id="467" name="Google Shape;467;p33"/>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As seis bases do </a:t>
            </a:r>
            <a:r>
              <a:rPr b="0" i="0" lang="es-ES" sz="3500" u="none" cap="none" strike="noStrike">
                <a:solidFill>
                  <a:srgbClr val="FFC000"/>
                </a:solidFill>
                <a:latin typeface="Palatino Linotype"/>
                <a:ea typeface="Palatino Linotype"/>
                <a:cs typeface="Palatino Linotype"/>
                <a:sym typeface="Palatino Linotype"/>
              </a:rPr>
              <a:t>Poder</a:t>
            </a:r>
            <a:endParaRPr b="0" i="0" sz="3500" u="none" cap="none" strike="noStrike">
              <a:solidFill>
                <a:srgbClr val="FFC000"/>
              </a:solidFill>
              <a:latin typeface="Palatino Linotype"/>
              <a:ea typeface="Palatino Linotype"/>
              <a:cs typeface="Palatino Linotype"/>
              <a:sym typeface="Palatino Linotype"/>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473" name="Google Shape;473;p34"/>
          <p:cNvSpPr txBox="1"/>
          <p:nvPr/>
        </p:nvSpPr>
        <p:spPr>
          <a:xfrm>
            <a:off x="1018572" y="2013994"/>
            <a:ext cx="10023676" cy="120032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Palatino Linotype"/>
                <a:ea typeface="Palatino Linotype"/>
                <a:cs typeface="Palatino Linotype"/>
                <a:sym typeface="Palatino Linotype"/>
              </a:rPr>
              <a:t>Os psicólogos sociais </a:t>
            </a:r>
            <a:r>
              <a:rPr b="0" i="0" lang="es-ES" sz="1800" u="none" cap="none" strike="noStrike">
                <a:solidFill>
                  <a:srgbClr val="182A2E"/>
                </a:solidFill>
                <a:latin typeface="Palatino Linotype"/>
                <a:ea typeface="Palatino Linotype"/>
                <a:cs typeface="Palatino Linotype"/>
                <a:sym typeface="Palatino Linotype"/>
              </a:rPr>
              <a:t>John French e Bertram Raven definem </a:t>
            </a:r>
            <a:r>
              <a:rPr b="1" i="0" lang="es-ES" sz="1800" u="none" cap="none" strike="noStrike">
                <a:solidFill>
                  <a:srgbClr val="0070C0"/>
                </a:solidFill>
                <a:latin typeface="Palatino Linotype"/>
                <a:ea typeface="Palatino Linotype"/>
                <a:cs typeface="Palatino Linotype"/>
                <a:sym typeface="Palatino Linotype"/>
              </a:rPr>
              <a:t>influência social </a:t>
            </a:r>
            <a:r>
              <a:rPr b="0" i="0" lang="es-ES" sz="1800" u="none" cap="none" strike="noStrike">
                <a:solidFill>
                  <a:srgbClr val="0070C0"/>
                </a:solidFill>
                <a:latin typeface="Palatino Linotype"/>
                <a:ea typeface="Palatino Linotype"/>
                <a:cs typeface="Palatino Linotype"/>
                <a:sym typeface="Palatino Linotype"/>
              </a:rPr>
              <a:t>como uma mudança de crença, atitude ou comportamento de uma pessoa</a:t>
            </a:r>
            <a:r>
              <a:rPr b="0" i="0" lang="es-ES" sz="1800" u="none" cap="none" strike="noStrike">
                <a:solidFill>
                  <a:srgbClr val="182A2E"/>
                </a:solidFill>
                <a:latin typeface="Palatino Linotype"/>
                <a:ea typeface="Palatino Linotype"/>
                <a:cs typeface="Palatino Linotype"/>
                <a:sym typeface="Palatino Linotype"/>
              </a:rPr>
              <a:t> (o alvo da influência) </a:t>
            </a:r>
            <a:r>
              <a:rPr b="0" i="0" lang="es-ES" sz="1800" u="none" cap="none" strike="noStrike">
                <a:solidFill>
                  <a:srgbClr val="0070C0"/>
                </a:solidFill>
                <a:latin typeface="Palatino Linotype"/>
                <a:ea typeface="Palatino Linotype"/>
                <a:cs typeface="Palatino Linotype"/>
                <a:sym typeface="Palatino Linotype"/>
              </a:rPr>
              <a:t>como resultado da ação de outra pessoa</a:t>
            </a:r>
            <a:r>
              <a:rPr b="0" i="0" lang="es-ES" sz="1800" u="none" cap="none" strike="noStrike">
                <a:solidFill>
                  <a:srgbClr val="182A2E"/>
                </a:solidFill>
                <a:latin typeface="Palatino Linotype"/>
                <a:ea typeface="Palatino Linotype"/>
                <a:cs typeface="Palatino Linotype"/>
                <a:sym typeface="Palatino Linotype"/>
              </a:rPr>
              <a:t> (o agente influenciador). E o </a:t>
            </a:r>
            <a:r>
              <a:rPr b="1" i="0" lang="es-ES" sz="1800" u="none" cap="none" strike="noStrike">
                <a:solidFill>
                  <a:srgbClr val="0070C0"/>
                </a:solidFill>
                <a:latin typeface="Palatino Linotype"/>
                <a:ea typeface="Palatino Linotype"/>
                <a:cs typeface="Palatino Linotype"/>
                <a:sym typeface="Palatino Linotype"/>
              </a:rPr>
              <a:t>Poder</a:t>
            </a:r>
            <a:r>
              <a:rPr b="0" i="0" lang="es-ES" sz="1800" u="none" cap="none" strike="noStrike">
                <a:solidFill>
                  <a:srgbClr val="182A2E"/>
                </a:solidFill>
                <a:latin typeface="Palatino Linotype"/>
                <a:ea typeface="Palatino Linotype"/>
                <a:cs typeface="Palatino Linotype"/>
                <a:sym typeface="Palatino Linotype"/>
              </a:rPr>
              <a:t> seria a capacidade de exercer a </a:t>
            </a:r>
            <a:r>
              <a:rPr b="0" i="0" lang="es-ES" sz="1800" u="none" cap="none" strike="noStrike">
                <a:solidFill>
                  <a:srgbClr val="0070C0"/>
                </a:solidFill>
                <a:latin typeface="Palatino Linotype"/>
                <a:ea typeface="Palatino Linotype"/>
                <a:cs typeface="Palatino Linotype"/>
                <a:sym typeface="Palatino Linotype"/>
              </a:rPr>
              <a:t>influência social </a:t>
            </a:r>
            <a:r>
              <a:rPr b="0" i="0" lang="es-ES" sz="1800" u="none" cap="none" strike="noStrike">
                <a:solidFill>
                  <a:srgbClr val="182A2E"/>
                </a:solidFill>
                <a:latin typeface="Palatino Linotype"/>
                <a:ea typeface="Palatino Linotype"/>
                <a:cs typeface="Palatino Linotype"/>
                <a:sym typeface="Palatino Linotype"/>
              </a:rPr>
              <a:t>com êxito.</a:t>
            </a:r>
            <a:endParaRPr b="0" i="0" sz="1400" u="none" cap="none" strike="noStrike">
              <a:solidFill>
                <a:srgbClr val="000000"/>
              </a:solidFill>
              <a:latin typeface="Arial"/>
              <a:ea typeface="Arial"/>
              <a:cs typeface="Arial"/>
              <a:sym typeface="Arial"/>
            </a:endParaRPr>
          </a:p>
        </p:txBody>
      </p:sp>
      <p:sp>
        <p:nvSpPr>
          <p:cNvPr id="474" name="Google Shape;474;p34"/>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As seis bases do </a:t>
            </a:r>
            <a:r>
              <a:rPr b="0" i="0" lang="es-ES" sz="3500" u="none" cap="none" strike="noStrike">
                <a:solidFill>
                  <a:srgbClr val="FFC000"/>
                </a:solidFill>
                <a:latin typeface="Palatino Linotype"/>
                <a:ea typeface="Palatino Linotype"/>
                <a:cs typeface="Palatino Linotype"/>
                <a:sym typeface="Palatino Linotype"/>
              </a:rPr>
              <a:t>Poder</a:t>
            </a:r>
            <a:endParaRPr b="0" i="0" sz="3500" u="none" cap="none" strike="noStrike">
              <a:solidFill>
                <a:srgbClr val="FFC000"/>
              </a:solidFill>
              <a:latin typeface="Palatino Linotype"/>
              <a:ea typeface="Palatino Linotype"/>
              <a:cs typeface="Palatino Linotype"/>
              <a:sym typeface="Palatino Linotype"/>
            </a:endParaRPr>
          </a:p>
        </p:txBody>
      </p:sp>
      <p:sp>
        <p:nvSpPr>
          <p:cNvPr id="475" name="Google Shape;475;p34"/>
          <p:cNvSpPr txBox="1"/>
          <p:nvPr/>
        </p:nvSpPr>
        <p:spPr>
          <a:xfrm>
            <a:off x="1018572" y="3312288"/>
            <a:ext cx="10023676"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182A2E"/>
                </a:solidFill>
                <a:latin typeface="Palatino Linotype"/>
                <a:ea typeface="Palatino Linotype"/>
                <a:cs typeface="Palatino Linotype"/>
                <a:sym typeface="Palatino Linotype"/>
              </a:rPr>
              <a:t>John French e Bertram Raven identificaram seis bases do poder, pelo qual as pessoas adquirem e exercem o poder:</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182A2E"/>
              </a:buClr>
              <a:buSzPts val="1800"/>
              <a:buFont typeface="Palatino Linotype"/>
              <a:buAutoNum type="arabicPeriod"/>
            </a:pPr>
            <a:r>
              <a:rPr b="0" i="0" lang="es-ES" sz="1800" u="none" cap="none" strike="noStrike">
                <a:solidFill>
                  <a:srgbClr val="182A2E"/>
                </a:solidFill>
                <a:latin typeface="Palatino Linotype"/>
                <a:ea typeface="Palatino Linotype"/>
                <a:cs typeface="Palatino Linotype"/>
                <a:sym typeface="Palatino Linotype"/>
              </a:rPr>
              <a:t>Poder de </a:t>
            </a:r>
            <a:r>
              <a:rPr b="1" i="0" lang="es-ES" sz="1800" u="none" cap="none" strike="noStrike">
                <a:solidFill>
                  <a:srgbClr val="0070C0"/>
                </a:solidFill>
                <a:latin typeface="Palatino Linotype"/>
                <a:ea typeface="Palatino Linotype"/>
                <a:cs typeface="Palatino Linotype"/>
                <a:sym typeface="Palatino Linotype"/>
              </a:rPr>
              <a:t>Coerção</a:t>
            </a:r>
            <a:endParaRPr b="1" i="0" sz="1800" u="none" cap="none" strike="noStrike">
              <a:solidFill>
                <a:srgbClr val="0070C0"/>
              </a:solidFill>
              <a:latin typeface="Palatino Linotype"/>
              <a:ea typeface="Palatino Linotype"/>
              <a:cs typeface="Palatino Linotype"/>
              <a:sym typeface="Palatino Linotype"/>
            </a:endParaRPr>
          </a:p>
          <a:p>
            <a:pPr indent="-342900" lvl="0" marL="342900" marR="0" rtl="0" algn="l">
              <a:lnSpc>
                <a:spcPct val="100000"/>
              </a:lnSpc>
              <a:spcBef>
                <a:spcPts val="0"/>
              </a:spcBef>
              <a:spcAft>
                <a:spcPts val="0"/>
              </a:spcAft>
              <a:buClr>
                <a:srgbClr val="182A2E"/>
              </a:buClr>
              <a:buSzPts val="1800"/>
              <a:buFont typeface="Palatino Linotype"/>
              <a:buAutoNum type="arabicPeriod"/>
            </a:pPr>
            <a:r>
              <a:rPr b="0" i="0" lang="es-ES" sz="1800" u="none" cap="none" strike="noStrike">
                <a:solidFill>
                  <a:srgbClr val="182A2E"/>
                </a:solidFill>
                <a:latin typeface="Palatino Linotype"/>
                <a:ea typeface="Palatino Linotype"/>
                <a:cs typeface="Palatino Linotype"/>
                <a:sym typeface="Palatino Linotype"/>
              </a:rPr>
              <a:t>Poder de </a:t>
            </a:r>
            <a:r>
              <a:rPr b="1" i="0" lang="es-ES" sz="1800" u="none" cap="none" strike="noStrike">
                <a:solidFill>
                  <a:srgbClr val="0070C0"/>
                </a:solidFill>
                <a:latin typeface="Palatino Linotype"/>
                <a:ea typeface="Palatino Linotype"/>
                <a:cs typeface="Palatino Linotype"/>
                <a:sym typeface="Palatino Linotype"/>
              </a:rPr>
              <a:t>Recompensa</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182A2E"/>
              </a:buClr>
              <a:buSzPts val="1800"/>
              <a:buFont typeface="Palatino Linotype"/>
              <a:buAutoNum type="arabicPeriod"/>
            </a:pPr>
            <a:r>
              <a:rPr b="0" i="0" lang="es-ES" sz="1800" u="none" cap="none" strike="noStrike">
                <a:solidFill>
                  <a:srgbClr val="182A2E"/>
                </a:solidFill>
                <a:latin typeface="Palatino Linotype"/>
                <a:ea typeface="Palatino Linotype"/>
                <a:cs typeface="Palatino Linotype"/>
                <a:sym typeface="Palatino Linotype"/>
              </a:rPr>
              <a:t>Poder de </a:t>
            </a:r>
            <a:r>
              <a:rPr b="1" i="0" lang="es-ES" sz="1800" u="none" cap="none" strike="noStrike">
                <a:solidFill>
                  <a:srgbClr val="0070C0"/>
                </a:solidFill>
                <a:latin typeface="Palatino Linotype"/>
                <a:ea typeface="Palatino Linotype"/>
                <a:cs typeface="Palatino Linotype"/>
                <a:sym typeface="Palatino Linotype"/>
              </a:rPr>
              <a:t>Legitimidade</a:t>
            </a:r>
            <a:endParaRPr b="1" i="0" sz="1800" u="none" cap="none" strike="noStrike">
              <a:solidFill>
                <a:srgbClr val="0070C0"/>
              </a:solidFill>
              <a:latin typeface="Palatino Linotype"/>
              <a:ea typeface="Palatino Linotype"/>
              <a:cs typeface="Palatino Linotype"/>
              <a:sym typeface="Palatino Linotype"/>
            </a:endParaRPr>
          </a:p>
          <a:p>
            <a:pPr indent="-342900" lvl="0" marL="342900" marR="0" rtl="0" algn="l">
              <a:lnSpc>
                <a:spcPct val="100000"/>
              </a:lnSpc>
              <a:spcBef>
                <a:spcPts val="0"/>
              </a:spcBef>
              <a:spcAft>
                <a:spcPts val="0"/>
              </a:spcAft>
              <a:buClr>
                <a:srgbClr val="182A2E"/>
              </a:buClr>
              <a:buSzPts val="1800"/>
              <a:buFont typeface="Palatino Linotype"/>
              <a:buAutoNum type="arabicPeriod"/>
            </a:pPr>
            <a:r>
              <a:rPr b="0" i="0" lang="es-ES" sz="1800" u="none" cap="none" strike="noStrike">
                <a:solidFill>
                  <a:srgbClr val="182A2E"/>
                </a:solidFill>
                <a:latin typeface="Palatino Linotype"/>
                <a:ea typeface="Palatino Linotype"/>
                <a:cs typeface="Palatino Linotype"/>
                <a:sym typeface="Palatino Linotype"/>
              </a:rPr>
              <a:t>Poder de </a:t>
            </a:r>
            <a:r>
              <a:rPr b="1" i="0" lang="es-ES" sz="1800" u="none" cap="none" strike="noStrike">
                <a:solidFill>
                  <a:srgbClr val="0070C0"/>
                </a:solidFill>
                <a:latin typeface="Palatino Linotype"/>
                <a:ea typeface="Palatino Linotype"/>
                <a:cs typeface="Palatino Linotype"/>
                <a:sym typeface="Palatino Linotype"/>
              </a:rPr>
              <a:t>Especialista</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182A2E"/>
              </a:buClr>
              <a:buSzPts val="1800"/>
              <a:buFont typeface="Palatino Linotype"/>
              <a:buAutoNum type="arabicPeriod"/>
            </a:pPr>
            <a:r>
              <a:rPr b="0" i="0" lang="es-ES" sz="1800" u="none" cap="none" strike="noStrike">
                <a:solidFill>
                  <a:srgbClr val="182A2E"/>
                </a:solidFill>
                <a:latin typeface="Palatino Linotype"/>
                <a:ea typeface="Palatino Linotype"/>
                <a:cs typeface="Palatino Linotype"/>
                <a:sym typeface="Palatino Linotype"/>
              </a:rPr>
              <a:t>Poder de </a:t>
            </a:r>
            <a:r>
              <a:rPr b="1" i="0" lang="es-ES" sz="1800" u="none" cap="none" strike="noStrike">
                <a:solidFill>
                  <a:srgbClr val="0070C0"/>
                </a:solidFill>
                <a:latin typeface="Palatino Linotype"/>
                <a:ea typeface="Palatino Linotype"/>
                <a:cs typeface="Palatino Linotype"/>
                <a:sym typeface="Palatino Linotype"/>
              </a:rPr>
              <a:t>Referencia</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182A2E"/>
              </a:buClr>
              <a:buSzPts val="1800"/>
              <a:buFont typeface="Palatino Linotype"/>
              <a:buAutoNum type="arabicPeriod"/>
            </a:pPr>
            <a:r>
              <a:rPr b="0" i="0" lang="es-ES" sz="1800" u="none" cap="none" strike="noStrike">
                <a:solidFill>
                  <a:srgbClr val="182A2E"/>
                </a:solidFill>
                <a:latin typeface="Palatino Linotype"/>
                <a:ea typeface="Palatino Linotype"/>
                <a:cs typeface="Palatino Linotype"/>
                <a:sym typeface="Palatino Linotype"/>
              </a:rPr>
              <a:t>Poder de </a:t>
            </a:r>
            <a:r>
              <a:rPr b="1" i="0" lang="es-ES" sz="1800" u="none" cap="none" strike="noStrike">
                <a:solidFill>
                  <a:srgbClr val="0070C0"/>
                </a:solidFill>
                <a:latin typeface="Palatino Linotype"/>
                <a:ea typeface="Palatino Linotype"/>
                <a:cs typeface="Palatino Linotype"/>
                <a:sym typeface="Palatino Linotype"/>
              </a:rPr>
              <a:t>Informação</a:t>
            </a:r>
            <a:endParaRPr b="1" i="0" sz="1800" u="none" cap="none" strike="noStrike">
              <a:solidFill>
                <a:srgbClr val="0070C0"/>
              </a:solidFill>
              <a:latin typeface="Palatino Linotype"/>
              <a:ea typeface="Palatino Linotype"/>
              <a:cs typeface="Palatino Linotype"/>
              <a:sym typeface="Palatino Linotype"/>
            </a:endParaRPr>
          </a:p>
        </p:txBody>
      </p:sp>
      <p:pic>
        <p:nvPicPr>
          <p:cNvPr id="476" name="Google Shape;476;p34"/>
          <p:cNvPicPr preferRelativeResize="0"/>
          <p:nvPr/>
        </p:nvPicPr>
        <p:blipFill rotWithShape="1">
          <a:blip r:embed="rId3">
            <a:alphaModFix/>
          </a:blip>
          <a:srcRect b="0" l="0" r="0" t="0"/>
          <a:stretch/>
        </p:blipFill>
        <p:spPr>
          <a:xfrm>
            <a:off x="8225030" y="3781035"/>
            <a:ext cx="1567152" cy="156715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482" name="Google Shape;482;p35"/>
          <p:cNvSpPr txBox="1"/>
          <p:nvPr/>
        </p:nvSpPr>
        <p:spPr>
          <a:xfrm>
            <a:off x="1018572" y="2013994"/>
            <a:ext cx="10023676" cy="9233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s-ES" sz="1800" u="none" cap="none" strike="noStrike">
                <a:solidFill>
                  <a:srgbClr val="0070C0"/>
                </a:solidFill>
                <a:latin typeface="Palatino Linotype"/>
                <a:ea typeface="Palatino Linotype"/>
                <a:cs typeface="Palatino Linotype"/>
                <a:sym typeface="Palatino Linotype"/>
              </a:rPr>
              <a:t>O poder de coerção consiste no uso de ameaça ou da força para exercer o poder. </a:t>
            </a:r>
            <a:r>
              <a:rPr b="0" i="0" lang="es-ES" sz="1800" u="none" cap="none" strike="noStrike">
                <a:solidFill>
                  <a:schemeClr val="dk1"/>
                </a:solidFill>
                <a:latin typeface="Palatino Linotype"/>
                <a:ea typeface="Palatino Linotype"/>
                <a:cs typeface="Palatino Linotype"/>
                <a:sym typeface="Palatino Linotype"/>
              </a:rPr>
              <a:t>As pessoas obedecem ou cooperam porque </a:t>
            </a:r>
            <a:r>
              <a:rPr b="1" i="0" lang="es-ES" sz="1800" u="none" cap="none" strike="noStrike">
                <a:solidFill>
                  <a:schemeClr val="dk1"/>
                </a:solidFill>
                <a:latin typeface="Palatino Linotype"/>
                <a:ea typeface="Palatino Linotype"/>
                <a:cs typeface="Palatino Linotype"/>
                <a:sym typeface="Palatino Linotype"/>
              </a:rPr>
              <a:t>possuem a crença</a:t>
            </a:r>
            <a:r>
              <a:rPr b="0" i="0" lang="es-ES" sz="1800" u="none" cap="none" strike="noStrike">
                <a:solidFill>
                  <a:schemeClr val="dk1"/>
                </a:solidFill>
                <a:latin typeface="Palatino Linotype"/>
                <a:ea typeface="Palatino Linotype"/>
                <a:cs typeface="Palatino Linotype"/>
                <a:sym typeface="Palatino Linotype"/>
              </a:rPr>
              <a:t> de que devem proceder assim para evitar a punição/coerção (física, emocional, relacional ou financeira).</a:t>
            </a:r>
            <a:endParaRPr b="0" i="0" sz="1400" u="none" cap="none" strike="noStrike">
              <a:solidFill>
                <a:srgbClr val="000000"/>
              </a:solidFill>
              <a:latin typeface="Arial"/>
              <a:ea typeface="Arial"/>
              <a:cs typeface="Arial"/>
              <a:sym typeface="Arial"/>
            </a:endParaRPr>
          </a:p>
        </p:txBody>
      </p:sp>
      <p:sp>
        <p:nvSpPr>
          <p:cNvPr id="483" name="Google Shape;483;p35"/>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poder de </a:t>
            </a:r>
            <a:r>
              <a:rPr b="0" i="0" lang="es-ES" sz="3500" u="none" cap="none" strike="noStrike">
                <a:solidFill>
                  <a:srgbClr val="FFC000"/>
                </a:solidFill>
                <a:latin typeface="Palatino Linotype"/>
                <a:ea typeface="Palatino Linotype"/>
                <a:cs typeface="Palatino Linotype"/>
                <a:sym typeface="Palatino Linotype"/>
              </a:rPr>
              <a:t>Coerção</a:t>
            </a:r>
            <a:endParaRPr b="0" i="0" sz="3500" u="none" cap="none" strike="noStrike">
              <a:solidFill>
                <a:srgbClr val="FFC000"/>
              </a:solidFill>
              <a:latin typeface="Palatino Linotype"/>
              <a:ea typeface="Palatino Linotype"/>
              <a:cs typeface="Palatino Linotype"/>
              <a:sym typeface="Palatino Linotype"/>
            </a:endParaRPr>
          </a:p>
        </p:txBody>
      </p:sp>
      <p:pic>
        <p:nvPicPr>
          <p:cNvPr id="484" name="Google Shape;484;p35"/>
          <p:cNvPicPr preferRelativeResize="0"/>
          <p:nvPr/>
        </p:nvPicPr>
        <p:blipFill rotWithShape="1">
          <a:blip r:embed="rId3">
            <a:alphaModFix/>
          </a:blip>
          <a:srcRect b="0" l="0" r="0" t="0"/>
          <a:stretch/>
        </p:blipFill>
        <p:spPr>
          <a:xfrm>
            <a:off x="4861666" y="3007095"/>
            <a:ext cx="1912040" cy="191953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490" name="Google Shape;490;p36"/>
          <p:cNvSpPr txBox="1"/>
          <p:nvPr/>
        </p:nvSpPr>
        <p:spPr>
          <a:xfrm>
            <a:off x="1018572" y="2013994"/>
            <a:ext cx="10023676" cy="9233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s-ES" sz="1800" u="none" cap="none" strike="noStrike">
                <a:solidFill>
                  <a:srgbClr val="0070C0"/>
                </a:solidFill>
                <a:latin typeface="Palatino Linotype"/>
                <a:ea typeface="Palatino Linotype"/>
                <a:cs typeface="Palatino Linotype"/>
                <a:sym typeface="Palatino Linotype"/>
              </a:rPr>
              <a:t>O poder de coerção consiste no uso de ameaça ou da força para exercer o poder. </a:t>
            </a:r>
            <a:r>
              <a:rPr b="0" i="0" lang="es-ES" sz="1800" u="none" cap="none" strike="noStrike">
                <a:solidFill>
                  <a:schemeClr val="dk1"/>
                </a:solidFill>
                <a:latin typeface="Palatino Linotype"/>
                <a:ea typeface="Palatino Linotype"/>
                <a:cs typeface="Palatino Linotype"/>
                <a:sym typeface="Palatino Linotype"/>
              </a:rPr>
              <a:t>As pessoas obedecem ou cooperam porque </a:t>
            </a:r>
            <a:r>
              <a:rPr b="1" i="0" lang="es-ES" sz="1800" u="none" cap="none" strike="noStrike">
                <a:solidFill>
                  <a:schemeClr val="dk1"/>
                </a:solidFill>
                <a:latin typeface="Palatino Linotype"/>
                <a:ea typeface="Palatino Linotype"/>
                <a:cs typeface="Palatino Linotype"/>
                <a:sym typeface="Palatino Linotype"/>
              </a:rPr>
              <a:t>possuem a crença</a:t>
            </a:r>
            <a:r>
              <a:rPr b="0" i="0" lang="es-ES" sz="1800" u="none" cap="none" strike="noStrike">
                <a:solidFill>
                  <a:schemeClr val="dk1"/>
                </a:solidFill>
                <a:latin typeface="Palatino Linotype"/>
                <a:ea typeface="Palatino Linotype"/>
                <a:cs typeface="Palatino Linotype"/>
                <a:sym typeface="Palatino Linotype"/>
              </a:rPr>
              <a:t> de que devem proceder assim para evitar a punição/coerção (física, emocional, relacional ou financeira).</a:t>
            </a:r>
            <a:endParaRPr b="0" i="0" sz="1400" u="none" cap="none" strike="noStrike">
              <a:solidFill>
                <a:srgbClr val="000000"/>
              </a:solidFill>
              <a:latin typeface="Arial"/>
              <a:ea typeface="Arial"/>
              <a:cs typeface="Arial"/>
              <a:sym typeface="Arial"/>
            </a:endParaRPr>
          </a:p>
        </p:txBody>
      </p:sp>
      <p:sp>
        <p:nvSpPr>
          <p:cNvPr id="491" name="Google Shape;491;p36"/>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poder de </a:t>
            </a:r>
            <a:r>
              <a:rPr b="0" i="0" lang="es-ES" sz="3500" u="none" cap="none" strike="noStrike">
                <a:solidFill>
                  <a:srgbClr val="FFC000"/>
                </a:solidFill>
                <a:latin typeface="Palatino Linotype"/>
                <a:ea typeface="Palatino Linotype"/>
                <a:cs typeface="Palatino Linotype"/>
                <a:sym typeface="Palatino Linotype"/>
              </a:rPr>
              <a:t>Coerção</a:t>
            </a:r>
            <a:endParaRPr b="0" i="0" sz="3500" u="none" cap="none" strike="noStrike">
              <a:solidFill>
                <a:srgbClr val="FFC000"/>
              </a:solidFill>
              <a:latin typeface="Palatino Linotype"/>
              <a:ea typeface="Palatino Linotype"/>
              <a:cs typeface="Palatino Linotype"/>
              <a:sym typeface="Palatino Linotype"/>
            </a:endParaRPr>
          </a:p>
        </p:txBody>
      </p:sp>
      <p:sp>
        <p:nvSpPr>
          <p:cNvPr id="492" name="Google Shape;492;p36"/>
          <p:cNvSpPr txBox="1"/>
          <p:nvPr/>
        </p:nvSpPr>
        <p:spPr>
          <a:xfrm>
            <a:off x="1018572" y="4996404"/>
            <a:ext cx="1002367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rgbClr val="182A2E"/>
                </a:solidFill>
                <a:latin typeface="Palatino Linotype"/>
                <a:ea typeface="Palatino Linotype"/>
                <a:cs typeface="Palatino Linotype"/>
                <a:sym typeface="Palatino Linotype"/>
              </a:rPr>
              <a:t>Exemplo</a:t>
            </a:r>
            <a:r>
              <a:rPr b="0" i="0" lang="es-ES" sz="1800" u="none" cap="none" strike="noStrike">
                <a:solidFill>
                  <a:srgbClr val="182A2E"/>
                </a:solidFill>
                <a:latin typeface="Palatino Linotype"/>
                <a:ea typeface="Palatino Linotype"/>
                <a:cs typeface="Palatino Linotype"/>
                <a:sym typeface="Palatino Linotype"/>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182A2E"/>
                </a:solidFill>
                <a:latin typeface="Palatino Linotype"/>
                <a:ea typeface="Palatino Linotype"/>
                <a:cs typeface="Palatino Linotype"/>
                <a:sym typeface="Palatino Linotype"/>
              </a:rPr>
              <a:t>1. O superior ameaça descontar do salário aqueles que chegarem atrasado no serviço.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Palatino Linotype"/>
                <a:ea typeface="Palatino Linotype"/>
                <a:cs typeface="Palatino Linotype"/>
                <a:sym typeface="Palatino Linotype"/>
              </a:rPr>
              <a:t>2. As pessoas passam a chegar dentro do horario para não sofrer a punição/coerção (descontó no salário)</a:t>
            </a:r>
            <a:endParaRPr b="0" i="0" sz="1800" u="none" cap="none" strike="noStrike">
              <a:solidFill>
                <a:schemeClr val="dk1"/>
              </a:solidFill>
              <a:latin typeface="Palatino Linotype"/>
              <a:ea typeface="Palatino Linotype"/>
              <a:cs typeface="Palatino Linotype"/>
              <a:sym typeface="Palatino Linotype"/>
            </a:endParaRPr>
          </a:p>
        </p:txBody>
      </p:sp>
      <p:pic>
        <p:nvPicPr>
          <p:cNvPr id="493" name="Google Shape;493;p36"/>
          <p:cNvPicPr preferRelativeResize="0"/>
          <p:nvPr/>
        </p:nvPicPr>
        <p:blipFill rotWithShape="1">
          <a:blip r:embed="rId3">
            <a:alphaModFix/>
          </a:blip>
          <a:srcRect b="0" l="0" r="0" t="0"/>
          <a:stretch/>
        </p:blipFill>
        <p:spPr>
          <a:xfrm>
            <a:off x="4861666" y="3007095"/>
            <a:ext cx="1912040" cy="191953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499" name="Google Shape;499;p37"/>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poder de </a:t>
            </a:r>
            <a:r>
              <a:rPr b="0" i="0" lang="es-ES" sz="3500" u="none" cap="none" strike="noStrike">
                <a:solidFill>
                  <a:srgbClr val="FFC000"/>
                </a:solidFill>
                <a:latin typeface="Palatino Linotype"/>
                <a:ea typeface="Palatino Linotype"/>
                <a:cs typeface="Palatino Linotype"/>
                <a:sym typeface="Palatino Linotype"/>
              </a:rPr>
              <a:t>Coerção</a:t>
            </a:r>
            <a:endParaRPr b="0" i="0" sz="3500" u="none" cap="none" strike="noStrike">
              <a:solidFill>
                <a:srgbClr val="FFC000"/>
              </a:solidFill>
              <a:latin typeface="Palatino Linotype"/>
              <a:ea typeface="Palatino Linotype"/>
              <a:cs typeface="Palatino Linotype"/>
              <a:sym typeface="Palatino Linotype"/>
            </a:endParaRPr>
          </a:p>
        </p:txBody>
      </p:sp>
      <p:pic>
        <p:nvPicPr>
          <p:cNvPr descr="Animais Marinhos" id="500" name="Google Shape;500;p37"/>
          <p:cNvPicPr preferRelativeResize="0"/>
          <p:nvPr/>
        </p:nvPicPr>
        <p:blipFill rotWithShape="1">
          <a:blip r:embed="rId3">
            <a:alphaModFix/>
          </a:blip>
          <a:srcRect b="0" l="0" r="0" t="0"/>
          <a:stretch/>
        </p:blipFill>
        <p:spPr>
          <a:xfrm>
            <a:off x="4096132" y="2130531"/>
            <a:ext cx="3999736" cy="2452963"/>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506" name="Google Shape;506;p38"/>
          <p:cNvSpPr txBox="1"/>
          <p:nvPr/>
        </p:nvSpPr>
        <p:spPr>
          <a:xfrm>
            <a:off x="1084162" y="4700031"/>
            <a:ext cx="10023676" cy="1477328"/>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0000"/>
              </a:lnSpc>
              <a:spcBef>
                <a:spcPts val="0"/>
              </a:spcBef>
              <a:spcAft>
                <a:spcPts val="0"/>
              </a:spcAft>
              <a:buClr>
                <a:schemeClr val="dk1"/>
              </a:buClr>
              <a:buSzPts val="1800"/>
              <a:buFont typeface="Noto Sans Symbols"/>
              <a:buChar char="▪"/>
            </a:pPr>
            <a:r>
              <a:rPr b="0" i="0" lang="es-ES" sz="1800" u="none" cap="none" strike="noStrike">
                <a:solidFill>
                  <a:schemeClr val="dk1"/>
                </a:solidFill>
                <a:latin typeface="Palatino Linotype"/>
                <a:ea typeface="Palatino Linotype"/>
                <a:cs typeface="Palatino Linotype"/>
                <a:sym typeface="Palatino Linotype"/>
              </a:rPr>
              <a:t>É um dos poderes mais utilizados no cotidiano. </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1800"/>
              <a:buFont typeface="Noto Sans Symbols"/>
              <a:buChar char="▪"/>
            </a:pPr>
            <a:r>
              <a:rPr b="0" i="0" lang="es-ES" sz="1800" u="none" cap="none" strike="noStrike">
                <a:solidFill>
                  <a:schemeClr val="dk1"/>
                </a:solidFill>
                <a:latin typeface="Palatino Linotype"/>
                <a:ea typeface="Palatino Linotype"/>
                <a:cs typeface="Palatino Linotype"/>
                <a:sym typeface="Palatino Linotype"/>
              </a:rPr>
              <a:t>Funciona muito bem com animais.</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1800"/>
              <a:buFont typeface="Noto Sans Symbols"/>
              <a:buChar char="▪"/>
            </a:pPr>
            <a:r>
              <a:rPr b="0" i="0" lang="es-ES" sz="1800" u="none" cap="none" strike="noStrike">
                <a:solidFill>
                  <a:schemeClr val="dk1"/>
                </a:solidFill>
                <a:latin typeface="Palatino Linotype"/>
                <a:ea typeface="Palatino Linotype"/>
                <a:cs typeface="Palatino Linotype"/>
                <a:sym typeface="Palatino Linotype"/>
              </a:rPr>
              <a:t>Com pessoas, pode gerar efeitos negativos de curto, médio e longo prazo (estresse excessivo, depressão, quebra de confiança na relação, sentimentos negativos contra o superior)</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1800"/>
              <a:buFont typeface="Noto Sans Symbols"/>
              <a:buChar char="▪"/>
            </a:pPr>
            <a:r>
              <a:rPr b="0" i="0" lang="es-ES" sz="1800" u="none" cap="none" strike="noStrike">
                <a:solidFill>
                  <a:schemeClr val="dk1"/>
                </a:solidFill>
                <a:latin typeface="Palatino Linotype"/>
                <a:ea typeface="Palatino Linotype"/>
                <a:cs typeface="Palatino Linotype"/>
                <a:sym typeface="Palatino Linotype"/>
              </a:rPr>
              <a:t>Para exercer a punição, o agente punidor precisa ter métodos de vigilância</a:t>
            </a:r>
            <a:endParaRPr b="0" i="0" sz="1800" u="none" cap="none" strike="noStrike">
              <a:solidFill>
                <a:schemeClr val="dk1"/>
              </a:solidFill>
              <a:latin typeface="Palatino Linotype"/>
              <a:ea typeface="Palatino Linotype"/>
              <a:cs typeface="Palatino Linotype"/>
              <a:sym typeface="Palatino Linotype"/>
            </a:endParaRPr>
          </a:p>
        </p:txBody>
      </p:sp>
      <p:sp>
        <p:nvSpPr>
          <p:cNvPr id="507" name="Google Shape;507;p38"/>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poder de </a:t>
            </a:r>
            <a:r>
              <a:rPr b="0" i="0" lang="es-ES" sz="3500" u="none" cap="none" strike="noStrike">
                <a:solidFill>
                  <a:srgbClr val="FFC000"/>
                </a:solidFill>
                <a:latin typeface="Palatino Linotype"/>
                <a:ea typeface="Palatino Linotype"/>
                <a:cs typeface="Palatino Linotype"/>
                <a:sym typeface="Palatino Linotype"/>
              </a:rPr>
              <a:t>Coerção</a:t>
            </a:r>
            <a:endParaRPr b="0" i="0" sz="3500" u="none" cap="none" strike="noStrike">
              <a:solidFill>
                <a:srgbClr val="FFC000"/>
              </a:solidFill>
              <a:latin typeface="Palatino Linotype"/>
              <a:ea typeface="Palatino Linotype"/>
              <a:cs typeface="Palatino Linotype"/>
              <a:sym typeface="Palatino Linotype"/>
            </a:endParaRPr>
          </a:p>
        </p:txBody>
      </p:sp>
      <p:pic>
        <p:nvPicPr>
          <p:cNvPr descr="Animais Marinhos" id="508" name="Google Shape;508;p38"/>
          <p:cNvPicPr preferRelativeResize="0"/>
          <p:nvPr/>
        </p:nvPicPr>
        <p:blipFill rotWithShape="1">
          <a:blip r:embed="rId3">
            <a:alphaModFix/>
          </a:blip>
          <a:srcRect b="0" l="0" r="0" t="0"/>
          <a:stretch/>
        </p:blipFill>
        <p:spPr>
          <a:xfrm>
            <a:off x="4096132" y="2130531"/>
            <a:ext cx="3999736" cy="2452963"/>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514" name="Google Shape;514;p39"/>
          <p:cNvSpPr txBox="1"/>
          <p:nvPr/>
        </p:nvSpPr>
        <p:spPr>
          <a:xfrm>
            <a:off x="1018572" y="2013994"/>
            <a:ext cx="10023676" cy="9233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s-ES" sz="1800" u="none" cap="none" strike="noStrike">
                <a:solidFill>
                  <a:srgbClr val="0070C0"/>
                </a:solidFill>
                <a:latin typeface="Palatino Linotype"/>
                <a:ea typeface="Palatino Linotype"/>
                <a:cs typeface="Palatino Linotype"/>
                <a:sym typeface="Palatino Linotype"/>
              </a:rPr>
              <a:t>O poder de recompensa consiste na capacidade de oferecer recompensas</a:t>
            </a:r>
            <a:r>
              <a:rPr b="0" i="0" lang="es-ES" sz="1800" u="none" cap="none" strike="noStrike">
                <a:solidFill>
                  <a:schemeClr val="dk1"/>
                </a:solidFill>
                <a:latin typeface="Palatino Linotype"/>
                <a:ea typeface="Palatino Linotype"/>
                <a:cs typeface="Palatino Linotype"/>
                <a:sym typeface="Palatino Linotype"/>
              </a:rPr>
              <a:t> (espiritual, emocional, social, financeira, material). As pessoas obedecem ou cooperam porque </a:t>
            </a:r>
            <a:r>
              <a:rPr b="1" i="0" lang="es-ES" sz="1800" u="none" cap="none" strike="noStrike">
                <a:solidFill>
                  <a:schemeClr val="dk1"/>
                </a:solidFill>
                <a:latin typeface="Palatino Linotype"/>
                <a:ea typeface="Palatino Linotype"/>
                <a:cs typeface="Palatino Linotype"/>
                <a:sym typeface="Palatino Linotype"/>
              </a:rPr>
              <a:t>possuem a crença</a:t>
            </a:r>
            <a:r>
              <a:rPr b="0" i="0" lang="es-ES" sz="1800" u="none" cap="none" strike="noStrike">
                <a:solidFill>
                  <a:schemeClr val="dk1"/>
                </a:solidFill>
                <a:latin typeface="Palatino Linotype"/>
                <a:ea typeface="Palatino Linotype"/>
                <a:cs typeface="Palatino Linotype"/>
                <a:sym typeface="Palatino Linotype"/>
              </a:rPr>
              <a:t> de serão recompensados por seu comportamento.</a:t>
            </a:r>
            <a:endParaRPr b="0" i="0" sz="1400" u="none" cap="none" strike="noStrike">
              <a:solidFill>
                <a:srgbClr val="000000"/>
              </a:solidFill>
              <a:latin typeface="Arial"/>
              <a:ea typeface="Arial"/>
              <a:cs typeface="Arial"/>
              <a:sym typeface="Arial"/>
            </a:endParaRPr>
          </a:p>
        </p:txBody>
      </p:sp>
      <p:sp>
        <p:nvSpPr>
          <p:cNvPr id="515" name="Google Shape;515;p39"/>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poder de </a:t>
            </a:r>
            <a:r>
              <a:rPr b="0" i="0" lang="es-ES" sz="3500" u="none" cap="none" strike="noStrike">
                <a:solidFill>
                  <a:srgbClr val="FFC000"/>
                </a:solidFill>
                <a:latin typeface="Palatino Linotype"/>
                <a:ea typeface="Palatino Linotype"/>
                <a:cs typeface="Palatino Linotype"/>
                <a:sym typeface="Palatino Linotype"/>
              </a:rPr>
              <a:t>Recompensa</a:t>
            </a:r>
            <a:endParaRPr b="0" i="0" sz="3500" u="none" cap="none" strike="noStrike">
              <a:solidFill>
                <a:srgbClr val="FFC000"/>
              </a:solidFill>
              <a:latin typeface="Palatino Linotype"/>
              <a:ea typeface="Palatino Linotype"/>
              <a:cs typeface="Palatino Linotype"/>
              <a:sym typeface="Palatino Linotype"/>
            </a:endParaRPr>
          </a:p>
        </p:txBody>
      </p:sp>
      <p:pic>
        <p:nvPicPr>
          <p:cNvPr descr="http://www.pngmart.com/files/7/Reward-PNG-Transparent-Image.png" id="516" name="Google Shape;516;p39"/>
          <p:cNvPicPr preferRelativeResize="0"/>
          <p:nvPr/>
        </p:nvPicPr>
        <p:blipFill rotWithShape="1">
          <a:blip r:embed="rId3">
            <a:alphaModFix/>
          </a:blip>
          <a:srcRect b="0" l="0" r="0" t="0"/>
          <a:stretch/>
        </p:blipFill>
        <p:spPr>
          <a:xfrm>
            <a:off x="1648008" y="2935109"/>
            <a:ext cx="2075753" cy="2061295"/>
          </a:xfrm>
          <a:prstGeom prst="rect">
            <a:avLst/>
          </a:prstGeom>
          <a:noFill/>
          <a:ln>
            <a:noFill/>
          </a:ln>
        </p:spPr>
      </p:pic>
      <p:pic>
        <p:nvPicPr>
          <p:cNvPr id="517" name="Google Shape;517;p39"/>
          <p:cNvPicPr preferRelativeResize="0"/>
          <p:nvPr/>
        </p:nvPicPr>
        <p:blipFill rotWithShape="1">
          <a:blip r:embed="rId4">
            <a:alphaModFix/>
          </a:blip>
          <a:srcRect b="0" l="0" r="0" t="0"/>
          <a:stretch/>
        </p:blipFill>
        <p:spPr>
          <a:xfrm>
            <a:off x="3694030" y="3192259"/>
            <a:ext cx="2655800" cy="1546994"/>
          </a:xfrm>
          <a:prstGeom prst="rect">
            <a:avLst/>
          </a:prstGeom>
          <a:noFill/>
          <a:ln>
            <a:noFill/>
          </a:ln>
        </p:spPr>
      </p:pic>
      <p:pic>
        <p:nvPicPr>
          <p:cNvPr id="518" name="Google Shape;518;p39"/>
          <p:cNvPicPr preferRelativeResize="0"/>
          <p:nvPr/>
        </p:nvPicPr>
        <p:blipFill rotWithShape="1">
          <a:blip r:embed="rId5">
            <a:alphaModFix/>
          </a:blip>
          <a:srcRect b="0" l="0" r="0" t="0"/>
          <a:stretch/>
        </p:blipFill>
        <p:spPr>
          <a:xfrm>
            <a:off x="6526986" y="3165587"/>
            <a:ext cx="2274767" cy="157366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524" name="Google Shape;524;p40"/>
          <p:cNvSpPr txBox="1"/>
          <p:nvPr/>
        </p:nvSpPr>
        <p:spPr>
          <a:xfrm>
            <a:off x="1018572" y="2013994"/>
            <a:ext cx="10023676" cy="9233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s-ES" sz="1800" u="none" cap="none" strike="noStrike">
                <a:solidFill>
                  <a:srgbClr val="0070C0"/>
                </a:solidFill>
                <a:latin typeface="Palatino Linotype"/>
                <a:ea typeface="Palatino Linotype"/>
                <a:cs typeface="Palatino Linotype"/>
                <a:sym typeface="Palatino Linotype"/>
              </a:rPr>
              <a:t>O poder de recompensa consiste na capacidade de oferecer recompensas</a:t>
            </a:r>
            <a:r>
              <a:rPr b="0" i="0" lang="es-ES" sz="1800" u="none" cap="none" strike="noStrike">
                <a:solidFill>
                  <a:schemeClr val="dk1"/>
                </a:solidFill>
                <a:latin typeface="Palatino Linotype"/>
                <a:ea typeface="Palatino Linotype"/>
                <a:cs typeface="Palatino Linotype"/>
                <a:sym typeface="Palatino Linotype"/>
              </a:rPr>
              <a:t> (espiritual, emocional, social, financeira, material). As pessoas obedecem ou cooperam porque </a:t>
            </a:r>
            <a:r>
              <a:rPr b="1" i="0" lang="es-ES" sz="1800" u="none" cap="none" strike="noStrike">
                <a:solidFill>
                  <a:schemeClr val="dk1"/>
                </a:solidFill>
                <a:latin typeface="Palatino Linotype"/>
                <a:ea typeface="Palatino Linotype"/>
                <a:cs typeface="Palatino Linotype"/>
                <a:sym typeface="Palatino Linotype"/>
              </a:rPr>
              <a:t>possuem a crença</a:t>
            </a:r>
            <a:r>
              <a:rPr b="0" i="0" lang="es-ES" sz="1800" u="none" cap="none" strike="noStrike">
                <a:solidFill>
                  <a:schemeClr val="dk1"/>
                </a:solidFill>
                <a:latin typeface="Palatino Linotype"/>
                <a:ea typeface="Palatino Linotype"/>
                <a:cs typeface="Palatino Linotype"/>
                <a:sym typeface="Palatino Linotype"/>
              </a:rPr>
              <a:t> de serão recompensados por seu comportamento.</a:t>
            </a:r>
            <a:endParaRPr b="0" i="0" sz="1400" u="none" cap="none" strike="noStrike">
              <a:solidFill>
                <a:srgbClr val="000000"/>
              </a:solidFill>
              <a:latin typeface="Arial"/>
              <a:ea typeface="Arial"/>
              <a:cs typeface="Arial"/>
              <a:sym typeface="Arial"/>
            </a:endParaRPr>
          </a:p>
        </p:txBody>
      </p:sp>
      <p:sp>
        <p:nvSpPr>
          <p:cNvPr id="525" name="Google Shape;525;p40"/>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poder de </a:t>
            </a:r>
            <a:r>
              <a:rPr b="0" i="0" lang="es-ES" sz="3500" u="none" cap="none" strike="noStrike">
                <a:solidFill>
                  <a:srgbClr val="FFC000"/>
                </a:solidFill>
                <a:latin typeface="Palatino Linotype"/>
                <a:ea typeface="Palatino Linotype"/>
                <a:cs typeface="Palatino Linotype"/>
                <a:sym typeface="Palatino Linotype"/>
              </a:rPr>
              <a:t>Recompensa</a:t>
            </a:r>
            <a:endParaRPr b="0" i="0" sz="3500" u="none" cap="none" strike="noStrike">
              <a:solidFill>
                <a:srgbClr val="FFC000"/>
              </a:solidFill>
              <a:latin typeface="Palatino Linotype"/>
              <a:ea typeface="Palatino Linotype"/>
              <a:cs typeface="Palatino Linotype"/>
              <a:sym typeface="Palatino Linotype"/>
            </a:endParaRPr>
          </a:p>
        </p:txBody>
      </p:sp>
      <p:sp>
        <p:nvSpPr>
          <p:cNvPr id="526" name="Google Shape;526;p40"/>
          <p:cNvSpPr txBox="1"/>
          <p:nvPr/>
        </p:nvSpPr>
        <p:spPr>
          <a:xfrm>
            <a:off x="1018572" y="4996404"/>
            <a:ext cx="1002367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rgbClr val="182A2E"/>
                </a:solidFill>
                <a:latin typeface="Palatino Linotype"/>
                <a:ea typeface="Palatino Linotype"/>
                <a:cs typeface="Palatino Linotype"/>
                <a:sym typeface="Palatino Linotype"/>
              </a:rPr>
              <a:t>Exemplo</a:t>
            </a:r>
            <a:r>
              <a:rPr b="0" i="0" lang="es-ES" sz="1800" u="none" cap="none" strike="noStrike">
                <a:solidFill>
                  <a:srgbClr val="182A2E"/>
                </a:solidFill>
                <a:latin typeface="Palatino Linotype"/>
                <a:ea typeface="Palatino Linotype"/>
                <a:cs typeface="Palatino Linotype"/>
                <a:sym typeface="Palatino Linotype"/>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182A2E"/>
                </a:solidFill>
                <a:latin typeface="Palatino Linotype"/>
                <a:ea typeface="Palatino Linotype"/>
                <a:cs typeface="Palatino Linotype"/>
                <a:sym typeface="Palatino Linotype"/>
              </a:rPr>
              <a:t>O funcionario se esforça para vender acima da meta com a expectativa de ser promovido.</a:t>
            </a:r>
            <a:endParaRPr b="0" i="0" sz="1800" u="none" cap="none" strike="noStrike">
              <a:solidFill>
                <a:schemeClr val="dk1"/>
              </a:solidFill>
              <a:latin typeface="Palatino Linotype"/>
              <a:ea typeface="Palatino Linotype"/>
              <a:cs typeface="Palatino Linotype"/>
              <a:sym typeface="Palatino Linotype"/>
            </a:endParaRPr>
          </a:p>
        </p:txBody>
      </p:sp>
      <p:pic>
        <p:nvPicPr>
          <p:cNvPr descr="http://www.pngmart.com/files/7/Reward-PNG-Transparent-Image.png" id="527" name="Google Shape;527;p40"/>
          <p:cNvPicPr preferRelativeResize="0"/>
          <p:nvPr/>
        </p:nvPicPr>
        <p:blipFill rotWithShape="1">
          <a:blip r:embed="rId3">
            <a:alphaModFix/>
          </a:blip>
          <a:srcRect b="0" l="0" r="0" t="0"/>
          <a:stretch/>
        </p:blipFill>
        <p:spPr>
          <a:xfrm>
            <a:off x="1648008" y="2935109"/>
            <a:ext cx="2075753" cy="2061295"/>
          </a:xfrm>
          <a:prstGeom prst="rect">
            <a:avLst/>
          </a:prstGeom>
          <a:noFill/>
          <a:ln>
            <a:noFill/>
          </a:ln>
        </p:spPr>
      </p:pic>
      <p:pic>
        <p:nvPicPr>
          <p:cNvPr id="528" name="Google Shape;528;p40"/>
          <p:cNvPicPr preferRelativeResize="0"/>
          <p:nvPr/>
        </p:nvPicPr>
        <p:blipFill rotWithShape="1">
          <a:blip r:embed="rId4">
            <a:alphaModFix/>
          </a:blip>
          <a:srcRect b="0" l="0" r="0" t="0"/>
          <a:stretch/>
        </p:blipFill>
        <p:spPr>
          <a:xfrm>
            <a:off x="3694030" y="3192259"/>
            <a:ext cx="2655800" cy="1546994"/>
          </a:xfrm>
          <a:prstGeom prst="rect">
            <a:avLst/>
          </a:prstGeom>
          <a:noFill/>
          <a:ln>
            <a:noFill/>
          </a:ln>
        </p:spPr>
      </p:pic>
      <p:pic>
        <p:nvPicPr>
          <p:cNvPr id="529" name="Google Shape;529;p40"/>
          <p:cNvPicPr preferRelativeResize="0"/>
          <p:nvPr/>
        </p:nvPicPr>
        <p:blipFill rotWithShape="1">
          <a:blip r:embed="rId5">
            <a:alphaModFix/>
          </a:blip>
          <a:srcRect b="0" l="0" r="0" t="0"/>
          <a:stretch/>
        </p:blipFill>
        <p:spPr>
          <a:xfrm>
            <a:off x="6526986" y="3165587"/>
            <a:ext cx="2274767" cy="157366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535" name="Google Shape;535;p41"/>
          <p:cNvSpPr txBox="1"/>
          <p:nvPr/>
        </p:nvSpPr>
        <p:spPr>
          <a:xfrm>
            <a:off x="1018572" y="2013994"/>
            <a:ext cx="10023676" cy="120032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s-ES" sz="1800" u="none" cap="none" strike="noStrike">
                <a:solidFill>
                  <a:srgbClr val="0070C0"/>
                </a:solidFill>
                <a:latin typeface="Palatino Linotype"/>
                <a:ea typeface="Palatino Linotype"/>
                <a:cs typeface="Palatino Linotype"/>
                <a:sym typeface="Palatino Linotype"/>
              </a:rPr>
              <a:t>O poder de legitimidade é atribuído a uma pessoa eleita, escolhida ou indicada para uma posição. </a:t>
            </a:r>
            <a:r>
              <a:rPr b="0" i="0" lang="es-ES" sz="1800" u="none" cap="none" strike="noStrike">
                <a:solidFill>
                  <a:schemeClr val="dk1"/>
                </a:solidFill>
                <a:latin typeface="Palatino Linotype"/>
                <a:ea typeface="Palatino Linotype"/>
                <a:cs typeface="Palatino Linotype"/>
                <a:sym typeface="Palatino Linotype"/>
              </a:rPr>
              <a:t>Em geral, esse poder se apoia numa hierarquia de autoridades (onde o de cima tem o poder sobre o de baixo). As pessoas que se submetem a esse tipo de poder acreditam que a pessoa tem o direito de exercer esse poder.</a:t>
            </a:r>
            <a:endParaRPr b="0" i="0" sz="1400" u="none" cap="none" strike="noStrike">
              <a:solidFill>
                <a:srgbClr val="000000"/>
              </a:solidFill>
              <a:latin typeface="Arial"/>
              <a:ea typeface="Arial"/>
              <a:cs typeface="Arial"/>
              <a:sym typeface="Arial"/>
            </a:endParaRPr>
          </a:p>
        </p:txBody>
      </p:sp>
      <p:sp>
        <p:nvSpPr>
          <p:cNvPr id="536" name="Google Shape;536;p41"/>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poder de </a:t>
            </a:r>
            <a:r>
              <a:rPr b="0" i="0" lang="es-ES" sz="3500" u="none" cap="none" strike="noStrike">
                <a:solidFill>
                  <a:srgbClr val="FFC000"/>
                </a:solidFill>
                <a:latin typeface="Palatino Linotype"/>
                <a:ea typeface="Palatino Linotype"/>
                <a:cs typeface="Palatino Linotype"/>
                <a:sym typeface="Palatino Linotype"/>
              </a:rPr>
              <a:t>Legitimidade</a:t>
            </a:r>
            <a:endParaRPr b="0" i="0" sz="3500" u="none" cap="none" strike="noStrike">
              <a:solidFill>
                <a:srgbClr val="FFC000"/>
              </a:solidFill>
              <a:latin typeface="Palatino Linotype"/>
              <a:ea typeface="Palatino Linotype"/>
              <a:cs typeface="Palatino Linotype"/>
              <a:sym typeface="Palatino Linotype"/>
            </a:endParaRPr>
          </a:p>
        </p:txBody>
      </p:sp>
      <p:pic>
        <p:nvPicPr>
          <p:cNvPr id="537" name="Google Shape;537;p41"/>
          <p:cNvPicPr preferRelativeResize="0"/>
          <p:nvPr/>
        </p:nvPicPr>
        <p:blipFill rotWithShape="1">
          <a:blip r:embed="rId3">
            <a:alphaModFix/>
          </a:blip>
          <a:srcRect b="0" l="0" r="0" t="0"/>
          <a:stretch/>
        </p:blipFill>
        <p:spPr>
          <a:xfrm>
            <a:off x="4786131" y="3322444"/>
            <a:ext cx="1713053" cy="1565838"/>
          </a:xfrm>
          <a:prstGeom prst="rect">
            <a:avLst/>
          </a:prstGeom>
          <a:noFill/>
          <a:ln>
            <a:noFill/>
          </a:ln>
        </p:spPr>
      </p:pic>
      <p:pic>
        <p:nvPicPr>
          <p:cNvPr id="538" name="Google Shape;538;p41"/>
          <p:cNvPicPr preferRelativeResize="0"/>
          <p:nvPr/>
        </p:nvPicPr>
        <p:blipFill rotWithShape="1">
          <a:blip r:embed="rId4">
            <a:alphaModFix/>
          </a:blip>
          <a:srcRect b="0" l="0" r="0" t="0"/>
          <a:stretch/>
        </p:blipFill>
        <p:spPr>
          <a:xfrm>
            <a:off x="6845612" y="3214323"/>
            <a:ext cx="1915076" cy="1673959"/>
          </a:xfrm>
          <a:prstGeom prst="rect">
            <a:avLst/>
          </a:prstGeom>
          <a:noFill/>
          <a:ln>
            <a:noFill/>
          </a:ln>
        </p:spPr>
      </p:pic>
      <p:pic>
        <p:nvPicPr>
          <p:cNvPr id="539" name="Google Shape;539;p41"/>
          <p:cNvPicPr preferRelativeResize="0"/>
          <p:nvPr/>
        </p:nvPicPr>
        <p:blipFill rotWithShape="1">
          <a:blip r:embed="rId5">
            <a:alphaModFix/>
          </a:blip>
          <a:srcRect b="0" l="0" r="0" t="0"/>
          <a:stretch/>
        </p:blipFill>
        <p:spPr>
          <a:xfrm>
            <a:off x="2081265" y="3537629"/>
            <a:ext cx="2415749" cy="1280271"/>
          </a:xfrm>
          <a:prstGeom prst="rect">
            <a:avLst/>
          </a:prstGeom>
          <a:noFill/>
          <a:ln>
            <a:noFill/>
          </a:ln>
        </p:spPr>
      </p:pic>
      <p:pic>
        <p:nvPicPr>
          <p:cNvPr id="540" name="Google Shape;540;p41"/>
          <p:cNvPicPr preferRelativeResize="0"/>
          <p:nvPr/>
        </p:nvPicPr>
        <p:blipFill rotWithShape="1">
          <a:blip r:embed="rId6">
            <a:alphaModFix/>
          </a:blip>
          <a:srcRect b="0" l="0" r="0" t="0"/>
          <a:stretch/>
        </p:blipFill>
        <p:spPr>
          <a:xfrm>
            <a:off x="9165972" y="3322444"/>
            <a:ext cx="1470992" cy="176886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546" name="Google Shape;546;p42"/>
          <p:cNvSpPr txBox="1"/>
          <p:nvPr/>
        </p:nvSpPr>
        <p:spPr>
          <a:xfrm>
            <a:off x="1018572" y="2013994"/>
            <a:ext cx="10023676" cy="120032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s-ES" sz="1800" u="none" cap="none" strike="noStrike">
                <a:solidFill>
                  <a:srgbClr val="0070C0"/>
                </a:solidFill>
                <a:latin typeface="Palatino Linotype"/>
                <a:ea typeface="Palatino Linotype"/>
                <a:cs typeface="Palatino Linotype"/>
                <a:sym typeface="Palatino Linotype"/>
              </a:rPr>
              <a:t>O poder de legitimidade é atribuído a uma pessoa eleita, escolhida ou indicada para uma posição. </a:t>
            </a:r>
            <a:r>
              <a:rPr b="0" i="0" lang="es-ES" sz="1800" u="none" cap="none" strike="noStrike">
                <a:solidFill>
                  <a:schemeClr val="dk1"/>
                </a:solidFill>
                <a:latin typeface="Palatino Linotype"/>
                <a:ea typeface="Palatino Linotype"/>
                <a:cs typeface="Palatino Linotype"/>
                <a:sym typeface="Palatino Linotype"/>
              </a:rPr>
              <a:t>Em geral, esse poder se apoia numa hierarquia de autoridades (onde o de cima tem o poder sobre o de baixo). As pessoas que se submetem a esse tipo de poder acreditam que a pessoa tem o direito de exercer esse poder.</a:t>
            </a:r>
            <a:endParaRPr b="0" i="0" sz="1400" u="none" cap="none" strike="noStrike">
              <a:solidFill>
                <a:srgbClr val="000000"/>
              </a:solidFill>
              <a:latin typeface="Arial"/>
              <a:ea typeface="Arial"/>
              <a:cs typeface="Arial"/>
              <a:sym typeface="Arial"/>
            </a:endParaRPr>
          </a:p>
        </p:txBody>
      </p:sp>
      <p:sp>
        <p:nvSpPr>
          <p:cNvPr id="547" name="Google Shape;547;p42"/>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poder de </a:t>
            </a:r>
            <a:r>
              <a:rPr b="0" i="0" lang="es-ES" sz="3500" u="none" cap="none" strike="noStrike">
                <a:solidFill>
                  <a:srgbClr val="FFC000"/>
                </a:solidFill>
                <a:latin typeface="Palatino Linotype"/>
                <a:ea typeface="Palatino Linotype"/>
                <a:cs typeface="Palatino Linotype"/>
                <a:sym typeface="Palatino Linotype"/>
              </a:rPr>
              <a:t>Legitimidade</a:t>
            </a:r>
            <a:endParaRPr b="0" i="0" sz="3500" u="none" cap="none" strike="noStrike">
              <a:solidFill>
                <a:srgbClr val="FFC000"/>
              </a:solidFill>
              <a:latin typeface="Palatino Linotype"/>
              <a:ea typeface="Palatino Linotype"/>
              <a:cs typeface="Palatino Linotype"/>
              <a:sym typeface="Palatino Linotype"/>
            </a:endParaRPr>
          </a:p>
        </p:txBody>
      </p:sp>
      <p:sp>
        <p:nvSpPr>
          <p:cNvPr id="548" name="Google Shape;548;p42"/>
          <p:cNvSpPr txBox="1"/>
          <p:nvPr/>
        </p:nvSpPr>
        <p:spPr>
          <a:xfrm>
            <a:off x="1018572" y="4996404"/>
            <a:ext cx="10023676"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rgbClr val="182A2E"/>
                </a:solidFill>
                <a:latin typeface="Palatino Linotype"/>
                <a:ea typeface="Palatino Linotype"/>
                <a:cs typeface="Palatino Linotype"/>
                <a:sym typeface="Palatino Linotype"/>
              </a:rPr>
              <a:t>Exemplo</a:t>
            </a:r>
            <a:r>
              <a:rPr b="0" i="0" lang="es-ES" sz="1800" u="none" cap="none" strike="noStrike">
                <a:solidFill>
                  <a:srgbClr val="182A2E"/>
                </a:solidFill>
                <a:latin typeface="Palatino Linotype"/>
                <a:ea typeface="Palatino Linotype"/>
                <a:cs typeface="Palatino Linotype"/>
                <a:sym typeface="Palatino Linotype"/>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182A2E"/>
                </a:solidFill>
                <a:latin typeface="Palatino Linotype"/>
                <a:ea typeface="Palatino Linotype"/>
                <a:cs typeface="Palatino Linotype"/>
                <a:sym typeface="Palatino Linotype"/>
              </a:rPr>
              <a:t>Uma pessoa é escolhida pelo presidente da empresa para ocupar o cargo de gerente. Os demais funcionarios abaixo dele devem agora obedecê-lo.</a:t>
            </a:r>
            <a:endParaRPr b="0" i="0" sz="1800" u="none" cap="none" strike="noStrike">
              <a:solidFill>
                <a:schemeClr val="dk1"/>
              </a:solidFill>
              <a:latin typeface="Palatino Linotype"/>
              <a:ea typeface="Palatino Linotype"/>
              <a:cs typeface="Palatino Linotype"/>
              <a:sym typeface="Palatino Linotype"/>
            </a:endParaRPr>
          </a:p>
        </p:txBody>
      </p:sp>
      <p:pic>
        <p:nvPicPr>
          <p:cNvPr id="549" name="Google Shape;549;p42"/>
          <p:cNvPicPr preferRelativeResize="0"/>
          <p:nvPr/>
        </p:nvPicPr>
        <p:blipFill rotWithShape="1">
          <a:blip r:embed="rId3">
            <a:alphaModFix/>
          </a:blip>
          <a:srcRect b="0" l="0" r="0" t="0"/>
          <a:stretch/>
        </p:blipFill>
        <p:spPr>
          <a:xfrm>
            <a:off x="4786131" y="3322444"/>
            <a:ext cx="1713053" cy="1565838"/>
          </a:xfrm>
          <a:prstGeom prst="rect">
            <a:avLst/>
          </a:prstGeom>
          <a:noFill/>
          <a:ln>
            <a:noFill/>
          </a:ln>
        </p:spPr>
      </p:pic>
      <p:pic>
        <p:nvPicPr>
          <p:cNvPr id="550" name="Google Shape;550;p42"/>
          <p:cNvPicPr preferRelativeResize="0"/>
          <p:nvPr/>
        </p:nvPicPr>
        <p:blipFill rotWithShape="1">
          <a:blip r:embed="rId4">
            <a:alphaModFix/>
          </a:blip>
          <a:srcRect b="0" l="0" r="0" t="0"/>
          <a:stretch/>
        </p:blipFill>
        <p:spPr>
          <a:xfrm>
            <a:off x="6845612" y="3214323"/>
            <a:ext cx="1915076" cy="1673959"/>
          </a:xfrm>
          <a:prstGeom prst="rect">
            <a:avLst/>
          </a:prstGeom>
          <a:noFill/>
          <a:ln>
            <a:noFill/>
          </a:ln>
        </p:spPr>
      </p:pic>
      <p:pic>
        <p:nvPicPr>
          <p:cNvPr id="551" name="Google Shape;551;p42"/>
          <p:cNvPicPr preferRelativeResize="0"/>
          <p:nvPr/>
        </p:nvPicPr>
        <p:blipFill rotWithShape="1">
          <a:blip r:embed="rId5">
            <a:alphaModFix/>
          </a:blip>
          <a:srcRect b="0" l="0" r="0" t="0"/>
          <a:stretch/>
        </p:blipFill>
        <p:spPr>
          <a:xfrm>
            <a:off x="2081265" y="3537629"/>
            <a:ext cx="2415749" cy="1280271"/>
          </a:xfrm>
          <a:prstGeom prst="rect">
            <a:avLst/>
          </a:prstGeom>
          <a:noFill/>
          <a:ln>
            <a:noFill/>
          </a:ln>
        </p:spPr>
      </p:pic>
      <p:pic>
        <p:nvPicPr>
          <p:cNvPr id="552" name="Google Shape;552;p42"/>
          <p:cNvPicPr preferRelativeResize="0"/>
          <p:nvPr/>
        </p:nvPicPr>
        <p:blipFill rotWithShape="1">
          <a:blip r:embed="rId6">
            <a:alphaModFix/>
          </a:blip>
          <a:srcRect b="0" l="0" r="0" t="0"/>
          <a:stretch/>
        </p:blipFill>
        <p:spPr>
          <a:xfrm>
            <a:off x="9165972" y="3322444"/>
            <a:ext cx="1470992" cy="1768868"/>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558" name="Google Shape;558;p43"/>
          <p:cNvSpPr txBox="1"/>
          <p:nvPr/>
        </p:nvSpPr>
        <p:spPr>
          <a:xfrm>
            <a:off x="1018572" y="2013994"/>
            <a:ext cx="10023676" cy="120032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s-ES" sz="1800" u="none" cap="none" strike="noStrike">
                <a:solidFill>
                  <a:srgbClr val="0070C0"/>
                </a:solidFill>
                <a:latin typeface="Palatino Linotype"/>
                <a:ea typeface="Palatino Linotype"/>
                <a:cs typeface="Palatino Linotype"/>
                <a:sym typeface="Palatino Linotype"/>
              </a:rPr>
              <a:t>O poder de competência é atribuído a uma pessoa que possui conhecimento ou habilidade sobre determinado assunto. </a:t>
            </a:r>
            <a:r>
              <a:rPr b="0" i="0" lang="es-ES" sz="1800" u="none" cap="none" strike="noStrike">
                <a:solidFill>
                  <a:schemeClr val="dk1"/>
                </a:solidFill>
                <a:latin typeface="Palatino Linotype"/>
                <a:ea typeface="Palatino Linotype"/>
                <a:cs typeface="Palatino Linotype"/>
                <a:sym typeface="Palatino Linotype"/>
              </a:rPr>
              <a:t>A competência pode ser demonstrada pela reputação, credenciais, títulos e condutas. As pessoas acreditam que, pela experiência e conhecimento do especialista, ele tomará as decisões corretas. E por isso o seguem e colaboram. </a:t>
            </a:r>
            <a:endParaRPr b="0" i="0" sz="1400" u="none" cap="none" strike="noStrike">
              <a:solidFill>
                <a:srgbClr val="000000"/>
              </a:solidFill>
              <a:latin typeface="Arial"/>
              <a:ea typeface="Arial"/>
              <a:cs typeface="Arial"/>
              <a:sym typeface="Arial"/>
            </a:endParaRPr>
          </a:p>
        </p:txBody>
      </p:sp>
      <p:sp>
        <p:nvSpPr>
          <p:cNvPr id="559" name="Google Shape;559;p43"/>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poder de </a:t>
            </a:r>
            <a:r>
              <a:rPr b="0" i="0" lang="es-ES" sz="3500" u="none" cap="none" strike="noStrike">
                <a:solidFill>
                  <a:srgbClr val="FFC000"/>
                </a:solidFill>
                <a:latin typeface="Palatino Linotype"/>
                <a:ea typeface="Palatino Linotype"/>
                <a:cs typeface="Palatino Linotype"/>
                <a:sym typeface="Palatino Linotype"/>
              </a:rPr>
              <a:t>Competência</a:t>
            </a:r>
            <a:endParaRPr b="0" i="0" sz="3500" u="none" cap="none" strike="noStrike">
              <a:solidFill>
                <a:srgbClr val="FFC000"/>
              </a:solidFill>
              <a:latin typeface="Palatino Linotype"/>
              <a:ea typeface="Palatino Linotype"/>
              <a:cs typeface="Palatino Linotype"/>
              <a:sym typeface="Palatino Linotype"/>
            </a:endParaRPr>
          </a:p>
        </p:txBody>
      </p:sp>
      <p:sp>
        <p:nvSpPr>
          <p:cNvPr descr="data:image/png;base64,iVBORw0KGgoAAAANSUhEUgAAALcAAAEUCAMAAABeT1dZAAAB0VBMVEX///8APVnsZxnTlwAAAAD9wwD5sAD5rgAAOVYANlRISEh1dXUAMlH5rQDkqADbnwCdm5vrXwDrsADvswD/ygAAO1vkqQDeogAAL0/1ugDXmwD6tQAANFP/7gDRlQDdoAD/0wD//ff3+foAKkzs7Oz/9eP/3wArNSv7wlD+8NX+6sX+5rvrWgAAJkluhpXHjgCdnqL+7c7/+e3/1wD/5AD94ar8znT6vTn7xVv804f92ZP7ymn8znf93aD6uSS0wMjX3uKFmqdCYXbKyslALgBgRQC4hwCsewD7wEn7vjRPbYChr7nucCulVzn+7eXEXB7YYRz72cv4wan2ro7zk2bSu4zEpGDDpGubagCurKz91oInUWlifIyLi5BfSEiIUUB0TkT3s5X50cLKXR7zm3OOTiPweThoRCYyQ1JyRSaBSSWYVTrvf0rmwbOvWjF4WVMAUG6UbmJCQk0AKToaHh+nTRoAExpmLQM9PTxeX1/VzccWNkjzlmu4kTwsHABONADh0rXdcgzPhTXzlQbBfQDncxLegwZwVQDzhw1KPgB4ZgDAlS29mUnNpADbyqN3VQAAKy05OSlLNxqTbBZGNR9nSBqnjFWlgji5qoqgloWhjm1VWLvfAAAWg0lEQVR4nO2di3vaZpbGhbG5zCAo2JW4FVsYtVxsMyjF3AW2UwTYdWrn0sR4ekm7mXSa6Xa66W53Wrfp9r5J2m4z20znr53zfboghABh40g8j995mrFBxj8O53vPOZ9AJogLXehCF7rQhS50oYnEsKzZCJMrVasm20WzKSZSKl8qtKv5HEFUzEYxKjZdTiY3yzlG/HYzNeQ47pkRjRXD1qqV5FGG5aRvIblrGf1j08lKnnmGbMOVS7Yr+ZwqjBESkiRV0j+6SLA1fjP9bNBGKq8lTDp5SIeC7sHsEfo3VWqXTDccVrsEa04HRzD63OWc+P9cxnzDaWmWWsbpgDwo6S1MRnmOzOY5U41XUvWSM5lSiuXJGqRPTefQtHJjZsi6fYZSWwdDkiWi4ISwslWdQzeVp1gx3w9z8kvOQBB5Z4EoOiPwXUvH7pQ04fTSJFeuVqtH+Wf1jNik9EWBLBCbTidRI0n43a1Bx8jn5a9qOe19TK1QS3MMk8pXKsNq1pRVkQjLJM9lnM4US5L5nnWopHgIM+AmuSTKNoZDweYq5XNjVauKywiHjCSXcpB5rlAAiPTAL+8lB6u9LwP5zuSLyUIhWQb02nTchhtd39DLzxYjOdZJ5plCMUcwqCmsDMS0pjxMWZMJOTg2HSmm885iiXTAk8pPpS+rOUbezRYlI6linlSmVGi1WtWqZmH2zJvTUDFJhijzLKCniGq+RMKCKU/DJzMOACkOfSQG6jqBfIDhUuVKsVCsFpMtB1nQGENOSY50vv+OagZ+RbGYdPCZXJtj+Up1Gn0jV3EgOUltABUl0R1svpQsVCqtzUoyWWk7yKLWT46UGzb778pDnYrw5VyklKlEnHkumeKn0HixvBOoSRL+0yslSOWjcrKVbBWPioVkJYkC53QMlstITYohp3mcdIkoRxgiV4CnXyxVInwq3To7dxGwi2QqzTvA4vQPSRc2Ky3EW4T/ksmCg2wNHgkO6aikEXptIJpMsdWuJtHyhuRKR6qczs9PKBYypMY48kTeWSjrJx1bRNSVYuWoVWjzcLxTL6OA29nmW2WWqAzcy0YybJlslTnkI0yLLw9fTEaVgfyA0oJGgSFH5PlicrNaKRbbTnEhRPK6x6WrDr5UIJ384EjBOipg4blSxLHJEWybaDumwp0j8o5h65vbLFRa7XalXCsgbKeTLA63gnzFQTrJwQCwkVa+As+Wi2zyrVKSSDnPzJ0CmBbLkkNWeK7lgMSvpmvVAuRBpFBUJmN9seWWzurmCrkCatprJahxDr6SaZ/dUCCMTkfByScrpdpAJGsOnBs8CWqXMqnTjrzFDMvDWmzl0NLMZQo8LM8zcuccoiCcuF9SiU2SODMcrVLtbAaQ5pniUYRH2VisEWzriCie2QozPAnMErw671IQZpQZ0H6e9XcQyVolTVRQWSZbrUiEI/hB15lUXKZUKTp4HnGro5BrVzOpaXT5TIbg+EiZaKWYvDOfq0F0uLNji9psEzlEPthVT0EQa7ZA1pKQLxmonfCiapubUysNM0zZ6Ti7QemJQc1vORJpk8kiD90LU5nKzhDaOeOgmqTJc+ImOFQg2Vz5qJRh0Xqfxm9hSm0YHInKJtrROZ88AZWKcoi5UnIqm1lMxOmATjMfKcG6TI4//pTiysnNWiZfKlantXuIwuxoFaDEOPnzHLUZNpXOsVPchiiQonuT54p9NrFpeM6a25gjByrkvN7WmSXE5AuOCB9xtDIa1+dy6VQmYvre7xClCs7NXAqyrDI4HcKT0pm9LKEcbp1xV8+2dGaywfnKEko5Smgt43+Y3ObQScFqShaYJAQZd6SVPMMPm94tpjSUwhQwZ1A2sGiONXcZpsrG0rIilcKUPBtEns2u6BBFSNLYKSAZk5NxK2eeOOKg0/5s1emIMEZ6cFLqwWryHkBN/5SYQcXrWxudTud4Y6ueOM3PZ6Apyrd0z271C03suXxps01KAc+3T/P7sOL1zvqqx+1yu91RT3DdtrEz8UOwvMNZZst8pDSmA3VCXudTHMPJtbJ02njHd7tRl02tqLu7O2nGtBxOtD/Nllrt0qh9gpZ2q7x9mk3/BlBvB/upkVzB7fpkj1RyOnjsaEyqzLeGn1/OR1SFBp7f0K2ekVrvunSoMfnqxkSPlCMdPYJcOcKX9dE5/ojIyFt3tU2wk9NM1F23LjSWZ3uSXOEgwdWveIofkuh5Mt3bvcnVyFNNZFue4dw2z/EE4EzF6VCvsNRQWz4ie+NojTxd1WnY9LNE1OqW8UeqgYM7VDZYPhp6aJlM4l1JLo1PsZ9Kf4yO4LZFDRsi08qQDqdqX29U959LOvhWscVHiqcdyA7uvPH8CG7XttEHSheJiDrBU6OXWypfrRxlTj1GMnv+uY9Gga82DD5StUZAgkeU78tD3kA0HV31z83NvekanuMeoxkO7X8eSr2SHPx5dqcHCHtu7sobtmExdxn0QkgTdMpAWWZsZOThZ9Q1kRvI3/rU9jzSALfLGHcVAbediquVzrOpflvGnpvzz1159c233nz1I23KrBvqDhlcvNPKKS4mOWE1ObhtvGoeSthX3unhv6rlNrYw02IvWk5JFSXFT0TNvOtfu2rw2NtKkvxbj3vundMZSkWMMye/07A0mZscrs3N7e0T+0aO3T+841dxv3ZF/EbLvW6EWzlfnJfSY8INPpSw/tv7a4bAlfx+7U/ov9dE7ruapWkov7Xn53PJyXq8A5Sin127ZvCn5AR/570/v6fkygeagBvxk4rmjPPERQfn7NqhwaMPFD95rZfhc++rI+7qGOHW9iIT70yKJEaP3p/TlZrbUL1kC5GSemhhJ3MTJEhZv1FHIZh7Y7mDxqY1tpzkq8oZ89MUnTt+/18MH/yuXwf7AxW3y230oWCqbLeqeCBmWqcYYQ7m/v1D4wevaaH9/it3XZOkye2rPfNK1SJ8KXfK3mR31WN8oNUmyju/+0jdHLpsjRE/vA/r/+01/57adSFhYCI+DXdi2xU1vIVwW5Mobz3fV+ejIyNwsHZwG71E/euJYYcM8uNUXx8dpj7d8cuFEtvhp33W7XKNfJwD/+HeJLY7TsdRt6FqIf7uuT99cEUulu/3F8vV3ZE/u48bBcMN0VglbK6o4R0EmHg+/kAuO3f7ssQ9bri8B6a7N61og3Y9tqDRtan28I/7s2RctiX+Oue/ZrAVMqaNoC14bPBYlRe+1ZcmY1d3J/jG1HJEVHzbbXyz6Z7iKX3RHlspd4PRzplJNUqACwc7xjbgD5UhU10oXeOwG+4JbMuw6vCo0a6hxz2Qw/3XHrfHNg470XVNsgtnWAjctW5k912qPf63N+S9Wdfqxrifi3fdbkMt7sSqe8DUop3G2APFqcd/DQqtSB3tjK238Y7b5h7/0KdSHZ38cLu3xkVFTJK1g3hXtJHu+C4hfuyxeUYXpTNox4Ze+KBtdLLgrTb/2j1Yy7jhNmD8iW3w2fNIbkmNbbwr7+luNYYfdHXN79/77HAfldlxnZSoRNcN5eFckltS/BifKHMFbcf6ZyXjcOu1d2/vizhwbHC8d9YB2719qpOcxlV3ecS5JRjs7NYb6rsa9d3jqNoTjt02V3fsI27Bend3zxkbIrrhluzN5YHgdzsbW6CNThd8w+N2i9utiZ2tbqfRWIc8GfPy49SLnne0xV/ViSonzVwutzsKcrvFsSa6hZ9a1+NxuW1bG+MGs8QWWuqeZ4INqm+ve/S35leR56FBA1vJ9nY3un48HGr3Q3SuMzjR6cGzqbHVXY3qnFZYRwjb8u0uV3dja3dXH7yxFUXUrvM0QB3Fdza2bcGou8fuiorLsKHuAt1dcJ6BeMYTux0bfsmMVKWpozfqW50uSnGc3p2tLo7dRv+ZQNcq3KN2HvRTtqBLNNQRWXTeSjRA6Nc3om4IXnwdL1DVAnC5PcH11Q+3O8fHne0PV9eDHvFVcq2aEGwddbAN7wYByb0Bwdekv/i69L4Nbp9bRzKRdlbdHTQauURfSexuu4a4DvJ+13b92dnISHXcQQhgfRWnSQPd0tjdxm/70TBHg+sjO5xnqx0Y+huIHqEpdTte3zruuteDQQ8qT57g6qpte2O3YSKnVh03ohVNsG90iScS0LpsYUFLM+iKpqqBFiOYIG67jHSvFhG4NqR3fFWs8NZwCgNKrOJTZbvi230Mv+vBdIFrQ5GPS63JurVyeLgQMPSw9XXR6oyfoTBZyLWjdTThiHZiNo9RYeCE/Kaw6LNtTU+vRhfVGskEZ8hOUC/l2YrL78Ezfj7IZCEbCTZ25fc8jj6NYx0h84YiL89nLpt5w8BEQmniPhY7QaTxmybWEHITz1Zv29jwmxvNFd7ADNaVBttt9FSQyarj9FbCbfy9jSYLDfCuTlcZawy+V8Nsic1UtzeIrU7+KQwzNPCWb0/DbCRD6vmfrIbZSIa0of1Ig7HThaarq91nOP9N+Gkooc0So2+VNll17QcajL1F0HTtaj/5MiPTzsCynJEyr12WM8IdH3Dv2eBuDHLPxCYb3qafQe6tgc91zQb38cAHF2eCWxmGZ4y7oaWeFe6BZTkbPlifUe5BO5kN7o7OR85ngXugO5mNfjDRHcCeif5bxwZngntg2LHNxpw22FXNBreOncwEt056zwJ3Yn02ufXSexa4B2b52eBOfKib35b378GdWCTr13k9F5yBvmrINVos38du6F+ixepvUhrc8RFl9dNpgzsQoiz+bojdIeG2+GlAvQ5WlKXfFPaX4VfxMXaFE1O0/65/7v0h18JxGf5M7zPXoR9/BO3Nu7rcVm1PDuQPhvr//B863FYtO1fnlM+zvnf//iC5Ne374I7qk/0f/+d9IP9Uw21B+97vv3CF/7/m79+X0eVeBb0J3GK6rQ6233/vcP+Pn9yfByH0j+7ann8efQzZaja4/5maeu3abXRjYgfpk/n//tveax+8+uYbdz/91GxOrdb8qlC/3XfJn9/N/178+Lnf718zi2+YlNze++xAc6EixC1fvspvDt1wyVcd0rkUAuK+KnNb48+JqiRd+eHe4D2IW/64v3+qV3iYhmQy/XgfWJZ7/44INnilD8QtXwTKetxSCvuvDdyBue9I3AcmkI3Wvn+IYyBu5ppluQmx8gySIW7ZJ/23zSAbLfGSFf63tbdj7qvW5Sbu6Dsh5j60MLfINmAZmFu6QI6O3Ziv/T1dNMy9b2FucfH539XcirkJv4W5RSu8p0kUkVsqSwOr1hLCbZ/WCUXua0PcxhLCVqhlE7mlcjrla1BNS3pOKHIfWppbvOxQf4KL3FJV0i5aiwhboaa4iNzihausyo2tUAMncjNzQ9pFawgPCHt9N4ncxJ6lubHf9V96WOK+N2yOs4bQ1Z77nVDiFjvZe5YbjGUNZIPELRrhHctyIyvsu1qqxC2OxnuW5UYj8Jq61Mvcc9bmRiuzzwklbmk0ti43Sog78jcMx30y/3uO4xjxmqDW27BShAFxojy4/vqJ0Px8/guh+fDG9TsW50bO4T9kHtwQmk27z7t4ef67xQDtzX6JuNcszI1K+v88bGbDi6EFEHAvhOCrrzD3A7PpRujql0IzRgFqaDGwCPF+JUBRXgpzz319w6p/cJJInTSzAYAOLS4GKJoG7nDMvkyHMfdyWLhuNqC+rgtNClGHApSXXvZhbjsohrnJBTr70IIhZ24IsRAONmB7l33hZYX7G8T9VWBhMdZ8YDamVsyJ4JOwA14v7Qtjbh/itmPubylvKOQVfjQbtF/cQwFyRIo2JEmYDgSA2+uNATc2wm/tXnox5GtaKskZNTZKEjvtRfFeprPA/a3IDbcFQlTTShG/IdD9SWKnKS+Ot5obilEAIv7AbFpF12/6Qqok8QbAvQO4XoJ/076YzG0PA3hYsMrfiH0gNHvYUODBv0Eh4Ba/8iLuL/EShXsX7Y/MBpZ0IkBhl6MdCEmS6jz6qsdtp+lQwCKZ8qMQVmEvyFr6Yv67JfGrb3rcdrBDX9MKTRYHWRKSk4RaWFKEuEV9D9zfSNx2b2AxawUzvH4TvEQyQFqFvfLD/Hcr4pdfqblp7+LyQ/OXJnfSDCkGGFgSSVdAl4D70goWibhjMjgFATffxB/cDPeq5ILIubIUoBde/GH+f19cCPtCK5ciwP09LkFIy96Q/aHZ2MQjMJOQVCXppUtYS+FmeAlzL2WzscVLyFC+D8jcYZThD0zGhlUJfk3hKmn3Lr2IdImCOW3pZeB+eSlrj4VXLoGhfB/KKivTGzB9ZT4QfFAbcZKE7dQK5l6Jxey+lRckbrt96WXg/mYhK2d4mFr0mp0o12/CMpOwY9TKy0grqDBi7hdWEHc4/CVal0053nY6QAsmW/gjIRAI0LiVggQQuV8MwHi28Pjz+R8e43hn8Uifzfa4Kap56r8COh1Bege8yyI2CjLWCm3PCgLaPxHEIKOOUPFBbOFmO+FN4JaiDRPZksj9wqUAPB80pwkCvkvLTZu9MLmb2QAlY0OCvyiBPxYCIYi3LyY8fnklEI4NcNPmcrM3m4hbBgovSNxCdqE5Pz8vhJtNFP7lfm4fTcVeN5U7dTNLeRVse4yWViZwPwHun8JNAX//jTQ4yJWHos3mblLeHpA95g3RPhBwC8B9E7jRt74vtdx2c7lZDTekeAiKp7cpBBaffHH5p5iQhe+81Ld93ObnCaxLirb3gdsDqF8RmhT44+Wf4P+Qvurjppcpn8mF/qbQH29EHqMg6AJ4N3i4II6Yy1eufN1bmN5lyuwG5WGTosN2LXk2G16MNaHoPL4s0GgaevLzz4KKm6bMbghvCDDBq0Itwy3jkXgBVmeWXljIvvRSH7d3+WuTtzh/vOlbppT1RiF5vT7ELSomfJ4NUf+HuJV+ELjpprnYRAoMQ0kUCs1oAKvizoaffLH4y0ugJwo3TXvDN0zmJk4Eil6W4yjBUrEet93+E8ZWcVM+2uz0JojXobBQEpFP3jvxxXxLcrxp4WfM/ZMyp0G8m6YP9KzQpJWAK5s+ATn09lc+/+WXv/8dEvz/haycJnTW9DRB5xkUR4kFlhY0Csz39Ap+WcJen9f8NEEbEVmYd6QU0GIvPFZxf56Vsjv2yAobbY8EX5iSBgdKG/CQivsy4vbRy15rbGw+gAxXas9ApixSj7NN4ckrly9ffhLGWeKLmZ/dWDeEsI+mh6b4wsLSkrcZ9qHxIub1gZlY5HQgcwJTpFdK8Rg9iL2YbcakPAJ6s0finqBo+nrgWWpxYakX9RAVbsrWDUlCZ83tvPv0o9DsgaN2MCs7S6zZbCqFEjqCcOzECl4i6zqKOK2aIJbletm7CRwQktz8Stmn60IzHPZRSiu+jDbFFxcDPW64M7xsvVP0AG6H1amEHHKliSQ3JShHwvYTq2FjG4+F7T5v/7gpU3uBms5aok5qxT6CzilsD1N0/+QWpr1e9G/WUqe4VWJ+bGLHC/u8FNozRFrGX8JNsewj6+WILO71prRdjCooEvZGcL/swwdmww1RPJFINBp/+xW9m021FwixDmezT/+B/uxewlp/tivR2Ll169Zzsn57egJRz8bgf+ifpvD0n7899wfpzlu3dizyR8fiPWJJf3jut99+ffr0RBBOnv76z9960Ios8TcRINpaLmBXNHjfrR3LXAUAUntnB2XLLZ3nIOYHCA6xSJJoFAcl9ITuMBvuQhe60IUudKELzbD+BctylfSaG2GNAAAAAElFTkSuQmCC" id="560" name="Google Shape;560;p4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61" name="Google Shape;561;p43"/>
          <p:cNvPicPr preferRelativeResize="0"/>
          <p:nvPr/>
        </p:nvPicPr>
        <p:blipFill rotWithShape="1">
          <a:blip r:embed="rId3">
            <a:alphaModFix/>
          </a:blip>
          <a:srcRect b="0" l="0" r="0" t="0"/>
          <a:stretch/>
        </p:blipFill>
        <p:spPr>
          <a:xfrm>
            <a:off x="3146806" y="3310689"/>
            <a:ext cx="1053807" cy="1589349"/>
          </a:xfrm>
          <a:prstGeom prst="rect">
            <a:avLst/>
          </a:prstGeom>
          <a:noFill/>
          <a:ln>
            <a:noFill/>
          </a:ln>
        </p:spPr>
      </p:pic>
      <p:pic>
        <p:nvPicPr>
          <p:cNvPr id="562" name="Google Shape;562;p43"/>
          <p:cNvPicPr preferRelativeResize="0"/>
          <p:nvPr/>
        </p:nvPicPr>
        <p:blipFill rotWithShape="1">
          <a:blip r:embed="rId4">
            <a:alphaModFix/>
          </a:blip>
          <a:srcRect b="0" l="0" r="0" t="0"/>
          <a:stretch/>
        </p:blipFill>
        <p:spPr>
          <a:xfrm>
            <a:off x="4587508" y="3405975"/>
            <a:ext cx="2160457" cy="1489839"/>
          </a:xfrm>
          <a:prstGeom prst="rect">
            <a:avLst/>
          </a:prstGeom>
          <a:noFill/>
          <a:ln>
            <a:noFill/>
          </a:ln>
        </p:spPr>
      </p:pic>
      <p:pic>
        <p:nvPicPr>
          <p:cNvPr id="563" name="Google Shape;563;p43"/>
          <p:cNvPicPr preferRelativeResize="0"/>
          <p:nvPr/>
        </p:nvPicPr>
        <p:blipFill rotWithShape="1">
          <a:blip r:embed="rId5">
            <a:alphaModFix/>
          </a:blip>
          <a:srcRect b="0" l="0" r="0" t="0"/>
          <a:stretch/>
        </p:blipFill>
        <p:spPr>
          <a:xfrm>
            <a:off x="7455443" y="3282332"/>
            <a:ext cx="1748942" cy="1646063"/>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569" name="Google Shape;569;p44"/>
          <p:cNvSpPr txBox="1"/>
          <p:nvPr/>
        </p:nvSpPr>
        <p:spPr>
          <a:xfrm>
            <a:off x="1018572" y="2013994"/>
            <a:ext cx="10023676" cy="120032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s-ES" sz="1800" u="none" cap="none" strike="noStrike">
                <a:solidFill>
                  <a:srgbClr val="0070C0"/>
                </a:solidFill>
                <a:latin typeface="Palatino Linotype"/>
                <a:ea typeface="Palatino Linotype"/>
                <a:cs typeface="Palatino Linotype"/>
                <a:sym typeface="Palatino Linotype"/>
              </a:rPr>
              <a:t>O poder de competência é atribuído a uma pessoa que possui conhecimento ou habilidade sobre determinado assunto. </a:t>
            </a:r>
            <a:r>
              <a:rPr b="0" i="0" lang="es-ES" sz="1800" u="none" cap="none" strike="noStrike">
                <a:solidFill>
                  <a:schemeClr val="dk1"/>
                </a:solidFill>
                <a:latin typeface="Palatino Linotype"/>
                <a:ea typeface="Palatino Linotype"/>
                <a:cs typeface="Palatino Linotype"/>
                <a:sym typeface="Palatino Linotype"/>
              </a:rPr>
              <a:t>A competência pode ser demonstrada pela reputação, credenciais, títulos e condutas. As pessoas acreditam que, pela experiência e conhecimento do especialista, ele tomará as decisões corretas. E por isso o seguem e colaboram. </a:t>
            </a:r>
            <a:endParaRPr b="0" i="0" sz="1400" u="none" cap="none" strike="noStrike">
              <a:solidFill>
                <a:srgbClr val="000000"/>
              </a:solidFill>
              <a:latin typeface="Arial"/>
              <a:ea typeface="Arial"/>
              <a:cs typeface="Arial"/>
              <a:sym typeface="Arial"/>
            </a:endParaRPr>
          </a:p>
        </p:txBody>
      </p:sp>
      <p:sp>
        <p:nvSpPr>
          <p:cNvPr id="570" name="Google Shape;570;p44"/>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poder de </a:t>
            </a:r>
            <a:r>
              <a:rPr b="0" i="0" lang="es-ES" sz="3500" u="none" cap="none" strike="noStrike">
                <a:solidFill>
                  <a:srgbClr val="FFC000"/>
                </a:solidFill>
                <a:latin typeface="Palatino Linotype"/>
                <a:ea typeface="Palatino Linotype"/>
                <a:cs typeface="Palatino Linotype"/>
                <a:sym typeface="Palatino Linotype"/>
              </a:rPr>
              <a:t>Competência</a:t>
            </a:r>
            <a:endParaRPr b="0" i="0" sz="3500" u="none" cap="none" strike="noStrike">
              <a:solidFill>
                <a:srgbClr val="FFC000"/>
              </a:solidFill>
              <a:latin typeface="Palatino Linotype"/>
              <a:ea typeface="Palatino Linotype"/>
              <a:cs typeface="Palatino Linotype"/>
              <a:sym typeface="Palatino Linotype"/>
            </a:endParaRPr>
          </a:p>
        </p:txBody>
      </p:sp>
      <p:sp>
        <p:nvSpPr>
          <p:cNvPr id="571" name="Google Shape;571;p44"/>
          <p:cNvSpPr txBox="1"/>
          <p:nvPr/>
        </p:nvSpPr>
        <p:spPr>
          <a:xfrm>
            <a:off x="1018572" y="4996404"/>
            <a:ext cx="10023676"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rgbClr val="182A2E"/>
                </a:solidFill>
                <a:latin typeface="Palatino Linotype"/>
                <a:ea typeface="Palatino Linotype"/>
                <a:cs typeface="Palatino Linotype"/>
                <a:sym typeface="Palatino Linotype"/>
              </a:rPr>
              <a:t>Exemplo</a:t>
            </a:r>
            <a:r>
              <a:rPr b="0" i="0" lang="es-ES" sz="1800" u="none" cap="none" strike="noStrike">
                <a:solidFill>
                  <a:srgbClr val="182A2E"/>
                </a:solidFill>
                <a:latin typeface="Palatino Linotype"/>
                <a:ea typeface="Palatino Linotype"/>
                <a:cs typeface="Palatino Linotype"/>
                <a:sym typeface="Palatino Linotype"/>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182A2E"/>
                </a:solidFill>
                <a:latin typeface="Palatino Linotype"/>
                <a:ea typeface="Palatino Linotype"/>
                <a:cs typeface="Palatino Linotype"/>
                <a:sym typeface="Palatino Linotype"/>
              </a:rPr>
              <a:t>A empresa está com problemas de conflitos internos e resolve promover, para um cargo de liderança, uma pessoa com competência em gestão de pessoas.</a:t>
            </a:r>
            <a:endParaRPr b="0" i="0" sz="1800" u="none" cap="none" strike="noStrike">
              <a:solidFill>
                <a:srgbClr val="182A2E"/>
              </a:solidFill>
              <a:latin typeface="Palatino Linotype"/>
              <a:ea typeface="Palatino Linotype"/>
              <a:cs typeface="Palatino Linotype"/>
              <a:sym typeface="Palatino Linotype"/>
            </a:endParaRPr>
          </a:p>
        </p:txBody>
      </p:sp>
      <p:sp>
        <p:nvSpPr>
          <p:cNvPr descr="data:image/png;base64,iVBORw0KGgoAAAANSUhEUgAAALcAAAEUCAMAAABeT1dZAAAB0VBMVEX///8APVnsZxnTlwAAAAD9wwD5sAD5rgAAOVYANlRISEh1dXUAMlH5rQDkqADbnwCdm5vrXwDrsADvswD/ygAAO1vkqQDeogAAL0/1ugDXmwD6tQAANFP/7gDRlQDdoAD/0wD//ff3+foAKkzs7Oz/9eP/3wArNSv7wlD+8NX+6sX+5rvrWgAAJkluhpXHjgCdnqL+7c7/+e3/1wD/5AD94ar8znT6vTn7xVv804f92ZP7ymn8znf93aD6uSS0wMjX3uKFmqdCYXbKyslALgBgRQC4hwCsewD7wEn7vjRPbYChr7nucCulVzn+7eXEXB7YYRz72cv4wan2ro7zk2bSu4zEpGDDpGubagCurKz91oInUWlifIyLi5BfSEiIUUB0TkT3s5X50cLKXR7zm3OOTiPweThoRCYyQ1JyRSaBSSWYVTrvf0rmwbOvWjF4WVMAUG6UbmJCQk0AKToaHh+nTRoAExpmLQM9PTxeX1/VzccWNkjzlmu4kTwsHABONADh0rXdcgzPhTXzlQbBfQDncxLegwZwVQDzhw1KPgB4ZgDAlS29mUnNpADbyqN3VQAAKy05OSlLNxqTbBZGNR9nSBqnjFWlgji5qoqgloWhjm1VWLvfAAAWg0lEQVR4nO2di3vaZpbGhbG5zCAo2JW4FVsYtVxsMyjF3AW2UwTYdWrn0sR4ekm7mXSa6Xa66W53Wrfp9r5J2m4z20znr53zfboghABh40g8j995mrFBxj8O53vPOZ9AJogLXehCF7rQhS50oYnEsKzZCJMrVasm20WzKSZSKl8qtKv5HEFUzEYxKjZdTiY3yzlG/HYzNeQ47pkRjRXD1qqV5FGG5aRvIblrGf1j08lKnnmGbMOVS7Yr+ZwqjBESkiRV0j+6SLA1fjP9bNBGKq8lTDp5SIeC7sHsEfo3VWqXTDccVrsEa04HRzD63OWc+P9cxnzDaWmWWsbpgDwo6S1MRnmOzOY5U41XUvWSM5lSiuXJGqRPTefQtHJjZsi6fYZSWwdDkiWi4ISwslWdQzeVp1gx3w9z8kvOQBB5Z4EoOiPwXUvH7pQ04fTSJFeuVqtH+Wf1jNik9EWBLBCbTidRI0n43a1Bx8jn5a9qOe19TK1QS3MMk8pXKsNq1pRVkQjLJM9lnM4US5L5nnWopHgIM+AmuSTKNoZDweYq5XNjVauKywiHjCSXcpB5rlAAiPTAL+8lB6u9LwP5zuSLyUIhWQb02nTchhtd39DLzxYjOdZJ5plCMUcwqCmsDMS0pjxMWZMJOTg2HSmm885iiXTAk8pPpS+rOUbezRYlI6linlSmVGi1WtWqZmH2zJvTUDFJhijzLKCniGq+RMKCKU/DJzMOACkOfSQG6jqBfIDhUuVKsVCsFpMtB1nQGENOSY50vv+OagZ+RbGYdPCZXJtj+Up1Gn0jV3EgOUltABUl0R1svpQsVCqtzUoyWWk7yKLWT46UGzb778pDnYrw5VyklKlEnHkumeKn0HixvBOoSRL+0yslSOWjcrKVbBWPioVkJYkC53QMlstITYohp3mcdIkoRxgiV4CnXyxVInwq3To7dxGwi2QqzTvA4vQPSRc2Ky3EW4T/ksmCg2wNHgkO6aikEXptIJpMsdWuJtHyhuRKR6qczs9PKBYypMY48kTeWSjrJx1bRNSVYuWoVWjzcLxTL6OA29nmW2WWqAzcy0YybJlslTnkI0yLLw9fTEaVgfyA0oJGgSFH5PlicrNaKRbbTnEhRPK6x6WrDr5UIJ384EjBOipg4blSxLHJEWybaDumwp0j8o5h65vbLFRa7XalXCsgbKeTLA63gnzFQTrJwQCwkVa+As+Wi2zyrVKSSDnPzJ0CmBbLkkNWeK7lgMSvpmvVAuRBpFBUJmN9seWWzurmCrkCatprJahxDr6SaZ/dUCCMTkfByScrpdpAJGsOnBs8CWqXMqnTjrzFDMvDWmzl0NLMZQo8LM8zcuccoiCcuF9SiU2SODMcrVLtbAaQ5pniUYRH2VisEWzriCie2QozPAnMErw671IQZpQZ0H6e9XcQyVolTVRQWSZbrUiEI/hB15lUXKZUKTp4HnGro5BrVzOpaXT5TIbg+EiZaKWYvDOfq0F0uLNji9psEzlEPthVT0EQa7ZA1pKQLxmonfCiapubUysNM0zZ6Ti7QemJQc1vORJpk8kiD90LU5nKzhDaOeOgmqTJc+ImOFQg2Vz5qJRh0Xqfxm9hSm0YHInKJtrROZ88AZWKcoi5UnIqm1lMxOmATjMfKcG6TI4//pTiysnNWiZfKlantXuIwuxoFaDEOPnzHLUZNpXOsVPchiiQonuT54p9NrFpeM6a25gjByrkvN7WmSXE5AuOCB9xtDIa1+dy6VQmYvre7xClCs7NXAqyrDI4HcKT0pm9LKEcbp1xV8+2dGaywfnKEko5Smgt43+Y3ObQScFqShaYJAQZd6SVPMMPm94tpjSUwhQwZ1A2sGiONXcZpsrG0rIilcKUPBtEns2u6BBFSNLYKSAZk5NxK2eeOOKg0/5s1emIMEZ6cFLqwWryHkBN/5SYQcXrWxudTud4Y6ueOM3PZ6Apyrd0z271C03suXxps01KAc+3T/P7sOL1zvqqx+1yu91RT3DdtrEz8UOwvMNZZst8pDSmA3VCXudTHMPJtbJ02njHd7tRl02tqLu7O2nGtBxOtD/Nllrt0qh9gpZ2q7x9mk3/BlBvB/upkVzB7fpkj1RyOnjsaEyqzLeGn1/OR1SFBp7f0K2ekVrvunSoMfnqxkSPlCMdPYJcOcKX9dE5/ojIyFt3tU2wk9NM1F23LjSWZ3uSXOEgwdWveIofkuh5Mt3bvcnVyFNNZFue4dw2z/EE4EzF6VCvsNRQWz4ie+NojTxd1WnY9LNE1OqW8UeqgYM7VDZYPhp6aJlM4l1JLo1PsZ9Kf4yO4LZFDRsi08qQDqdqX29U959LOvhWscVHiqcdyA7uvPH8CG7XttEHSheJiDrBU6OXWypfrRxlTj1GMnv+uY9Gga82DD5StUZAgkeU78tD3kA0HV31z83NvekanuMeoxkO7X8eSr2SHPx5dqcHCHtu7sobtmExdxn0QkgTdMpAWWZsZOThZ9Q1kRvI3/rU9jzSALfLGHcVAbediquVzrOpflvGnpvzz1159c233nz1I23KrBvqDhlcvNPKKS4mOWE1ObhtvGoeSthX3unhv6rlNrYw02IvWk5JFSXFT0TNvOtfu2rw2NtKkvxbj3vundMZSkWMMye/07A0mZscrs3N7e0T+0aO3T+841dxv3ZF/EbLvW6EWzlfnJfSY8INPpSw/tv7a4bAlfx+7U/ov9dE7ruapWkov7Xn53PJyXq8A5Sin127ZvCn5AR/570/v6fkygeagBvxk4rmjPPERQfn7NqhwaMPFD95rZfhc++rI+7qGOHW9iIT70yKJEaP3p/TlZrbUL1kC5GSemhhJ3MTJEhZv1FHIZh7Y7mDxqY1tpzkq8oZ89MUnTt+/18MH/yuXwf7AxW3y230oWCqbLeqeCBmWqcYYQ7m/v1D4wevaaH9/it3XZOkye2rPfNK1SJ8KXfK3mR31WN8oNUmyju/+0jdHLpsjRE/vA/r/+01/57adSFhYCI+DXdi2xU1vIVwW5Mobz3fV+ejIyNwsHZwG71E/euJYYcM8uNUXx8dpj7d8cuFEtvhp33W7XKNfJwD/+HeJLY7TsdRt6FqIf7uuT99cEUulu/3F8vV3ZE/u48bBcMN0VglbK6o4R0EmHg+/kAuO3f7ssQ9bri8B6a7N61og3Y9tqDRtan28I/7s2RctiX+Oue/ZrAVMqaNoC14bPBYlRe+1ZcmY1d3J/jG1HJEVHzbbXyz6Z7iKX3RHlspd4PRzplJNUqACwc7xjbgD5UhU10oXeOwG+4JbMuw6vCo0a6hxz2Qw/3XHrfHNg470XVNsgtnWAjctW5k912qPf63N+S9Wdfqxrifi3fdbkMt7sSqe8DUop3G2APFqcd/DQqtSB3tjK238Y7b5h7/0KdSHZ38cLu3xkVFTJK1g3hXtJHu+C4hfuyxeUYXpTNox4Ze+KBtdLLgrTb/2j1Yy7jhNmD8iW3w2fNIbkmNbbwr7+luNYYfdHXN79/77HAfldlxnZSoRNcN5eFckltS/BifKHMFbcf6ZyXjcOu1d2/vizhwbHC8d9YB2719qpOcxlV3ecS5JRjs7NYb6rsa9d3jqNoTjt02V3fsI27Bend3zxkbIrrhluzN5YHgdzsbW6CNThd8w+N2i9utiZ2tbqfRWIc8GfPy49SLnne0xV/ViSonzVwutzsKcrvFsSa6hZ9a1+NxuW1bG+MGs8QWWuqeZ4INqm+ve/S35leR56FBA1vJ9nY3un48HGr3Q3SuMzjR6cGzqbHVXY3qnFZYRwjb8u0uV3dja3dXH7yxFUXUrvM0QB3Fdza2bcGou8fuiorLsKHuAt1dcJ6BeMYTux0bfsmMVKWpozfqW50uSnGc3p2tLo7dRv+ZQNcq3KN2HvRTtqBLNNQRWXTeSjRA6Nc3om4IXnwdL1DVAnC5PcH11Q+3O8fHne0PV9eDHvFVcq2aEGwddbAN7wYByb0Bwdekv/i69L4Nbp9bRzKRdlbdHTQauURfSexuu4a4DvJ+13b92dnISHXcQQhgfRWnSQPd0tjdxm/70TBHg+sjO5xnqx0Y+huIHqEpdTte3zruuteDQQ8qT57g6qpte2O3YSKnVh03ohVNsG90iScS0LpsYUFLM+iKpqqBFiOYIG67jHSvFhG4NqR3fFWs8NZwCgNKrOJTZbvi230Mv+vBdIFrQ5GPS63JurVyeLgQMPSw9XXR6oyfoTBZyLWjdTThiHZiNo9RYeCE/Kaw6LNtTU+vRhfVGskEZ8hOUC/l2YrL78Ezfj7IZCEbCTZ25fc8jj6NYx0h84YiL89nLpt5w8BEQmniPhY7QaTxmybWEHITz1Zv29jwmxvNFd7ADNaVBttt9FSQyarj9FbCbfy9jSYLDfCuTlcZawy+V8Nsic1UtzeIrU7+KQwzNPCWb0/DbCRD6vmfrIbZSIa0of1Ig7HThaarq91nOP9N+Gkooc0So2+VNll17QcajL1F0HTtaj/5MiPTzsCynJEyr12WM8IdH3Dv2eBuDHLPxCYb3qafQe6tgc91zQb38cAHF2eCWxmGZ4y7oaWeFe6BZTkbPlifUe5BO5kN7o7OR85ngXugO5mNfjDRHcCeif5bxwZngntg2LHNxpw22FXNBreOncwEt056zwJ3Yn02ufXSexa4B2b52eBOfKib35b378GdWCTr13k9F5yBvmrINVos38du6F+ixepvUhrc8RFl9dNpgzsQoiz+bojdIeG2+GlAvQ5WlKXfFPaX4VfxMXaFE1O0/65/7v0h18JxGf5M7zPXoR9/BO3Nu7rcVm1PDuQPhvr//B863FYtO1fnlM+zvnf//iC5Ne374I7qk/0f/+d9IP9Uw21B+97vv3CF/7/m79+X0eVeBb0J3GK6rQ6233/vcP+Pn9yfByH0j+7ann8efQzZaja4/5maeu3abXRjYgfpk/n//tveax+8+uYbdz/91GxOrdb8qlC/3XfJn9/N/178+Lnf718zi2+YlNze++xAc6EixC1fvspvDt1wyVcd0rkUAuK+KnNb48+JqiRd+eHe4D2IW/64v3+qV3iYhmQy/XgfWJZ7/44INnilD8QtXwTKetxSCvuvDdyBue9I3AcmkI3Wvn+IYyBu5ppluQmx8gySIW7ZJ/23zSAbLfGSFf63tbdj7qvW5Sbu6Dsh5j60MLfINmAZmFu6QI6O3Ziv/T1dNMy9b2FucfH539XcirkJv4W5RSu8p0kUkVsqSwOr1hLCbZ/WCUXua0PcxhLCVqhlE7mlcjrla1BNS3pOKHIfWppbvOxQf4KL3FJV0i5aiwhboaa4iNzihausyo2tUAMncjNzQ9pFawgPCHt9N4ncxJ6lubHf9V96WOK+N2yOs4bQ1Z77nVDiFjvZe5YbjGUNZIPELRrhHctyIyvsu1qqxC2OxnuW5UYj8Jq61Mvcc9bmRiuzzwklbmk0ti43Sog78jcMx30y/3uO4xjxmqDW27BShAFxojy4/vqJ0Px8/guh+fDG9TsW50bO4T9kHtwQmk27z7t4ef67xQDtzX6JuNcszI1K+v88bGbDi6EFEHAvhOCrrzD3A7PpRujql0IzRgFqaDGwCPF+JUBRXgpzz319w6p/cJJInTSzAYAOLS4GKJoG7nDMvkyHMfdyWLhuNqC+rgtNClGHApSXXvZhbjsohrnJBTr70IIhZ24IsRAONmB7l33hZYX7G8T9VWBhMdZ8YDamVsyJ4JOwA14v7Qtjbh/itmPubylvKOQVfjQbtF/cQwFyRIo2JEmYDgSA2+uNATc2wm/tXnox5GtaKskZNTZKEjvtRfFeprPA/a3IDbcFQlTTShG/IdD9SWKnKS+Ot5obilEAIv7AbFpF12/6Qqok8QbAvQO4XoJ/076YzG0PA3hYsMrfiH0gNHvYUODBv0Eh4Ba/8iLuL/EShXsX7Y/MBpZ0IkBhl6MdCEmS6jz6qsdtp+lQwCKZ8qMQVmEvyFr6Yv67JfGrb3rcdrBDX9MKTRYHWRKSk4RaWFKEuEV9D9zfSNx2b2AxawUzvH4TvEQyQFqFvfLD/Hcr4pdfqblp7+LyQ/OXJnfSDCkGGFgSSVdAl4D70goWibhjMjgFATffxB/cDPeq5ILIubIUoBde/GH+f19cCPtCK5ciwP09LkFIy96Q/aHZ2MQjMJOQVCXppUtYS+FmeAlzL2WzscVLyFC+D8jcYZThD0zGhlUJfk3hKmn3Lr2IdImCOW3pZeB+eSlrj4VXLoGhfB/KKivTGzB9ZT4QfFAbcZKE7dQK5l6Jxey+lRckbrt96WXg/mYhK2d4mFr0mp0o12/CMpOwY9TKy0grqDBi7hdWEHc4/CVal0053nY6QAsmW/gjIRAI0LiVggQQuV8MwHi28Pjz+R8e43hn8Uifzfa4Kap56r8COh1Bege8yyI2CjLWCm3PCgLaPxHEIKOOUPFBbOFmO+FN4JaiDRPZksj9wqUAPB80pwkCvkvLTZu9MLmb2QAlY0OCvyiBPxYCIYi3LyY8fnklEI4NcNPmcrM3m4hbBgovSNxCdqE5Pz8vhJtNFP7lfm4fTcVeN5U7dTNLeRVse4yWViZwPwHun8JNAX//jTQ4yJWHos3mblLeHpA95g3RPhBwC8B9E7jRt74vtdx2c7lZDTekeAiKp7cpBBaffHH5p5iQhe+81Ld93ObnCaxLirb3gdsDqF8RmhT44+Wf4P+Qvurjppcpn8mF/qbQH29EHqMg6AJ4N3i4II6Yy1eufN1bmN5lyuwG5WGTosN2LXk2G16MNaHoPL4s0GgaevLzz4KKm6bMbghvCDDBq0Itwy3jkXgBVmeWXljIvvRSH7d3+WuTtzh/vOlbppT1RiF5vT7ELSomfJ4NUf+HuJV+ELjpprnYRAoMQ0kUCs1oAKvizoaffLH4y0ugJwo3TXvDN0zmJk4Eil6W4yjBUrEet93+E8ZWcVM+2uz0JojXobBQEpFP3jvxxXxLcrxp4WfM/ZMyp0G8m6YP9KzQpJWAK5s+ATn09lc+/+WXv/8dEvz/haycJnTW9DRB5xkUR4kFlhY0Csz39Ap+WcJen9f8NEEbEVmYd6QU0GIvPFZxf56Vsjv2yAobbY8EX5iSBgdKG/CQivsy4vbRy15rbGw+gAxXas9ApixSj7NN4ckrly9ffhLGWeKLmZ/dWDeEsI+mh6b4wsLSkrcZ9qHxIub1gZlY5HQgcwJTpFdK8Rg9iL2YbcakPAJ6s0finqBo+nrgWWpxYakX9RAVbsrWDUlCZ83tvPv0o9DsgaN2MCs7S6zZbCqFEjqCcOzECl4i6zqKOK2aIJbletm7CRwQktz8Stmn60IzHPZRSiu+jDbFFxcDPW64M7xsvVP0AG6H1amEHHKliSQ3JShHwvYTq2FjG4+F7T5v/7gpU3uBms5aok5qxT6CzilsD1N0/+QWpr1e9G/WUqe4VWJ+bGLHC/u8FNozRFrGX8JNsewj6+WILO71prRdjCooEvZGcL/swwdmww1RPJFINBp/+xW9m021FwixDmezT/+B/uxewlp/tivR2Ll169Zzsn57egJRz8bgf+ifpvD0n7899wfpzlu3dizyR8fiPWJJf3jut99+ffr0RBBOnv76z9960Ios8TcRINpaLmBXNHjfrR3LXAUAUntnB2XLLZ3nIOYHCA6xSJJoFAcl9ITuMBvuQhe60IUudKELzbD+BctylfSaG2GNAAAAAElFTkSuQmCC" id="572" name="Google Shape;572;p44"/>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73" name="Google Shape;573;p44"/>
          <p:cNvPicPr preferRelativeResize="0"/>
          <p:nvPr/>
        </p:nvPicPr>
        <p:blipFill rotWithShape="1">
          <a:blip r:embed="rId3">
            <a:alphaModFix/>
          </a:blip>
          <a:srcRect b="0" l="0" r="0" t="0"/>
          <a:stretch/>
        </p:blipFill>
        <p:spPr>
          <a:xfrm>
            <a:off x="3146806" y="3310689"/>
            <a:ext cx="1053807" cy="1589349"/>
          </a:xfrm>
          <a:prstGeom prst="rect">
            <a:avLst/>
          </a:prstGeom>
          <a:noFill/>
          <a:ln>
            <a:noFill/>
          </a:ln>
        </p:spPr>
      </p:pic>
      <p:pic>
        <p:nvPicPr>
          <p:cNvPr id="574" name="Google Shape;574;p44"/>
          <p:cNvPicPr preferRelativeResize="0"/>
          <p:nvPr/>
        </p:nvPicPr>
        <p:blipFill rotWithShape="1">
          <a:blip r:embed="rId4">
            <a:alphaModFix/>
          </a:blip>
          <a:srcRect b="0" l="0" r="0" t="0"/>
          <a:stretch/>
        </p:blipFill>
        <p:spPr>
          <a:xfrm>
            <a:off x="4587508" y="3405975"/>
            <a:ext cx="2160457" cy="1489839"/>
          </a:xfrm>
          <a:prstGeom prst="rect">
            <a:avLst/>
          </a:prstGeom>
          <a:noFill/>
          <a:ln>
            <a:noFill/>
          </a:ln>
        </p:spPr>
      </p:pic>
      <p:pic>
        <p:nvPicPr>
          <p:cNvPr id="575" name="Google Shape;575;p44"/>
          <p:cNvPicPr preferRelativeResize="0"/>
          <p:nvPr/>
        </p:nvPicPr>
        <p:blipFill rotWithShape="1">
          <a:blip r:embed="rId5">
            <a:alphaModFix/>
          </a:blip>
          <a:srcRect b="0" l="0" r="0" t="0"/>
          <a:stretch/>
        </p:blipFill>
        <p:spPr>
          <a:xfrm>
            <a:off x="7455443" y="3282332"/>
            <a:ext cx="1748942" cy="1646063"/>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581" name="Google Shape;581;p45"/>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poder de </a:t>
            </a:r>
            <a:r>
              <a:rPr b="0" i="0" lang="es-ES" sz="3500" u="none" cap="none" strike="noStrike">
                <a:solidFill>
                  <a:srgbClr val="FFC000"/>
                </a:solidFill>
                <a:latin typeface="Palatino Linotype"/>
                <a:ea typeface="Palatino Linotype"/>
                <a:cs typeface="Palatino Linotype"/>
                <a:sym typeface="Palatino Linotype"/>
              </a:rPr>
              <a:t>Competência</a:t>
            </a:r>
            <a:r>
              <a:rPr b="0" i="0" lang="es-ES" sz="3500" u="none" cap="none" strike="noStrike">
                <a:solidFill>
                  <a:schemeClr val="lt1"/>
                </a:solidFill>
                <a:latin typeface="Palatino Linotype"/>
                <a:ea typeface="Palatino Linotype"/>
                <a:cs typeface="Palatino Linotype"/>
                <a:sym typeface="Palatino Linotype"/>
              </a:rPr>
              <a:t>: um caso curioso</a:t>
            </a:r>
            <a:endParaRPr b="0" i="0" sz="3500" u="none" cap="none" strike="noStrike">
              <a:solidFill>
                <a:schemeClr val="lt1"/>
              </a:solidFill>
              <a:latin typeface="Palatino Linotype"/>
              <a:ea typeface="Palatino Linotype"/>
              <a:cs typeface="Palatino Linotype"/>
              <a:sym typeface="Palatino Linotype"/>
            </a:endParaRPr>
          </a:p>
        </p:txBody>
      </p:sp>
      <p:sp>
        <p:nvSpPr>
          <p:cNvPr descr="data:image/png;base64,iVBORw0KGgoAAAANSUhEUgAAALcAAAEUCAMAAABeT1dZAAAB0VBMVEX///8APVnsZxnTlwAAAAD9wwD5sAD5rgAAOVYANlRISEh1dXUAMlH5rQDkqADbnwCdm5vrXwDrsADvswD/ygAAO1vkqQDeogAAL0/1ugDXmwD6tQAANFP/7gDRlQDdoAD/0wD//ff3+foAKkzs7Oz/9eP/3wArNSv7wlD+8NX+6sX+5rvrWgAAJkluhpXHjgCdnqL+7c7/+e3/1wD/5AD94ar8znT6vTn7xVv804f92ZP7ymn8znf93aD6uSS0wMjX3uKFmqdCYXbKyslALgBgRQC4hwCsewD7wEn7vjRPbYChr7nucCulVzn+7eXEXB7YYRz72cv4wan2ro7zk2bSu4zEpGDDpGubagCurKz91oInUWlifIyLi5BfSEiIUUB0TkT3s5X50cLKXR7zm3OOTiPweThoRCYyQ1JyRSaBSSWYVTrvf0rmwbOvWjF4WVMAUG6UbmJCQk0AKToaHh+nTRoAExpmLQM9PTxeX1/VzccWNkjzlmu4kTwsHABONADh0rXdcgzPhTXzlQbBfQDncxLegwZwVQDzhw1KPgB4ZgDAlS29mUnNpADbyqN3VQAAKy05OSlLNxqTbBZGNR9nSBqnjFWlgji5qoqgloWhjm1VWLvfAAAWg0lEQVR4nO2di3vaZpbGhbG5zCAo2JW4FVsYtVxsMyjF3AW2UwTYdWrn0sR4ekm7mXSa6Xa66W53Wrfp9r5J2m4z20znr53zfboghABh40g8j995mrFBxj8O53vPOZ9AJogLXehCF7rQhS50oYnEsKzZCJMrVasm20WzKSZSKl8qtKv5HEFUzEYxKjZdTiY3yzlG/HYzNeQ47pkRjRXD1qqV5FGG5aRvIblrGf1j08lKnnmGbMOVS7Yr+ZwqjBESkiRV0j+6SLA1fjP9bNBGKq8lTDp5SIeC7sHsEfo3VWqXTDccVrsEa04HRzD63OWc+P9cxnzDaWmWWsbpgDwo6S1MRnmOzOY5U41XUvWSM5lSiuXJGqRPTefQtHJjZsi6fYZSWwdDkiWi4ISwslWdQzeVp1gx3w9z8kvOQBB5Z4EoOiPwXUvH7pQ04fTSJFeuVqtH+Wf1jNik9EWBLBCbTidRI0n43a1Bx8jn5a9qOe19TK1QS3MMk8pXKsNq1pRVkQjLJM9lnM4US5L5nnWopHgIM+AmuSTKNoZDweYq5XNjVauKywiHjCSXcpB5rlAAiPTAL+8lB6u9LwP5zuSLyUIhWQb02nTchhtd39DLzxYjOdZJ5plCMUcwqCmsDMS0pjxMWZMJOTg2HSmm885iiXTAk8pPpS+rOUbezRYlI6linlSmVGi1WtWqZmH2zJvTUDFJhijzLKCniGq+RMKCKU/DJzMOACkOfSQG6jqBfIDhUuVKsVCsFpMtB1nQGENOSY50vv+OagZ+RbGYdPCZXJtj+Up1Gn0jV3EgOUltABUl0R1svpQsVCqtzUoyWWk7yKLWT46UGzb778pDnYrw5VyklKlEnHkumeKn0HixvBOoSRL+0yslSOWjcrKVbBWPioVkJYkC53QMlstITYohp3mcdIkoRxgiV4CnXyxVInwq3To7dxGwi2QqzTvA4vQPSRc2Ky3EW4T/ksmCg2wNHgkO6aikEXptIJpMsdWuJtHyhuRKR6qczs9PKBYypMY48kTeWSjrJx1bRNSVYuWoVWjzcLxTL6OA29nmW2WWqAzcy0YybJlslTnkI0yLLw9fTEaVgfyA0oJGgSFH5PlicrNaKRbbTnEhRPK6x6WrDr5UIJ384EjBOipg4blSxLHJEWybaDumwp0j8o5h65vbLFRa7XalXCsgbKeTLA63gnzFQTrJwQCwkVa+As+Wi2zyrVKSSDnPzJ0CmBbLkkNWeK7lgMSvpmvVAuRBpFBUJmN9seWWzurmCrkCatprJahxDr6SaZ/dUCCMTkfByScrpdpAJGsOnBs8CWqXMqnTjrzFDMvDWmzl0NLMZQo8LM8zcuccoiCcuF9SiU2SODMcrVLtbAaQ5pniUYRH2VisEWzriCie2QozPAnMErw671IQZpQZ0H6e9XcQyVolTVRQWSZbrUiEI/hB15lUXKZUKTp4HnGro5BrVzOpaXT5TIbg+EiZaKWYvDOfq0F0uLNji9psEzlEPthVT0EQa7ZA1pKQLxmonfCiapubUysNM0zZ6Ti7QemJQc1vORJpk8kiD90LU5nKzhDaOeOgmqTJc+ImOFQg2Vz5qJRh0Xqfxm9hSm0YHInKJtrROZ88AZWKcoi5UnIqm1lMxOmATjMfKcG6TI4//pTiysnNWiZfKlantXuIwuxoFaDEOPnzHLUZNpXOsVPchiiQonuT54p9NrFpeM6a25gjByrkvN7WmSXE5AuOCB9xtDIa1+dy6VQmYvre7xClCs7NXAqyrDI4HcKT0pm9LKEcbp1xV8+2dGaywfnKEko5Smgt43+Y3ObQScFqShaYJAQZd6SVPMMPm94tpjSUwhQwZ1A2sGiONXcZpsrG0rIilcKUPBtEns2u6BBFSNLYKSAZk5NxK2eeOOKg0/5s1emIMEZ6cFLqwWryHkBN/5SYQcXrWxudTud4Y6ueOM3PZ6Apyrd0z271C03suXxps01KAc+3T/P7sOL1zvqqx+1yu91RT3DdtrEz8UOwvMNZZst8pDSmA3VCXudTHMPJtbJ02njHd7tRl02tqLu7O2nGtBxOtD/Nllrt0qh9gpZ2q7x9mk3/BlBvB/upkVzB7fpkj1RyOnjsaEyqzLeGn1/OR1SFBp7f0K2ekVrvunSoMfnqxkSPlCMdPYJcOcKX9dE5/ojIyFt3tU2wk9NM1F23LjSWZ3uSXOEgwdWveIofkuh5Mt3bvcnVyFNNZFue4dw2z/EE4EzF6VCvsNRQWz4ie+NojTxd1WnY9LNE1OqW8UeqgYM7VDZYPhp6aJlM4l1JLo1PsZ9Kf4yO4LZFDRsi08qQDqdqX29U959LOvhWscVHiqcdyA7uvPH8CG7XttEHSheJiDrBU6OXWypfrRxlTj1GMnv+uY9Gga82DD5StUZAgkeU78tD3kA0HV31z83NvekanuMeoxkO7X8eSr2SHPx5dqcHCHtu7sobtmExdxn0QkgTdMpAWWZsZOThZ9Q1kRvI3/rU9jzSALfLGHcVAbediquVzrOpflvGnpvzz1159c233nz1I23KrBvqDhlcvNPKKS4mOWE1ObhtvGoeSthX3unhv6rlNrYw02IvWk5JFSXFT0TNvOtfu2rw2NtKkvxbj3vundMZSkWMMye/07A0mZscrs3N7e0T+0aO3T+841dxv3ZF/EbLvW6EWzlfnJfSY8INPpSw/tv7a4bAlfx+7U/ov9dE7ruapWkov7Xn53PJyXq8A5Sin127ZvCn5AR/570/v6fkygeagBvxk4rmjPPERQfn7NqhwaMPFD95rZfhc++rI+7qGOHW9iIT70yKJEaP3p/TlZrbUL1kC5GSemhhJ3MTJEhZv1FHIZh7Y7mDxqY1tpzkq8oZ89MUnTt+/18MH/yuXwf7AxW3y230oWCqbLeqeCBmWqcYYQ7m/v1D4wevaaH9/it3XZOkye2rPfNK1SJ8KXfK3mR31WN8oNUmyju/+0jdHLpsjRE/vA/r/+01/57adSFhYCI+DXdi2xU1vIVwW5Mobz3fV+ejIyNwsHZwG71E/euJYYcM8uNUXx8dpj7d8cuFEtvhp33W7XKNfJwD/+HeJLY7TsdRt6FqIf7uuT99cEUulu/3F8vV3ZE/u48bBcMN0VglbK6o4R0EmHg+/kAuO3f7ssQ9bri8B6a7N61og3Y9tqDRtan28I/7s2RctiX+Oue/ZrAVMqaNoC14bPBYlRe+1ZcmY1d3J/jG1HJEVHzbbXyz6Z7iKX3RHlspd4PRzplJNUqACwc7xjbgD5UhU10oXeOwG+4JbMuw6vCo0a6hxz2Qw/3XHrfHNg470XVNsgtnWAjctW5k912qPf63N+S9Wdfqxrifi3fdbkMt7sSqe8DUop3G2APFqcd/DQqtSB3tjK238Y7b5h7/0KdSHZ38cLu3xkVFTJK1g3hXtJHu+C4hfuyxeUYXpTNox4Ze+KBtdLLgrTb/2j1Yy7jhNmD8iW3w2fNIbkmNbbwr7+luNYYfdHXN79/77HAfldlxnZSoRNcN5eFckltS/BifKHMFbcf6ZyXjcOu1d2/vizhwbHC8d9YB2719qpOcxlV3ecS5JRjs7NYb6rsa9d3jqNoTjt02V3fsI27Bend3zxkbIrrhluzN5YHgdzsbW6CNThd8w+N2i9utiZ2tbqfRWIc8GfPy49SLnne0xV/ViSonzVwutzsKcrvFsSa6hZ9a1+NxuW1bG+MGs8QWWuqeZ4INqm+ve/S35leR56FBA1vJ9nY3un48HGr3Q3SuMzjR6cGzqbHVXY3qnFZYRwjb8u0uV3dja3dXH7yxFUXUrvM0QB3Fdza2bcGou8fuiorLsKHuAt1dcJ6BeMYTux0bfsmMVKWpozfqW50uSnGc3p2tLo7dRv+ZQNcq3KN2HvRTtqBLNNQRWXTeSjRA6Nc3om4IXnwdL1DVAnC5PcH11Q+3O8fHne0PV9eDHvFVcq2aEGwddbAN7wYByb0Bwdekv/i69L4Nbp9bRzKRdlbdHTQauURfSexuu4a4DvJ+13b92dnISHXcQQhgfRWnSQPd0tjdxm/70TBHg+sjO5xnqx0Y+huIHqEpdTte3zruuteDQQ8qT57g6qpte2O3YSKnVh03ohVNsG90iScS0LpsYUFLM+iKpqqBFiOYIG67jHSvFhG4NqR3fFWs8NZwCgNKrOJTZbvi230Mv+vBdIFrQ5GPS63JurVyeLgQMPSw9XXR6oyfoTBZyLWjdTThiHZiNo9RYeCE/Kaw6LNtTU+vRhfVGskEZ8hOUC/l2YrL78Ezfj7IZCEbCTZ25fc8jj6NYx0h84YiL89nLpt5w8BEQmniPhY7QaTxmybWEHITz1Zv29jwmxvNFd7ADNaVBttt9FSQyarj9FbCbfy9jSYLDfCuTlcZawy+V8Nsic1UtzeIrU7+KQwzNPCWb0/DbCRD6vmfrIbZSIa0of1Ig7HThaarq91nOP9N+Gkooc0So2+VNll17QcajL1F0HTtaj/5MiPTzsCynJEyr12WM8IdH3Dv2eBuDHLPxCYb3qafQe6tgc91zQb38cAHF2eCWxmGZ4y7oaWeFe6BZTkbPlifUe5BO5kN7o7OR85ngXugO5mNfjDRHcCeif5bxwZngntg2LHNxpw22FXNBreOncwEt056zwJ3Yn02ufXSexa4B2b52eBOfKib35b378GdWCTr13k9F5yBvmrINVos38du6F+ixepvUhrc8RFl9dNpgzsQoiz+bojdIeG2+GlAvQ5WlKXfFPaX4VfxMXaFE1O0/65/7v0h18JxGf5M7zPXoR9/BO3Nu7rcVm1PDuQPhvr//B863FYtO1fnlM+zvnf//iC5Ne374I7qk/0f/+d9IP9Uw21B+97vv3CF/7/m79+X0eVeBb0J3GK6rQ6233/vcP+Pn9yfByH0j+7ann8efQzZaja4/5maeu3abXRjYgfpk/n//tveax+8+uYbdz/91GxOrdb8qlC/3XfJn9/N/178+Lnf718zi2+YlNze++xAc6EixC1fvspvDt1wyVcd0rkUAuK+KnNb48+JqiRd+eHe4D2IW/64v3+qV3iYhmQy/XgfWJZ7/44INnilD8QtXwTKetxSCvuvDdyBue9I3AcmkI3Wvn+IYyBu5ppluQmx8gySIW7ZJ/23zSAbLfGSFf63tbdj7qvW5Sbu6Dsh5j60MLfINmAZmFu6QI6O3Ziv/T1dNMy9b2FucfH539XcirkJv4W5RSu8p0kUkVsqSwOr1hLCbZ/WCUXua0PcxhLCVqhlE7mlcjrla1BNS3pOKHIfWppbvOxQf4KL3FJV0i5aiwhboaa4iNzihausyo2tUAMncjNzQ9pFawgPCHt9N4ncxJ6lubHf9V96WOK+N2yOs4bQ1Z77nVDiFjvZe5YbjGUNZIPELRrhHctyIyvsu1qqxC2OxnuW5UYj8Jq61Mvcc9bmRiuzzwklbmk0ti43Sog78jcMx30y/3uO4xjxmqDW27BShAFxojy4/vqJ0Px8/guh+fDG9TsW50bO4T9kHtwQmk27z7t4ef67xQDtzX6JuNcszI1K+v88bGbDi6EFEHAvhOCrrzD3A7PpRujql0IzRgFqaDGwCPF+JUBRXgpzz319w6p/cJJInTSzAYAOLS4GKJoG7nDMvkyHMfdyWLhuNqC+rgtNClGHApSXXvZhbjsohrnJBTr70IIhZ24IsRAONmB7l33hZYX7G8T9VWBhMdZ8YDamVsyJ4JOwA14v7Qtjbh/itmPubylvKOQVfjQbtF/cQwFyRIo2JEmYDgSA2+uNATc2wm/tXnox5GtaKskZNTZKEjvtRfFeprPA/a3IDbcFQlTTShG/IdD9SWKnKS+Ot5obilEAIv7AbFpF12/6Qqok8QbAvQO4XoJ/076YzG0PA3hYsMrfiH0gNHvYUODBv0Eh4Ba/8iLuL/EShXsX7Y/MBpZ0IkBhl6MdCEmS6jz6qsdtp+lQwCKZ8qMQVmEvyFr6Yv67JfGrb3rcdrBDX9MKTRYHWRKSk4RaWFKEuEV9D9zfSNx2b2AxawUzvH4TvEQyQFqFvfLD/Hcr4pdfqblp7+LyQ/OXJnfSDCkGGFgSSVdAl4D70goWibhjMjgFATffxB/cDPeq5ILIubIUoBde/GH+f19cCPtCK5ciwP09LkFIy96Q/aHZ2MQjMJOQVCXppUtYS+FmeAlzL2WzscVLyFC+D8jcYZThD0zGhlUJfk3hKmn3Lr2IdImCOW3pZeB+eSlrj4VXLoGhfB/KKivTGzB9ZT4QfFAbcZKE7dQK5l6Jxey+lRckbrt96WXg/mYhK2d4mFr0mp0o12/CMpOwY9TKy0grqDBi7hdWEHc4/CVal0053nY6QAsmW/gjIRAI0LiVggQQuV8MwHi28Pjz+R8e43hn8Uifzfa4Kap56r8COh1Bege8yyI2CjLWCm3PCgLaPxHEIKOOUPFBbOFmO+FN4JaiDRPZksj9wqUAPB80pwkCvkvLTZu9MLmb2QAlY0OCvyiBPxYCIYi3LyY8fnklEI4NcNPmcrM3m4hbBgovSNxCdqE5Pz8vhJtNFP7lfm4fTcVeN5U7dTNLeRVse4yWViZwPwHun8JNAX//jTQ4yJWHos3mblLeHpA95g3RPhBwC8B9E7jRt74vtdx2c7lZDTekeAiKp7cpBBaffHH5p5iQhe+81Ld93ObnCaxLirb3gdsDqF8RmhT44+Wf4P+Qvurjppcpn8mF/qbQH29EHqMg6AJ4N3i4II6Yy1eufN1bmN5lyuwG5WGTosN2LXk2G16MNaHoPL4s0GgaevLzz4KKm6bMbghvCDDBq0Itwy3jkXgBVmeWXljIvvRSH7d3+WuTtzh/vOlbppT1RiF5vT7ELSomfJ4NUf+HuJV+ELjpprnYRAoMQ0kUCs1oAKvizoaffLH4y0ugJwo3TXvDN0zmJk4Eil6W4yjBUrEet93+E8ZWcVM+2uz0JojXobBQEpFP3jvxxXxLcrxp4WfM/ZMyp0G8m6YP9KzQpJWAK5s+ATn09lc+/+WXv/8dEvz/haycJnTW9DRB5xkUR4kFlhY0Csz39Ap+WcJen9f8NEEbEVmYd6QU0GIvPFZxf56Vsjv2yAobbY8EX5iSBgdKG/CQivsy4vbRy15rbGw+gAxXas9ApixSj7NN4ckrly9ffhLGWeKLmZ/dWDeEsI+mh6b4wsLSkrcZ9qHxIub1gZlY5HQgcwJTpFdK8Rg9iL2YbcakPAJ6s0finqBo+nrgWWpxYakX9RAVbsrWDUlCZ83tvPv0o9DsgaN2MCs7S6zZbCqFEjqCcOzECl4i6zqKOK2aIJbletm7CRwQktz8Stmn60IzHPZRSiu+jDbFFxcDPW64M7xsvVP0AG6H1amEHHKliSQ3JShHwvYTq2FjG4+F7T5v/7gpU3uBms5aok5qxT6CzilsD1N0/+QWpr1e9G/WUqe4VWJ+bGLHC/u8FNozRFrGX8JNsewj6+WILO71prRdjCooEvZGcL/swwdmww1RPJFINBp/+xW9m021FwixDmezT/+B/uxewlp/tivR2Ll169Zzsn57egJRz8bgf+ifpvD0n7899wfpzlu3dizyR8fiPWJJf3jut99+ffr0RBBOnv76z9960Ios8TcRINpaLmBXNHjfrR3LXAUAUntnB2XLLZ3nIOYHCA6xSJJoFAcl9ITuMBvuQhe60IUudKELzbD+BctylfSaG2GNAAAAAElFTkSuQmCC" id="582" name="Google Shape;582;p45"/>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http://s.glbimg.com/es/ge/f/original/2011/05/07/kaiser-470.jpg" id="583" name="Google Shape;583;p45"/>
          <p:cNvPicPr preferRelativeResize="0"/>
          <p:nvPr/>
        </p:nvPicPr>
        <p:blipFill rotWithShape="1">
          <a:blip r:embed="rId3">
            <a:alphaModFix/>
          </a:blip>
          <a:srcRect b="0" l="0" r="0" t="0"/>
          <a:stretch/>
        </p:blipFill>
        <p:spPr>
          <a:xfrm>
            <a:off x="1018572" y="2211585"/>
            <a:ext cx="5496432" cy="4166651"/>
          </a:xfrm>
          <a:prstGeom prst="rect">
            <a:avLst/>
          </a:prstGeom>
          <a:noFill/>
          <a:ln>
            <a:noFill/>
          </a:ln>
        </p:spPr>
      </p:pic>
      <p:pic>
        <p:nvPicPr>
          <p:cNvPr id="584" name="Google Shape;584;p45"/>
          <p:cNvPicPr preferRelativeResize="0"/>
          <p:nvPr/>
        </p:nvPicPr>
        <p:blipFill rotWithShape="1">
          <a:blip r:embed="rId4">
            <a:alphaModFix/>
          </a:blip>
          <a:srcRect b="0" l="0" r="0" t="0"/>
          <a:stretch/>
        </p:blipFill>
        <p:spPr>
          <a:xfrm>
            <a:off x="6753829" y="2685757"/>
            <a:ext cx="4288420" cy="340831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590" name="Google Shape;590;p46"/>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poder de </a:t>
            </a:r>
            <a:r>
              <a:rPr b="0" i="0" lang="es-ES" sz="3500" u="none" cap="none" strike="noStrike">
                <a:solidFill>
                  <a:srgbClr val="FFC000"/>
                </a:solidFill>
                <a:latin typeface="Palatino Linotype"/>
                <a:ea typeface="Palatino Linotype"/>
                <a:cs typeface="Palatino Linotype"/>
                <a:sym typeface="Palatino Linotype"/>
              </a:rPr>
              <a:t>Competência</a:t>
            </a:r>
            <a:r>
              <a:rPr b="0" i="0" lang="es-ES" sz="3500" u="none" cap="none" strike="noStrike">
                <a:solidFill>
                  <a:schemeClr val="lt1"/>
                </a:solidFill>
                <a:latin typeface="Palatino Linotype"/>
                <a:ea typeface="Palatino Linotype"/>
                <a:cs typeface="Palatino Linotype"/>
                <a:sym typeface="Palatino Linotype"/>
              </a:rPr>
              <a:t>: outros exemplos</a:t>
            </a:r>
            <a:endParaRPr b="0" i="0" sz="3500" u="none" cap="none" strike="noStrike">
              <a:solidFill>
                <a:schemeClr val="lt1"/>
              </a:solidFill>
              <a:latin typeface="Palatino Linotype"/>
              <a:ea typeface="Palatino Linotype"/>
              <a:cs typeface="Palatino Linotype"/>
              <a:sym typeface="Palatino Linotype"/>
            </a:endParaRPr>
          </a:p>
        </p:txBody>
      </p:sp>
      <p:sp>
        <p:nvSpPr>
          <p:cNvPr descr="data:image/png;base64,iVBORw0KGgoAAAANSUhEUgAAALcAAAEUCAMAAABeT1dZAAAB0VBMVEX///8APVnsZxnTlwAAAAD9wwD5sAD5rgAAOVYANlRISEh1dXUAMlH5rQDkqADbnwCdm5vrXwDrsADvswD/ygAAO1vkqQDeogAAL0/1ugDXmwD6tQAANFP/7gDRlQDdoAD/0wD//ff3+foAKkzs7Oz/9eP/3wArNSv7wlD+8NX+6sX+5rvrWgAAJkluhpXHjgCdnqL+7c7/+e3/1wD/5AD94ar8znT6vTn7xVv804f92ZP7ymn8znf93aD6uSS0wMjX3uKFmqdCYXbKyslALgBgRQC4hwCsewD7wEn7vjRPbYChr7nucCulVzn+7eXEXB7YYRz72cv4wan2ro7zk2bSu4zEpGDDpGubagCurKz91oInUWlifIyLi5BfSEiIUUB0TkT3s5X50cLKXR7zm3OOTiPweThoRCYyQ1JyRSaBSSWYVTrvf0rmwbOvWjF4WVMAUG6UbmJCQk0AKToaHh+nTRoAExpmLQM9PTxeX1/VzccWNkjzlmu4kTwsHABONADh0rXdcgzPhTXzlQbBfQDncxLegwZwVQDzhw1KPgB4ZgDAlS29mUnNpADbyqN3VQAAKy05OSlLNxqTbBZGNR9nSBqnjFWlgji5qoqgloWhjm1VWLvfAAAWg0lEQVR4nO2di3vaZpbGhbG5zCAo2JW4FVsYtVxsMyjF3AW2UwTYdWrn0sR4ekm7mXSa6Xa66W53Wrfp9r5J2m4z20znr53zfboghABh40g8j995mrFBxj8O53vPOZ9AJogLXehCF7rQhS50oYnEsKzZCJMrVasm20WzKSZSKl8qtKv5HEFUzEYxKjZdTiY3yzlG/HYzNeQ47pkRjRXD1qqV5FGG5aRvIblrGf1j08lKnnmGbMOVS7Yr+ZwqjBESkiRV0j+6SLA1fjP9bNBGKq8lTDp5SIeC7sHsEfo3VWqXTDccVrsEa04HRzD63OWc+P9cxnzDaWmWWsbpgDwo6S1MRnmOzOY5U41XUvWSM5lSiuXJGqRPTefQtHJjZsi6fYZSWwdDkiWi4ISwslWdQzeVp1gx3w9z8kvOQBB5Z4EoOiPwXUvH7pQ04fTSJFeuVqtH+Wf1jNik9EWBLBCbTidRI0n43a1Bx8jn5a9qOe19TK1QS3MMk8pXKsNq1pRVkQjLJM9lnM4US5L5nnWopHgIM+AmuSTKNoZDweYq5XNjVauKywiHjCSXcpB5rlAAiPTAL+8lB6u9LwP5zuSLyUIhWQb02nTchhtd39DLzxYjOdZJ5plCMUcwqCmsDMS0pjxMWZMJOTg2HSmm885iiXTAk8pPpS+rOUbezRYlI6linlSmVGi1WtWqZmH2zJvTUDFJhijzLKCniGq+RMKCKU/DJzMOACkOfSQG6jqBfIDhUuVKsVCsFpMtB1nQGENOSY50vv+OagZ+RbGYdPCZXJtj+Up1Gn0jV3EgOUltABUl0R1svpQsVCqtzUoyWWk7yKLWT46UGzb778pDnYrw5VyklKlEnHkumeKn0HixvBOoSRL+0yslSOWjcrKVbBWPioVkJYkC53QMlstITYohp3mcdIkoRxgiV4CnXyxVInwq3To7dxGwi2QqzTvA4vQPSRc2Ky3EW4T/ksmCg2wNHgkO6aikEXptIJpMsdWuJtHyhuRKR6qczs9PKBYypMY48kTeWSjrJx1bRNSVYuWoVWjzcLxTL6OA29nmW2WWqAzcy0YybJlslTnkI0yLLw9fTEaVgfyA0oJGgSFH5PlicrNaKRbbTnEhRPK6x6WrDr5UIJ384EjBOipg4blSxLHJEWybaDumwp0j8o5h65vbLFRa7XalXCsgbKeTLA63gnzFQTrJwQCwkVa+As+Wi2zyrVKSSDnPzJ0CmBbLkkNWeK7lgMSvpmvVAuRBpFBUJmN9seWWzurmCrkCatprJahxDr6SaZ/dUCCMTkfByScrpdpAJGsOnBs8CWqXMqnTjrzFDMvDWmzl0NLMZQo8LM8zcuccoiCcuF9SiU2SODMcrVLtbAaQ5pniUYRH2VisEWzriCie2QozPAnMErw671IQZpQZ0H6e9XcQyVolTVRQWSZbrUiEI/hB15lUXKZUKTp4HnGro5BrVzOpaXT5TIbg+EiZaKWYvDOfq0F0uLNji9psEzlEPthVT0EQa7ZA1pKQLxmonfCiapubUysNM0zZ6Ti7QemJQc1vORJpk8kiD90LU5nKzhDaOeOgmqTJc+ImOFQg2Vz5qJRh0Xqfxm9hSm0YHInKJtrROZ88AZWKcoi5UnIqm1lMxOmATjMfKcG6TI4//pTiysnNWiZfKlantXuIwuxoFaDEOPnzHLUZNpXOsVPchiiQonuT54p9NrFpeM6a25gjByrkvN7WmSXE5AuOCB9xtDIa1+dy6VQmYvre7xClCs7NXAqyrDI4HcKT0pm9LKEcbp1xV8+2dGaywfnKEko5Smgt43+Y3ObQScFqShaYJAQZd6SVPMMPm94tpjSUwhQwZ1A2sGiONXcZpsrG0rIilcKUPBtEns2u6BBFSNLYKSAZk5NxK2eeOOKg0/5s1emIMEZ6cFLqwWryHkBN/5SYQcXrWxudTud4Y6ueOM3PZ6Apyrd0z271C03suXxps01KAc+3T/P7sOL1zvqqx+1yu91RT3DdtrEz8UOwvMNZZst8pDSmA3VCXudTHMPJtbJ02njHd7tRl02tqLu7O2nGtBxOtD/Nllrt0qh9gpZ2q7x9mk3/BlBvB/upkVzB7fpkj1RyOnjsaEyqzLeGn1/OR1SFBp7f0K2ekVrvunSoMfnqxkSPlCMdPYJcOcKX9dE5/ojIyFt3tU2wk9NM1F23LjSWZ3uSXOEgwdWveIofkuh5Mt3bvcnVyFNNZFue4dw2z/EE4EzF6VCvsNRQWz4ie+NojTxd1WnY9LNE1OqW8UeqgYM7VDZYPhp6aJlM4l1JLo1PsZ9Kf4yO4LZFDRsi08qQDqdqX29U959LOvhWscVHiqcdyA7uvPH8CG7XttEHSheJiDrBU6OXWypfrRxlTj1GMnv+uY9Gga82DD5StUZAgkeU78tD3kA0HV31z83NvekanuMeoxkO7X8eSr2SHPx5dqcHCHtu7sobtmExdxn0QkgTdMpAWWZsZOThZ9Q1kRvI3/rU9jzSALfLGHcVAbediquVzrOpflvGnpvzz1159c233nz1I23KrBvqDhlcvNPKKS4mOWE1ObhtvGoeSthX3unhv6rlNrYw02IvWk5JFSXFT0TNvOtfu2rw2NtKkvxbj3vundMZSkWMMye/07A0mZscrs3N7e0T+0aO3T+841dxv3ZF/EbLvW6EWzlfnJfSY8INPpSw/tv7a4bAlfx+7U/ov9dE7ruapWkov7Xn53PJyXq8A5Sin127ZvCn5AR/570/v6fkygeagBvxk4rmjPPERQfn7NqhwaMPFD95rZfhc++rI+7qGOHW9iIT70yKJEaP3p/TlZrbUL1kC5GSemhhJ3MTJEhZv1FHIZh7Y7mDxqY1tpzkq8oZ89MUnTt+/18MH/yuXwf7AxW3y230oWCqbLeqeCBmWqcYYQ7m/v1D4wevaaH9/it3XZOkye2rPfNK1SJ8KXfK3mR31WN8oNUmyju/+0jdHLpsjRE/vA/r/+01/57adSFhYCI+DXdi2xU1vIVwW5Mobz3fV+ejIyNwsHZwG71E/euJYYcM8uNUXx8dpj7d8cuFEtvhp33W7XKNfJwD/+HeJLY7TsdRt6FqIf7uuT99cEUulu/3F8vV3ZE/u48bBcMN0VglbK6o4R0EmHg+/kAuO3f7ssQ9bri8B6a7N61og3Y9tqDRtan28I/7s2RctiX+Oue/ZrAVMqaNoC14bPBYlRe+1ZcmY1d3J/jG1HJEVHzbbXyz6Z7iKX3RHlspd4PRzplJNUqACwc7xjbgD5UhU10oXeOwG+4JbMuw6vCo0a6hxz2Qw/3XHrfHNg470XVNsgtnWAjctW5k912qPf63N+S9Wdfqxrifi3fdbkMt7sSqe8DUop3G2APFqcd/DQqtSB3tjK238Y7b5h7/0KdSHZ38cLu3xkVFTJK1g3hXtJHu+C4hfuyxeUYXpTNox4Ze+KBtdLLgrTb/2j1Yy7jhNmD8iW3w2fNIbkmNbbwr7+luNYYfdHXN79/77HAfldlxnZSoRNcN5eFckltS/BifKHMFbcf6ZyXjcOu1d2/vizhwbHC8d9YB2719qpOcxlV3ecS5JRjs7NYb6rsa9d3jqNoTjt02V3fsI27Bend3zxkbIrrhluzN5YHgdzsbW6CNThd8w+N2i9utiZ2tbqfRWIc8GfPy49SLnne0xV/ViSonzVwutzsKcrvFsSa6hZ9a1+NxuW1bG+MGs8QWWuqeZ4INqm+ve/S35leR56FBA1vJ9nY3un48HGr3Q3SuMzjR6cGzqbHVXY3qnFZYRwjb8u0uV3dja3dXH7yxFUXUrvM0QB3Fdza2bcGou8fuiorLsKHuAt1dcJ6BeMYTux0bfsmMVKWpozfqW50uSnGc3p2tLo7dRv+ZQNcq3KN2HvRTtqBLNNQRWXTeSjRA6Nc3om4IXnwdL1DVAnC5PcH11Q+3O8fHne0PV9eDHvFVcq2aEGwddbAN7wYByb0Bwdekv/i69L4Nbp9bRzKRdlbdHTQauURfSexuu4a4DvJ+13b92dnISHXcQQhgfRWnSQPd0tjdxm/70TBHg+sjO5xnqx0Y+huIHqEpdTte3zruuteDQQ8qT57g6qpte2O3YSKnVh03ohVNsG90iScS0LpsYUFLM+iKpqqBFiOYIG67jHSvFhG4NqR3fFWs8NZwCgNKrOJTZbvi230Mv+vBdIFrQ5GPS63JurVyeLgQMPSw9XXR6oyfoTBZyLWjdTThiHZiNo9RYeCE/Kaw6LNtTU+vRhfVGskEZ8hOUC/l2YrL78Ezfj7IZCEbCTZ25fc8jj6NYx0h84YiL89nLpt5w8BEQmniPhY7QaTxmybWEHITz1Zv29jwmxvNFd7ADNaVBttt9FSQyarj9FbCbfy9jSYLDfCuTlcZawy+V8Nsic1UtzeIrU7+KQwzNPCWb0/DbCRD6vmfrIbZSIa0of1Ig7HThaarq91nOP9N+Gkooc0So2+VNll17QcajL1F0HTtaj/5MiPTzsCynJEyr12WM8IdH3Dv2eBuDHLPxCYb3qafQe6tgc91zQb38cAHF2eCWxmGZ4y7oaWeFe6BZTkbPlifUe5BO5kN7o7OR85ngXugO5mNfjDRHcCeif5bxwZngntg2LHNxpw22FXNBreOncwEt056zwJ3Yn02ufXSexa4B2b52eBOfKib35b378GdWCTr13k9F5yBvmrINVos38du6F+ixepvUhrc8RFl9dNpgzsQoiz+bojdIeG2+GlAvQ5WlKXfFPaX4VfxMXaFE1O0/65/7v0h18JxGf5M7zPXoR9/BO3Nu7rcVm1PDuQPhvr//B863FYtO1fnlM+zvnf//iC5Ne374I7qk/0f/+d9IP9Uw21B+97vv3CF/7/m79+X0eVeBb0J3GK6rQ6233/vcP+Pn9yfByH0j+7ann8efQzZaja4/5maeu3abXRjYgfpk/n//tveax+8+uYbdz/91GxOrdb8qlC/3XfJn9/N/178+Lnf718zi2+YlNze++xAc6EixC1fvspvDt1wyVcd0rkUAuK+KnNb48+JqiRd+eHe4D2IW/64v3+qV3iYhmQy/XgfWJZ7/44INnilD8QtXwTKetxSCvuvDdyBue9I3AcmkI3Wvn+IYyBu5ppluQmx8gySIW7ZJ/23zSAbLfGSFf63tbdj7qvW5Sbu6Dsh5j60MLfINmAZmFu6QI6O3Ziv/T1dNMy9b2FucfH539XcirkJv4W5RSu8p0kUkVsqSwOr1hLCbZ/WCUXua0PcxhLCVqhlE7mlcjrla1BNS3pOKHIfWppbvOxQf4KL3FJV0i5aiwhboaa4iNzihausyo2tUAMncjNzQ9pFawgPCHt9N4ncxJ6lubHf9V96WOK+N2yOs4bQ1Z77nVDiFjvZe5YbjGUNZIPELRrhHctyIyvsu1qqxC2OxnuW5UYj8Jq61Mvcc9bmRiuzzwklbmk0ti43Sog78jcMx30y/3uO4xjxmqDW27BShAFxojy4/vqJ0Px8/guh+fDG9TsW50bO4T9kHtwQmk27z7t4ef67xQDtzX6JuNcszI1K+v88bGbDi6EFEHAvhOCrrzD3A7PpRujql0IzRgFqaDGwCPF+JUBRXgpzz319w6p/cJJInTSzAYAOLS4GKJoG7nDMvkyHMfdyWLhuNqC+rgtNClGHApSXXvZhbjsohrnJBTr70IIhZ24IsRAONmB7l33hZYX7G8T9VWBhMdZ8YDamVsyJ4JOwA14v7Qtjbh/itmPubylvKOQVfjQbtF/cQwFyRIo2JEmYDgSA2+uNATc2wm/tXnox5GtaKskZNTZKEjvtRfFeprPA/a3IDbcFQlTTShG/IdD9SWKnKS+Ot5obilEAIv7AbFpF12/6Qqok8QbAvQO4XoJ/076YzG0PA3hYsMrfiH0gNHvYUODBv0Eh4Ba/8iLuL/EShXsX7Y/MBpZ0IkBhl6MdCEmS6jz6qsdtp+lQwCKZ8qMQVmEvyFr6Yv67JfGrb3rcdrBDX9MKTRYHWRKSk4RaWFKEuEV9D9zfSNx2b2AxawUzvH4TvEQyQFqFvfLD/Hcr4pdfqblp7+LyQ/OXJnfSDCkGGFgSSVdAl4D70goWibhjMjgFATffxB/cDPeq5ILIubIUoBde/GH+f19cCPtCK5ciwP09LkFIy96Q/aHZ2MQjMJOQVCXppUtYS+FmeAlzL2WzscVLyFC+D8jcYZThD0zGhlUJfk3hKmn3Lr2IdImCOW3pZeB+eSlrj4VXLoGhfB/KKivTGzB9ZT4QfFAbcZKE7dQK5l6Jxey+lRckbrt96WXg/mYhK2d4mFr0mp0o12/CMpOwY9TKy0grqDBi7hdWEHc4/CVal0053nY6QAsmW/gjIRAI0LiVggQQuV8MwHi28Pjz+R8e43hn8Uifzfa4Kap56r8COh1Bege8yyI2CjLWCm3PCgLaPxHEIKOOUPFBbOFmO+FN4JaiDRPZksj9wqUAPB80pwkCvkvLTZu9MLmb2QAlY0OCvyiBPxYCIYi3LyY8fnklEI4NcNPmcrM3m4hbBgovSNxCdqE5Pz8vhJtNFP7lfm4fTcVeN5U7dTNLeRVse4yWViZwPwHun8JNAX//jTQ4yJWHos3mblLeHpA95g3RPhBwC8B9E7jRt74vtdx2c7lZDTekeAiKp7cpBBaffHH5p5iQhe+81Ld93ObnCaxLirb3gdsDqF8RmhT44+Wf4P+Qvurjppcpn8mF/qbQH29EHqMg6AJ4N3i4II6Yy1eufN1bmN5lyuwG5WGTosN2LXk2G16MNaHoPL4s0GgaevLzz4KKm6bMbghvCDDBq0Itwy3jkXgBVmeWXljIvvRSH7d3+WuTtzh/vOlbppT1RiF5vT7ELSomfJ4NUf+HuJV+ELjpprnYRAoMQ0kUCs1oAKvizoaffLH4y0ugJwo3TXvDN0zmJk4Eil6W4yjBUrEet93+E8ZWcVM+2uz0JojXobBQEpFP3jvxxXxLcrxp4WfM/ZMyp0G8m6YP9KzQpJWAK5s+ATn09lc+/+WXv/8dEvz/haycJnTW9DRB5xkUR4kFlhY0Csz39Ap+WcJen9f8NEEbEVmYd6QU0GIvPFZxf56Vsjv2yAobbY8EX5iSBgdKG/CQivsy4vbRy15rbGw+gAxXas9ApixSj7NN4ckrly9ffhLGWeKLmZ/dWDeEsI+mh6b4wsLSkrcZ9qHxIub1gZlY5HQgcwJTpFdK8Rg9iL2YbcakPAJ6s0finqBo+nrgWWpxYakX9RAVbsrWDUlCZ83tvPv0o9DsgaN2MCs7S6zZbCqFEjqCcOzECl4i6zqKOK2aIJbletm7CRwQktz8Stmn60IzHPZRSiu+jDbFFxcDPW64M7xsvVP0AG6H1amEHHKliSQ3JShHwvYTq2FjG4+F7T5v/7gpU3uBms5aok5qxT6CzilsD1N0/+QWpr1e9G/WUqe4VWJ+bGLHC/u8FNozRFrGX8JNsewj6+WILO71prRdjCooEvZGcL/swwdmww1RPJFINBp/+xW9m021FwixDmezT/+B/uxewlp/tivR2Ll169Zzsn57egJRz8bgf+ifpvD0n7899wfpzlu3dizyR8fiPWJJf3jut99+ffr0RBBOnv76z9960Ios8TcRINpaLmBXNHjfrR3LXAUAUntnB2XLLZ3nIOYHCA6xSJJoFAcl9ITuMBvuQhe60IUudKELzbD+BctylfSaG2GNAAAAAElFTkSuQmCC" id="591" name="Google Shape;591;p4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2" name="Google Shape;592;p46"/>
          <p:cNvSpPr txBox="1"/>
          <p:nvPr/>
        </p:nvSpPr>
        <p:spPr>
          <a:xfrm>
            <a:off x="8038618" y="204802"/>
            <a:ext cx="331518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ES" sz="1200" u="none" cap="none" strike="noStrike">
                <a:solidFill>
                  <a:srgbClr val="BFBFBF"/>
                </a:solidFill>
                <a:latin typeface="Calibri"/>
                <a:ea typeface="Calibri"/>
                <a:cs typeface="Calibri"/>
                <a:sym typeface="Calibri"/>
              </a:rPr>
              <a:t>Komatsu, A. V. (2020). As bases do poder. Slides da disciplina: Relações de poder nas organizações.</a:t>
            </a:r>
            <a:endParaRPr b="0" i="0" sz="1200" u="none" cap="none" strike="noStrike">
              <a:solidFill>
                <a:srgbClr val="BFBFBF"/>
              </a:solidFill>
              <a:latin typeface="Calibri"/>
              <a:ea typeface="Calibri"/>
              <a:cs typeface="Calibri"/>
              <a:sym typeface="Calibri"/>
            </a:endParaRPr>
          </a:p>
        </p:txBody>
      </p:sp>
      <p:pic>
        <p:nvPicPr>
          <p:cNvPr id="593" name="Google Shape;593;p46"/>
          <p:cNvPicPr preferRelativeResize="0"/>
          <p:nvPr/>
        </p:nvPicPr>
        <p:blipFill rotWithShape="1">
          <a:blip r:embed="rId3">
            <a:alphaModFix/>
          </a:blip>
          <a:srcRect b="0" l="0" r="0" t="0"/>
          <a:stretch/>
        </p:blipFill>
        <p:spPr>
          <a:xfrm>
            <a:off x="1018572" y="2269438"/>
            <a:ext cx="2443857" cy="1469186"/>
          </a:xfrm>
          <a:prstGeom prst="rect">
            <a:avLst/>
          </a:prstGeom>
          <a:noFill/>
          <a:ln cap="flat" cmpd="sng" w="9525">
            <a:solidFill>
              <a:schemeClr val="dk1"/>
            </a:solidFill>
            <a:prstDash val="solid"/>
            <a:round/>
            <a:headEnd len="sm" w="sm" type="none"/>
            <a:tailEnd len="sm" w="sm" type="none"/>
          </a:ln>
        </p:spPr>
      </p:pic>
      <p:sp>
        <p:nvSpPr>
          <p:cNvPr id="594" name="Google Shape;594;p46"/>
          <p:cNvSpPr txBox="1"/>
          <p:nvPr/>
        </p:nvSpPr>
        <p:spPr>
          <a:xfrm>
            <a:off x="1018572" y="3781776"/>
            <a:ext cx="1176925" cy="3231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s-ES" sz="1500" u="none" cap="none" strike="noStrike">
                <a:solidFill>
                  <a:schemeClr val="dk1"/>
                </a:solidFill>
                <a:latin typeface="Palatino Linotype"/>
                <a:ea typeface="Palatino Linotype"/>
                <a:cs typeface="Palatino Linotype"/>
                <a:sym typeface="Palatino Linotype"/>
              </a:rPr>
              <a:t>Fonte: </a:t>
            </a:r>
            <a:r>
              <a:rPr b="0" i="0" lang="es-ES" sz="1500" u="sng" cap="none" strike="noStrike">
                <a:solidFill>
                  <a:schemeClr val="dk1"/>
                </a:solidFill>
                <a:latin typeface="Palatino Linotype"/>
                <a:ea typeface="Palatino Linotype"/>
                <a:cs typeface="Palatino Linotype"/>
                <a:sym typeface="Palatino Linotype"/>
                <a:hlinkClick r:id="rId4">
                  <a:extLst>
                    <a:ext uri="{A12FA001-AC4F-418D-AE19-62706E023703}">
                      <ahyp:hlinkClr val="tx"/>
                    </a:ext>
                  </a:extLst>
                </a:hlinkClick>
              </a:rPr>
              <a:t>UOL</a:t>
            </a:r>
            <a:endParaRPr b="0" i="0" sz="1500" u="none" cap="none" strike="noStrike">
              <a:solidFill>
                <a:schemeClr val="dk1"/>
              </a:solidFill>
              <a:latin typeface="Palatino Linotype"/>
              <a:ea typeface="Palatino Linotype"/>
              <a:cs typeface="Palatino Linotype"/>
              <a:sym typeface="Palatino Linotype"/>
            </a:endParaRPr>
          </a:p>
        </p:txBody>
      </p:sp>
      <p:pic>
        <p:nvPicPr>
          <p:cNvPr id="595" name="Google Shape;595;p46"/>
          <p:cNvPicPr preferRelativeResize="0"/>
          <p:nvPr/>
        </p:nvPicPr>
        <p:blipFill rotWithShape="1">
          <a:blip r:embed="rId5">
            <a:alphaModFix/>
          </a:blip>
          <a:srcRect b="0" l="0" r="0" t="0"/>
          <a:stretch/>
        </p:blipFill>
        <p:spPr>
          <a:xfrm>
            <a:off x="3596249" y="2269437"/>
            <a:ext cx="2913408" cy="1469187"/>
          </a:xfrm>
          <a:prstGeom prst="rect">
            <a:avLst/>
          </a:prstGeom>
          <a:noFill/>
          <a:ln cap="flat" cmpd="sng" w="9525">
            <a:solidFill>
              <a:schemeClr val="dk1"/>
            </a:solidFill>
            <a:prstDash val="solid"/>
            <a:round/>
            <a:headEnd len="sm" w="sm" type="none"/>
            <a:tailEnd len="sm" w="sm" type="none"/>
          </a:ln>
        </p:spPr>
      </p:pic>
      <p:sp>
        <p:nvSpPr>
          <p:cNvPr id="596" name="Google Shape;596;p46"/>
          <p:cNvSpPr txBox="1"/>
          <p:nvPr/>
        </p:nvSpPr>
        <p:spPr>
          <a:xfrm>
            <a:off x="3596249" y="3783288"/>
            <a:ext cx="1237839" cy="3231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s-ES" sz="1500" u="none" cap="none" strike="noStrike">
                <a:solidFill>
                  <a:schemeClr val="dk1"/>
                </a:solidFill>
                <a:latin typeface="Palatino Linotype"/>
                <a:ea typeface="Palatino Linotype"/>
                <a:cs typeface="Palatino Linotype"/>
                <a:sym typeface="Palatino Linotype"/>
              </a:rPr>
              <a:t>Fonte: </a:t>
            </a:r>
            <a:r>
              <a:rPr b="0" i="0" lang="es-ES" sz="1500" u="sng" cap="none" strike="noStrike">
                <a:solidFill>
                  <a:schemeClr val="dk1"/>
                </a:solidFill>
                <a:latin typeface="Palatino Linotype"/>
                <a:ea typeface="Palatino Linotype"/>
                <a:cs typeface="Palatino Linotype"/>
                <a:sym typeface="Palatino Linotype"/>
                <a:hlinkClick r:id="rId6">
                  <a:extLst>
                    <a:ext uri="{A12FA001-AC4F-418D-AE19-62706E023703}">
                      <ahyp:hlinkClr val="tx"/>
                    </a:ext>
                  </a:extLst>
                </a:hlinkClick>
              </a:rPr>
              <a:t>Folha</a:t>
            </a:r>
            <a:endParaRPr b="0" i="0" sz="1500" u="none" cap="none" strike="noStrike">
              <a:solidFill>
                <a:schemeClr val="dk1"/>
              </a:solidFill>
              <a:latin typeface="Palatino Linotype"/>
              <a:ea typeface="Palatino Linotype"/>
              <a:cs typeface="Palatino Linotype"/>
              <a:sym typeface="Palatino Linotype"/>
            </a:endParaRPr>
          </a:p>
        </p:txBody>
      </p:sp>
      <p:pic>
        <p:nvPicPr>
          <p:cNvPr id="597" name="Google Shape;597;p46"/>
          <p:cNvPicPr preferRelativeResize="0"/>
          <p:nvPr/>
        </p:nvPicPr>
        <p:blipFill rotWithShape="1">
          <a:blip r:embed="rId7">
            <a:alphaModFix/>
          </a:blip>
          <a:srcRect b="0" l="0" r="0" t="0"/>
          <a:stretch/>
        </p:blipFill>
        <p:spPr>
          <a:xfrm>
            <a:off x="6649675" y="2269437"/>
            <a:ext cx="2199190" cy="1464205"/>
          </a:xfrm>
          <a:prstGeom prst="rect">
            <a:avLst/>
          </a:prstGeom>
          <a:noFill/>
          <a:ln cap="flat" cmpd="sng" w="9525">
            <a:solidFill>
              <a:schemeClr val="dk1"/>
            </a:solidFill>
            <a:prstDash val="solid"/>
            <a:round/>
            <a:headEnd len="sm" w="sm" type="none"/>
            <a:tailEnd len="sm" w="sm" type="none"/>
          </a:ln>
        </p:spPr>
      </p:pic>
      <p:sp>
        <p:nvSpPr>
          <p:cNvPr id="598" name="Google Shape;598;p46"/>
          <p:cNvSpPr txBox="1"/>
          <p:nvPr/>
        </p:nvSpPr>
        <p:spPr>
          <a:xfrm>
            <a:off x="6649675" y="3777704"/>
            <a:ext cx="2199190" cy="327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s-ES" sz="1500" u="none" cap="none" strike="noStrike">
                <a:solidFill>
                  <a:schemeClr val="dk1"/>
                </a:solidFill>
                <a:latin typeface="Palatino Linotype"/>
                <a:ea typeface="Palatino Linotype"/>
                <a:cs typeface="Palatino Linotype"/>
                <a:sym typeface="Palatino Linotype"/>
              </a:rPr>
              <a:t>Fonte: </a:t>
            </a:r>
            <a:r>
              <a:rPr b="0" i="0" lang="es-ES" sz="1500" u="sng" cap="none" strike="noStrike">
                <a:solidFill>
                  <a:schemeClr val="dk1"/>
                </a:solidFill>
                <a:latin typeface="Palatino Linotype"/>
                <a:ea typeface="Palatino Linotype"/>
                <a:cs typeface="Palatino Linotype"/>
                <a:sym typeface="Palatino Linotype"/>
                <a:hlinkClick r:id="rId8">
                  <a:extLst>
                    <a:ext uri="{A12FA001-AC4F-418D-AE19-62706E023703}">
                      <ahyp:hlinkClr val="tx"/>
                    </a:ext>
                  </a:extLst>
                </a:hlinkClick>
              </a:rPr>
              <a:t>UOL</a:t>
            </a:r>
            <a:endParaRPr b="0" i="0" sz="1500" u="none" cap="none" strike="noStrike">
              <a:solidFill>
                <a:schemeClr val="dk1"/>
              </a:solidFill>
              <a:latin typeface="Palatino Linotype"/>
              <a:ea typeface="Palatino Linotype"/>
              <a:cs typeface="Palatino Linotype"/>
              <a:sym typeface="Palatino Linotype"/>
            </a:endParaRPr>
          </a:p>
        </p:txBody>
      </p:sp>
      <p:pic>
        <p:nvPicPr>
          <p:cNvPr id="599" name="Google Shape;599;p46"/>
          <p:cNvPicPr preferRelativeResize="0"/>
          <p:nvPr/>
        </p:nvPicPr>
        <p:blipFill rotWithShape="1">
          <a:blip r:embed="rId9">
            <a:alphaModFix/>
          </a:blip>
          <a:srcRect b="0" l="0" r="0" t="0"/>
          <a:stretch/>
        </p:blipFill>
        <p:spPr>
          <a:xfrm>
            <a:off x="8970380" y="2264732"/>
            <a:ext cx="2071868" cy="1465635"/>
          </a:xfrm>
          <a:prstGeom prst="rect">
            <a:avLst/>
          </a:prstGeom>
          <a:noFill/>
          <a:ln cap="flat" cmpd="sng" w="9525">
            <a:solidFill>
              <a:schemeClr val="dk1"/>
            </a:solidFill>
            <a:prstDash val="solid"/>
            <a:round/>
            <a:headEnd len="sm" w="sm" type="none"/>
            <a:tailEnd len="sm" w="sm" type="none"/>
          </a:ln>
        </p:spPr>
      </p:pic>
      <p:sp>
        <p:nvSpPr>
          <p:cNvPr id="600" name="Google Shape;600;p46"/>
          <p:cNvSpPr txBox="1"/>
          <p:nvPr/>
        </p:nvSpPr>
        <p:spPr>
          <a:xfrm>
            <a:off x="8970379" y="3777704"/>
            <a:ext cx="2071869" cy="327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s-ES" sz="1500" u="none" cap="none" strike="noStrike">
                <a:solidFill>
                  <a:schemeClr val="dk1"/>
                </a:solidFill>
                <a:latin typeface="Palatino Linotype"/>
                <a:ea typeface="Palatino Linotype"/>
                <a:cs typeface="Palatino Linotype"/>
                <a:sym typeface="Palatino Linotype"/>
              </a:rPr>
              <a:t>Fonte: </a:t>
            </a:r>
            <a:r>
              <a:rPr b="0" i="0" lang="es-ES" sz="1500" u="sng" cap="none" strike="noStrike">
                <a:solidFill>
                  <a:schemeClr val="dk1"/>
                </a:solidFill>
                <a:latin typeface="Palatino Linotype"/>
                <a:ea typeface="Palatino Linotype"/>
                <a:cs typeface="Palatino Linotype"/>
                <a:sym typeface="Palatino Linotype"/>
                <a:hlinkClick r:id="rId10">
                  <a:extLst>
                    <a:ext uri="{A12FA001-AC4F-418D-AE19-62706E023703}">
                      <ahyp:hlinkClr val="tx"/>
                    </a:ext>
                  </a:extLst>
                </a:hlinkClick>
              </a:rPr>
              <a:t>UOL</a:t>
            </a:r>
            <a:endParaRPr b="0" i="0" sz="1500" u="none" cap="none" strike="noStrike">
              <a:solidFill>
                <a:schemeClr val="dk1"/>
              </a:solidFill>
              <a:latin typeface="Palatino Linotype"/>
              <a:ea typeface="Palatino Linotype"/>
              <a:cs typeface="Palatino Linotype"/>
              <a:sym typeface="Palatino Linotype"/>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606" name="Google Shape;606;p47"/>
          <p:cNvSpPr txBox="1"/>
          <p:nvPr/>
        </p:nvSpPr>
        <p:spPr>
          <a:xfrm>
            <a:off x="1018572" y="2013994"/>
            <a:ext cx="10023676" cy="120032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s-ES" sz="1800" u="none" cap="none" strike="noStrike">
                <a:solidFill>
                  <a:srgbClr val="0070C0"/>
                </a:solidFill>
                <a:latin typeface="Palatino Linotype"/>
                <a:ea typeface="Palatino Linotype"/>
                <a:cs typeface="Palatino Linotype"/>
                <a:sym typeface="Palatino Linotype"/>
              </a:rPr>
              <a:t>O poder de referência é atribuído a pessoas vistas como modelos a serem seguidos, por seu carisma, respeito, confiança, estilo de vida. </a:t>
            </a:r>
            <a:r>
              <a:rPr b="0" i="0" lang="es-ES" sz="1800" u="none" cap="none" strike="noStrike">
                <a:solidFill>
                  <a:schemeClr val="dk1"/>
                </a:solidFill>
                <a:latin typeface="Palatino Linotype"/>
                <a:ea typeface="Palatino Linotype"/>
                <a:cs typeface="Palatino Linotype"/>
                <a:sym typeface="Palatino Linotype"/>
              </a:rPr>
              <a:t>Sendo uma referência, uma figura de inspiração e com quem as pessoas se identificam, as pessoas confiam em você e estão mais dispostas a te seguirem. </a:t>
            </a:r>
            <a:endParaRPr b="0" i="0" sz="1400" u="none" cap="none" strike="noStrike">
              <a:solidFill>
                <a:srgbClr val="000000"/>
              </a:solidFill>
              <a:latin typeface="Arial"/>
              <a:ea typeface="Arial"/>
              <a:cs typeface="Arial"/>
              <a:sym typeface="Arial"/>
            </a:endParaRPr>
          </a:p>
        </p:txBody>
      </p:sp>
      <p:sp>
        <p:nvSpPr>
          <p:cNvPr id="607" name="Google Shape;607;p47"/>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poder de </a:t>
            </a:r>
            <a:r>
              <a:rPr b="0" i="0" lang="es-ES" sz="3500" u="none" cap="none" strike="noStrike">
                <a:solidFill>
                  <a:srgbClr val="FFC000"/>
                </a:solidFill>
                <a:latin typeface="Palatino Linotype"/>
                <a:ea typeface="Palatino Linotype"/>
                <a:cs typeface="Palatino Linotype"/>
                <a:sym typeface="Palatino Linotype"/>
              </a:rPr>
              <a:t>Referência</a:t>
            </a:r>
            <a:endParaRPr b="0" i="0" sz="3500" u="none" cap="none" strike="noStrike">
              <a:solidFill>
                <a:srgbClr val="FFC000"/>
              </a:solidFill>
              <a:latin typeface="Palatino Linotype"/>
              <a:ea typeface="Palatino Linotype"/>
              <a:cs typeface="Palatino Linotype"/>
              <a:sym typeface="Palatino Linotype"/>
            </a:endParaRPr>
          </a:p>
        </p:txBody>
      </p:sp>
      <p:sp>
        <p:nvSpPr>
          <p:cNvPr descr="data:image/png;base64,iVBORw0KGgoAAAANSUhEUgAAALcAAAEUCAMAAABeT1dZAAAB0VBMVEX///8APVnsZxnTlwAAAAD9wwD5sAD5rgAAOVYANlRISEh1dXUAMlH5rQDkqADbnwCdm5vrXwDrsADvswD/ygAAO1vkqQDeogAAL0/1ugDXmwD6tQAANFP/7gDRlQDdoAD/0wD//ff3+foAKkzs7Oz/9eP/3wArNSv7wlD+8NX+6sX+5rvrWgAAJkluhpXHjgCdnqL+7c7/+e3/1wD/5AD94ar8znT6vTn7xVv804f92ZP7ymn8znf93aD6uSS0wMjX3uKFmqdCYXbKyslALgBgRQC4hwCsewD7wEn7vjRPbYChr7nucCulVzn+7eXEXB7YYRz72cv4wan2ro7zk2bSu4zEpGDDpGubagCurKz91oInUWlifIyLi5BfSEiIUUB0TkT3s5X50cLKXR7zm3OOTiPweThoRCYyQ1JyRSaBSSWYVTrvf0rmwbOvWjF4WVMAUG6UbmJCQk0AKToaHh+nTRoAExpmLQM9PTxeX1/VzccWNkjzlmu4kTwsHABONADh0rXdcgzPhTXzlQbBfQDncxLegwZwVQDzhw1KPgB4ZgDAlS29mUnNpADbyqN3VQAAKy05OSlLNxqTbBZGNR9nSBqnjFWlgji5qoqgloWhjm1VWLvfAAAWg0lEQVR4nO2di3vaZpbGhbG5zCAo2JW4FVsYtVxsMyjF3AW2UwTYdWrn0sR4ekm7mXSa6Xa66W53Wrfp9r5J2m4z20znr53zfboghABh40g8j995mrFBxj8O53vPOZ9AJogLXehCF7rQhS50oYnEsKzZCJMrVasm20WzKSZSKl8qtKv5HEFUzEYxKjZdTiY3yzlG/HYzNeQ47pkRjRXD1qqV5FGG5aRvIblrGf1j08lKnnmGbMOVS7Yr+ZwqjBESkiRV0j+6SLA1fjP9bNBGKq8lTDp5SIeC7sHsEfo3VWqXTDccVrsEa04HRzD63OWc+P9cxnzDaWmWWsbpgDwo6S1MRnmOzOY5U41XUvWSM5lSiuXJGqRPTefQtHJjZsi6fYZSWwdDkiWi4ISwslWdQzeVp1gx3w9z8kvOQBB5Z4EoOiPwXUvH7pQ04fTSJFeuVqtH+Wf1jNik9EWBLBCbTidRI0n43a1Bx8jn5a9qOe19TK1QS3MMk8pXKsNq1pRVkQjLJM9lnM4US5L5nnWopHgIM+AmuSTKNoZDweYq5XNjVauKywiHjCSXcpB5rlAAiPTAL+8lB6u9LwP5zuSLyUIhWQb02nTchhtd39DLzxYjOdZJ5plCMUcwqCmsDMS0pjxMWZMJOTg2HSmm885iiXTAk8pPpS+rOUbezRYlI6linlSmVGi1WtWqZmH2zJvTUDFJhijzLKCniGq+RMKCKU/DJzMOACkOfSQG6jqBfIDhUuVKsVCsFpMtB1nQGENOSY50vv+OagZ+RbGYdPCZXJtj+Up1Gn0jV3EgOUltABUl0R1svpQsVCqtzUoyWWk7yKLWT46UGzb778pDnYrw5VyklKlEnHkumeKn0HixvBOoSRL+0yslSOWjcrKVbBWPioVkJYkC53QMlstITYohp3mcdIkoRxgiV4CnXyxVInwq3To7dxGwi2QqzTvA4vQPSRc2Ky3EW4T/ksmCg2wNHgkO6aikEXptIJpMsdWuJtHyhuRKR6qczs9PKBYypMY48kTeWSjrJx1bRNSVYuWoVWjzcLxTL6OA29nmW2WWqAzcy0YybJlslTnkI0yLLw9fTEaVgfyA0oJGgSFH5PlicrNaKRbbTnEhRPK6x6WrDr5UIJ384EjBOipg4blSxLHJEWybaDumwp0j8o5h65vbLFRa7XalXCsgbKeTLA63gnzFQTrJwQCwkVa+As+Wi2zyrVKSSDnPzJ0CmBbLkkNWeK7lgMSvpmvVAuRBpFBUJmN9seWWzurmCrkCatprJahxDr6SaZ/dUCCMTkfByScrpdpAJGsOnBs8CWqXMqnTjrzFDMvDWmzl0NLMZQo8LM8zcuccoiCcuF9SiU2SODMcrVLtbAaQ5pniUYRH2VisEWzriCie2QozPAnMErw671IQZpQZ0H6e9XcQyVolTVRQWSZbrUiEI/hB15lUXKZUKTp4HnGro5BrVzOpaXT5TIbg+EiZaKWYvDOfq0F0uLNji9psEzlEPthVT0EQa7ZA1pKQLxmonfCiapubUysNM0zZ6Ti7QemJQc1vORJpk8kiD90LU5nKzhDaOeOgmqTJc+ImOFQg2Vz5qJRh0Xqfxm9hSm0YHInKJtrROZ88AZWKcoi5UnIqm1lMxOmATjMfKcG6TI4//pTiysnNWiZfKlantXuIwuxoFaDEOPnzHLUZNpXOsVPchiiQonuT54p9NrFpeM6a25gjByrkvN7WmSXE5AuOCB9xtDIa1+dy6VQmYvre7xClCs7NXAqyrDI4HcKT0pm9LKEcbp1xV8+2dGaywfnKEko5Smgt43+Y3ObQScFqShaYJAQZd6SVPMMPm94tpjSUwhQwZ1A2sGiONXcZpsrG0rIilcKUPBtEns2u6BBFSNLYKSAZk5NxK2eeOOKg0/5s1emIMEZ6cFLqwWryHkBN/5SYQcXrWxudTud4Y6ueOM3PZ6Apyrd0z271C03suXxps01KAc+3T/P7sOL1zvqqx+1yu91RT3DdtrEz8UOwvMNZZst8pDSmA3VCXudTHMPJtbJ02njHd7tRl02tqLu7O2nGtBxOtD/Nllrt0qh9gpZ2q7x9mk3/BlBvB/upkVzB7fpkj1RyOnjsaEyqzLeGn1/OR1SFBp7f0K2ekVrvunSoMfnqxkSPlCMdPYJcOcKX9dE5/ojIyFt3tU2wk9NM1F23LjSWZ3uSXOEgwdWveIofkuh5Mt3bvcnVyFNNZFue4dw2z/EE4EzF6VCvsNRQWz4ie+NojTxd1WnY9LNE1OqW8UeqgYM7VDZYPhp6aJlM4l1JLo1PsZ9Kf4yO4LZFDRsi08qQDqdqX29U959LOvhWscVHiqcdyA7uvPH8CG7XttEHSheJiDrBU6OXWypfrRxlTj1GMnv+uY9Gga82DD5StUZAgkeU78tD3kA0HV31z83NvekanuMeoxkO7X8eSr2SHPx5dqcHCHtu7sobtmExdxn0QkgTdMpAWWZsZOThZ9Q1kRvI3/rU9jzSALfLGHcVAbediquVzrOpflvGnpvzz1159c233nz1I23KrBvqDhlcvNPKKS4mOWE1ObhtvGoeSthX3unhv6rlNrYw02IvWk5JFSXFT0TNvOtfu2rw2NtKkvxbj3vundMZSkWMMye/07A0mZscrs3N7e0T+0aO3T+841dxv3ZF/EbLvW6EWzlfnJfSY8INPpSw/tv7a4bAlfx+7U/ov9dE7ruapWkov7Xn53PJyXq8A5Sin127ZvCn5AR/570/v6fkygeagBvxk4rmjPPERQfn7NqhwaMPFD95rZfhc++rI+7qGOHW9iIT70yKJEaP3p/TlZrbUL1kC5GSemhhJ3MTJEhZv1FHIZh7Y7mDxqY1tpzkq8oZ89MUnTt+/18MH/yuXwf7AxW3y230oWCqbLeqeCBmWqcYYQ7m/v1D4wevaaH9/it3XZOkye2rPfNK1SJ8KXfK3mR31WN8oNUmyju/+0jdHLpsjRE/vA/r/+01/57adSFhYCI+DXdi2xU1vIVwW5Mobz3fV+ejIyNwsHZwG71E/euJYYcM8uNUXx8dpj7d8cuFEtvhp33W7XKNfJwD/+HeJLY7TsdRt6FqIf7uuT99cEUulu/3F8vV3ZE/u48bBcMN0VglbK6o4R0EmHg+/kAuO3f7ssQ9bri8B6a7N61og3Y9tqDRtan28I/7s2RctiX+Oue/ZrAVMqaNoC14bPBYlRe+1ZcmY1d3J/jG1HJEVHzbbXyz6Z7iKX3RHlspd4PRzplJNUqACwc7xjbgD5UhU10oXeOwG+4JbMuw6vCo0a6hxz2Qw/3XHrfHNg470XVNsgtnWAjctW5k912qPf63N+S9Wdfqxrifi3fdbkMt7sSqe8DUop3G2APFqcd/DQqtSB3tjK238Y7b5h7/0KdSHZ38cLu3xkVFTJK1g3hXtJHu+C4hfuyxeUYXpTNox4Ze+KBtdLLgrTb/2j1Yy7jhNmD8iW3w2fNIbkmNbbwr7+luNYYfdHXN79/77HAfldlxnZSoRNcN5eFckltS/BifKHMFbcf6ZyXjcOu1d2/vizhwbHC8d9YB2719qpOcxlV3ecS5JRjs7NYb6rsa9d3jqNoTjt02V3fsI27Bend3zxkbIrrhluzN5YHgdzsbW6CNThd8w+N2i9utiZ2tbqfRWIc8GfPy49SLnne0xV/ViSonzVwutzsKcrvFsSa6hZ9a1+NxuW1bG+MGs8QWWuqeZ4INqm+ve/S35leR56FBA1vJ9nY3un48HGr3Q3SuMzjR6cGzqbHVXY3qnFZYRwjb8u0uV3dja3dXH7yxFUXUrvM0QB3Fdza2bcGou8fuiorLsKHuAt1dcJ6BeMYTux0bfsmMVKWpozfqW50uSnGc3p2tLo7dRv+ZQNcq3KN2HvRTtqBLNNQRWXTeSjRA6Nc3om4IXnwdL1DVAnC5PcH11Q+3O8fHne0PV9eDHvFVcq2aEGwddbAN7wYByb0Bwdekv/i69L4Nbp9bRzKRdlbdHTQauURfSexuu4a4DvJ+13b92dnISHXcQQhgfRWnSQPd0tjdxm/70TBHg+sjO5xnqx0Y+huIHqEpdTte3zruuteDQQ8qT57g6qpte2O3YSKnVh03ohVNsG90iScS0LpsYUFLM+iKpqqBFiOYIG67jHSvFhG4NqR3fFWs8NZwCgNKrOJTZbvi230Mv+vBdIFrQ5GPS63JurVyeLgQMPSw9XXR6oyfoTBZyLWjdTThiHZiNo9RYeCE/Kaw6LNtTU+vRhfVGskEZ8hOUC/l2YrL78Ezfj7IZCEbCTZ25fc8jj6NYx0h84YiL89nLpt5w8BEQmniPhY7QaTxmybWEHITz1Zv29jwmxvNFd7ADNaVBttt9FSQyarj9FbCbfy9jSYLDfCuTlcZawy+V8Nsic1UtzeIrU7+KQwzNPCWb0/DbCRD6vmfrIbZSIa0of1Ig7HThaarq91nOP9N+Gkooc0So2+VNll17QcajL1F0HTtaj/5MiPTzsCynJEyr12WM8IdH3Dv2eBuDHLPxCYb3qafQe6tgc91zQb38cAHF2eCWxmGZ4y7oaWeFe6BZTkbPlifUe5BO5kN7o7OR85ngXugO5mNfjDRHcCeif5bxwZngntg2LHNxpw22FXNBreOncwEt056zwJ3Yn02ufXSexa4B2b52eBOfKib35b378GdWCTr13k9F5yBvmrINVos38du6F+ixepvUhrc8RFl9dNpgzsQoiz+bojdIeG2+GlAvQ5WlKXfFPaX4VfxMXaFE1O0/65/7v0h18JxGf5M7zPXoR9/BO3Nu7rcVm1PDuQPhvr//B863FYtO1fnlM+zvnf//iC5Ne374I7qk/0f/+d9IP9Uw21B+97vv3CF/7/m79+X0eVeBb0J3GK6rQ6233/vcP+Pn9yfByH0j+7ann8efQzZaja4/5maeu3abXRjYgfpk/n//tveax+8+uYbdz/91GxOrdb8qlC/3XfJn9/N/178+Lnf718zi2+YlNze++xAc6EixC1fvspvDt1wyVcd0rkUAuK+KnNb48+JqiRd+eHe4D2IW/64v3+qV3iYhmQy/XgfWJZ7/44INnilD8QtXwTKetxSCvuvDdyBue9I3AcmkI3Wvn+IYyBu5ppluQmx8gySIW7ZJ/23zSAbLfGSFf63tbdj7qvW5Sbu6Dsh5j60MLfINmAZmFu6QI6O3Ziv/T1dNMy9b2FucfH539XcirkJv4W5RSu8p0kUkVsqSwOr1hLCbZ/WCUXua0PcxhLCVqhlE7mlcjrla1BNS3pOKHIfWppbvOxQf4KL3FJV0i5aiwhboaa4iNzihausyo2tUAMncjNzQ9pFawgPCHt9N4ncxJ6lubHf9V96WOK+N2yOs4bQ1Z77nVDiFjvZe5YbjGUNZIPELRrhHctyIyvsu1qqxC2OxnuW5UYj8Jq61Mvcc9bmRiuzzwklbmk0ti43Sog78jcMx30y/3uO4xjxmqDW27BShAFxojy4/vqJ0Px8/guh+fDG9TsW50bO4T9kHtwQmk27z7t4ef67xQDtzX6JuNcszI1K+v88bGbDi6EFEHAvhOCrrzD3A7PpRujql0IzRgFqaDGwCPF+JUBRXgpzz319w6p/cJJInTSzAYAOLS4GKJoG7nDMvkyHMfdyWLhuNqC+rgtNClGHApSXXvZhbjsohrnJBTr70IIhZ24IsRAONmB7l33hZYX7G8T9VWBhMdZ8YDamVsyJ4JOwA14v7Qtjbh/itmPubylvKOQVfjQbtF/cQwFyRIo2JEmYDgSA2+uNATc2wm/tXnox5GtaKskZNTZKEjvtRfFeprPA/a3IDbcFQlTTShG/IdD9SWKnKS+Ot5obilEAIv7AbFpF12/6Qqok8QbAvQO4XoJ/076YzG0PA3hYsMrfiH0gNHvYUODBv0Eh4Ba/8iLuL/EShXsX7Y/MBpZ0IkBhl6MdCEmS6jz6qsdtp+lQwCKZ8qMQVmEvyFr6Yv67JfGrb3rcdrBDX9MKTRYHWRKSk4RaWFKEuEV9D9zfSNx2b2AxawUzvH4TvEQyQFqFvfLD/Hcr4pdfqblp7+LyQ/OXJnfSDCkGGFgSSVdAl4D70goWibhjMjgFATffxB/cDPeq5ILIubIUoBde/GH+f19cCPtCK5ciwP09LkFIy96Q/aHZ2MQjMJOQVCXppUtYS+FmeAlzL2WzscVLyFC+D8jcYZThD0zGhlUJfk3hKmn3Lr2IdImCOW3pZeB+eSlrj4VXLoGhfB/KKivTGzB9ZT4QfFAbcZKE7dQK5l6Jxey+lRckbrt96WXg/mYhK2d4mFr0mp0o12/CMpOwY9TKy0grqDBi7hdWEHc4/CVal0053nY6QAsmW/gjIRAI0LiVggQQuV8MwHi28Pjz+R8e43hn8Uifzfa4Kap56r8COh1Bege8yyI2CjLWCm3PCgLaPxHEIKOOUPFBbOFmO+FN4JaiDRPZksj9wqUAPB80pwkCvkvLTZu9MLmb2QAlY0OCvyiBPxYCIYi3LyY8fnklEI4NcNPmcrM3m4hbBgovSNxCdqE5Pz8vhJtNFP7lfm4fTcVeN5U7dTNLeRVse4yWViZwPwHun8JNAX//jTQ4yJWHos3mblLeHpA95g3RPhBwC8B9E7jRt74vtdx2c7lZDTekeAiKp7cpBBaffHH5p5iQhe+81Ld93ObnCaxLirb3gdsDqF8RmhT44+Wf4P+Qvurjppcpn8mF/qbQH29EHqMg6AJ4N3i4II6Yy1eufN1bmN5lyuwG5WGTosN2LXk2G16MNaHoPL4s0GgaevLzz4KKm6bMbghvCDDBq0Itwy3jkXgBVmeWXljIvvRSH7d3+WuTtzh/vOlbppT1RiF5vT7ELSomfJ4NUf+HuJV+ELjpprnYRAoMQ0kUCs1oAKvizoaffLH4y0ugJwo3TXvDN0zmJk4Eil6W4yjBUrEet93+E8ZWcVM+2uz0JojXobBQEpFP3jvxxXxLcrxp4WfM/ZMyp0G8m6YP9KzQpJWAK5s+ATn09lc+/+WXv/8dEvz/haycJnTW9DRB5xkUR4kFlhY0Csz39Ap+WcJen9f8NEEbEVmYd6QU0GIvPFZxf56Vsjv2yAobbY8EX5iSBgdKG/CQivsy4vbRy15rbGw+gAxXas9ApixSj7NN4ckrly9ffhLGWeKLmZ/dWDeEsI+mh6b4wsLSkrcZ9qHxIub1gZlY5HQgcwJTpFdK8Rg9iL2YbcakPAJ6s0finqBo+nrgWWpxYakX9RAVbsrWDUlCZ83tvPv0o9DsgaN2MCs7S6zZbCqFEjqCcOzECl4i6zqKOK2aIJbletm7CRwQktz8Stmn60IzHPZRSiu+jDbFFxcDPW64M7xsvVP0AG6H1amEHHKliSQ3JShHwvYTq2FjG4+F7T5v/7gpU3uBms5aok5qxT6CzilsD1N0/+QWpr1e9G/WUqe4VWJ+bGLHC/u8FNozRFrGX8JNsewj6+WILO71prRdjCooEvZGcL/swwdmww1RPJFINBp/+xW9m021FwixDmezT/+B/uxewlp/tivR2Ll169Zzsn57egJRz8bgf+ifpvD0n7899wfpzlu3dizyR8fiPWJJf3jut99+ffr0RBBOnv76z9960Ios8TcRINpaLmBXNHjfrR3LXAUAUntnB2XLLZ3nIOYHCA6xSJJoFAcl9ITuMBvuQhe60IUudKELzbD+BctylfSaG2GNAAAAAElFTkSuQmCC" id="608" name="Google Shape;608;p47"/>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09" name="Google Shape;609;p47"/>
          <p:cNvPicPr preferRelativeResize="0"/>
          <p:nvPr/>
        </p:nvPicPr>
        <p:blipFill rotWithShape="1">
          <a:blip r:embed="rId3">
            <a:alphaModFix/>
          </a:blip>
          <a:srcRect b="0" l="0" r="0" t="0"/>
          <a:stretch/>
        </p:blipFill>
        <p:spPr>
          <a:xfrm>
            <a:off x="3031324" y="3177063"/>
            <a:ext cx="1768838" cy="1579601"/>
          </a:xfrm>
          <a:prstGeom prst="rect">
            <a:avLst/>
          </a:prstGeom>
          <a:noFill/>
          <a:ln>
            <a:noFill/>
          </a:ln>
        </p:spPr>
      </p:pic>
      <p:pic>
        <p:nvPicPr>
          <p:cNvPr id="610" name="Google Shape;610;p47"/>
          <p:cNvPicPr preferRelativeResize="0"/>
          <p:nvPr/>
        </p:nvPicPr>
        <p:blipFill rotWithShape="1">
          <a:blip r:embed="rId4">
            <a:alphaModFix/>
          </a:blip>
          <a:srcRect b="0" l="0" r="0" t="0"/>
          <a:stretch/>
        </p:blipFill>
        <p:spPr>
          <a:xfrm>
            <a:off x="6030410" y="3177063"/>
            <a:ext cx="2743438" cy="1524132"/>
          </a:xfrm>
          <a:prstGeom prst="rect">
            <a:avLst/>
          </a:prstGeom>
          <a:noFill/>
          <a:ln>
            <a:noFill/>
          </a:ln>
        </p:spPr>
      </p:pic>
      <p:sp>
        <p:nvSpPr>
          <p:cNvPr id="611" name="Google Shape;611;p47"/>
          <p:cNvSpPr txBox="1"/>
          <p:nvPr/>
        </p:nvSpPr>
        <p:spPr>
          <a:xfrm>
            <a:off x="8038618" y="204802"/>
            <a:ext cx="331518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s-ES" sz="1200" u="none" cap="none" strike="noStrike">
                <a:solidFill>
                  <a:srgbClr val="BFBFBF"/>
                </a:solidFill>
                <a:latin typeface="Calibri"/>
                <a:ea typeface="Calibri"/>
                <a:cs typeface="Calibri"/>
                <a:sym typeface="Calibri"/>
              </a:rPr>
              <a:t>Komatsu, A. V. (2020). As bases do poder. Slides da disciplina: Relações de poder nas organizações.</a:t>
            </a:r>
            <a:endParaRPr b="0" i="0" sz="1200" u="none" cap="none" strike="noStrike">
              <a:solidFill>
                <a:srgbClr val="BFBFBF"/>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617" name="Google Shape;617;p48"/>
          <p:cNvSpPr txBox="1"/>
          <p:nvPr/>
        </p:nvSpPr>
        <p:spPr>
          <a:xfrm>
            <a:off x="1018572" y="2013994"/>
            <a:ext cx="10023676" cy="120032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s-ES" sz="1800" u="none" cap="none" strike="noStrike">
                <a:solidFill>
                  <a:srgbClr val="0070C0"/>
                </a:solidFill>
                <a:latin typeface="Palatino Linotype"/>
                <a:ea typeface="Palatino Linotype"/>
                <a:cs typeface="Palatino Linotype"/>
                <a:sym typeface="Palatino Linotype"/>
              </a:rPr>
              <a:t>O poder de referência é atribuído a pessoas vistas como modelos a serem seguidos, por seu carisma, respeito, confiança, estilo de vida. </a:t>
            </a:r>
            <a:r>
              <a:rPr b="0" i="0" lang="es-ES" sz="1800" u="none" cap="none" strike="noStrike">
                <a:solidFill>
                  <a:schemeClr val="dk1"/>
                </a:solidFill>
                <a:latin typeface="Palatino Linotype"/>
                <a:ea typeface="Palatino Linotype"/>
                <a:cs typeface="Palatino Linotype"/>
                <a:sym typeface="Palatino Linotype"/>
              </a:rPr>
              <a:t>Sendo uma referência, uma figura de inspiração e com quem as pessoas se identificam, as pessoas confiam em você e estão mais dispostas a te seguirem. </a:t>
            </a:r>
            <a:endParaRPr b="0" i="0" sz="1400" u="none" cap="none" strike="noStrike">
              <a:solidFill>
                <a:srgbClr val="000000"/>
              </a:solidFill>
              <a:latin typeface="Arial"/>
              <a:ea typeface="Arial"/>
              <a:cs typeface="Arial"/>
              <a:sym typeface="Arial"/>
            </a:endParaRPr>
          </a:p>
        </p:txBody>
      </p:sp>
      <p:sp>
        <p:nvSpPr>
          <p:cNvPr id="618" name="Google Shape;618;p48"/>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poder de </a:t>
            </a:r>
            <a:r>
              <a:rPr b="0" i="0" lang="es-ES" sz="3500" u="none" cap="none" strike="noStrike">
                <a:solidFill>
                  <a:srgbClr val="FFC000"/>
                </a:solidFill>
                <a:latin typeface="Palatino Linotype"/>
                <a:ea typeface="Palatino Linotype"/>
                <a:cs typeface="Palatino Linotype"/>
                <a:sym typeface="Palatino Linotype"/>
              </a:rPr>
              <a:t>Referência</a:t>
            </a:r>
            <a:endParaRPr b="0" i="0" sz="3500" u="none" cap="none" strike="noStrike">
              <a:solidFill>
                <a:srgbClr val="FFC000"/>
              </a:solidFill>
              <a:latin typeface="Palatino Linotype"/>
              <a:ea typeface="Palatino Linotype"/>
              <a:cs typeface="Palatino Linotype"/>
              <a:sym typeface="Palatino Linotype"/>
            </a:endParaRPr>
          </a:p>
        </p:txBody>
      </p:sp>
      <p:sp>
        <p:nvSpPr>
          <p:cNvPr id="619" name="Google Shape;619;p48"/>
          <p:cNvSpPr txBox="1"/>
          <p:nvPr/>
        </p:nvSpPr>
        <p:spPr>
          <a:xfrm>
            <a:off x="1018572" y="4996404"/>
            <a:ext cx="10023676"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rgbClr val="182A2E"/>
                </a:solidFill>
                <a:latin typeface="Palatino Linotype"/>
                <a:ea typeface="Palatino Linotype"/>
                <a:cs typeface="Palatino Linotype"/>
                <a:sym typeface="Palatino Linotype"/>
              </a:rPr>
              <a:t>Exemplo</a:t>
            </a:r>
            <a:r>
              <a:rPr b="0" i="0" lang="es-ES" sz="1800" u="none" cap="none" strike="noStrike">
                <a:solidFill>
                  <a:srgbClr val="182A2E"/>
                </a:solidFill>
                <a:latin typeface="Palatino Linotype"/>
                <a:ea typeface="Palatino Linotype"/>
                <a:cs typeface="Palatino Linotype"/>
                <a:sym typeface="Palatino Linotype"/>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182A2E"/>
                </a:solidFill>
                <a:latin typeface="Palatino Linotype"/>
                <a:ea typeface="Palatino Linotype"/>
                <a:cs typeface="Palatino Linotype"/>
                <a:sym typeface="Palatino Linotype"/>
              </a:rPr>
              <a:t>Mahatma Ghandi liderou uma grande revolução pacífica na Índia. Ele era a referência para milhares de pessoas.</a:t>
            </a:r>
            <a:endParaRPr b="0" i="0" sz="1400" u="none" cap="none" strike="noStrike">
              <a:solidFill>
                <a:srgbClr val="000000"/>
              </a:solidFill>
              <a:latin typeface="Arial"/>
              <a:ea typeface="Arial"/>
              <a:cs typeface="Arial"/>
              <a:sym typeface="Arial"/>
            </a:endParaRPr>
          </a:p>
        </p:txBody>
      </p:sp>
      <p:sp>
        <p:nvSpPr>
          <p:cNvPr descr="data:image/png;base64,iVBORw0KGgoAAAANSUhEUgAAALcAAAEUCAMAAABeT1dZAAAB0VBMVEX///8APVnsZxnTlwAAAAD9wwD5sAD5rgAAOVYANlRISEh1dXUAMlH5rQDkqADbnwCdm5vrXwDrsADvswD/ygAAO1vkqQDeogAAL0/1ugDXmwD6tQAANFP/7gDRlQDdoAD/0wD//ff3+foAKkzs7Oz/9eP/3wArNSv7wlD+8NX+6sX+5rvrWgAAJkluhpXHjgCdnqL+7c7/+e3/1wD/5AD94ar8znT6vTn7xVv804f92ZP7ymn8znf93aD6uSS0wMjX3uKFmqdCYXbKyslALgBgRQC4hwCsewD7wEn7vjRPbYChr7nucCulVzn+7eXEXB7YYRz72cv4wan2ro7zk2bSu4zEpGDDpGubagCurKz91oInUWlifIyLi5BfSEiIUUB0TkT3s5X50cLKXR7zm3OOTiPweThoRCYyQ1JyRSaBSSWYVTrvf0rmwbOvWjF4WVMAUG6UbmJCQk0AKToaHh+nTRoAExpmLQM9PTxeX1/VzccWNkjzlmu4kTwsHABONADh0rXdcgzPhTXzlQbBfQDncxLegwZwVQDzhw1KPgB4ZgDAlS29mUnNpADbyqN3VQAAKy05OSlLNxqTbBZGNR9nSBqnjFWlgji5qoqgloWhjm1VWLvfAAAWg0lEQVR4nO2di3vaZpbGhbG5zCAo2JW4FVsYtVxsMyjF3AW2UwTYdWrn0sR4ekm7mXSa6Xa66W53Wrfp9r5J2m4z20znr53zfboghABh40g8j995mrFBxj8O53vPOZ9AJogLXehCF7rQhS50oYnEsKzZCJMrVasm20WzKSZSKl8qtKv5HEFUzEYxKjZdTiY3yzlG/HYzNeQ47pkRjRXD1qqV5FGG5aRvIblrGf1j08lKnnmGbMOVS7Yr+ZwqjBESkiRV0j+6SLA1fjP9bNBGKq8lTDp5SIeC7sHsEfo3VWqXTDccVrsEa04HRzD63OWc+P9cxnzDaWmWWsbpgDwo6S1MRnmOzOY5U41XUvWSM5lSiuXJGqRPTefQtHJjZsi6fYZSWwdDkiWi4ISwslWdQzeVp1gx3w9z8kvOQBB5Z4EoOiPwXUvH7pQ04fTSJFeuVqtH+Wf1jNik9EWBLBCbTidRI0n43a1Bx8jn5a9qOe19TK1QS3MMk8pXKsNq1pRVkQjLJM9lnM4US5L5nnWopHgIM+AmuSTKNoZDweYq5XNjVauKywiHjCSXcpB5rlAAiPTAL+8lB6u9LwP5zuSLyUIhWQb02nTchhtd39DLzxYjOdZJ5plCMUcwqCmsDMS0pjxMWZMJOTg2HSmm885iiXTAk8pPpS+rOUbezRYlI6linlSmVGi1WtWqZmH2zJvTUDFJhijzLKCniGq+RMKCKU/DJzMOACkOfSQG6jqBfIDhUuVKsVCsFpMtB1nQGENOSY50vv+OagZ+RbGYdPCZXJtj+Up1Gn0jV3EgOUltABUl0R1svpQsVCqtzUoyWWk7yKLWT46UGzb778pDnYrw5VyklKlEnHkumeKn0HixvBOoSRL+0yslSOWjcrKVbBWPioVkJYkC53QMlstITYohp3mcdIkoRxgiV4CnXyxVInwq3To7dxGwi2QqzTvA4vQPSRc2Ky3EW4T/ksmCg2wNHgkO6aikEXptIJpMsdWuJtHyhuRKR6qczs9PKBYypMY48kTeWSjrJx1bRNSVYuWoVWjzcLxTL6OA29nmW2WWqAzcy0YybJlslTnkI0yLLw9fTEaVgfyA0oJGgSFH5PlicrNaKRbbTnEhRPK6x6WrDr5UIJ384EjBOipg4blSxLHJEWybaDumwp0j8o5h65vbLFRa7XalXCsgbKeTLA63gnzFQTrJwQCwkVa+As+Wi2zyrVKSSDnPzJ0CmBbLkkNWeK7lgMSvpmvVAuRBpFBUJmN9seWWzurmCrkCatprJahxDr6SaZ/dUCCMTkfByScrpdpAJGsOnBs8CWqXMqnTjrzFDMvDWmzl0NLMZQo8LM8zcuccoiCcuF9SiU2SODMcrVLtbAaQ5pniUYRH2VisEWzriCie2QozPAnMErw671IQZpQZ0H6e9XcQyVolTVRQWSZbrUiEI/hB15lUXKZUKTp4HnGro5BrVzOpaXT5TIbg+EiZaKWYvDOfq0F0uLNji9psEzlEPthVT0EQa7ZA1pKQLxmonfCiapubUysNM0zZ6Ti7QemJQc1vORJpk8kiD90LU5nKzhDaOeOgmqTJc+ImOFQg2Vz5qJRh0Xqfxm9hSm0YHInKJtrROZ88AZWKcoi5UnIqm1lMxOmATjMfKcG6TI4//pTiysnNWiZfKlantXuIwuxoFaDEOPnzHLUZNpXOsVPchiiQonuT54p9NrFpeM6a25gjByrkvN7WmSXE5AuOCB9xtDIa1+dy6VQmYvre7xClCs7NXAqyrDI4HcKT0pm9LKEcbp1xV8+2dGaywfnKEko5Smgt43+Y3ObQScFqShaYJAQZd6SVPMMPm94tpjSUwhQwZ1A2sGiONXcZpsrG0rIilcKUPBtEns2u6BBFSNLYKSAZk5NxK2eeOOKg0/5s1emIMEZ6cFLqwWryHkBN/5SYQcXrWxudTud4Y6ueOM3PZ6Apyrd0z271C03suXxps01KAc+3T/P7sOL1zvqqx+1yu91RT3DdtrEz8UOwvMNZZst8pDSmA3VCXudTHMPJtbJ02njHd7tRl02tqLu7O2nGtBxOtD/Nllrt0qh9gpZ2q7x9mk3/BlBvB/upkVzB7fpkj1RyOnjsaEyqzLeGn1/OR1SFBp7f0K2ekVrvunSoMfnqxkSPlCMdPYJcOcKX9dE5/ojIyFt3tU2wk9NM1F23LjSWZ3uSXOEgwdWveIofkuh5Mt3bvcnVyFNNZFue4dw2z/EE4EzF6VCvsNRQWz4ie+NojTxd1WnY9LNE1OqW8UeqgYM7VDZYPhp6aJlM4l1JLo1PsZ9Kf4yO4LZFDRsi08qQDqdqX29U959LOvhWscVHiqcdyA7uvPH8CG7XttEHSheJiDrBU6OXWypfrRxlTj1GMnv+uY9Gga82DD5StUZAgkeU78tD3kA0HV31z83NvekanuMeoxkO7X8eSr2SHPx5dqcHCHtu7sobtmExdxn0QkgTdMpAWWZsZOThZ9Q1kRvI3/rU9jzSALfLGHcVAbediquVzrOpflvGnpvzz1159c233nz1I23KrBvqDhlcvNPKKS4mOWE1ObhtvGoeSthX3unhv6rlNrYw02IvWk5JFSXFT0TNvOtfu2rw2NtKkvxbj3vundMZSkWMMye/07A0mZscrs3N7e0T+0aO3T+841dxv3ZF/EbLvW6EWzlfnJfSY8INPpSw/tv7a4bAlfx+7U/ov9dE7ruapWkov7Xn53PJyXq8A5Sin127ZvCn5AR/570/v6fkygeagBvxk4rmjPPERQfn7NqhwaMPFD95rZfhc++rI+7qGOHW9iIT70yKJEaP3p/TlZrbUL1kC5GSemhhJ3MTJEhZv1FHIZh7Y7mDxqY1tpzkq8oZ89MUnTt+/18MH/yuXwf7AxW3y230oWCqbLeqeCBmWqcYYQ7m/v1D4wevaaH9/it3XZOkye2rPfNK1SJ8KXfK3mR31WN8oNUmyju/+0jdHLpsjRE/vA/r/+01/57adSFhYCI+DXdi2xU1vIVwW5Mobz3fV+ejIyNwsHZwG71E/euJYYcM8uNUXx8dpj7d8cuFEtvhp33W7XKNfJwD/+HeJLY7TsdRt6FqIf7uuT99cEUulu/3F8vV3ZE/u48bBcMN0VglbK6o4R0EmHg+/kAuO3f7ssQ9bri8B6a7N61og3Y9tqDRtan28I/7s2RctiX+Oue/ZrAVMqaNoC14bPBYlRe+1ZcmY1d3J/jG1HJEVHzbbXyz6Z7iKX3RHlspd4PRzplJNUqACwc7xjbgD5UhU10oXeOwG+4JbMuw6vCo0a6hxz2Qw/3XHrfHNg470XVNsgtnWAjctW5k912qPf63N+S9Wdfqxrifi3fdbkMt7sSqe8DUop3G2APFqcd/DQqtSB3tjK238Y7b5h7/0KdSHZ38cLu3xkVFTJK1g3hXtJHu+C4hfuyxeUYXpTNox4Ze+KBtdLLgrTb/2j1Yy7jhNmD8iW3w2fNIbkmNbbwr7+luNYYfdHXN79/77HAfldlxnZSoRNcN5eFckltS/BifKHMFbcf6ZyXjcOu1d2/vizhwbHC8d9YB2719qpOcxlV3ecS5JRjs7NYb6rsa9d3jqNoTjt02V3fsI27Bend3zxkbIrrhluzN5YHgdzsbW6CNThd8w+N2i9utiZ2tbqfRWIc8GfPy49SLnne0xV/ViSonzVwutzsKcrvFsSa6hZ9a1+NxuW1bG+MGs8QWWuqeZ4INqm+ve/S35leR56FBA1vJ9nY3un48HGr3Q3SuMzjR6cGzqbHVXY3qnFZYRwjb8u0uV3dja3dXH7yxFUXUrvM0QB3Fdza2bcGou8fuiorLsKHuAt1dcJ6BeMYTux0bfsmMVKWpozfqW50uSnGc3p2tLo7dRv+ZQNcq3KN2HvRTtqBLNNQRWXTeSjRA6Nc3om4IXnwdL1DVAnC5PcH11Q+3O8fHne0PV9eDHvFVcq2aEGwddbAN7wYByb0Bwdekv/i69L4Nbp9bRzKRdlbdHTQauURfSexuu4a4DvJ+13b92dnISHXcQQhgfRWnSQPd0tjdxm/70TBHg+sjO5xnqx0Y+huIHqEpdTte3zruuteDQQ8qT57g6qpte2O3YSKnVh03ohVNsG90iScS0LpsYUFLM+iKpqqBFiOYIG67jHSvFhG4NqR3fFWs8NZwCgNKrOJTZbvi230Mv+vBdIFrQ5GPS63JurVyeLgQMPSw9XXR6oyfoTBZyLWjdTThiHZiNo9RYeCE/Kaw6LNtTU+vRhfVGskEZ8hOUC/l2YrL78Ezfj7IZCEbCTZ25fc8jj6NYx0h84YiL89nLpt5w8BEQmniPhY7QaTxmybWEHITz1Zv29jwmxvNFd7ADNaVBttt9FSQyarj9FbCbfy9jSYLDfCuTlcZawy+V8Nsic1UtzeIrU7+KQwzNPCWb0/DbCRD6vmfrIbZSIa0of1Ig7HThaarq91nOP9N+Gkooc0So2+VNll17QcajL1F0HTtaj/5MiPTzsCynJEyr12WM8IdH3Dv2eBuDHLPxCYb3qafQe6tgc91zQb38cAHF2eCWxmGZ4y7oaWeFe6BZTkbPlifUe5BO5kN7o7OR85ngXugO5mNfjDRHcCeif5bxwZngntg2LHNxpw22FXNBreOncwEt056zwJ3Yn02ufXSexa4B2b52eBOfKib35b378GdWCTr13k9F5yBvmrINVos38du6F+ixepvUhrc8RFl9dNpgzsQoiz+bojdIeG2+GlAvQ5WlKXfFPaX4VfxMXaFE1O0/65/7v0h18JxGf5M7zPXoR9/BO3Nu7rcVm1PDuQPhvr//B863FYtO1fnlM+zvnf//iC5Ne374I7qk/0f/+d9IP9Uw21B+97vv3CF/7/m79+X0eVeBb0J3GK6rQ6233/vcP+Pn9yfByH0j+7ann8efQzZaja4/5maeu3abXRjYgfpk/n//tveax+8+uYbdz/91GxOrdb8qlC/3XfJn9/N/178+Lnf718zi2+YlNze++xAc6EixC1fvspvDt1wyVcd0rkUAuK+KnNb48+JqiRd+eHe4D2IW/64v3+qV3iYhmQy/XgfWJZ7/44INnilD8QtXwTKetxSCvuvDdyBue9I3AcmkI3Wvn+IYyBu5ppluQmx8gySIW7ZJ/23zSAbLfGSFf63tbdj7qvW5Sbu6Dsh5j60MLfINmAZmFu6QI6O3Ziv/T1dNMy9b2FucfH539XcirkJv4W5RSu8p0kUkVsqSwOr1hLCbZ/WCUXua0PcxhLCVqhlE7mlcjrla1BNS3pOKHIfWppbvOxQf4KL3FJV0i5aiwhboaa4iNzihausyo2tUAMncjNzQ9pFawgPCHt9N4ncxJ6lubHf9V96WOK+N2yOs4bQ1Z77nVDiFjvZe5YbjGUNZIPELRrhHctyIyvsu1qqxC2OxnuW5UYj8Jq61Mvcc9bmRiuzzwklbmk0ti43Sog78jcMx30y/3uO4xjxmqDW27BShAFxojy4/vqJ0Px8/guh+fDG9TsW50bO4T9kHtwQmk27z7t4ef67xQDtzX6JuNcszI1K+v88bGbDi6EFEHAvhOCrrzD3A7PpRujql0IzRgFqaDGwCPF+JUBRXgpzz319w6p/cJJInTSzAYAOLS4GKJoG7nDMvkyHMfdyWLhuNqC+rgtNClGHApSXXvZhbjsohrnJBTr70IIhZ24IsRAONmB7l33hZYX7G8T9VWBhMdZ8YDamVsyJ4JOwA14v7Qtjbh/itmPubylvKOQVfjQbtF/cQwFyRIo2JEmYDgSA2+uNATc2wm/tXnox5GtaKskZNTZKEjvtRfFeprPA/a3IDbcFQlTTShG/IdD9SWKnKS+Ot5obilEAIv7AbFpF12/6Qqok8QbAvQO4XoJ/076YzG0PA3hYsMrfiH0gNHvYUODBv0Eh4Ba/8iLuL/EShXsX7Y/MBpZ0IkBhl6MdCEmS6jz6qsdtp+lQwCKZ8qMQVmEvyFr6Yv67JfGrb3rcdrBDX9MKTRYHWRKSk4RaWFKEuEV9D9zfSNx2b2AxawUzvH4TvEQyQFqFvfLD/Hcr4pdfqblp7+LyQ/OXJnfSDCkGGFgSSVdAl4D70goWibhjMjgFATffxB/cDPeq5ILIubIUoBde/GH+f19cCPtCK5ciwP09LkFIy96Q/aHZ2MQjMJOQVCXppUtYS+FmeAlzL2WzscVLyFC+D8jcYZThD0zGhlUJfk3hKmn3Lr2IdImCOW3pZeB+eSlrj4VXLoGhfB/KKivTGzB9ZT4QfFAbcZKE7dQK5l6Jxey+lRckbrt96WXg/mYhK2d4mFr0mp0o12/CMpOwY9TKy0grqDBi7hdWEHc4/CVal0053nY6QAsmW/gjIRAI0LiVggQQuV8MwHi28Pjz+R8e43hn8Uifzfa4Kap56r8COh1Bege8yyI2CjLWCm3PCgLaPxHEIKOOUPFBbOFmO+FN4JaiDRPZksj9wqUAPB80pwkCvkvLTZu9MLmb2QAlY0OCvyiBPxYCIYi3LyY8fnklEI4NcNPmcrM3m4hbBgovSNxCdqE5Pz8vhJtNFP7lfm4fTcVeN5U7dTNLeRVse4yWViZwPwHun8JNAX//jTQ4yJWHos3mblLeHpA95g3RPhBwC8B9E7jRt74vtdx2c7lZDTekeAiKp7cpBBaffHH5p5iQhe+81Ld93ObnCaxLirb3gdsDqF8RmhT44+Wf4P+Qvurjppcpn8mF/qbQH29EHqMg6AJ4N3i4II6Yy1eufN1bmN5lyuwG5WGTosN2LXk2G16MNaHoPL4s0GgaevLzz4KKm6bMbghvCDDBq0Itwy3jkXgBVmeWXljIvvRSH7d3+WuTtzh/vOlbppT1RiF5vT7ELSomfJ4NUf+HuJV+ELjpprnYRAoMQ0kUCs1oAKvizoaffLH4y0ugJwo3TXvDN0zmJk4Eil6W4yjBUrEet93+E8ZWcVM+2uz0JojXobBQEpFP3jvxxXxLcrxp4WfM/ZMyp0G8m6YP9KzQpJWAK5s+ATn09lc+/+WXv/8dEvz/haycJnTW9DRB5xkUR4kFlhY0Csz39Ap+WcJen9f8NEEbEVmYd6QU0GIvPFZxf56Vsjv2yAobbY8EX5iSBgdKG/CQivsy4vbRy15rbGw+gAxXas9ApixSj7NN4ckrly9ffhLGWeKLmZ/dWDeEsI+mh6b4wsLSkrcZ9qHxIub1gZlY5HQgcwJTpFdK8Rg9iL2YbcakPAJ6s0finqBo+nrgWWpxYakX9RAVbsrWDUlCZ83tvPv0o9DsgaN2MCs7S6zZbCqFEjqCcOzECl4i6zqKOK2aIJbletm7CRwQktz8Stmn60IzHPZRSiu+jDbFFxcDPW64M7xsvVP0AG6H1amEHHKliSQ3JShHwvYTq2FjG4+F7T5v/7gpU3uBms5aok5qxT6CzilsD1N0/+QWpr1e9G/WUqe4VWJ+bGLHC/u8FNozRFrGX8JNsewj6+WILO71prRdjCooEvZGcL/swwdmww1RPJFINBp/+xW9m021FwixDmezT/+B/uxewlp/tivR2Ll169Zzsn57egJRz8bgf+ifpvD0n7899wfpzlu3dizyR8fiPWJJf3jut99+ffr0RBBOnv76z9960Ios8TcRINpaLmBXNHjfrR3LXAUAUntnB2XLLZ3nIOYHCA6xSJJoFAcl9ITuMBvuQhe60IUudKELzbD+BctylfSaG2GNAAAAAElFTkSuQmCC" id="620" name="Google Shape;620;p48"/>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21" name="Google Shape;621;p48"/>
          <p:cNvPicPr preferRelativeResize="0"/>
          <p:nvPr/>
        </p:nvPicPr>
        <p:blipFill rotWithShape="1">
          <a:blip r:embed="rId3">
            <a:alphaModFix/>
          </a:blip>
          <a:srcRect b="0" l="0" r="0" t="0"/>
          <a:stretch/>
        </p:blipFill>
        <p:spPr>
          <a:xfrm>
            <a:off x="3031324" y="3177063"/>
            <a:ext cx="1768838" cy="1579601"/>
          </a:xfrm>
          <a:prstGeom prst="rect">
            <a:avLst/>
          </a:prstGeom>
          <a:noFill/>
          <a:ln>
            <a:noFill/>
          </a:ln>
        </p:spPr>
      </p:pic>
      <p:pic>
        <p:nvPicPr>
          <p:cNvPr id="622" name="Google Shape;622;p48"/>
          <p:cNvPicPr preferRelativeResize="0"/>
          <p:nvPr/>
        </p:nvPicPr>
        <p:blipFill rotWithShape="1">
          <a:blip r:embed="rId4">
            <a:alphaModFix/>
          </a:blip>
          <a:srcRect b="0" l="0" r="0" t="0"/>
          <a:stretch/>
        </p:blipFill>
        <p:spPr>
          <a:xfrm>
            <a:off x="6030410" y="3177063"/>
            <a:ext cx="2743438" cy="1524132"/>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628" name="Google Shape;628;p49"/>
          <p:cNvSpPr txBox="1"/>
          <p:nvPr/>
        </p:nvSpPr>
        <p:spPr>
          <a:xfrm>
            <a:off x="1018572" y="2013994"/>
            <a:ext cx="10023676" cy="9233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s-ES" sz="1800" u="none" cap="none" strike="noStrike">
                <a:solidFill>
                  <a:srgbClr val="0070C0"/>
                </a:solidFill>
                <a:latin typeface="Palatino Linotype"/>
                <a:ea typeface="Palatino Linotype"/>
                <a:cs typeface="Palatino Linotype"/>
                <a:sym typeface="Palatino Linotype"/>
              </a:rPr>
              <a:t>O poder de informação consiste em possuir um conhecimento que outras pessoas querem ou precisam. </a:t>
            </a:r>
            <a:r>
              <a:rPr b="0" i="0" lang="es-ES" sz="1800" u="none" cap="none" strike="noStrike">
                <a:solidFill>
                  <a:schemeClr val="dk1"/>
                </a:solidFill>
                <a:latin typeface="Palatino Linotype"/>
                <a:ea typeface="Palatino Linotype"/>
                <a:cs typeface="Palatino Linotype"/>
                <a:sym typeface="Palatino Linotype"/>
              </a:rPr>
              <a:t>Com informação e conhecimento, a pessoa possui mais poder de persuasão ou de negociação. </a:t>
            </a:r>
            <a:endParaRPr b="0" i="0" sz="1400" u="none" cap="none" strike="noStrike">
              <a:solidFill>
                <a:srgbClr val="000000"/>
              </a:solidFill>
              <a:latin typeface="Arial"/>
              <a:ea typeface="Arial"/>
              <a:cs typeface="Arial"/>
              <a:sym typeface="Arial"/>
            </a:endParaRPr>
          </a:p>
        </p:txBody>
      </p:sp>
      <p:sp>
        <p:nvSpPr>
          <p:cNvPr id="629" name="Google Shape;629;p49"/>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poder de </a:t>
            </a:r>
            <a:r>
              <a:rPr b="0" i="0" lang="es-ES" sz="3500" u="none" cap="none" strike="noStrike">
                <a:solidFill>
                  <a:srgbClr val="FFC000"/>
                </a:solidFill>
                <a:latin typeface="Palatino Linotype"/>
                <a:ea typeface="Palatino Linotype"/>
                <a:cs typeface="Palatino Linotype"/>
                <a:sym typeface="Palatino Linotype"/>
              </a:rPr>
              <a:t>Informação</a:t>
            </a:r>
            <a:endParaRPr b="0" i="0" sz="3500" u="none" cap="none" strike="noStrike">
              <a:solidFill>
                <a:srgbClr val="FFC000"/>
              </a:solidFill>
              <a:latin typeface="Palatino Linotype"/>
              <a:ea typeface="Palatino Linotype"/>
              <a:cs typeface="Palatino Linotype"/>
              <a:sym typeface="Palatino Linotype"/>
            </a:endParaRPr>
          </a:p>
        </p:txBody>
      </p:sp>
      <p:sp>
        <p:nvSpPr>
          <p:cNvPr descr="data:image/png;base64,iVBORw0KGgoAAAANSUhEUgAAALcAAAEUCAMAAABeT1dZAAAB0VBMVEX///8APVnsZxnTlwAAAAD9wwD5sAD5rgAAOVYANlRISEh1dXUAMlH5rQDkqADbnwCdm5vrXwDrsADvswD/ygAAO1vkqQDeogAAL0/1ugDXmwD6tQAANFP/7gDRlQDdoAD/0wD//ff3+foAKkzs7Oz/9eP/3wArNSv7wlD+8NX+6sX+5rvrWgAAJkluhpXHjgCdnqL+7c7/+e3/1wD/5AD94ar8znT6vTn7xVv804f92ZP7ymn8znf93aD6uSS0wMjX3uKFmqdCYXbKyslALgBgRQC4hwCsewD7wEn7vjRPbYChr7nucCulVzn+7eXEXB7YYRz72cv4wan2ro7zk2bSu4zEpGDDpGubagCurKz91oInUWlifIyLi5BfSEiIUUB0TkT3s5X50cLKXR7zm3OOTiPweThoRCYyQ1JyRSaBSSWYVTrvf0rmwbOvWjF4WVMAUG6UbmJCQk0AKToaHh+nTRoAExpmLQM9PTxeX1/VzccWNkjzlmu4kTwsHABONADh0rXdcgzPhTXzlQbBfQDncxLegwZwVQDzhw1KPgB4ZgDAlS29mUnNpADbyqN3VQAAKy05OSlLNxqTbBZGNR9nSBqnjFWlgji5qoqgloWhjm1VWLvfAAAWg0lEQVR4nO2di3vaZpbGhbG5zCAo2JW4FVsYtVxsMyjF3AW2UwTYdWrn0sR4ekm7mXSa6Xa66W53Wrfp9r5J2m4z20znr53zfboghABh40g8j995mrFBxj8O53vPOZ9AJogLXehCF7rQhS50oYnEsKzZCJMrVasm20WzKSZSKl8qtKv5HEFUzEYxKjZdTiY3yzlG/HYzNeQ47pkRjRXD1qqV5FGG5aRvIblrGf1j08lKnnmGbMOVS7Yr+ZwqjBESkiRV0j+6SLA1fjP9bNBGKq8lTDp5SIeC7sHsEfo3VWqXTDccVrsEa04HRzD63OWc+P9cxnzDaWmWWsbpgDwo6S1MRnmOzOY5U41XUvWSM5lSiuXJGqRPTefQtHJjZsi6fYZSWwdDkiWi4ISwslWdQzeVp1gx3w9z8kvOQBB5Z4EoOiPwXUvH7pQ04fTSJFeuVqtH+Wf1jNik9EWBLBCbTidRI0n43a1Bx8jn5a9qOe19TK1QS3MMk8pXKsNq1pRVkQjLJM9lnM4US5L5nnWopHgIM+AmuSTKNoZDweYq5XNjVauKywiHjCSXcpB5rlAAiPTAL+8lB6u9LwP5zuSLyUIhWQb02nTchhtd39DLzxYjOdZJ5plCMUcwqCmsDMS0pjxMWZMJOTg2HSmm885iiXTAk8pPpS+rOUbezRYlI6linlSmVGi1WtWqZmH2zJvTUDFJhijzLKCniGq+RMKCKU/DJzMOACkOfSQG6jqBfIDhUuVKsVCsFpMtB1nQGENOSY50vv+OagZ+RbGYdPCZXJtj+Up1Gn0jV3EgOUltABUl0R1svpQsVCqtzUoyWWk7yKLWT46UGzb778pDnYrw5VyklKlEnHkumeKn0HixvBOoSRL+0yslSOWjcrKVbBWPioVkJYkC53QMlstITYohp3mcdIkoRxgiV4CnXyxVInwq3To7dxGwi2QqzTvA4vQPSRc2Ky3EW4T/ksmCg2wNHgkO6aikEXptIJpMsdWuJtHyhuRKR6qczs9PKBYypMY48kTeWSjrJx1bRNSVYuWoVWjzcLxTL6OA29nmW2WWqAzcy0YybJlslTnkI0yLLw9fTEaVgfyA0oJGgSFH5PlicrNaKRbbTnEhRPK6x6WrDr5UIJ384EjBOipg4blSxLHJEWybaDumwp0j8o5h65vbLFRa7XalXCsgbKeTLA63gnzFQTrJwQCwkVa+As+Wi2zyrVKSSDnPzJ0CmBbLkkNWeK7lgMSvpmvVAuRBpFBUJmN9seWWzurmCrkCatprJahxDr6SaZ/dUCCMTkfByScrpdpAJGsOnBs8CWqXMqnTjrzFDMvDWmzl0NLMZQo8LM8zcuccoiCcuF9SiU2SODMcrVLtbAaQ5pniUYRH2VisEWzriCie2QozPAnMErw671IQZpQZ0H6e9XcQyVolTVRQWSZbrUiEI/hB15lUXKZUKTp4HnGro5BrVzOpaXT5TIbg+EiZaKWYvDOfq0F0uLNji9psEzlEPthVT0EQa7ZA1pKQLxmonfCiapubUysNM0zZ6Ti7QemJQc1vORJpk8kiD90LU5nKzhDaOeOgmqTJc+ImOFQg2Vz5qJRh0Xqfxm9hSm0YHInKJtrROZ88AZWKcoi5UnIqm1lMxOmATjMfKcG6TI4//pTiysnNWiZfKlantXuIwuxoFaDEOPnzHLUZNpXOsVPchiiQonuT54p9NrFpeM6a25gjByrkvN7WmSXE5AuOCB9xtDIa1+dy6VQmYvre7xClCs7NXAqyrDI4HcKT0pm9LKEcbp1xV8+2dGaywfnKEko5Smgt43+Y3ObQScFqShaYJAQZd6SVPMMPm94tpjSUwhQwZ1A2sGiONXcZpsrG0rIilcKUPBtEns2u6BBFSNLYKSAZk5NxK2eeOOKg0/5s1emIMEZ6cFLqwWryHkBN/5SYQcXrWxudTud4Y6ueOM3PZ6Apyrd0z271C03suXxps01KAc+3T/P7sOL1zvqqx+1yu91RT3DdtrEz8UOwvMNZZst8pDSmA3VCXudTHMPJtbJ02njHd7tRl02tqLu7O2nGtBxOtD/Nllrt0qh9gpZ2q7x9mk3/BlBvB/upkVzB7fpkj1RyOnjsaEyqzLeGn1/OR1SFBp7f0K2ekVrvunSoMfnqxkSPlCMdPYJcOcKX9dE5/ojIyFt3tU2wk9NM1F23LjSWZ3uSXOEgwdWveIofkuh5Mt3bvcnVyFNNZFue4dw2z/EE4EzF6VCvsNRQWz4ie+NojTxd1WnY9LNE1OqW8UeqgYM7VDZYPhp6aJlM4l1JLo1PsZ9Kf4yO4LZFDRsi08qQDqdqX29U959LOvhWscVHiqcdyA7uvPH8CG7XttEHSheJiDrBU6OXWypfrRxlTj1GMnv+uY9Gga82DD5StUZAgkeU78tD3kA0HV31z83NvekanuMeoxkO7X8eSr2SHPx5dqcHCHtu7sobtmExdxn0QkgTdMpAWWZsZOThZ9Q1kRvI3/rU9jzSALfLGHcVAbediquVzrOpflvGnpvzz1159c233nz1I23KrBvqDhlcvNPKKS4mOWE1ObhtvGoeSthX3unhv6rlNrYw02IvWk5JFSXFT0TNvOtfu2rw2NtKkvxbj3vundMZSkWMMye/07A0mZscrs3N7e0T+0aO3T+841dxv3ZF/EbLvW6EWzlfnJfSY8INPpSw/tv7a4bAlfx+7U/ov9dE7ruapWkov7Xn53PJyXq8A5Sin127ZvCn5AR/570/v6fkygeagBvxk4rmjPPERQfn7NqhwaMPFD95rZfhc++rI+7qGOHW9iIT70yKJEaP3p/TlZrbUL1kC5GSemhhJ3MTJEhZv1FHIZh7Y7mDxqY1tpzkq8oZ89MUnTt+/18MH/yuXwf7AxW3y230oWCqbLeqeCBmWqcYYQ7m/v1D4wevaaH9/it3XZOkye2rPfNK1SJ8KXfK3mR31WN8oNUmyju/+0jdHLpsjRE/vA/r/+01/57adSFhYCI+DXdi2xU1vIVwW5Mobz3fV+ejIyNwsHZwG71E/euJYYcM8uNUXx8dpj7d8cuFEtvhp33W7XKNfJwD/+HeJLY7TsdRt6FqIf7uuT99cEUulu/3F8vV3ZE/u48bBcMN0VglbK6o4R0EmHg+/kAuO3f7ssQ9bri8B6a7N61og3Y9tqDRtan28I/7s2RctiX+Oue/ZrAVMqaNoC14bPBYlRe+1ZcmY1d3J/jG1HJEVHzbbXyz6Z7iKX3RHlspd4PRzplJNUqACwc7xjbgD5UhU10oXeOwG+4JbMuw6vCo0a6hxz2Qw/3XHrfHNg470XVNsgtnWAjctW5k912qPf63N+S9Wdfqxrifi3fdbkMt7sSqe8DUop3G2APFqcd/DQqtSB3tjK238Y7b5h7/0KdSHZ38cLu3xkVFTJK1g3hXtJHu+C4hfuyxeUYXpTNox4Ze+KBtdLLgrTb/2j1Yy7jhNmD8iW3w2fNIbkmNbbwr7+luNYYfdHXN79/77HAfldlxnZSoRNcN5eFckltS/BifKHMFbcf6ZyXjcOu1d2/vizhwbHC8d9YB2719qpOcxlV3ecS5JRjs7NYb6rsa9d3jqNoTjt02V3fsI27Bend3zxkbIrrhluzN5YHgdzsbW6CNThd8w+N2i9utiZ2tbqfRWIc8GfPy49SLnne0xV/ViSonzVwutzsKcrvFsSa6hZ9a1+NxuW1bG+MGs8QWWuqeZ4INqm+ve/S35leR56FBA1vJ9nY3un48HGr3Q3SuMzjR6cGzqbHVXY3qnFZYRwjb8u0uV3dja3dXH7yxFUXUrvM0QB3Fdza2bcGou8fuiorLsKHuAt1dcJ6BeMYTux0bfsmMVKWpozfqW50uSnGc3p2tLo7dRv+ZQNcq3KN2HvRTtqBLNNQRWXTeSjRA6Nc3om4IXnwdL1DVAnC5PcH11Q+3O8fHne0PV9eDHvFVcq2aEGwddbAN7wYByb0Bwdekv/i69L4Nbp9bRzKRdlbdHTQauURfSexuu4a4DvJ+13b92dnISHXcQQhgfRWnSQPd0tjdxm/70TBHg+sjO5xnqx0Y+huIHqEpdTte3zruuteDQQ8qT57g6qpte2O3YSKnVh03ohVNsG90iScS0LpsYUFLM+iKpqqBFiOYIG67jHSvFhG4NqR3fFWs8NZwCgNKrOJTZbvi230Mv+vBdIFrQ5GPS63JurVyeLgQMPSw9XXR6oyfoTBZyLWjdTThiHZiNo9RYeCE/Kaw6LNtTU+vRhfVGskEZ8hOUC/l2YrL78Ezfj7IZCEbCTZ25fc8jj6NYx0h84YiL89nLpt5w8BEQmniPhY7QaTxmybWEHITz1Zv29jwmxvNFd7ADNaVBttt9FSQyarj9FbCbfy9jSYLDfCuTlcZawy+V8Nsic1UtzeIrU7+KQwzNPCWb0/DbCRD6vmfrIbZSIa0of1Ig7HThaarq91nOP9N+Gkooc0So2+VNll17QcajL1F0HTtaj/5MiPTzsCynJEyr12WM8IdH3Dv2eBuDHLPxCYb3qafQe6tgc91zQb38cAHF2eCWxmGZ4y7oaWeFe6BZTkbPlifUe5BO5kN7o7OR85ngXugO5mNfjDRHcCeif5bxwZngntg2LHNxpw22FXNBreOncwEt056zwJ3Yn02ufXSexa4B2b52eBOfKib35b378GdWCTr13k9F5yBvmrINVos38du6F+ixepvUhrc8RFl9dNpgzsQoiz+bojdIeG2+GlAvQ5WlKXfFPaX4VfxMXaFE1O0/65/7v0h18JxGf5M7zPXoR9/BO3Nu7rcVm1PDuQPhvr//B863FYtO1fnlM+zvnf//iC5Ne374I7qk/0f/+d9IP9Uw21B+97vv3CF/7/m79+X0eVeBb0J3GK6rQ6233/vcP+Pn9yfByH0j+7ann8efQzZaja4/5maeu3abXRjYgfpk/n//tveax+8+uYbdz/91GxOrdb8qlC/3XfJn9/N/178+Lnf718zi2+YlNze++xAc6EixC1fvspvDt1wyVcd0rkUAuK+KnNb48+JqiRd+eHe4D2IW/64v3+qV3iYhmQy/XgfWJZ7/44INnilD8QtXwTKetxSCvuvDdyBue9I3AcmkI3Wvn+IYyBu5ppluQmx8gySIW7ZJ/23zSAbLfGSFf63tbdj7qvW5Sbu6Dsh5j60MLfINmAZmFu6QI6O3Ziv/T1dNMy9b2FucfH539XcirkJv4W5RSu8p0kUkVsqSwOr1hLCbZ/WCUXua0PcxhLCVqhlE7mlcjrla1BNS3pOKHIfWppbvOxQf4KL3FJV0i5aiwhboaa4iNzihausyo2tUAMncjNzQ9pFawgPCHt9N4ncxJ6lubHf9V96WOK+N2yOs4bQ1Z77nVDiFjvZe5YbjGUNZIPELRrhHctyIyvsu1qqxC2OxnuW5UYj8Jq61Mvcc9bmRiuzzwklbmk0ti43Sog78jcMx30y/3uO4xjxmqDW27BShAFxojy4/vqJ0Px8/guh+fDG9TsW50bO4T9kHtwQmk27z7t4ef67xQDtzX6JuNcszI1K+v88bGbDi6EFEHAvhOCrrzD3A7PpRujql0IzRgFqaDGwCPF+JUBRXgpzz319w6p/cJJInTSzAYAOLS4GKJoG7nDMvkyHMfdyWLhuNqC+rgtNClGHApSXXvZhbjsohrnJBTr70IIhZ24IsRAONmB7l33hZYX7G8T9VWBhMdZ8YDamVsyJ4JOwA14v7Qtjbh/itmPubylvKOQVfjQbtF/cQwFyRIo2JEmYDgSA2+uNATc2wm/tXnox5GtaKskZNTZKEjvtRfFeprPA/a3IDbcFQlTTShG/IdD9SWKnKS+Ot5obilEAIv7AbFpF12/6Qqok8QbAvQO4XoJ/076YzG0PA3hYsMrfiH0gNHvYUODBv0Eh4Ba/8iLuL/EShXsX7Y/MBpZ0IkBhl6MdCEmS6jz6qsdtp+lQwCKZ8qMQVmEvyFr6Yv67JfGrb3rcdrBDX9MKTRYHWRKSk4RaWFKEuEV9D9zfSNx2b2AxawUzvH4TvEQyQFqFvfLD/Hcr4pdfqblp7+LyQ/OXJnfSDCkGGFgSSVdAl4D70goWibhjMjgFATffxB/cDPeq5ILIubIUoBde/GH+f19cCPtCK5ciwP09LkFIy96Q/aHZ2MQjMJOQVCXppUtYS+FmeAlzL2WzscVLyFC+D8jcYZThD0zGhlUJfk3hKmn3Lr2IdImCOW3pZeB+eSlrj4VXLoGhfB/KKivTGzB9ZT4QfFAbcZKE7dQK5l6Jxey+lRckbrt96WXg/mYhK2d4mFr0mp0o12/CMpOwY9TKy0grqDBi7hdWEHc4/CVal0053nY6QAsmW/gjIRAI0LiVggQQuV8MwHi28Pjz+R8e43hn8Uifzfa4Kap56r8COh1Bege8yyI2CjLWCm3PCgLaPxHEIKOOUPFBbOFmO+FN4JaiDRPZksj9wqUAPB80pwkCvkvLTZu9MLmb2QAlY0OCvyiBPxYCIYi3LyY8fnklEI4NcNPmcrM3m4hbBgovSNxCdqE5Pz8vhJtNFP7lfm4fTcVeN5U7dTNLeRVse4yWViZwPwHun8JNAX//jTQ4yJWHos3mblLeHpA95g3RPhBwC8B9E7jRt74vtdx2c7lZDTekeAiKp7cpBBaffHH5p5iQhe+81Ld93ObnCaxLirb3gdsDqF8RmhT44+Wf4P+Qvurjppcpn8mF/qbQH29EHqMg6AJ4N3i4II6Yy1eufN1bmN5lyuwG5WGTosN2LXk2G16MNaHoPL4s0GgaevLzz4KKm6bMbghvCDDBq0Itwy3jkXgBVmeWXljIvvRSH7d3+WuTtzh/vOlbppT1RiF5vT7ELSomfJ4NUf+HuJV+ELjpprnYRAoMQ0kUCs1oAKvizoaffLH4y0ugJwo3TXvDN0zmJk4Eil6W4yjBUrEet93+E8ZWcVM+2uz0JojXobBQEpFP3jvxxXxLcrxp4WfM/ZMyp0G8m6YP9KzQpJWAK5s+ATn09lc+/+WXv/8dEvz/haycJnTW9DRB5xkUR4kFlhY0Csz39Ap+WcJen9f8NEEbEVmYd6QU0GIvPFZxf56Vsjv2yAobbY8EX5iSBgdKG/CQivsy4vbRy15rbGw+gAxXas9ApixSj7NN4ckrly9ffhLGWeKLmZ/dWDeEsI+mh6b4wsLSkrcZ9qHxIub1gZlY5HQgcwJTpFdK8Rg9iL2YbcakPAJ6s0finqBo+nrgWWpxYakX9RAVbsrWDUlCZ83tvPv0o9DsgaN2MCs7S6zZbCqFEjqCcOzECl4i6zqKOK2aIJbletm7CRwQktz8Stmn60IzHPZRSiu+jDbFFxcDPW64M7xsvVP0AG6H1amEHHKliSQ3JShHwvYTq2FjG4+F7T5v/7gpU3uBms5aok5qxT6CzilsD1N0/+QWpr1e9G/WUqe4VWJ+bGLHC/u8FNozRFrGX8JNsewj6+WILO71prRdjCooEvZGcL/swwdmww1RPJFINBp/+xW9m021FwixDmezT/+B/uxewlp/tivR2Ll169Zzsn57egJRz8bgf+ifpvD0n7899wfpzlu3dizyR8fiPWJJf3jut99+ffr0RBBOnv76z9960Ios8TcRINpaLmBXNHjfrR3LXAUAUntnB2XLLZ3nIOYHCA6xSJJoFAcl9ITuMBvuQhe60IUudKELzbD+BctylfSaG2GNAAAAAElFTkSuQmCC" id="630" name="Google Shape;630;p49"/>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31" name="Google Shape;631;p49"/>
          <p:cNvPicPr preferRelativeResize="0"/>
          <p:nvPr/>
        </p:nvPicPr>
        <p:blipFill rotWithShape="1">
          <a:blip r:embed="rId3">
            <a:alphaModFix/>
          </a:blip>
          <a:srcRect b="0" l="0" r="0" t="0"/>
          <a:stretch/>
        </p:blipFill>
        <p:spPr>
          <a:xfrm>
            <a:off x="2360738" y="3127669"/>
            <a:ext cx="886589" cy="1459302"/>
          </a:xfrm>
          <a:prstGeom prst="rect">
            <a:avLst/>
          </a:prstGeom>
          <a:noFill/>
          <a:ln>
            <a:noFill/>
          </a:ln>
        </p:spPr>
      </p:pic>
      <p:pic>
        <p:nvPicPr>
          <p:cNvPr id="632" name="Google Shape;632;p49"/>
          <p:cNvPicPr preferRelativeResize="0"/>
          <p:nvPr/>
        </p:nvPicPr>
        <p:blipFill rotWithShape="1">
          <a:blip r:embed="rId4">
            <a:alphaModFix/>
          </a:blip>
          <a:srcRect b="0" l="0" r="0" t="0"/>
          <a:stretch/>
        </p:blipFill>
        <p:spPr>
          <a:xfrm>
            <a:off x="3961937" y="3316882"/>
            <a:ext cx="3029172" cy="1270089"/>
          </a:xfrm>
          <a:prstGeom prst="rect">
            <a:avLst/>
          </a:prstGeom>
          <a:noFill/>
          <a:ln>
            <a:noFill/>
          </a:ln>
        </p:spPr>
      </p:pic>
      <p:pic>
        <p:nvPicPr>
          <p:cNvPr id="633" name="Google Shape;633;p49"/>
          <p:cNvPicPr preferRelativeResize="0"/>
          <p:nvPr/>
        </p:nvPicPr>
        <p:blipFill rotWithShape="1">
          <a:blip r:embed="rId5">
            <a:alphaModFix/>
          </a:blip>
          <a:srcRect b="0" l="0" r="0" t="0"/>
          <a:stretch/>
        </p:blipFill>
        <p:spPr>
          <a:xfrm>
            <a:off x="7308957" y="3127669"/>
            <a:ext cx="2690093" cy="1520322"/>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639" name="Google Shape;639;p50"/>
          <p:cNvSpPr txBox="1"/>
          <p:nvPr/>
        </p:nvSpPr>
        <p:spPr>
          <a:xfrm>
            <a:off x="1018572" y="2013994"/>
            <a:ext cx="10023676" cy="9233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s-ES" sz="1800" u="none" cap="none" strike="noStrike">
                <a:solidFill>
                  <a:srgbClr val="0070C0"/>
                </a:solidFill>
                <a:latin typeface="Palatino Linotype"/>
                <a:ea typeface="Palatino Linotype"/>
                <a:cs typeface="Palatino Linotype"/>
                <a:sym typeface="Palatino Linotype"/>
              </a:rPr>
              <a:t>O poder de informação consiste em possuir um conhecimento que outras pessoas querem ou precisam. </a:t>
            </a:r>
            <a:r>
              <a:rPr b="0" i="0" lang="es-ES" sz="1800" u="none" cap="none" strike="noStrike">
                <a:solidFill>
                  <a:schemeClr val="dk1"/>
                </a:solidFill>
                <a:latin typeface="Palatino Linotype"/>
                <a:ea typeface="Palatino Linotype"/>
                <a:cs typeface="Palatino Linotype"/>
                <a:sym typeface="Palatino Linotype"/>
              </a:rPr>
              <a:t>Com informação e conhecimento, a pessoa possui mais poder de persuasão ou de negociação. </a:t>
            </a:r>
            <a:endParaRPr b="0" i="0" sz="1400" u="none" cap="none" strike="noStrike">
              <a:solidFill>
                <a:srgbClr val="000000"/>
              </a:solidFill>
              <a:latin typeface="Arial"/>
              <a:ea typeface="Arial"/>
              <a:cs typeface="Arial"/>
              <a:sym typeface="Arial"/>
            </a:endParaRPr>
          </a:p>
        </p:txBody>
      </p:sp>
      <p:sp>
        <p:nvSpPr>
          <p:cNvPr id="640" name="Google Shape;640;p50"/>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O poder de </a:t>
            </a:r>
            <a:r>
              <a:rPr b="0" i="0" lang="es-ES" sz="3500" u="none" cap="none" strike="noStrike">
                <a:solidFill>
                  <a:srgbClr val="FFC000"/>
                </a:solidFill>
                <a:latin typeface="Palatino Linotype"/>
                <a:ea typeface="Palatino Linotype"/>
                <a:cs typeface="Palatino Linotype"/>
                <a:sym typeface="Palatino Linotype"/>
              </a:rPr>
              <a:t>Informação</a:t>
            </a:r>
            <a:endParaRPr b="0" i="0" sz="3500" u="none" cap="none" strike="noStrike">
              <a:solidFill>
                <a:srgbClr val="FFC000"/>
              </a:solidFill>
              <a:latin typeface="Palatino Linotype"/>
              <a:ea typeface="Palatino Linotype"/>
              <a:cs typeface="Palatino Linotype"/>
              <a:sym typeface="Palatino Linotype"/>
            </a:endParaRPr>
          </a:p>
        </p:txBody>
      </p:sp>
      <p:sp>
        <p:nvSpPr>
          <p:cNvPr id="641" name="Google Shape;641;p50"/>
          <p:cNvSpPr txBox="1"/>
          <p:nvPr/>
        </p:nvSpPr>
        <p:spPr>
          <a:xfrm>
            <a:off x="1018572" y="4996404"/>
            <a:ext cx="1002367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rgbClr val="182A2E"/>
                </a:solidFill>
                <a:latin typeface="Palatino Linotype"/>
                <a:ea typeface="Palatino Linotype"/>
                <a:cs typeface="Palatino Linotype"/>
                <a:sym typeface="Palatino Linotype"/>
              </a:rPr>
              <a:t>Exemplos</a:t>
            </a:r>
            <a:r>
              <a:rPr b="0" i="0" lang="es-ES" sz="1800" u="none" cap="none" strike="noStrike">
                <a:solidFill>
                  <a:srgbClr val="182A2E"/>
                </a:solidFill>
                <a:latin typeface="Palatino Linotype"/>
                <a:ea typeface="Palatino Linotype"/>
                <a:cs typeface="Palatino Linotype"/>
                <a:sym typeface="Palatino Linotype"/>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182A2E"/>
                </a:solidFill>
                <a:latin typeface="Palatino Linotype"/>
                <a:ea typeface="Palatino Linotype"/>
                <a:cs typeface="Palatino Linotype"/>
                <a:sym typeface="Palatino Linotype"/>
              </a:rPr>
              <a:t>Delações premiadas, Lava Jato, Vaza Jato, Extorsões, Informações privilegiadas...</a:t>
            </a:r>
            <a:endParaRPr b="0" i="0" sz="1400" u="none" cap="none" strike="noStrike">
              <a:solidFill>
                <a:srgbClr val="000000"/>
              </a:solidFill>
              <a:latin typeface="Arial"/>
              <a:ea typeface="Arial"/>
              <a:cs typeface="Arial"/>
              <a:sym typeface="Arial"/>
            </a:endParaRPr>
          </a:p>
        </p:txBody>
      </p:sp>
      <p:sp>
        <p:nvSpPr>
          <p:cNvPr descr="data:image/png;base64,iVBORw0KGgoAAAANSUhEUgAAALcAAAEUCAMAAABeT1dZAAAB0VBMVEX///8APVnsZxnTlwAAAAD9wwD5sAD5rgAAOVYANlRISEh1dXUAMlH5rQDkqADbnwCdm5vrXwDrsADvswD/ygAAO1vkqQDeogAAL0/1ugDXmwD6tQAANFP/7gDRlQDdoAD/0wD//ff3+foAKkzs7Oz/9eP/3wArNSv7wlD+8NX+6sX+5rvrWgAAJkluhpXHjgCdnqL+7c7/+e3/1wD/5AD94ar8znT6vTn7xVv804f92ZP7ymn8znf93aD6uSS0wMjX3uKFmqdCYXbKyslALgBgRQC4hwCsewD7wEn7vjRPbYChr7nucCulVzn+7eXEXB7YYRz72cv4wan2ro7zk2bSu4zEpGDDpGubagCurKz91oInUWlifIyLi5BfSEiIUUB0TkT3s5X50cLKXR7zm3OOTiPweThoRCYyQ1JyRSaBSSWYVTrvf0rmwbOvWjF4WVMAUG6UbmJCQk0AKToaHh+nTRoAExpmLQM9PTxeX1/VzccWNkjzlmu4kTwsHABONADh0rXdcgzPhTXzlQbBfQDncxLegwZwVQDzhw1KPgB4ZgDAlS29mUnNpADbyqN3VQAAKy05OSlLNxqTbBZGNR9nSBqnjFWlgji5qoqgloWhjm1VWLvfAAAWg0lEQVR4nO2di3vaZpbGhbG5zCAo2JW4FVsYtVxsMyjF3AW2UwTYdWrn0sR4ekm7mXSa6Xa66W53Wrfp9r5J2m4z20znr53zfboghABh40g8j995mrFBxj8O53vPOZ9AJogLXehCF7rQhS50oYnEsKzZCJMrVasm20WzKSZSKl8qtKv5HEFUzEYxKjZdTiY3yzlG/HYzNeQ47pkRjRXD1qqV5FGG5aRvIblrGf1j08lKnnmGbMOVS7Yr+ZwqjBESkiRV0j+6SLA1fjP9bNBGKq8lTDp5SIeC7sHsEfo3VWqXTDccVrsEa04HRzD63OWc+P9cxnzDaWmWWsbpgDwo6S1MRnmOzOY5U41XUvWSM5lSiuXJGqRPTefQtHJjZsi6fYZSWwdDkiWi4ISwslWdQzeVp1gx3w9z8kvOQBB5Z4EoOiPwXUvH7pQ04fTSJFeuVqtH+Wf1jNik9EWBLBCbTidRI0n43a1Bx8jn5a9qOe19TK1QS3MMk8pXKsNq1pRVkQjLJM9lnM4US5L5nnWopHgIM+AmuSTKNoZDweYq5XNjVauKywiHjCSXcpB5rlAAiPTAL+8lB6u9LwP5zuSLyUIhWQb02nTchhtd39DLzxYjOdZJ5plCMUcwqCmsDMS0pjxMWZMJOTg2HSmm885iiXTAk8pPpS+rOUbezRYlI6linlSmVGi1WtWqZmH2zJvTUDFJhijzLKCniGq+RMKCKU/DJzMOACkOfSQG6jqBfIDhUuVKsVCsFpMtB1nQGENOSY50vv+OagZ+RbGYdPCZXJtj+Up1Gn0jV3EgOUltABUl0R1svpQsVCqtzUoyWWk7yKLWT46UGzb778pDnYrw5VyklKlEnHkumeKn0HixvBOoSRL+0yslSOWjcrKVbBWPioVkJYkC53QMlstITYohp3mcdIkoRxgiV4CnXyxVInwq3To7dxGwi2QqzTvA4vQPSRc2Ky3EW4T/ksmCg2wNHgkO6aikEXptIJpMsdWuJtHyhuRKR6qczs9PKBYypMY48kTeWSjrJx1bRNSVYuWoVWjzcLxTL6OA29nmW2WWqAzcy0YybJlslTnkI0yLLw9fTEaVgfyA0oJGgSFH5PlicrNaKRbbTnEhRPK6x6WrDr5UIJ384EjBOipg4blSxLHJEWybaDumwp0j8o5h65vbLFRa7XalXCsgbKeTLA63gnzFQTrJwQCwkVa+As+Wi2zyrVKSSDnPzJ0CmBbLkkNWeK7lgMSvpmvVAuRBpFBUJmN9seWWzurmCrkCatprJahxDr6SaZ/dUCCMTkfByScrpdpAJGsOnBs8CWqXMqnTjrzFDMvDWmzl0NLMZQo8LM8zcuccoiCcuF9SiU2SODMcrVLtbAaQ5pniUYRH2VisEWzriCie2QozPAnMErw671IQZpQZ0H6e9XcQyVolTVRQWSZbrUiEI/hB15lUXKZUKTp4HnGro5BrVzOpaXT5TIbg+EiZaKWYvDOfq0F0uLNji9psEzlEPthVT0EQa7ZA1pKQLxmonfCiapubUysNM0zZ6Ti7QemJQc1vORJpk8kiD90LU5nKzhDaOeOgmqTJc+ImOFQg2Vz5qJRh0Xqfxm9hSm0YHInKJtrROZ88AZWKcoi5UnIqm1lMxOmATjMfKcG6TI4//pTiysnNWiZfKlantXuIwuxoFaDEOPnzHLUZNpXOsVPchiiQonuT54p9NrFpeM6a25gjByrkvN7WmSXE5AuOCB9xtDIa1+dy6VQmYvre7xClCs7NXAqyrDI4HcKT0pm9LKEcbp1xV8+2dGaywfnKEko5Smgt43+Y3ObQScFqShaYJAQZd6SVPMMPm94tpjSUwhQwZ1A2sGiONXcZpsrG0rIilcKUPBtEns2u6BBFSNLYKSAZk5NxK2eeOOKg0/5s1emIMEZ6cFLqwWryHkBN/5SYQcXrWxudTud4Y6ueOM3PZ6Apyrd0z271C03suXxps01KAc+3T/P7sOL1zvqqx+1yu91RT3DdtrEz8UOwvMNZZst8pDSmA3VCXudTHMPJtbJ02njHd7tRl02tqLu7O2nGtBxOtD/Nllrt0qh9gpZ2q7x9mk3/BlBvB/upkVzB7fpkj1RyOnjsaEyqzLeGn1/OR1SFBp7f0K2ekVrvunSoMfnqxkSPlCMdPYJcOcKX9dE5/ojIyFt3tU2wk9NM1F23LjSWZ3uSXOEgwdWveIofkuh5Mt3bvcnVyFNNZFue4dw2z/EE4EzF6VCvsNRQWz4ie+NojTxd1WnY9LNE1OqW8UeqgYM7VDZYPhp6aJlM4l1JLo1PsZ9Kf4yO4LZFDRsi08qQDqdqX29U959LOvhWscVHiqcdyA7uvPH8CG7XttEHSheJiDrBU6OXWypfrRxlTj1GMnv+uY9Gga82DD5StUZAgkeU78tD3kA0HV31z83NvekanuMeoxkO7X8eSr2SHPx5dqcHCHtu7sobtmExdxn0QkgTdMpAWWZsZOThZ9Q1kRvI3/rU9jzSALfLGHcVAbediquVzrOpflvGnpvzz1159c233nz1I23KrBvqDhlcvNPKKS4mOWE1ObhtvGoeSthX3unhv6rlNrYw02IvWk5JFSXFT0TNvOtfu2rw2NtKkvxbj3vundMZSkWMMye/07A0mZscrs3N7e0T+0aO3T+841dxv3ZF/EbLvW6EWzlfnJfSY8INPpSw/tv7a4bAlfx+7U/ov9dE7ruapWkov7Xn53PJyXq8A5Sin127ZvCn5AR/570/v6fkygeagBvxk4rmjPPERQfn7NqhwaMPFD95rZfhc++rI+7qGOHW9iIT70yKJEaP3p/TlZrbUL1kC5GSemhhJ3MTJEhZv1FHIZh7Y7mDxqY1tpzkq8oZ89MUnTt+/18MH/yuXwf7AxW3y230oWCqbLeqeCBmWqcYYQ7m/v1D4wevaaH9/it3XZOkye2rPfNK1SJ8KXfK3mR31WN8oNUmyju/+0jdHLpsjRE/vA/r/+01/57adSFhYCI+DXdi2xU1vIVwW5Mobz3fV+ejIyNwsHZwG71E/euJYYcM8uNUXx8dpj7d8cuFEtvhp33W7XKNfJwD/+HeJLY7TsdRt6FqIf7uuT99cEUulu/3F8vV3ZE/u48bBcMN0VglbK6o4R0EmHg+/kAuO3f7ssQ9bri8B6a7N61og3Y9tqDRtan28I/7s2RctiX+Oue/ZrAVMqaNoC14bPBYlRe+1ZcmY1d3J/jG1HJEVHzbbXyz6Z7iKX3RHlspd4PRzplJNUqACwc7xjbgD5UhU10oXeOwG+4JbMuw6vCo0a6hxz2Qw/3XHrfHNg470XVNsgtnWAjctW5k912qPf63N+S9Wdfqxrifi3fdbkMt7sSqe8DUop3G2APFqcd/DQqtSB3tjK238Y7b5h7/0KdSHZ38cLu3xkVFTJK1g3hXtJHu+C4hfuyxeUYXpTNox4Ze+KBtdLLgrTb/2j1Yy7jhNmD8iW3w2fNIbkmNbbwr7+luNYYfdHXN79/77HAfldlxnZSoRNcN5eFckltS/BifKHMFbcf6ZyXjcOu1d2/vizhwbHC8d9YB2719qpOcxlV3ecS5JRjs7NYb6rsa9d3jqNoTjt02V3fsI27Bend3zxkbIrrhluzN5YHgdzsbW6CNThd8w+N2i9utiZ2tbqfRWIc8GfPy49SLnne0xV/ViSonzVwutzsKcrvFsSa6hZ9a1+NxuW1bG+MGs8QWWuqeZ4INqm+ve/S35leR56FBA1vJ9nY3un48HGr3Q3SuMzjR6cGzqbHVXY3qnFZYRwjb8u0uV3dja3dXH7yxFUXUrvM0QB3Fdza2bcGou8fuiorLsKHuAt1dcJ6BeMYTux0bfsmMVKWpozfqW50uSnGc3p2tLo7dRv+ZQNcq3KN2HvRTtqBLNNQRWXTeSjRA6Nc3om4IXnwdL1DVAnC5PcH11Q+3O8fHne0PV9eDHvFVcq2aEGwddbAN7wYByb0Bwdekv/i69L4Nbp9bRzKRdlbdHTQauURfSexuu4a4DvJ+13b92dnISHXcQQhgfRWnSQPd0tjdxm/70TBHg+sjO5xnqx0Y+huIHqEpdTte3zruuteDQQ8qT57g6qpte2O3YSKnVh03ohVNsG90iScS0LpsYUFLM+iKpqqBFiOYIG67jHSvFhG4NqR3fFWs8NZwCgNKrOJTZbvi230Mv+vBdIFrQ5GPS63JurVyeLgQMPSw9XXR6oyfoTBZyLWjdTThiHZiNo9RYeCE/Kaw6LNtTU+vRhfVGskEZ8hOUC/l2YrL78Ezfj7IZCEbCTZ25fc8jj6NYx0h84YiL89nLpt5w8BEQmniPhY7QaTxmybWEHITz1Zv29jwmxvNFd7ADNaVBttt9FSQyarj9FbCbfy9jSYLDfCuTlcZawy+V8Nsic1UtzeIrU7+KQwzNPCWb0/DbCRD6vmfrIbZSIa0of1Ig7HThaarq91nOP9N+Gkooc0So2+VNll17QcajL1F0HTtaj/5MiPTzsCynJEyr12WM8IdH3Dv2eBuDHLPxCYb3qafQe6tgc91zQb38cAHF2eCWxmGZ4y7oaWeFe6BZTkbPlifUe5BO5kN7o7OR85ngXugO5mNfjDRHcCeif5bxwZngntg2LHNxpw22FXNBreOncwEt056zwJ3Yn02ufXSexa4B2b52eBOfKib35b378GdWCTr13k9F5yBvmrINVos38du6F+ixepvUhrc8RFl9dNpgzsQoiz+bojdIeG2+GlAvQ5WlKXfFPaX4VfxMXaFE1O0/65/7v0h18JxGf5M7zPXoR9/BO3Nu7rcVm1PDuQPhvr//B863FYtO1fnlM+zvnf//iC5Ne374I7qk/0f/+d9IP9Uw21B+97vv3CF/7/m79+X0eVeBb0J3GK6rQ6233/vcP+Pn9yfByH0j+7ann8efQzZaja4/5maeu3abXRjYgfpk/n//tveax+8+uYbdz/91GxOrdb8qlC/3XfJn9/N/178+Lnf718zi2+YlNze++xAc6EixC1fvspvDt1wyVcd0rkUAuK+KnNb48+JqiRd+eHe4D2IW/64v3+qV3iYhmQy/XgfWJZ7/44INnilD8QtXwTKetxSCvuvDdyBue9I3AcmkI3Wvn+IYyBu5ppluQmx8gySIW7ZJ/23zSAbLfGSFf63tbdj7qvW5Sbu6Dsh5j60MLfINmAZmFu6QI6O3Ziv/T1dNMy9b2FucfH539XcirkJv4W5RSu8p0kUkVsqSwOr1hLCbZ/WCUXua0PcxhLCVqhlE7mlcjrla1BNS3pOKHIfWppbvOxQf4KL3FJV0i5aiwhboaa4iNzihausyo2tUAMncjNzQ9pFawgPCHt9N4ncxJ6lubHf9V96WOK+N2yOs4bQ1Z77nVDiFjvZe5YbjGUNZIPELRrhHctyIyvsu1qqxC2OxnuW5UYj8Jq61Mvcc9bmRiuzzwklbmk0ti43Sog78jcMx30y/3uO4xjxmqDW27BShAFxojy4/vqJ0Px8/guh+fDG9TsW50bO4T9kHtwQmk27z7t4ef67xQDtzX6JuNcszI1K+v88bGbDi6EFEHAvhOCrrzD3A7PpRujql0IzRgFqaDGwCPF+JUBRXgpzz319w6p/cJJInTSzAYAOLS4GKJoG7nDMvkyHMfdyWLhuNqC+rgtNClGHApSXXvZhbjsohrnJBTr70IIhZ24IsRAONmB7l33hZYX7G8T9VWBhMdZ8YDamVsyJ4JOwA14v7Qtjbh/itmPubylvKOQVfjQbtF/cQwFyRIo2JEmYDgSA2+uNATc2wm/tXnox5GtaKskZNTZKEjvtRfFeprPA/a3IDbcFQlTTShG/IdD9SWKnKS+Ot5obilEAIv7AbFpF12/6Qqok8QbAvQO4XoJ/076YzG0PA3hYsMrfiH0gNHvYUODBv0Eh4Ba/8iLuL/EShXsX7Y/MBpZ0IkBhl6MdCEmS6jz6qsdtp+lQwCKZ8qMQVmEvyFr6Yv67JfGrb3rcdrBDX9MKTRYHWRKSk4RaWFKEuEV9D9zfSNx2b2AxawUzvH4TvEQyQFqFvfLD/Hcr4pdfqblp7+LyQ/OXJnfSDCkGGFgSSVdAl4D70goWibhjMjgFATffxB/cDPeq5ILIubIUoBde/GH+f19cCPtCK5ciwP09LkFIy96Q/aHZ2MQjMJOQVCXppUtYS+FmeAlzL2WzscVLyFC+D8jcYZThD0zGhlUJfk3hKmn3Lr2IdImCOW3pZeB+eSlrj4VXLoGhfB/KKivTGzB9ZT4QfFAbcZKE7dQK5l6Jxey+lRckbrt96WXg/mYhK2d4mFr0mp0o12/CMpOwY9TKy0grqDBi7hdWEHc4/CVal0053nY6QAsmW/gjIRAI0LiVggQQuV8MwHi28Pjz+R8e43hn8Uifzfa4Kap56r8COh1Bege8yyI2CjLWCm3PCgLaPxHEIKOOUPFBbOFmO+FN4JaiDRPZksj9wqUAPB80pwkCvkvLTZu9MLmb2QAlY0OCvyiBPxYCIYi3LyY8fnklEI4NcNPmcrM3m4hbBgovSNxCdqE5Pz8vhJtNFP7lfm4fTcVeN5U7dTNLeRVse4yWViZwPwHun8JNAX//jTQ4yJWHos3mblLeHpA95g3RPhBwC8B9E7jRt74vtdx2c7lZDTekeAiKp7cpBBaffHH5p5iQhe+81Ld93ObnCaxLirb3gdsDqF8RmhT44+Wf4P+Qvurjppcpn8mF/qbQH29EHqMg6AJ4N3i4II6Yy1eufN1bmN5lyuwG5WGTosN2LXk2G16MNaHoPL4s0GgaevLzz4KKm6bMbghvCDDBq0Itwy3jkXgBVmeWXljIvvRSH7d3+WuTtzh/vOlbppT1RiF5vT7ELSomfJ4NUf+HuJV+ELjpprnYRAoMQ0kUCs1oAKvizoaffLH4y0ugJwo3TXvDN0zmJk4Eil6W4yjBUrEet93+E8ZWcVM+2uz0JojXobBQEpFP3jvxxXxLcrxp4WfM/ZMyp0G8m6YP9KzQpJWAK5s+ATn09lc+/+WXv/8dEvz/haycJnTW9DRB5xkUR4kFlhY0Csz39Ap+WcJen9f8NEEbEVmYd6QU0GIvPFZxf56Vsjv2yAobbY8EX5iSBgdKG/CQivsy4vbRy15rbGw+gAxXas9ApixSj7NN4ckrly9ffhLGWeKLmZ/dWDeEsI+mh6b4wsLSkrcZ9qHxIub1gZlY5HQgcwJTpFdK8Rg9iL2YbcakPAJ6s0finqBo+nrgWWpxYakX9RAVbsrWDUlCZ83tvPv0o9DsgaN2MCs7S6zZbCqFEjqCcOzECl4i6zqKOK2aIJbletm7CRwQktz8Stmn60IzHPZRSiu+jDbFFxcDPW64M7xsvVP0AG6H1amEHHKliSQ3JShHwvYTq2FjG4+F7T5v/7gpU3uBms5aok5qxT6CzilsD1N0/+QWpr1e9G/WUqe4VWJ+bGLHC/u8FNozRFrGX8JNsewj6+WILO71prRdjCooEvZGcL/swwdmww1RPJFINBp/+xW9m021FwixDmezT/+B/uxewlp/tivR2Ll169Zzsn57egJRz8bgf+ifpvD0n7899wfpzlu3dizyR8fiPWJJf3jut99+ffr0RBBOnv76z9960Ios8TcRINpaLmBXNHjfrR3LXAUAUntnB2XLLZ3nIOYHCA6xSJJoFAcl9ITuMBvuQhe60IUudKELzbD+BctylfSaG2GNAAAAAElFTkSuQmCC" id="642" name="Google Shape;642;p50"/>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43" name="Google Shape;643;p50"/>
          <p:cNvPicPr preferRelativeResize="0"/>
          <p:nvPr/>
        </p:nvPicPr>
        <p:blipFill rotWithShape="1">
          <a:blip r:embed="rId3">
            <a:alphaModFix/>
          </a:blip>
          <a:srcRect b="0" l="0" r="0" t="0"/>
          <a:stretch/>
        </p:blipFill>
        <p:spPr>
          <a:xfrm>
            <a:off x="2360738" y="3127669"/>
            <a:ext cx="886589" cy="1459302"/>
          </a:xfrm>
          <a:prstGeom prst="rect">
            <a:avLst/>
          </a:prstGeom>
          <a:noFill/>
          <a:ln>
            <a:noFill/>
          </a:ln>
        </p:spPr>
      </p:pic>
      <p:pic>
        <p:nvPicPr>
          <p:cNvPr id="644" name="Google Shape;644;p50"/>
          <p:cNvPicPr preferRelativeResize="0"/>
          <p:nvPr/>
        </p:nvPicPr>
        <p:blipFill rotWithShape="1">
          <a:blip r:embed="rId4">
            <a:alphaModFix/>
          </a:blip>
          <a:srcRect b="0" l="0" r="0" t="0"/>
          <a:stretch/>
        </p:blipFill>
        <p:spPr>
          <a:xfrm>
            <a:off x="3961937" y="3316882"/>
            <a:ext cx="3029172" cy="1270089"/>
          </a:xfrm>
          <a:prstGeom prst="rect">
            <a:avLst/>
          </a:prstGeom>
          <a:noFill/>
          <a:ln>
            <a:noFill/>
          </a:ln>
        </p:spPr>
      </p:pic>
      <p:pic>
        <p:nvPicPr>
          <p:cNvPr id="645" name="Google Shape;645;p50"/>
          <p:cNvPicPr preferRelativeResize="0"/>
          <p:nvPr/>
        </p:nvPicPr>
        <p:blipFill rotWithShape="1">
          <a:blip r:embed="rId5">
            <a:alphaModFix/>
          </a:blip>
          <a:srcRect b="0" l="0" r="0" t="0"/>
          <a:stretch/>
        </p:blipFill>
        <p:spPr>
          <a:xfrm>
            <a:off x="7308957" y="3127669"/>
            <a:ext cx="2690093" cy="1520322"/>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651" name="Google Shape;651;p51"/>
          <p:cNvSpPr txBox="1"/>
          <p:nvPr/>
        </p:nvSpPr>
        <p:spPr>
          <a:xfrm>
            <a:off x="1018572" y="2013994"/>
            <a:ext cx="10023676" cy="369331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Palatino Linotype"/>
                <a:ea typeface="Palatino Linotype"/>
                <a:cs typeface="Palatino Linotype"/>
                <a:sym typeface="Palatino Linotype"/>
              </a:rPr>
              <a:t>A partir do conhecimento das bases do poderes, agora podemos identificá-los nas situações contidianas ou no contexto da nossa organização ou empresa. Dominando esse conhecimento, podemos aplicá-lo a nosso favor.</a:t>
            </a:r>
            <a:endParaRPr b="0" i="0" sz="1800" u="none" cap="none" strike="noStrike">
              <a:solidFill>
                <a:schemeClr val="dk1"/>
              </a:solidFill>
              <a:latin typeface="Palatino Linotype"/>
              <a:ea typeface="Palatino Linotype"/>
              <a:cs typeface="Palatino Linotype"/>
              <a:sym typeface="Palatino Linotype"/>
            </a:endParaRPr>
          </a:p>
          <a:p>
            <a:pPr indent="-171450" lvl="0" marL="285750" marR="0" rtl="0" algn="just">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Palatino Linotype"/>
              <a:ea typeface="Palatino Linotype"/>
              <a:cs typeface="Palatino Linotype"/>
              <a:sym typeface="Palatino Linotype"/>
            </a:endParaRPr>
          </a:p>
          <a:p>
            <a:pPr indent="-285750" lvl="0" marL="285750" marR="0" rtl="0" algn="just">
              <a:lnSpc>
                <a:spcPct val="100000"/>
              </a:lnSpc>
              <a:spcBef>
                <a:spcPts val="0"/>
              </a:spcBef>
              <a:spcAft>
                <a:spcPts val="0"/>
              </a:spcAft>
              <a:buClr>
                <a:schemeClr val="dk1"/>
              </a:buClr>
              <a:buSzPts val="1800"/>
              <a:buFont typeface="Noto Sans Symbols"/>
              <a:buChar char="▪"/>
            </a:pPr>
            <a:r>
              <a:rPr b="0" i="0" lang="es-ES" sz="1800" u="none" cap="none" strike="noStrike">
                <a:solidFill>
                  <a:schemeClr val="dk1"/>
                </a:solidFill>
                <a:latin typeface="Palatino Linotype"/>
                <a:ea typeface="Palatino Linotype"/>
                <a:cs typeface="Palatino Linotype"/>
                <a:sym typeface="Palatino Linotype"/>
              </a:rPr>
              <a:t>Identificação e Gerenciamento de conflitos</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1800"/>
              <a:buFont typeface="Noto Sans Symbols"/>
              <a:buChar char="▪"/>
            </a:pPr>
            <a:r>
              <a:rPr b="0" i="0" lang="es-ES" sz="1800" u="none" cap="none" strike="noStrike">
                <a:solidFill>
                  <a:schemeClr val="dk1"/>
                </a:solidFill>
                <a:latin typeface="Palatino Linotype"/>
                <a:ea typeface="Palatino Linotype"/>
                <a:cs typeface="Palatino Linotype"/>
                <a:sym typeface="Palatino Linotype"/>
              </a:rPr>
              <a:t>Motivação de pessoal</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dk1"/>
              </a:buClr>
              <a:buSzPts val="1800"/>
              <a:buFont typeface="Noto Sans Symbols"/>
              <a:buChar char="▪"/>
            </a:pPr>
            <a:r>
              <a:rPr b="0" i="0" lang="es-ES" sz="1800" u="none" cap="none" strike="noStrike">
                <a:solidFill>
                  <a:schemeClr val="dk1"/>
                </a:solidFill>
                <a:latin typeface="Palatino Linotype"/>
                <a:ea typeface="Palatino Linotype"/>
                <a:cs typeface="Palatino Linotype"/>
                <a:sym typeface="Palatino Linotype"/>
              </a:rPr>
              <a:t>Melhoria nas relações interpessoais</a:t>
            </a:r>
            <a:endParaRPr b="0" i="0" sz="1400" u="none" cap="none" strike="noStrike">
              <a:solidFill>
                <a:srgbClr val="000000"/>
              </a:solidFill>
              <a:latin typeface="Arial"/>
              <a:ea typeface="Arial"/>
              <a:cs typeface="Arial"/>
              <a:sym typeface="Arial"/>
            </a:endParaRPr>
          </a:p>
          <a:p>
            <a:pPr indent="-171450" lvl="0" marL="285750" marR="0" rtl="0" algn="just">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Palatino Linotype"/>
              <a:ea typeface="Palatino Linotype"/>
              <a:cs typeface="Palatino Linotype"/>
              <a:sym typeface="Palatino Linotype"/>
            </a:endParaRPr>
          </a:p>
          <a:p>
            <a:pPr indent="-171450" lvl="0" marL="285750" marR="0" rtl="0" algn="just">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Palatino Linotype"/>
              <a:ea typeface="Palatino Linotype"/>
              <a:cs typeface="Palatino Linotype"/>
              <a:sym typeface="Palatino Linotype"/>
            </a:endParaRPr>
          </a:p>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Palatino Linotype"/>
                <a:ea typeface="Palatino Linotype"/>
                <a:cs typeface="Palatino Linotype"/>
                <a:sym typeface="Palatino Linotype"/>
              </a:rPr>
              <a:t>Perguntas a serem feitas em qualquer relação social (situação que envolve 2 ou mais pessoas):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Noto Sans Symbols"/>
              <a:buChar char="▪"/>
            </a:pPr>
            <a:r>
              <a:rPr b="0" i="0" lang="es-ES" sz="1800" u="none" cap="none" strike="noStrike">
                <a:solidFill>
                  <a:schemeClr val="dk1"/>
                </a:solidFill>
                <a:latin typeface="Palatino Linotype"/>
                <a:ea typeface="Palatino Linotype"/>
                <a:cs typeface="Palatino Linotype"/>
                <a:sym typeface="Palatino Linotype"/>
              </a:rPr>
              <a:t>Quais são as relações de poder envolvidas?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Noto Sans Symbols"/>
              <a:buChar char="▪"/>
            </a:pPr>
            <a:r>
              <a:rPr b="0" i="0" lang="es-ES" sz="1800" u="none" cap="none" strike="noStrike">
                <a:solidFill>
                  <a:schemeClr val="dk1"/>
                </a:solidFill>
                <a:latin typeface="Palatino Linotype"/>
                <a:ea typeface="Palatino Linotype"/>
                <a:cs typeface="Palatino Linotype"/>
                <a:sym typeface="Palatino Linotype"/>
              </a:rPr>
              <a:t>Que tipo de poder eu tenho sobre a pessoa?</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Noto Sans Symbols"/>
              <a:buChar char="▪"/>
            </a:pPr>
            <a:r>
              <a:rPr b="0" i="0" lang="es-ES" sz="1800" u="none" cap="none" strike="noStrike">
                <a:solidFill>
                  <a:schemeClr val="dk1"/>
                </a:solidFill>
                <a:latin typeface="Palatino Linotype"/>
                <a:ea typeface="Palatino Linotype"/>
                <a:cs typeface="Palatino Linotype"/>
                <a:sym typeface="Palatino Linotype"/>
              </a:rPr>
              <a:t>Que tipo de poder a pessoa tem sobre mim?</a:t>
            </a:r>
            <a:endParaRPr b="0" i="0" sz="1400" u="none" cap="none" strike="noStrike">
              <a:solidFill>
                <a:srgbClr val="000000"/>
              </a:solidFill>
              <a:latin typeface="Arial"/>
              <a:ea typeface="Arial"/>
              <a:cs typeface="Arial"/>
              <a:sym typeface="Arial"/>
            </a:endParaRPr>
          </a:p>
        </p:txBody>
      </p:sp>
      <p:sp>
        <p:nvSpPr>
          <p:cNvPr id="652" name="Google Shape;652;p51"/>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Aplicações</a:t>
            </a:r>
            <a:endParaRPr b="0" i="0" sz="3500" u="none" cap="none" strike="noStrike">
              <a:solidFill>
                <a:srgbClr val="FFC000"/>
              </a:solidFill>
              <a:latin typeface="Palatino Linotype"/>
              <a:ea typeface="Palatino Linotype"/>
              <a:cs typeface="Palatino Linotype"/>
              <a:sym typeface="Palatino Linotype"/>
            </a:endParaRPr>
          </a:p>
        </p:txBody>
      </p:sp>
      <p:sp>
        <p:nvSpPr>
          <p:cNvPr descr="data:image/png;base64,iVBORw0KGgoAAAANSUhEUgAAALcAAAEUCAMAAABeT1dZAAAB0VBMVEX///8APVnsZxnTlwAAAAD9wwD5sAD5rgAAOVYANlRISEh1dXUAMlH5rQDkqADbnwCdm5vrXwDrsADvswD/ygAAO1vkqQDeogAAL0/1ugDXmwD6tQAANFP/7gDRlQDdoAD/0wD//ff3+foAKkzs7Oz/9eP/3wArNSv7wlD+8NX+6sX+5rvrWgAAJkluhpXHjgCdnqL+7c7/+e3/1wD/5AD94ar8znT6vTn7xVv804f92ZP7ymn8znf93aD6uSS0wMjX3uKFmqdCYXbKyslALgBgRQC4hwCsewD7wEn7vjRPbYChr7nucCulVzn+7eXEXB7YYRz72cv4wan2ro7zk2bSu4zEpGDDpGubagCurKz91oInUWlifIyLi5BfSEiIUUB0TkT3s5X50cLKXR7zm3OOTiPweThoRCYyQ1JyRSaBSSWYVTrvf0rmwbOvWjF4WVMAUG6UbmJCQk0AKToaHh+nTRoAExpmLQM9PTxeX1/VzccWNkjzlmu4kTwsHABONADh0rXdcgzPhTXzlQbBfQDncxLegwZwVQDzhw1KPgB4ZgDAlS29mUnNpADbyqN3VQAAKy05OSlLNxqTbBZGNR9nSBqnjFWlgji5qoqgloWhjm1VWLvfAAAWg0lEQVR4nO2di3vaZpbGhbG5zCAo2JW4FVsYtVxsMyjF3AW2UwTYdWrn0sR4ekm7mXSa6Xa66W53Wrfp9r5J2m4z20znr53zfboghABh40g8j995mrFBxj8O53vPOZ9AJogLXehCF7rQhS50oYnEsKzZCJMrVasm20WzKSZSKl8qtKv5HEFUzEYxKjZdTiY3yzlG/HYzNeQ47pkRjRXD1qqV5FGG5aRvIblrGf1j08lKnnmGbMOVS7Yr+ZwqjBESkiRV0j+6SLA1fjP9bNBGKq8lTDp5SIeC7sHsEfo3VWqXTDccVrsEa04HRzD63OWc+P9cxnzDaWmWWsbpgDwo6S1MRnmOzOY5U41XUvWSM5lSiuXJGqRPTefQtHJjZsi6fYZSWwdDkiWi4ISwslWdQzeVp1gx3w9z8kvOQBB5Z4EoOiPwXUvH7pQ04fTSJFeuVqtH+Wf1jNik9EWBLBCbTidRI0n43a1Bx8jn5a9qOe19TK1QS3MMk8pXKsNq1pRVkQjLJM9lnM4US5L5nnWopHgIM+AmuSTKNoZDweYq5XNjVauKywiHjCSXcpB5rlAAiPTAL+8lB6u9LwP5zuSLyUIhWQb02nTchhtd39DLzxYjOdZJ5plCMUcwqCmsDMS0pjxMWZMJOTg2HSmm885iiXTAk8pPpS+rOUbezRYlI6linlSmVGi1WtWqZmH2zJvTUDFJhijzLKCniGq+RMKCKU/DJzMOACkOfSQG6jqBfIDhUuVKsVCsFpMtB1nQGENOSY50vv+OagZ+RbGYdPCZXJtj+Up1Gn0jV3EgOUltABUl0R1svpQsVCqtzUoyWWk7yKLWT46UGzb778pDnYrw5VyklKlEnHkumeKn0HixvBOoSRL+0yslSOWjcrKVbBWPioVkJYkC53QMlstITYohp3mcdIkoRxgiV4CnXyxVInwq3To7dxGwi2QqzTvA4vQPSRc2Ky3EW4T/ksmCg2wNHgkO6aikEXptIJpMsdWuJtHyhuRKR6qczs9PKBYypMY48kTeWSjrJx1bRNSVYuWoVWjzcLxTL6OA29nmW2WWqAzcy0YybJlslTnkI0yLLw9fTEaVgfyA0oJGgSFH5PlicrNaKRbbTnEhRPK6x6WrDr5UIJ384EjBOipg4blSxLHJEWybaDumwp0j8o5h65vbLFRa7XalXCsgbKeTLA63gnzFQTrJwQCwkVa+As+Wi2zyrVKSSDnPzJ0CmBbLkkNWeK7lgMSvpmvVAuRBpFBUJmN9seWWzurmCrkCatprJahxDr6SaZ/dUCCMTkfByScrpdpAJGsOnBs8CWqXMqnTjrzFDMvDWmzl0NLMZQo8LM8zcuccoiCcuF9SiU2SODMcrVLtbAaQ5pniUYRH2VisEWzriCie2QozPAnMErw671IQZpQZ0H6e9XcQyVolTVRQWSZbrUiEI/hB15lUXKZUKTp4HnGro5BrVzOpaXT5TIbg+EiZaKWYvDOfq0F0uLNji9psEzlEPthVT0EQa7ZA1pKQLxmonfCiapubUysNM0zZ6Ti7QemJQc1vORJpk8kiD90LU5nKzhDaOeOgmqTJc+ImOFQg2Vz5qJRh0Xqfxm9hSm0YHInKJtrROZ88AZWKcoi5UnIqm1lMxOmATjMfKcG6TI4//pTiysnNWiZfKlantXuIwuxoFaDEOPnzHLUZNpXOsVPchiiQonuT54p9NrFpeM6a25gjByrkvN7WmSXE5AuOCB9xtDIa1+dy6VQmYvre7xClCs7NXAqyrDI4HcKT0pm9LKEcbp1xV8+2dGaywfnKEko5Smgt43+Y3ObQScFqShaYJAQZd6SVPMMPm94tpjSUwhQwZ1A2sGiONXcZpsrG0rIilcKUPBtEns2u6BBFSNLYKSAZk5NxK2eeOOKg0/5s1emIMEZ6cFLqwWryHkBN/5SYQcXrWxudTud4Y6ueOM3PZ6Apyrd0z271C03suXxps01KAc+3T/P7sOL1zvqqx+1yu91RT3DdtrEz8UOwvMNZZst8pDSmA3VCXudTHMPJtbJ02njHd7tRl02tqLu7O2nGtBxOtD/Nllrt0qh9gpZ2q7x9mk3/BlBvB/upkVzB7fpkj1RyOnjsaEyqzLeGn1/OR1SFBp7f0K2ekVrvunSoMfnqxkSPlCMdPYJcOcKX9dE5/ojIyFt3tU2wk9NM1F23LjSWZ3uSXOEgwdWveIofkuh5Mt3bvcnVyFNNZFue4dw2z/EE4EzF6VCvsNRQWz4ie+NojTxd1WnY9LNE1OqW8UeqgYM7VDZYPhp6aJlM4l1JLo1PsZ9Kf4yO4LZFDRsi08qQDqdqX29U959LOvhWscVHiqcdyA7uvPH8CG7XttEHSheJiDrBU6OXWypfrRxlTj1GMnv+uY9Gga82DD5StUZAgkeU78tD3kA0HV31z83NvekanuMeoxkO7X8eSr2SHPx5dqcHCHtu7sobtmExdxn0QkgTdMpAWWZsZOThZ9Q1kRvI3/rU9jzSALfLGHcVAbediquVzrOpflvGnpvzz1159c233nz1I23KrBvqDhlcvNPKKS4mOWE1ObhtvGoeSthX3unhv6rlNrYw02IvWk5JFSXFT0TNvOtfu2rw2NtKkvxbj3vundMZSkWMMye/07A0mZscrs3N7e0T+0aO3T+841dxv3ZF/EbLvW6EWzlfnJfSY8INPpSw/tv7a4bAlfx+7U/ov9dE7ruapWkov7Xn53PJyXq8A5Sin127ZvCn5AR/570/v6fkygeagBvxk4rmjPPERQfn7NqhwaMPFD95rZfhc++rI+7qGOHW9iIT70yKJEaP3p/TlZrbUL1kC5GSemhhJ3MTJEhZv1FHIZh7Y7mDxqY1tpzkq8oZ89MUnTt+/18MH/yuXwf7AxW3y230oWCqbLeqeCBmWqcYYQ7m/v1D4wevaaH9/it3XZOkye2rPfNK1SJ8KXfK3mR31WN8oNUmyju/+0jdHLpsjRE/vA/r/+01/57adSFhYCI+DXdi2xU1vIVwW5Mobz3fV+ejIyNwsHZwG71E/euJYYcM8uNUXx8dpj7d8cuFEtvhp33W7XKNfJwD/+HeJLY7TsdRt6FqIf7uuT99cEUulu/3F8vV3ZE/u48bBcMN0VglbK6o4R0EmHg+/kAuO3f7ssQ9bri8B6a7N61og3Y9tqDRtan28I/7s2RctiX+Oue/ZrAVMqaNoC14bPBYlRe+1ZcmY1d3J/jG1HJEVHzbbXyz6Z7iKX3RHlspd4PRzplJNUqACwc7xjbgD5UhU10oXeOwG+4JbMuw6vCo0a6hxz2Qw/3XHrfHNg470XVNsgtnWAjctW5k912qPf63N+S9Wdfqxrifi3fdbkMt7sSqe8DUop3G2APFqcd/DQqtSB3tjK238Y7b5h7/0KdSHZ38cLu3xkVFTJK1g3hXtJHu+C4hfuyxeUYXpTNox4Ze+KBtdLLgrTb/2j1Yy7jhNmD8iW3w2fNIbkmNbbwr7+luNYYfdHXN79/77HAfldlxnZSoRNcN5eFckltS/BifKHMFbcf6ZyXjcOu1d2/vizhwbHC8d9YB2719qpOcxlV3ecS5JRjs7NYb6rsa9d3jqNoTjt02V3fsI27Bend3zxkbIrrhluzN5YHgdzsbW6CNThd8w+N2i9utiZ2tbqfRWIc8GfPy49SLnne0xV/ViSonzVwutzsKcrvFsSa6hZ9a1+NxuW1bG+MGs8QWWuqeZ4INqm+ve/S35leR56FBA1vJ9nY3un48HGr3Q3SuMzjR6cGzqbHVXY3qnFZYRwjb8u0uV3dja3dXH7yxFUXUrvM0QB3Fdza2bcGou8fuiorLsKHuAt1dcJ6BeMYTux0bfsmMVKWpozfqW50uSnGc3p2tLo7dRv+ZQNcq3KN2HvRTtqBLNNQRWXTeSjRA6Nc3om4IXnwdL1DVAnC5PcH11Q+3O8fHne0PV9eDHvFVcq2aEGwddbAN7wYByb0Bwdekv/i69L4Nbp9bRzKRdlbdHTQauURfSexuu4a4DvJ+13b92dnISHXcQQhgfRWnSQPd0tjdxm/70TBHg+sjO5xnqx0Y+huIHqEpdTte3zruuteDQQ8qT57g6qpte2O3YSKnVh03ohVNsG90iScS0LpsYUFLM+iKpqqBFiOYIG67jHSvFhG4NqR3fFWs8NZwCgNKrOJTZbvi230Mv+vBdIFrQ5GPS63JurVyeLgQMPSw9XXR6oyfoTBZyLWjdTThiHZiNo9RYeCE/Kaw6LNtTU+vRhfVGskEZ8hOUC/l2YrL78Ezfj7IZCEbCTZ25fc8jj6NYx0h84YiL89nLpt5w8BEQmniPhY7QaTxmybWEHITz1Zv29jwmxvNFd7ADNaVBttt9FSQyarj9FbCbfy9jSYLDfCuTlcZawy+V8Nsic1UtzeIrU7+KQwzNPCWb0/DbCRD6vmfrIbZSIa0of1Ig7HThaarq91nOP9N+Gkooc0So2+VNll17QcajL1F0HTtaj/5MiPTzsCynJEyr12WM8IdH3Dv2eBuDHLPxCYb3qafQe6tgc91zQb38cAHF2eCWxmGZ4y7oaWeFe6BZTkbPlifUe5BO5kN7o7OR85ngXugO5mNfjDRHcCeif5bxwZngntg2LHNxpw22FXNBreOncwEt056zwJ3Yn02ufXSexa4B2b52eBOfKib35b378GdWCTr13k9F5yBvmrINVos38du6F+ixepvUhrc8RFl9dNpgzsQoiz+bojdIeG2+GlAvQ5WlKXfFPaX4VfxMXaFE1O0/65/7v0h18JxGf5M7zPXoR9/BO3Nu7rcVm1PDuQPhvr//B863FYtO1fnlM+zvnf//iC5Ne374I7qk/0f/+d9IP9Uw21B+97vv3CF/7/m79+X0eVeBb0J3GK6rQ6233/vcP+Pn9yfByH0j+7ann8efQzZaja4/5maeu3abXRjYgfpk/n//tveax+8+uYbdz/91GxOrdb8qlC/3XfJn9/N/178+Lnf718zi2+YlNze++xAc6EixC1fvspvDt1wyVcd0rkUAuK+KnNb48+JqiRd+eHe4D2IW/64v3+qV3iYhmQy/XgfWJZ7/44INnilD8QtXwTKetxSCvuvDdyBue9I3AcmkI3Wvn+IYyBu5ppluQmx8gySIW7ZJ/23zSAbLfGSFf63tbdj7qvW5Sbu6Dsh5j60MLfINmAZmFu6QI6O3Ziv/T1dNMy9b2FucfH539XcirkJv4W5RSu8p0kUkVsqSwOr1hLCbZ/WCUXua0PcxhLCVqhlE7mlcjrla1BNS3pOKHIfWppbvOxQf4KL3FJV0i5aiwhboaa4iNzihausyo2tUAMncjNzQ9pFawgPCHt9N4ncxJ6lubHf9V96WOK+N2yOs4bQ1Z77nVDiFjvZe5YbjGUNZIPELRrhHctyIyvsu1qqxC2OxnuW5UYj8Jq61Mvcc9bmRiuzzwklbmk0ti43Sog78jcMx30y/3uO4xjxmqDW27BShAFxojy4/vqJ0Px8/guh+fDG9TsW50bO4T9kHtwQmk27z7t4ef67xQDtzX6JuNcszI1K+v88bGbDi6EFEHAvhOCrrzD3A7PpRujql0IzRgFqaDGwCPF+JUBRXgpzz319w6p/cJJInTSzAYAOLS4GKJoG7nDMvkyHMfdyWLhuNqC+rgtNClGHApSXXvZhbjsohrnJBTr70IIhZ24IsRAONmB7l33hZYX7G8T9VWBhMdZ8YDamVsyJ4JOwA14v7Qtjbh/itmPubylvKOQVfjQbtF/cQwFyRIo2JEmYDgSA2+uNATc2wm/tXnox5GtaKskZNTZKEjvtRfFeprPA/a3IDbcFQlTTShG/IdD9SWKnKS+Ot5obilEAIv7AbFpF12/6Qqok8QbAvQO4XoJ/076YzG0PA3hYsMrfiH0gNHvYUODBv0Eh4Ba/8iLuL/EShXsX7Y/MBpZ0IkBhl6MdCEmS6jz6qsdtp+lQwCKZ8qMQVmEvyFr6Yv67JfGrb3rcdrBDX9MKTRYHWRKSk4RaWFKEuEV9D9zfSNx2b2AxawUzvH4TvEQyQFqFvfLD/Hcr4pdfqblp7+LyQ/OXJnfSDCkGGFgSSVdAl4D70goWibhjMjgFATffxB/cDPeq5ILIubIUoBde/GH+f19cCPtCK5ciwP09LkFIy96Q/aHZ2MQjMJOQVCXppUtYS+FmeAlzL2WzscVLyFC+D8jcYZThD0zGhlUJfk3hKmn3Lr2IdImCOW3pZeB+eSlrj4VXLoGhfB/KKivTGzB9ZT4QfFAbcZKE7dQK5l6Jxey+lRckbrt96WXg/mYhK2d4mFr0mp0o12/CMpOwY9TKy0grqDBi7hdWEHc4/CVal0053nY6QAsmW/gjIRAI0LiVggQQuV8MwHi28Pjz+R8e43hn8Uifzfa4Kap56r8COh1Bege8yyI2CjLWCm3PCgLaPxHEIKOOUPFBbOFmO+FN4JaiDRPZksj9wqUAPB80pwkCvkvLTZu9MLmb2QAlY0OCvyiBPxYCIYi3LyY8fnklEI4NcNPmcrM3m4hbBgovSNxCdqE5Pz8vhJtNFP7lfm4fTcVeN5U7dTNLeRVse4yWViZwPwHun8JNAX//jTQ4yJWHos3mblLeHpA95g3RPhBwC8B9E7jRt74vtdx2c7lZDTekeAiKp7cpBBaffHH5p5iQhe+81Ld93ObnCaxLirb3gdsDqF8RmhT44+Wf4P+Qvurjppcpn8mF/qbQH29EHqMg6AJ4N3i4II6Yy1eufN1bmN5lyuwG5WGTosN2LXk2G16MNaHoPL4s0GgaevLzz4KKm6bMbghvCDDBq0Itwy3jkXgBVmeWXljIvvRSH7d3+WuTtzh/vOlbppT1RiF5vT7ELSomfJ4NUf+HuJV+ELjpprnYRAoMQ0kUCs1oAKvizoaffLH4y0ugJwo3TXvDN0zmJk4Eil6W4yjBUrEet93+E8ZWcVM+2uz0JojXobBQEpFP3jvxxXxLcrxp4WfM/ZMyp0G8m6YP9KzQpJWAK5s+ATn09lc+/+WXv/8dEvz/haycJnTW9DRB5xkUR4kFlhY0Csz39Ap+WcJen9f8NEEbEVmYd6QU0GIvPFZxf56Vsjv2yAobbY8EX5iSBgdKG/CQivsy4vbRy15rbGw+gAxXas9ApixSj7NN4ckrly9ffhLGWeKLmZ/dWDeEsI+mh6b4wsLSkrcZ9qHxIub1gZlY5HQgcwJTpFdK8Rg9iL2YbcakPAJ6s0finqBo+nrgWWpxYakX9RAVbsrWDUlCZ83tvPv0o9DsgaN2MCs7S6zZbCqFEjqCcOzECl4i6zqKOK2aIJbletm7CRwQktz8Stmn60IzHPZRSiu+jDbFFxcDPW64M7xsvVP0AG6H1amEHHKliSQ3JShHwvYTq2FjG4+F7T5v/7gpU3uBms5aok5qxT6CzilsD1N0/+QWpr1e9G/WUqe4VWJ+bGLHC/u8FNozRFrGX8JNsewj6+WILO71prRdjCooEvZGcL/swwdmww1RPJFINBp/+xW9m021FwixDmezT/+B/uxewlp/tivR2Ll169Zzsn57egJRz8bgf+ifpvD0n7899wfpzlu3dizyR8fiPWJJf3jut99+ffr0RBBOnv76z9960Ios8TcRINpaLmBXNHjfrR3LXAUAUntnB2XLLZ3nIOYHCA6xSJJoFAcl9ITuMBvuQhe60IUudKELzbD+BctylfSaG2GNAAAAAElFTkSuQmCC" id="653" name="Google Shape;653;p5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659" name="Google Shape;659;p52"/>
          <p:cNvSpPr txBox="1"/>
          <p:nvPr/>
        </p:nvSpPr>
        <p:spPr>
          <a:xfrm>
            <a:off x="1018572" y="2013994"/>
            <a:ext cx="10023676"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Palatino Linotype"/>
                <a:ea typeface="Palatino Linotype"/>
                <a:cs typeface="Palatino Linotype"/>
                <a:sym typeface="Palatino Linotype"/>
              </a:rPr>
              <a:t>O que é o poder?</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s-ES" sz="1800" u="sng" cap="none" strike="noStrike">
                <a:solidFill>
                  <a:schemeClr val="dk1"/>
                </a:solidFill>
                <a:latin typeface="Calibri"/>
                <a:ea typeface="Calibri"/>
                <a:cs typeface="Calibri"/>
                <a:sym typeface="Calibri"/>
                <a:hlinkClick r:id="rId3">
                  <a:extLst>
                    <a:ext uri="{A12FA001-AC4F-418D-AE19-62706E023703}">
                      <ahyp:hlinkClr val="tx"/>
                    </a:ext>
                  </a:extLst>
                </a:hlinkClick>
              </a:rPr>
              <a:t>https://www.youtube.com/watch?v=wwNY2c_tcuA</a:t>
            </a:r>
            <a:r>
              <a:rPr b="0" i="0" lang="es-ES"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60" name="Google Shape;660;p52"/>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Vídeo</a:t>
            </a:r>
            <a:endParaRPr b="0" i="0" sz="3500" u="none" cap="none" strike="noStrike">
              <a:solidFill>
                <a:srgbClr val="FFC000"/>
              </a:solidFill>
              <a:latin typeface="Palatino Linotype"/>
              <a:ea typeface="Palatino Linotype"/>
              <a:cs typeface="Palatino Linotype"/>
              <a:sym typeface="Palatino Linotype"/>
            </a:endParaRPr>
          </a:p>
        </p:txBody>
      </p:sp>
      <p:sp>
        <p:nvSpPr>
          <p:cNvPr descr="data:image/png;base64,iVBORw0KGgoAAAANSUhEUgAAALcAAAEUCAMAAABeT1dZAAAB0VBMVEX///8APVnsZxnTlwAAAAD9wwD5sAD5rgAAOVYANlRISEh1dXUAMlH5rQDkqADbnwCdm5vrXwDrsADvswD/ygAAO1vkqQDeogAAL0/1ugDXmwD6tQAANFP/7gDRlQDdoAD/0wD//ff3+foAKkzs7Oz/9eP/3wArNSv7wlD+8NX+6sX+5rvrWgAAJkluhpXHjgCdnqL+7c7/+e3/1wD/5AD94ar8znT6vTn7xVv804f92ZP7ymn8znf93aD6uSS0wMjX3uKFmqdCYXbKyslALgBgRQC4hwCsewD7wEn7vjRPbYChr7nucCulVzn+7eXEXB7YYRz72cv4wan2ro7zk2bSu4zEpGDDpGubagCurKz91oInUWlifIyLi5BfSEiIUUB0TkT3s5X50cLKXR7zm3OOTiPweThoRCYyQ1JyRSaBSSWYVTrvf0rmwbOvWjF4WVMAUG6UbmJCQk0AKToaHh+nTRoAExpmLQM9PTxeX1/VzccWNkjzlmu4kTwsHABONADh0rXdcgzPhTXzlQbBfQDncxLegwZwVQDzhw1KPgB4ZgDAlS29mUnNpADbyqN3VQAAKy05OSlLNxqTbBZGNR9nSBqnjFWlgji5qoqgloWhjm1VWLvfAAAWg0lEQVR4nO2di3vaZpbGhbG5zCAo2JW4FVsYtVxsMyjF3AW2UwTYdWrn0sR4ekm7mXSa6Xa66W53Wrfp9r5J2m4z20znr53zfboghABh40g8j995mrFBxj8O53vPOZ9AJogLXehCF7rQhS50oYnEsKzZCJMrVasm20WzKSZSKl8qtKv5HEFUzEYxKjZdTiY3yzlG/HYzNeQ47pkRjRXD1qqV5FGG5aRvIblrGf1j08lKnnmGbMOVS7Yr+ZwqjBESkiRV0j+6SLA1fjP9bNBGKq8lTDp5SIeC7sHsEfo3VWqXTDccVrsEa04HRzD63OWc+P9cxnzDaWmWWsbpgDwo6S1MRnmOzOY5U41XUvWSM5lSiuXJGqRPTefQtHJjZsi6fYZSWwdDkiWi4ISwslWdQzeVp1gx3w9z8kvOQBB5Z4EoOiPwXUvH7pQ04fTSJFeuVqtH+Wf1jNik9EWBLBCbTidRI0n43a1Bx8jn5a9qOe19TK1QS3MMk8pXKsNq1pRVkQjLJM9lnM4US5L5nnWopHgIM+AmuSTKNoZDweYq5XNjVauKywiHjCSXcpB5rlAAiPTAL+8lB6u9LwP5zuSLyUIhWQb02nTchhtd39DLzxYjOdZJ5plCMUcwqCmsDMS0pjxMWZMJOTg2HSmm885iiXTAk8pPpS+rOUbezRYlI6linlSmVGi1WtWqZmH2zJvTUDFJhijzLKCniGq+RMKCKU/DJzMOACkOfSQG6jqBfIDhUuVKsVCsFpMtB1nQGENOSY50vv+OagZ+RbGYdPCZXJtj+Up1Gn0jV3EgOUltABUl0R1svpQsVCqtzUoyWWk7yKLWT46UGzb778pDnYrw5VyklKlEnHkumeKn0HixvBOoSRL+0yslSOWjcrKVbBWPioVkJYkC53QMlstITYohp3mcdIkoRxgiV4CnXyxVInwq3To7dxGwi2QqzTvA4vQPSRc2Ky3EW4T/ksmCg2wNHgkO6aikEXptIJpMsdWuJtHyhuRKR6qczs9PKBYypMY48kTeWSjrJx1bRNSVYuWoVWjzcLxTL6OA29nmW2WWqAzcy0YybJlslTnkI0yLLw9fTEaVgfyA0oJGgSFH5PlicrNaKRbbTnEhRPK6x6WrDr5UIJ384EjBOipg4blSxLHJEWybaDumwp0j8o5h65vbLFRa7XalXCsgbKeTLA63gnzFQTrJwQCwkVa+As+Wi2zyrVKSSDnPzJ0CmBbLkkNWeK7lgMSvpmvVAuRBpFBUJmN9seWWzurmCrkCatprJahxDr6SaZ/dUCCMTkfByScrpdpAJGsOnBs8CWqXMqnTjrzFDMvDWmzl0NLMZQo8LM8zcuccoiCcuF9SiU2SODMcrVLtbAaQ5pniUYRH2VisEWzriCie2QozPAnMErw671IQZpQZ0H6e9XcQyVolTVRQWSZbrUiEI/hB15lUXKZUKTp4HnGro5BrVzOpaXT5TIbg+EiZaKWYvDOfq0F0uLNji9psEzlEPthVT0EQa7ZA1pKQLxmonfCiapubUysNM0zZ6Ti7QemJQc1vORJpk8kiD90LU5nKzhDaOeOgmqTJc+ImOFQg2Vz5qJRh0Xqfxm9hSm0YHInKJtrROZ88AZWKcoi5UnIqm1lMxOmATjMfKcG6TI4//pTiysnNWiZfKlantXuIwuxoFaDEOPnzHLUZNpXOsVPchiiQonuT54p9NrFpeM6a25gjByrkvN7WmSXE5AuOCB9xtDIa1+dy6VQmYvre7xClCs7NXAqyrDI4HcKT0pm9LKEcbp1xV8+2dGaywfnKEko5Smgt43+Y3ObQScFqShaYJAQZd6SVPMMPm94tpjSUwhQwZ1A2sGiONXcZpsrG0rIilcKUPBtEns2u6BBFSNLYKSAZk5NxK2eeOOKg0/5s1emIMEZ6cFLqwWryHkBN/5SYQcXrWxudTud4Y6ueOM3PZ6Apyrd0z271C03suXxps01KAc+3T/P7sOL1zvqqx+1yu91RT3DdtrEz8UOwvMNZZst8pDSmA3VCXudTHMPJtbJ02njHd7tRl02tqLu7O2nGtBxOtD/Nllrt0qh9gpZ2q7x9mk3/BlBvB/upkVzB7fpkj1RyOnjsaEyqzLeGn1/OR1SFBp7f0K2ekVrvunSoMfnqxkSPlCMdPYJcOcKX9dE5/ojIyFt3tU2wk9NM1F23LjSWZ3uSXOEgwdWveIofkuh5Mt3bvcnVyFNNZFue4dw2z/EE4EzF6VCvsNRQWz4ie+NojTxd1WnY9LNE1OqW8UeqgYM7VDZYPhp6aJlM4l1JLo1PsZ9Kf4yO4LZFDRsi08qQDqdqX29U959LOvhWscVHiqcdyA7uvPH8CG7XttEHSheJiDrBU6OXWypfrRxlTj1GMnv+uY9Gga82DD5StUZAgkeU78tD3kA0HV31z83NvekanuMeoxkO7X8eSr2SHPx5dqcHCHtu7sobtmExdxn0QkgTdMpAWWZsZOThZ9Q1kRvI3/rU9jzSALfLGHcVAbediquVzrOpflvGnpvzz1159c233nz1I23KrBvqDhlcvNPKKS4mOWE1ObhtvGoeSthX3unhv6rlNrYw02IvWk5JFSXFT0TNvOtfu2rw2NtKkvxbj3vundMZSkWMMye/07A0mZscrs3N7e0T+0aO3T+841dxv3ZF/EbLvW6EWzlfnJfSY8INPpSw/tv7a4bAlfx+7U/ov9dE7ruapWkov7Xn53PJyXq8A5Sin127ZvCn5AR/570/v6fkygeagBvxk4rmjPPERQfn7NqhwaMPFD95rZfhc++rI+7qGOHW9iIT70yKJEaP3p/TlZrbUL1kC5GSemhhJ3MTJEhZv1FHIZh7Y7mDxqY1tpzkq8oZ89MUnTt+/18MH/yuXwf7AxW3y230oWCqbLeqeCBmWqcYYQ7m/v1D4wevaaH9/it3XZOkye2rPfNK1SJ8KXfK3mR31WN8oNUmyju/+0jdHLpsjRE/vA/r/+01/57adSFhYCI+DXdi2xU1vIVwW5Mobz3fV+ejIyNwsHZwG71E/euJYYcM8uNUXx8dpj7d8cuFEtvhp33W7XKNfJwD/+HeJLY7TsdRt6FqIf7uuT99cEUulu/3F8vV3ZE/u48bBcMN0VglbK6o4R0EmHg+/kAuO3f7ssQ9bri8B6a7N61og3Y9tqDRtan28I/7s2RctiX+Oue/ZrAVMqaNoC14bPBYlRe+1ZcmY1d3J/jG1HJEVHzbbXyz6Z7iKX3RHlspd4PRzplJNUqACwc7xjbgD5UhU10oXeOwG+4JbMuw6vCo0a6hxz2Qw/3XHrfHNg470XVNsgtnWAjctW5k912qPf63N+S9Wdfqxrifi3fdbkMt7sSqe8DUop3G2APFqcd/DQqtSB3tjK238Y7b5h7/0KdSHZ38cLu3xkVFTJK1g3hXtJHu+C4hfuyxeUYXpTNox4Ze+KBtdLLgrTb/2j1Yy7jhNmD8iW3w2fNIbkmNbbwr7+luNYYfdHXN79/77HAfldlxnZSoRNcN5eFckltS/BifKHMFbcf6ZyXjcOu1d2/vizhwbHC8d9YB2719qpOcxlV3ecS5JRjs7NYb6rsa9d3jqNoTjt02V3fsI27Bend3zxkbIrrhluzN5YHgdzsbW6CNThd8w+N2i9utiZ2tbqfRWIc8GfPy49SLnne0xV/ViSonzVwutzsKcrvFsSa6hZ9a1+NxuW1bG+MGs8QWWuqeZ4INqm+ve/S35leR56FBA1vJ9nY3un48HGr3Q3SuMzjR6cGzqbHVXY3qnFZYRwjb8u0uV3dja3dXH7yxFUXUrvM0QB3Fdza2bcGou8fuiorLsKHuAt1dcJ6BeMYTux0bfsmMVKWpozfqW50uSnGc3p2tLo7dRv+ZQNcq3KN2HvRTtqBLNNQRWXTeSjRA6Nc3om4IXnwdL1DVAnC5PcH11Q+3O8fHne0PV9eDHvFVcq2aEGwddbAN7wYByb0Bwdekv/i69L4Nbp9bRzKRdlbdHTQauURfSexuu4a4DvJ+13b92dnISHXcQQhgfRWnSQPd0tjdxm/70TBHg+sjO5xnqx0Y+huIHqEpdTte3zruuteDQQ8qT57g6qpte2O3YSKnVh03ohVNsG90iScS0LpsYUFLM+iKpqqBFiOYIG67jHSvFhG4NqR3fFWs8NZwCgNKrOJTZbvi230Mv+vBdIFrQ5GPS63JurVyeLgQMPSw9XXR6oyfoTBZyLWjdTThiHZiNo9RYeCE/Kaw6LNtTU+vRhfVGskEZ8hOUC/l2YrL78Ezfj7IZCEbCTZ25fc8jj6NYx0h84YiL89nLpt5w8BEQmniPhY7QaTxmybWEHITz1Zv29jwmxvNFd7ADNaVBttt9FSQyarj9FbCbfy9jSYLDfCuTlcZawy+V8Nsic1UtzeIrU7+KQwzNPCWb0/DbCRD6vmfrIbZSIa0of1Ig7HThaarq91nOP9N+Gkooc0So2+VNll17QcajL1F0HTtaj/5MiPTzsCynJEyr12WM8IdH3Dv2eBuDHLPxCYb3qafQe6tgc91zQb38cAHF2eCWxmGZ4y7oaWeFe6BZTkbPlifUe5BO5kN7o7OR85ngXugO5mNfjDRHcCeif5bxwZngntg2LHNxpw22FXNBreOncwEt056zwJ3Yn02ufXSexa4B2b52eBOfKib35b378GdWCTr13k9F5yBvmrINVos38du6F+ixepvUhrc8RFl9dNpgzsQoiz+bojdIeG2+GlAvQ5WlKXfFPaX4VfxMXaFE1O0/65/7v0h18JxGf5M7zPXoR9/BO3Nu7rcVm1PDuQPhvr//B863FYtO1fnlM+zvnf//iC5Ne374I7qk/0f/+d9IP9Uw21B+97vv3CF/7/m79+X0eVeBb0J3GK6rQ6233/vcP+Pn9yfByH0j+7ann8efQzZaja4/5maeu3abXRjYgfpk/n//tveax+8+uYbdz/91GxOrdb8qlC/3XfJn9/N/178+Lnf718zi2+YlNze++xAc6EixC1fvspvDt1wyVcd0rkUAuK+KnNb48+JqiRd+eHe4D2IW/64v3+qV3iYhmQy/XgfWJZ7/44INnilD8QtXwTKetxSCvuvDdyBue9I3AcmkI3Wvn+IYyBu5ppluQmx8gySIW7ZJ/23zSAbLfGSFf63tbdj7qvW5Sbu6Dsh5j60MLfINmAZmFu6QI6O3Ziv/T1dNMy9b2FucfH539XcirkJv4W5RSu8p0kUkVsqSwOr1hLCbZ/WCUXua0PcxhLCVqhlE7mlcjrla1BNS3pOKHIfWppbvOxQf4KL3FJV0i5aiwhboaa4iNzihausyo2tUAMncjNzQ9pFawgPCHt9N4ncxJ6lubHf9V96WOK+N2yOs4bQ1Z77nVDiFjvZe5YbjGUNZIPELRrhHctyIyvsu1qqxC2OxnuW5UYj8Jq61Mvcc9bmRiuzzwklbmk0ti43Sog78jcMx30y/3uO4xjxmqDW27BShAFxojy4/vqJ0Px8/guh+fDG9TsW50bO4T9kHtwQmk27z7t4ef67xQDtzX6JuNcszI1K+v88bGbDi6EFEHAvhOCrrzD3A7PpRujql0IzRgFqaDGwCPF+JUBRXgpzz319w6p/cJJInTSzAYAOLS4GKJoG7nDMvkyHMfdyWLhuNqC+rgtNClGHApSXXvZhbjsohrnJBTr70IIhZ24IsRAONmB7l33hZYX7G8T9VWBhMdZ8YDamVsyJ4JOwA14v7Qtjbh/itmPubylvKOQVfjQbtF/cQwFyRIo2JEmYDgSA2+uNATc2wm/tXnox5GtaKskZNTZKEjvtRfFeprPA/a3IDbcFQlTTShG/IdD9SWKnKS+Ot5obilEAIv7AbFpF12/6Qqok8QbAvQO4XoJ/076YzG0PA3hYsMrfiH0gNHvYUODBv0Eh4Ba/8iLuL/EShXsX7Y/MBpZ0IkBhl6MdCEmS6jz6qsdtp+lQwCKZ8qMQVmEvyFr6Yv67JfGrb3rcdrBDX9MKTRYHWRKSk4RaWFKEuEV9D9zfSNx2b2AxawUzvH4TvEQyQFqFvfLD/Hcr4pdfqblp7+LyQ/OXJnfSDCkGGFgSSVdAl4D70goWibhjMjgFATffxB/cDPeq5ILIubIUoBde/GH+f19cCPtCK5ciwP09LkFIy96Q/aHZ2MQjMJOQVCXppUtYS+FmeAlzL2WzscVLyFC+D8jcYZThD0zGhlUJfk3hKmn3Lr2IdImCOW3pZeB+eSlrj4VXLoGhfB/KKivTGzB9ZT4QfFAbcZKE7dQK5l6Jxey+lRckbrt96WXg/mYhK2d4mFr0mp0o12/CMpOwY9TKy0grqDBi7hdWEHc4/CVal0053nY6QAsmW/gjIRAI0LiVggQQuV8MwHi28Pjz+R8e43hn8Uifzfa4Kap56r8COh1Bege8yyI2CjLWCm3PCgLaPxHEIKOOUPFBbOFmO+FN4JaiDRPZksj9wqUAPB80pwkCvkvLTZu9MLmb2QAlY0OCvyiBPxYCIYi3LyY8fnklEI4NcNPmcrM3m4hbBgovSNxCdqE5Pz8vhJtNFP7lfm4fTcVeN5U7dTNLeRVse4yWViZwPwHun8JNAX//jTQ4yJWHos3mblLeHpA95g3RPhBwC8B9E7jRt74vtdx2c7lZDTekeAiKp7cpBBaffHH5p5iQhe+81Ld93ObnCaxLirb3gdsDqF8RmhT44+Wf4P+Qvurjppcpn8mF/qbQH29EHqMg6AJ4N3i4II6Yy1eufN1bmN5lyuwG5WGTosN2LXk2G16MNaHoPL4s0GgaevLzz4KKm6bMbghvCDDBq0Itwy3jkXgBVmeWXljIvvRSH7d3+WuTtzh/vOlbppT1RiF5vT7ELSomfJ4NUf+HuJV+ELjpprnYRAoMQ0kUCs1oAKvizoaffLH4y0ugJwo3TXvDN0zmJk4Eil6W4yjBUrEet93+E8ZWcVM+2uz0JojXobBQEpFP3jvxxXxLcrxp4WfM/ZMyp0G8m6YP9KzQpJWAK5s+ATn09lc+/+WXv/8dEvz/haycJnTW9DRB5xkUR4kFlhY0Csz39Ap+WcJen9f8NEEbEVmYd6QU0GIvPFZxf56Vsjv2yAobbY8EX5iSBgdKG/CQivsy4vbRy15rbGw+gAxXas9ApixSj7NN4ckrly9ffhLGWeKLmZ/dWDeEsI+mh6b4wsLSkrcZ9qHxIub1gZlY5HQgcwJTpFdK8Rg9iL2YbcakPAJ6s0finqBo+nrgWWpxYakX9RAVbsrWDUlCZ83tvPv0o9DsgaN2MCs7S6zZbCqFEjqCcOzECl4i6zqKOK2aIJbletm7CRwQktz8Stmn60IzHPZRSiu+jDbFFxcDPW64M7xsvVP0AG6H1amEHHKliSQ3JShHwvYTq2FjG4+F7T5v/7gpU3uBms5aok5qxT6CzilsD1N0/+QWpr1e9G/WUqe4VWJ+bGLHC/u8FNozRFrGX8JNsewj6+WILO71prRdjCooEvZGcL/swwdmww1RPJFINBp/+xW9m021FwixDmezT/+B/uxewlp/tivR2Ll169Zzsn57egJRz8bgf+ifpvD0n7899wfpzlu3dizyR8fiPWJJf3jut99+ffr0RBBOnv76z9960Ios8TcRINpaLmBXNHjfrR3LXAUAUntnB2XLLZ3nIOYHCA6xSJJoFAcl9ITuMBvuQhe60IUudKELzbD+BctylfSaG2GNAAAAAElFTkSuQmCC" id="661" name="Google Shape;661;p5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 </a:t>
            </a:r>
            <a:endParaRPr/>
          </a:p>
        </p:txBody>
      </p:sp>
      <p:sp>
        <p:nvSpPr>
          <p:cNvPr id="667" name="Google Shape;667;p53"/>
          <p:cNvSpPr txBox="1"/>
          <p:nvPr/>
        </p:nvSpPr>
        <p:spPr>
          <a:xfrm>
            <a:off x="1018572" y="2013994"/>
            <a:ext cx="10023676" cy="175432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Palatino Linotype"/>
                <a:ea typeface="Palatino Linotype"/>
                <a:cs typeface="Palatino Linotype"/>
                <a:sym typeface="Palatino Linotype"/>
              </a:rPr>
              <a:t>Todos temos um pouco de cada um dos tipos de poder. Mesmo que às vezes não conseguimos identificar de imediato, nós temos! Pense nos seis tipos de poder que vimos na aula de hoje:</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1800"/>
              <a:buFont typeface="Palatino Linotype"/>
              <a:buAutoNum type="arabicPeriod"/>
            </a:pPr>
            <a:r>
              <a:rPr b="0" i="0" lang="es-ES" sz="1800" u="none" cap="none" strike="noStrike">
                <a:solidFill>
                  <a:schemeClr val="dk1"/>
                </a:solidFill>
                <a:latin typeface="Palatino Linotype"/>
                <a:ea typeface="Palatino Linotype"/>
                <a:cs typeface="Palatino Linotype"/>
                <a:sym typeface="Palatino Linotype"/>
              </a:rPr>
              <a:t>Qual tipo de poder você </a:t>
            </a:r>
            <a:r>
              <a:rPr b="0" i="0" lang="es-ES" sz="1800" u="sng" cap="none" strike="noStrike">
                <a:solidFill>
                  <a:schemeClr val="dk1"/>
                </a:solidFill>
                <a:latin typeface="Palatino Linotype"/>
                <a:ea typeface="Palatino Linotype"/>
                <a:cs typeface="Palatino Linotype"/>
                <a:sym typeface="Palatino Linotype"/>
              </a:rPr>
              <a:t>menos</a:t>
            </a:r>
            <a:r>
              <a:rPr b="0" i="0" lang="es-ES" sz="1800" u="none" cap="none" strike="noStrike">
                <a:solidFill>
                  <a:schemeClr val="dk1"/>
                </a:solidFill>
                <a:latin typeface="Palatino Linotype"/>
                <a:ea typeface="Palatino Linotype"/>
                <a:cs typeface="Palatino Linotype"/>
                <a:sym typeface="Palatino Linotype"/>
              </a:rPr>
              <a:t> tem no seu trabalho? </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1800"/>
              <a:buFont typeface="Palatino Linotype"/>
              <a:buAutoNum type="arabicPeriod"/>
            </a:pPr>
            <a:r>
              <a:rPr b="0" i="0" lang="es-ES" sz="1800" u="none" cap="none" strike="noStrike">
                <a:solidFill>
                  <a:schemeClr val="dk1"/>
                </a:solidFill>
                <a:latin typeface="Palatino Linotype"/>
                <a:ea typeface="Palatino Linotype"/>
                <a:cs typeface="Palatino Linotype"/>
                <a:sym typeface="Palatino Linotype"/>
              </a:rPr>
              <a:t>Qual tipo de poder você </a:t>
            </a:r>
            <a:r>
              <a:rPr b="0" i="0" lang="es-ES" sz="1800" u="sng" cap="none" strike="noStrike">
                <a:solidFill>
                  <a:schemeClr val="dk1"/>
                </a:solidFill>
                <a:latin typeface="Palatino Linotype"/>
                <a:ea typeface="Palatino Linotype"/>
                <a:cs typeface="Palatino Linotype"/>
                <a:sym typeface="Palatino Linotype"/>
              </a:rPr>
              <a:t>mais</a:t>
            </a:r>
            <a:r>
              <a:rPr b="0" i="0" lang="es-ES" sz="1800" u="none" cap="none" strike="noStrike">
                <a:solidFill>
                  <a:schemeClr val="dk1"/>
                </a:solidFill>
                <a:latin typeface="Palatino Linotype"/>
                <a:ea typeface="Palatino Linotype"/>
                <a:cs typeface="Palatino Linotype"/>
                <a:sym typeface="Palatino Linotype"/>
              </a:rPr>
              <a:t> tem no seu trabalho?</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1800"/>
              <a:buFont typeface="Palatino Linotype"/>
              <a:buAutoNum type="arabicPeriod"/>
            </a:pPr>
            <a:r>
              <a:rPr b="0" i="0" lang="es-ES" sz="1800" u="none" cap="none" strike="noStrike">
                <a:solidFill>
                  <a:schemeClr val="dk1"/>
                </a:solidFill>
                <a:latin typeface="Palatino Linotype"/>
                <a:ea typeface="Palatino Linotype"/>
                <a:cs typeface="Palatino Linotype"/>
                <a:sym typeface="Palatino Linotype"/>
              </a:rPr>
              <a:t>Qual tipo de poder você precisaria ter um pouco mais para poder se sentir mais satisfeita(o) ou realizar o trabalho de forma melhor? Justifique.</a:t>
            </a:r>
            <a:endParaRPr b="0" i="0" sz="1800" u="none" cap="none" strike="noStrike">
              <a:solidFill>
                <a:schemeClr val="dk1"/>
              </a:solidFill>
              <a:latin typeface="Calibri"/>
              <a:ea typeface="Calibri"/>
              <a:cs typeface="Calibri"/>
              <a:sym typeface="Calibri"/>
            </a:endParaRPr>
          </a:p>
        </p:txBody>
      </p:sp>
      <p:sp>
        <p:nvSpPr>
          <p:cNvPr id="668" name="Google Shape;668;p53"/>
          <p:cNvSpPr/>
          <p:nvPr/>
        </p:nvSpPr>
        <p:spPr>
          <a:xfrm>
            <a:off x="1018572" y="1429473"/>
            <a:ext cx="10023676" cy="584521"/>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500"/>
              <a:buFont typeface="Arial"/>
              <a:buNone/>
            </a:pPr>
            <a:r>
              <a:rPr b="0" i="0" lang="es-ES" sz="3500" u="none" cap="none" strike="noStrike">
                <a:solidFill>
                  <a:schemeClr val="lt1"/>
                </a:solidFill>
                <a:latin typeface="Palatino Linotype"/>
                <a:ea typeface="Palatino Linotype"/>
                <a:cs typeface="Palatino Linotype"/>
                <a:sym typeface="Palatino Linotype"/>
              </a:rPr>
              <a:t>Atividade</a:t>
            </a:r>
            <a:endParaRPr b="0" i="0" sz="3500" u="none" cap="none" strike="noStrike">
              <a:solidFill>
                <a:srgbClr val="FFC000"/>
              </a:solidFill>
              <a:latin typeface="Palatino Linotype"/>
              <a:ea typeface="Palatino Linotype"/>
              <a:cs typeface="Palatino Linotype"/>
              <a:sym typeface="Palatino Linotype"/>
            </a:endParaRPr>
          </a:p>
        </p:txBody>
      </p:sp>
      <p:sp>
        <p:nvSpPr>
          <p:cNvPr descr="data:image/png;base64,iVBORw0KGgoAAAANSUhEUgAAALcAAAEUCAMAAABeT1dZAAAB0VBMVEX///8APVnsZxnTlwAAAAD9wwD5sAD5rgAAOVYANlRISEh1dXUAMlH5rQDkqADbnwCdm5vrXwDrsADvswD/ygAAO1vkqQDeogAAL0/1ugDXmwD6tQAANFP/7gDRlQDdoAD/0wD//ff3+foAKkzs7Oz/9eP/3wArNSv7wlD+8NX+6sX+5rvrWgAAJkluhpXHjgCdnqL+7c7/+e3/1wD/5AD94ar8znT6vTn7xVv804f92ZP7ymn8znf93aD6uSS0wMjX3uKFmqdCYXbKyslALgBgRQC4hwCsewD7wEn7vjRPbYChr7nucCulVzn+7eXEXB7YYRz72cv4wan2ro7zk2bSu4zEpGDDpGubagCurKz91oInUWlifIyLi5BfSEiIUUB0TkT3s5X50cLKXR7zm3OOTiPweThoRCYyQ1JyRSaBSSWYVTrvf0rmwbOvWjF4WVMAUG6UbmJCQk0AKToaHh+nTRoAExpmLQM9PTxeX1/VzccWNkjzlmu4kTwsHABONADh0rXdcgzPhTXzlQbBfQDncxLegwZwVQDzhw1KPgB4ZgDAlS29mUnNpADbyqN3VQAAKy05OSlLNxqTbBZGNR9nSBqnjFWlgji5qoqgloWhjm1VWLvfAAAWg0lEQVR4nO2di3vaZpbGhbG5zCAo2JW4FVsYtVxsMyjF3AW2UwTYdWrn0sR4ekm7mXSa6Xa66W53Wrfp9r5J2m4z20znr53zfboghABh40g8j995mrFBxj8O53vPOZ9AJogLXehCF7rQhS50oYnEsKzZCJMrVasm20WzKSZSKl8qtKv5HEFUzEYxKjZdTiY3yzlG/HYzNeQ47pkRjRXD1qqV5FGG5aRvIblrGf1j08lKnnmGbMOVS7Yr+ZwqjBESkiRV0j+6SLA1fjP9bNBGKq8lTDp5SIeC7sHsEfo3VWqXTDccVrsEa04HRzD63OWc+P9cxnzDaWmWWsbpgDwo6S1MRnmOzOY5U41XUvWSM5lSiuXJGqRPTefQtHJjZsi6fYZSWwdDkiWi4ISwslWdQzeVp1gx3w9z8kvOQBB5Z4EoOiPwXUvH7pQ04fTSJFeuVqtH+Wf1jNik9EWBLBCbTidRI0n43a1Bx8jn5a9qOe19TK1QS3MMk8pXKsNq1pRVkQjLJM9lnM4US5L5nnWopHgIM+AmuSTKNoZDweYq5XNjVauKywiHjCSXcpB5rlAAiPTAL+8lB6u9LwP5zuSLyUIhWQb02nTchhtd39DLzxYjOdZJ5plCMUcwqCmsDMS0pjxMWZMJOTg2HSmm885iiXTAk8pPpS+rOUbezRYlI6linlSmVGi1WtWqZmH2zJvTUDFJhijzLKCniGq+RMKCKU/DJzMOACkOfSQG6jqBfIDhUuVKsVCsFpMtB1nQGENOSY50vv+OagZ+RbGYdPCZXJtj+Up1Gn0jV3EgOUltABUl0R1svpQsVCqtzUoyWWk7yKLWT46UGzb778pDnYrw5VyklKlEnHkumeKn0HixvBOoSRL+0yslSOWjcrKVbBWPioVkJYkC53QMlstITYohp3mcdIkoRxgiV4CnXyxVInwq3To7dxGwi2QqzTvA4vQPSRc2Ky3EW4T/ksmCg2wNHgkO6aikEXptIJpMsdWuJtHyhuRKR6qczs9PKBYypMY48kTeWSjrJx1bRNSVYuWoVWjzcLxTL6OA29nmW2WWqAzcy0YybJlslTnkI0yLLw9fTEaVgfyA0oJGgSFH5PlicrNaKRbbTnEhRPK6x6WrDr5UIJ384EjBOipg4blSxLHJEWybaDumwp0j8o5h65vbLFRa7XalXCsgbKeTLA63gnzFQTrJwQCwkVa+As+Wi2zyrVKSSDnPzJ0CmBbLkkNWeK7lgMSvpmvVAuRBpFBUJmN9seWWzurmCrkCatprJahxDr6SaZ/dUCCMTkfByScrpdpAJGsOnBs8CWqXMqnTjrzFDMvDWmzl0NLMZQo8LM8zcuccoiCcuF9SiU2SODMcrVLtbAaQ5pniUYRH2VisEWzriCie2QozPAnMErw671IQZpQZ0H6e9XcQyVolTVRQWSZbrUiEI/hB15lUXKZUKTp4HnGro5BrVzOpaXT5TIbg+EiZaKWYvDOfq0F0uLNji9psEzlEPthVT0EQa7ZA1pKQLxmonfCiapubUysNM0zZ6Ti7QemJQc1vORJpk8kiD90LU5nKzhDaOeOgmqTJc+ImOFQg2Vz5qJRh0Xqfxm9hSm0YHInKJtrROZ88AZWKcoi5UnIqm1lMxOmATjMfKcG6TI4//pTiysnNWiZfKlantXuIwuxoFaDEOPnzHLUZNpXOsVPchiiQonuT54p9NrFpeM6a25gjByrkvN7WmSXE5AuOCB9xtDIa1+dy6VQmYvre7xClCs7NXAqyrDI4HcKT0pm9LKEcbp1xV8+2dGaywfnKEko5Smgt43+Y3ObQScFqShaYJAQZd6SVPMMPm94tpjSUwhQwZ1A2sGiONXcZpsrG0rIilcKUPBtEns2u6BBFSNLYKSAZk5NxK2eeOOKg0/5s1emIMEZ6cFLqwWryHkBN/5SYQcXrWxudTud4Y6ueOM3PZ6Apyrd0z271C03suXxps01KAc+3T/P7sOL1zvqqx+1yu91RT3DdtrEz8UOwvMNZZst8pDSmA3VCXudTHMPJtbJ02njHd7tRl02tqLu7O2nGtBxOtD/Nllrt0qh9gpZ2q7x9mk3/BlBvB/upkVzB7fpkj1RyOnjsaEyqzLeGn1/OR1SFBp7f0K2ekVrvunSoMfnqxkSPlCMdPYJcOcKX9dE5/ojIyFt3tU2wk9NM1F23LjSWZ3uSXOEgwdWveIofkuh5Mt3bvcnVyFNNZFue4dw2z/EE4EzF6VCvsNRQWz4ie+NojTxd1WnY9LNE1OqW8UeqgYM7VDZYPhp6aJlM4l1JLo1PsZ9Kf4yO4LZFDRsi08qQDqdqX29U959LOvhWscVHiqcdyA7uvPH8CG7XttEHSheJiDrBU6OXWypfrRxlTj1GMnv+uY9Gga82DD5StUZAgkeU78tD3kA0HV31z83NvekanuMeoxkO7X8eSr2SHPx5dqcHCHtu7sobtmExdxn0QkgTdMpAWWZsZOThZ9Q1kRvI3/rU9jzSALfLGHcVAbediquVzrOpflvGnpvzz1159c233nz1I23KrBvqDhlcvNPKKS4mOWE1ObhtvGoeSthX3unhv6rlNrYw02IvWk5JFSXFT0TNvOtfu2rw2NtKkvxbj3vundMZSkWMMye/07A0mZscrs3N7e0T+0aO3T+841dxv3ZF/EbLvW6EWzlfnJfSY8INPpSw/tv7a4bAlfx+7U/ov9dE7ruapWkov7Xn53PJyXq8A5Sin127ZvCn5AR/570/v6fkygeagBvxk4rmjPPERQfn7NqhwaMPFD95rZfhc++rI+7qGOHW9iIT70yKJEaP3p/TlZrbUL1kC5GSemhhJ3MTJEhZv1FHIZh7Y7mDxqY1tpzkq8oZ89MUnTt+/18MH/yuXwf7AxW3y230oWCqbLeqeCBmWqcYYQ7m/v1D4wevaaH9/it3XZOkye2rPfNK1SJ8KXfK3mR31WN8oNUmyju/+0jdHLpsjRE/vA/r/+01/57adSFhYCI+DXdi2xU1vIVwW5Mobz3fV+ejIyNwsHZwG71E/euJYYcM8uNUXx8dpj7d8cuFEtvhp33W7XKNfJwD/+HeJLY7TsdRt6FqIf7uuT99cEUulu/3F8vV3ZE/u48bBcMN0VglbK6o4R0EmHg+/kAuO3f7ssQ9bri8B6a7N61og3Y9tqDRtan28I/7s2RctiX+Oue/ZrAVMqaNoC14bPBYlRe+1ZcmY1d3J/jG1HJEVHzbbXyz6Z7iKX3RHlspd4PRzplJNUqACwc7xjbgD5UhU10oXeOwG+4JbMuw6vCo0a6hxz2Qw/3XHrfHNg470XVNsgtnWAjctW5k912qPf63N+S9Wdfqxrifi3fdbkMt7sSqe8DUop3G2APFqcd/DQqtSB3tjK238Y7b5h7/0KdSHZ38cLu3xkVFTJK1g3hXtJHu+C4hfuyxeUYXpTNox4Ze+KBtdLLgrTb/2j1Yy7jhNmD8iW3w2fNIbkmNbbwr7+luNYYfdHXN79/77HAfldlxnZSoRNcN5eFckltS/BifKHMFbcf6ZyXjcOu1d2/vizhwbHC8d9YB2719qpOcxlV3ecS5JRjs7NYb6rsa9d3jqNoTjt02V3fsI27Bend3zxkbIrrhluzN5YHgdzsbW6CNThd8w+N2i9utiZ2tbqfRWIc8GfPy49SLnne0xV/ViSonzVwutzsKcrvFsSa6hZ9a1+NxuW1bG+MGs8QWWuqeZ4INqm+ve/S35leR56FBA1vJ9nY3un48HGr3Q3SuMzjR6cGzqbHVXY3qnFZYRwjb8u0uV3dja3dXH7yxFUXUrvM0QB3Fdza2bcGou8fuiorLsKHuAt1dcJ6BeMYTux0bfsmMVKWpozfqW50uSnGc3p2tLo7dRv+ZQNcq3KN2HvRTtqBLNNQRWXTeSjRA6Nc3om4IXnwdL1DVAnC5PcH11Q+3O8fHne0PV9eDHvFVcq2aEGwddbAN7wYByb0Bwdekv/i69L4Nbp9bRzKRdlbdHTQauURfSexuu4a4DvJ+13b92dnISHXcQQhgfRWnSQPd0tjdxm/70TBHg+sjO5xnqx0Y+huIHqEpdTte3zruuteDQQ8qT57g6qpte2O3YSKnVh03ohVNsG90iScS0LpsYUFLM+iKpqqBFiOYIG67jHSvFhG4NqR3fFWs8NZwCgNKrOJTZbvi230Mv+vBdIFrQ5GPS63JurVyeLgQMPSw9XXR6oyfoTBZyLWjdTThiHZiNo9RYeCE/Kaw6LNtTU+vRhfVGskEZ8hOUC/l2YrL78Ezfj7IZCEbCTZ25fc8jj6NYx0h84YiL89nLpt5w8BEQmniPhY7QaTxmybWEHITz1Zv29jwmxvNFd7ADNaVBttt9FSQyarj9FbCbfy9jSYLDfCuTlcZawy+V8Nsic1UtzeIrU7+KQwzNPCWb0/DbCRD6vmfrIbZSIa0of1Ig7HThaarq91nOP9N+Gkooc0So2+VNll17QcajL1F0HTtaj/5MiPTzsCynJEyr12WM8IdH3Dv2eBuDHLPxCYb3qafQe6tgc91zQb38cAHF2eCWxmGZ4y7oaWeFe6BZTkbPlifUe5BO5kN7o7OR85ngXugO5mNfjDRHcCeif5bxwZngntg2LHNxpw22FXNBreOncwEt056zwJ3Yn02ufXSexa4B2b52eBOfKib35b378GdWCTr13k9F5yBvmrINVos38du6F+ixepvUhrc8RFl9dNpgzsQoiz+bojdIeG2+GlAvQ5WlKXfFPaX4VfxMXaFE1O0/65/7v0h18JxGf5M7zPXoR9/BO3Nu7rcVm1PDuQPhvr//B863FYtO1fnlM+zvnf//iC5Ne374I7qk/0f/+d9IP9Uw21B+97vv3CF/7/m79+X0eVeBb0J3GK6rQ6233/vcP+Pn9yfByH0j+7ann8efQzZaja4/5maeu3abXRjYgfpk/n//tveax+8+uYbdz/91GxOrdb8qlC/3XfJn9/N/178+Lnf718zi2+YlNze++xAc6EixC1fvspvDt1wyVcd0rkUAuK+KnNb48+JqiRd+eHe4D2IW/64v3+qV3iYhmQy/XgfWJZ7/44INnilD8QtXwTKetxSCvuvDdyBue9I3AcmkI3Wvn+IYyBu5ppluQmx8gySIW7ZJ/23zSAbLfGSFf63tbdj7qvW5Sbu6Dsh5j60MLfINmAZmFu6QI6O3Ziv/T1dNMy9b2FucfH539XcirkJv4W5RSu8p0kUkVsqSwOr1hLCbZ/WCUXua0PcxhLCVqhlE7mlcjrla1BNS3pOKHIfWppbvOxQf4KL3FJV0i5aiwhboaa4iNzihausyo2tUAMncjNzQ9pFawgPCHt9N4ncxJ6lubHf9V96WOK+N2yOs4bQ1Z77nVDiFjvZe5YbjGUNZIPELRrhHctyIyvsu1qqxC2OxnuW5UYj8Jq61Mvcc9bmRiuzzwklbmk0ti43Sog78jcMx30y/3uO4xjxmqDW27BShAFxojy4/vqJ0Px8/guh+fDG9TsW50bO4T9kHtwQmk27z7t4ef67xQDtzX6JuNcszI1K+v88bGbDi6EFEHAvhOCrrzD3A7PpRujql0IzRgFqaDGwCPF+JUBRXgpzz319w6p/cJJInTSzAYAOLS4GKJoG7nDMvkyHMfdyWLhuNqC+rgtNClGHApSXXvZhbjsohrnJBTr70IIhZ24IsRAONmB7l33hZYX7G8T9VWBhMdZ8YDamVsyJ4JOwA14v7Qtjbh/itmPubylvKOQVfjQbtF/cQwFyRIo2JEmYDgSA2+uNATc2wm/tXnox5GtaKskZNTZKEjvtRfFeprPA/a3IDbcFQlTTShG/IdD9SWKnKS+Ot5obilEAIv7AbFpF12/6Qqok8QbAvQO4XoJ/076YzG0PA3hYsMrfiH0gNHvYUODBv0Eh4Ba/8iLuL/EShXsX7Y/MBpZ0IkBhl6MdCEmS6jz6qsdtp+lQwCKZ8qMQVmEvyFr6Yv67JfGrb3rcdrBDX9MKTRYHWRKSk4RaWFKEuEV9D9zfSNx2b2AxawUzvH4TvEQyQFqFvfLD/Hcr4pdfqblp7+LyQ/OXJnfSDCkGGFgSSVdAl4D70goWibhjMjgFATffxB/cDPeq5ILIubIUoBde/GH+f19cCPtCK5ciwP09LkFIy96Q/aHZ2MQjMJOQVCXppUtYS+FmeAlzL2WzscVLyFC+D8jcYZThD0zGhlUJfk3hKmn3Lr2IdImCOW3pZeB+eSlrj4VXLoGhfB/KKivTGzB9ZT4QfFAbcZKE7dQK5l6Jxey+lRckbrt96WXg/mYhK2d4mFr0mp0o12/CMpOwY9TKy0grqDBi7hdWEHc4/CVal0053nY6QAsmW/gjIRAI0LiVggQQuV8MwHi28Pjz+R8e43hn8Uifzfa4Kap56r8COh1Bege8yyI2CjLWCm3PCgLaPxHEIKOOUPFBbOFmO+FN4JaiDRPZksj9wqUAPB80pwkCvkvLTZu9MLmb2QAlY0OCvyiBPxYCIYi3LyY8fnklEI4NcNPmcrM3m4hbBgovSNxCdqE5Pz8vhJtNFP7lfm4fTcVeN5U7dTNLeRVse4yWViZwPwHun8JNAX//jTQ4yJWHos3mblLeHpA95g3RPhBwC8B9E7jRt74vtdx2c7lZDTekeAiKp7cpBBaffHH5p5iQhe+81Ld93ObnCaxLirb3gdsDqF8RmhT44+Wf4P+Qvurjppcpn8mF/qbQH29EHqMg6AJ4N3i4II6Yy1eufN1bmN5lyuwG5WGTosN2LXk2G16MNaHoPL4s0GgaevLzz4KKm6bMbghvCDDBq0Itwy3jkXgBVmeWXljIvvRSH7d3+WuTtzh/vOlbppT1RiF5vT7ELSomfJ4NUf+HuJV+ELjpprnYRAoMQ0kUCs1oAKvizoaffLH4y0ugJwo3TXvDN0zmJk4Eil6W4yjBUrEet93+E8ZWcVM+2uz0JojXobBQEpFP3jvxxXxLcrxp4WfM/ZMyp0G8m6YP9KzQpJWAK5s+ATn09lc+/+WXv/8dEvz/haycJnTW9DRB5xkUR4kFlhY0Csz39Ap+WcJen9f8NEEbEVmYd6QU0GIvPFZxf56Vsjv2yAobbY8EX5iSBgdKG/CQivsy4vbRy15rbGw+gAxXas9ApixSj7NN4ckrly9ffhLGWeKLmZ/dWDeEsI+mh6b4wsLSkrcZ9qHxIub1gZlY5HQgcwJTpFdK8Rg9iL2YbcakPAJ6s0finqBo+nrgWWpxYakX9RAVbsrWDUlCZ83tvPv0o9DsgaN2MCs7S6zZbCqFEjqCcOzECl4i6zqKOK2aIJbletm7CRwQktz8Stmn60IzHPZRSiu+jDbFFxcDPW64M7xsvVP0AG6H1amEHHKliSQ3JShHwvYTq2FjG4+F7T5v/7gpU3uBms5aok5qxT6CzilsD1N0/+QWpr1e9G/WUqe4VWJ+bGLHC/u8FNozRFrGX8JNsewj6+WILO71prRdjCooEvZGcL/swwdmww1RPJFINBp/+xW9m021FwixDmezT/+B/uxewlp/tivR2Ll169Zzsn57egJRz8bgf+ifpvD0n7899wfpzlu3dizyR8fiPWJJf3jut99+ffr0RBBOnv76z9960Ios8TcRINpaLmBXNHjfrR3LXAUAUntnB2XLLZ3nIOYHCA6xSJJoFAcl9ITuMBvuQhe60IUudKELzbD+BctylfSaG2GNAAAAAElFTkSuQmCC" id="669" name="Google Shape;669;p53"/>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2019-11-26T14:32:53Z</dcterms:created>
  <dc:creator>FABRICIO ISHIGA</dc:creator>
</cp:coreProperties>
</file>